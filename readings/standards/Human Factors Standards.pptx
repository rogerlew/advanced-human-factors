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6" r:id="rId4"/>
    <p:sldId id="267" r:id="rId5"/>
    <p:sldId id="258" r:id="rId6"/>
    <p:sldId id="268" r:id="rId7"/>
    <p:sldId id="26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F447AE-2DB7-47A4-A99D-3BC4AE309C40}" v="39" dt="2023-02-01T22:48:28.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6486" autoAdjust="0"/>
  </p:normalViewPr>
  <p:slideViewPr>
    <p:cSldViewPr snapToGrid="0">
      <p:cViewPr varScale="1">
        <p:scale>
          <a:sx n="152" d="100"/>
          <a:sy n="152" d="100"/>
        </p:scale>
        <p:origin x="43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7A8CE-5662-4A0C-8A21-0B2E43177BEE}"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1FB505-3391-4AAE-9BB4-43B1516DD3F1}" type="slidenum">
              <a:rPr lang="en-US" smtClean="0"/>
              <a:t>‹#›</a:t>
            </a:fld>
            <a:endParaRPr lang="en-US"/>
          </a:p>
        </p:txBody>
      </p:sp>
    </p:spTree>
    <p:extLst>
      <p:ext uri="{BB962C8B-B14F-4D97-AF65-F5344CB8AC3E}">
        <p14:creationId xmlns:p14="http://schemas.microsoft.com/office/powerpoint/2010/main" val="238664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currency, finance, building codes, food, IT, </a:t>
            </a:r>
          </a:p>
        </p:txBody>
      </p:sp>
      <p:sp>
        <p:nvSpPr>
          <p:cNvPr id="4" name="Slide Number Placeholder 3"/>
          <p:cNvSpPr>
            <a:spLocks noGrp="1"/>
          </p:cNvSpPr>
          <p:nvPr>
            <p:ph type="sldNum" sz="quarter" idx="5"/>
          </p:nvPr>
        </p:nvSpPr>
        <p:spPr/>
        <p:txBody>
          <a:bodyPr/>
          <a:lstStyle/>
          <a:p>
            <a:fld id="{071FB505-3391-4AAE-9BB4-43B1516DD3F1}" type="slidenum">
              <a:rPr lang="en-US" smtClean="0"/>
              <a:t>2</a:t>
            </a:fld>
            <a:endParaRPr lang="en-US"/>
          </a:p>
        </p:txBody>
      </p:sp>
    </p:spTree>
    <p:extLst>
      <p:ext uri="{BB962C8B-B14F-4D97-AF65-F5344CB8AC3E}">
        <p14:creationId xmlns:p14="http://schemas.microsoft.com/office/powerpoint/2010/main" val="7136244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1ED7F-E4E5-995E-8F66-91B089600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6654A-B240-EE0B-C059-9F381BF97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8EA6FB-26A1-2EDA-B6C7-58747EC93295}"/>
              </a:ext>
            </a:extLst>
          </p:cNvPr>
          <p:cNvSpPr>
            <a:spLocks noGrp="1"/>
          </p:cNvSpPr>
          <p:nvPr>
            <p:ph type="body" idx="1"/>
          </p:nvPr>
        </p:nvSpPr>
        <p:spPr/>
        <p:txBody>
          <a:bodyPr/>
          <a:lstStyle/>
          <a:p>
            <a:r>
              <a:rPr lang="en-US" dirty="0"/>
              <a:t>Measurement, currency, finance, building codes, food, IT, </a:t>
            </a:r>
          </a:p>
        </p:txBody>
      </p:sp>
      <p:sp>
        <p:nvSpPr>
          <p:cNvPr id="4" name="Slide Number Placeholder 3">
            <a:extLst>
              <a:ext uri="{FF2B5EF4-FFF2-40B4-BE49-F238E27FC236}">
                <a16:creationId xmlns:a16="http://schemas.microsoft.com/office/drawing/2014/main" id="{EFC6D14F-C689-B43B-115B-D04F378C582E}"/>
              </a:ext>
            </a:extLst>
          </p:cNvPr>
          <p:cNvSpPr>
            <a:spLocks noGrp="1"/>
          </p:cNvSpPr>
          <p:nvPr>
            <p:ph type="sldNum" sz="quarter" idx="5"/>
          </p:nvPr>
        </p:nvSpPr>
        <p:spPr/>
        <p:txBody>
          <a:bodyPr/>
          <a:lstStyle/>
          <a:p>
            <a:fld id="{071FB505-3391-4AAE-9BB4-43B1516DD3F1}" type="slidenum">
              <a:rPr lang="en-US" smtClean="0"/>
              <a:t>3</a:t>
            </a:fld>
            <a:endParaRPr lang="en-US"/>
          </a:p>
        </p:txBody>
      </p:sp>
    </p:spTree>
    <p:extLst>
      <p:ext uri="{BB962C8B-B14F-4D97-AF65-F5344CB8AC3E}">
        <p14:creationId xmlns:p14="http://schemas.microsoft.com/office/powerpoint/2010/main" val="1220827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A2868-F4E1-9C9E-02E4-ADB07B209E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14E8AA-B328-7174-DA18-C93469FD3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3403A8-466F-3AB3-0C71-8FB3D87095DF}"/>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5" name="Footer Placeholder 4">
            <a:extLst>
              <a:ext uri="{FF2B5EF4-FFF2-40B4-BE49-F238E27FC236}">
                <a16:creationId xmlns:a16="http://schemas.microsoft.com/office/drawing/2014/main" id="{D6829511-A812-A3C7-D6A3-042D93F851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1F756-47EF-F0A1-253B-1AECB60771C6}"/>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3386660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FE75A-B98F-9110-5DB7-90152D49F4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B82D88-0A8C-0F2A-7C9F-79E3199037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56C133-8810-487A-621B-6BCEE0763010}"/>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5" name="Footer Placeholder 4">
            <a:extLst>
              <a:ext uri="{FF2B5EF4-FFF2-40B4-BE49-F238E27FC236}">
                <a16:creationId xmlns:a16="http://schemas.microsoft.com/office/drawing/2014/main" id="{961B065E-4D72-9087-8E3E-7F923429F8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F5A7A9-FE2C-779E-3D6F-CA33CB730116}"/>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2267486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817F5-6B1A-8883-54F6-AAC4C8EC26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CA6778-76E9-8E44-73B9-F708146566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B3927E-ED53-3840-2BE2-5AB3A2BCDC68}"/>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5" name="Footer Placeholder 4">
            <a:extLst>
              <a:ext uri="{FF2B5EF4-FFF2-40B4-BE49-F238E27FC236}">
                <a16:creationId xmlns:a16="http://schemas.microsoft.com/office/drawing/2014/main" id="{8E0AEF02-0ADD-8418-801A-221F6058C3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9D943E-E049-5BE9-6873-C04DBCF2A450}"/>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1924548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1F6A8-B521-2D09-A176-AB651306AD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5FE075-C45E-0509-17DA-E7DCA2AF2E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403D74-93AA-B305-B4F4-53DFD33522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FCF0E3-DEA4-D5BE-C6D7-B7724B312A5B}"/>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6" name="Footer Placeholder 5">
            <a:extLst>
              <a:ext uri="{FF2B5EF4-FFF2-40B4-BE49-F238E27FC236}">
                <a16:creationId xmlns:a16="http://schemas.microsoft.com/office/drawing/2014/main" id="{20C018C8-66B4-DA88-C2DB-F30D7B9B52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613EC1-C6C1-7902-DE9C-EEE002125C6D}"/>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2286673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966CB-04D8-AE8E-B16D-EA734A1FCC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16978B-691C-6EBE-657D-89C2CD3EBA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FC58ED-C3BC-A2CE-DA29-CC057101F2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8D8FC8-0D9E-97D2-9B1D-5A8DDECC2B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9B4ABF-16A1-FC79-4702-B4A6519672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80859D-4386-DAD1-FB26-B0DB1C556970}"/>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8" name="Footer Placeholder 7">
            <a:extLst>
              <a:ext uri="{FF2B5EF4-FFF2-40B4-BE49-F238E27FC236}">
                <a16:creationId xmlns:a16="http://schemas.microsoft.com/office/drawing/2014/main" id="{DC771303-9C09-0413-93EE-E58644913C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77CED-298C-9702-FC77-BB73331ABCDC}"/>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88793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ACA8C-AC9A-AD6B-8234-C6133D263F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853FEF-BC0F-3900-D7E1-345DC3AF62E3}"/>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4" name="Footer Placeholder 3">
            <a:extLst>
              <a:ext uri="{FF2B5EF4-FFF2-40B4-BE49-F238E27FC236}">
                <a16:creationId xmlns:a16="http://schemas.microsoft.com/office/drawing/2014/main" id="{A58BCA54-DAAA-CAA8-D4B8-EA7E85918A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186CE-9301-8AC6-C409-262E44DC18CD}"/>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4144204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4B63D3-6003-6007-8CA3-0D6A41A644BD}"/>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3" name="Footer Placeholder 2">
            <a:extLst>
              <a:ext uri="{FF2B5EF4-FFF2-40B4-BE49-F238E27FC236}">
                <a16:creationId xmlns:a16="http://schemas.microsoft.com/office/drawing/2014/main" id="{BB4EC831-D34E-7C3A-1915-50C41E9E6B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7F78D15-7A1C-48F3-CF41-8A52F2BB1E31}"/>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3893652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87CBC-32F8-849B-F85F-1FAFF98E3A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DD7CA4-6E37-607D-0D3D-6BEC6B7CB4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84381D-6187-6AF2-7D60-B214EEA0CA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A9F76-2CDF-7AAD-9C29-A4B08A994E92}"/>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6" name="Footer Placeholder 5">
            <a:extLst>
              <a:ext uri="{FF2B5EF4-FFF2-40B4-BE49-F238E27FC236}">
                <a16:creationId xmlns:a16="http://schemas.microsoft.com/office/drawing/2014/main" id="{CEA32744-4499-AF67-A891-5851BDB0AC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3F81E2-843A-1B8E-ECC1-F747A602058C}"/>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3649751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728EA-F66D-6074-BFFC-2C7F66E710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087825-0123-22FC-78D4-76CDE818E4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6A7EB5F-C0FA-6376-2E3C-0AE256B5C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42E4BD-D0A6-7EBF-19E1-ECB033ECA595}"/>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6" name="Footer Placeholder 5">
            <a:extLst>
              <a:ext uri="{FF2B5EF4-FFF2-40B4-BE49-F238E27FC236}">
                <a16:creationId xmlns:a16="http://schemas.microsoft.com/office/drawing/2014/main" id="{D4A5718C-0247-10C7-124D-550FC33EB0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418045-E5D1-696F-0350-71F20E5C530E}"/>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2384457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F1CA2-2FC4-E8AC-AD5A-D19A22A7CA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E67BC2-A3A4-B038-FE25-030792D581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DCAFA7-F6E5-7E88-296C-C046B1BC40F5}"/>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5" name="Footer Placeholder 4">
            <a:extLst>
              <a:ext uri="{FF2B5EF4-FFF2-40B4-BE49-F238E27FC236}">
                <a16:creationId xmlns:a16="http://schemas.microsoft.com/office/drawing/2014/main" id="{8C1285CF-502C-1164-7E1D-21EB01AA24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0326EE-FFD5-11FC-1710-72C4AD0C3B1A}"/>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1942185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8404BD-00BA-101E-CA6C-2540EDD069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F2365B-88BE-CD3E-4C18-57618EBA71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2F4687-C000-D274-B3B3-4411683FCAFE}"/>
              </a:ext>
            </a:extLst>
          </p:cNvPr>
          <p:cNvSpPr>
            <a:spLocks noGrp="1"/>
          </p:cNvSpPr>
          <p:nvPr>
            <p:ph type="dt" sz="half" idx="10"/>
          </p:nvPr>
        </p:nvSpPr>
        <p:spPr/>
        <p:txBody>
          <a:bodyPr/>
          <a:lstStyle/>
          <a:p>
            <a:fld id="{7514402E-D2E7-41CA-B465-AA254B0160F1}" type="datetimeFigureOut">
              <a:rPr lang="en-US" smtClean="0"/>
              <a:t>1/29/2025</a:t>
            </a:fld>
            <a:endParaRPr lang="en-US"/>
          </a:p>
        </p:txBody>
      </p:sp>
      <p:sp>
        <p:nvSpPr>
          <p:cNvPr id="5" name="Footer Placeholder 4">
            <a:extLst>
              <a:ext uri="{FF2B5EF4-FFF2-40B4-BE49-F238E27FC236}">
                <a16:creationId xmlns:a16="http://schemas.microsoft.com/office/drawing/2014/main" id="{889CB12B-2A53-9729-3032-346600CAB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75B574-833D-6E87-1B21-DA01F7B0D920}"/>
              </a:ext>
            </a:extLst>
          </p:cNvPr>
          <p:cNvSpPr>
            <a:spLocks noGrp="1"/>
          </p:cNvSpPr>
          <p:nvPr>
            <p:ph type="sldNum" sz="quarter" idx="12"/>
          </p:nvPr>
        </p:nvSpPr>
        <p:spPr/>
        <p:txBody>
          <a:bodyPr/>
          <a:lstStyle/>
          <a:p>
            <a:fld id="{2DC726BA-5E9B-42F0-B644-01B6FEE76CCC}" type="slidenum">
              <a:rPr lang="en-US" smtClean="0"/>
              <a:t>‹#›</a:t>
            </a:fld>
            <a:endParaRPr lang="en-US"/>
          </a:p>
        </p:txBody>
      </p:sp>
    </p:spTree>
    <p:extLst>
      <p:ext uri="{BB962C8B-B14F-4D97-AF65-F5344CB8AC3E}">
        <p14:creationId xmlns:p14="http://schemas.microsoft.com/office/powerpoint/2010/main" val="1293303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362054-E429-F9B8-B327-557F6EA70E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E7975F-575D-E879-D647-6C50BE6591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DED0CD-D517-E4C2-11A5-29033A70AE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14402E-D2E7-41CA-B465-AA254B0160F1}" type="datetimeFigureOut">
              <a:rPr lang="en-US" smtClean="0"/>
              <a:t>1/29/2025</a:t>
            </a:fld>
            <a:endParaRPr lang="en-US"/>
          </a:p>
        </p:txBody>
      </p:sp>
      <p:sp>
        <p:nvSpPr>
          <p:cNvPr id="5" name="Footer Placeholder 4">
            <a:extLst>
              <a:ext uri="{FF2B5EF4-FFF2-40B4-BE49-F238E27FC236}">
                <a16:creationId xmlns:a16="http://schemas.microsoft.com/office/drawing/2014/main" id="{901D2EE6-7D5F-74D3-E026-4B2F5CDDE8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39FB6F-642C-24B0-0016-835393DAD7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C726BA-5E9B-42F0-B644-01B6FEE76CCC}" type="slidenum">
              <a:rPr lang="en-US" smtClean="0"/>
              <a:t>‹#›</a:t>
            </a:fld>
            <a:endParaRPr lang="en-US"/>
          </a:p>
        </p:txBody>
      </p:sp>
    </p:spTree>
    <p:extLst>
      <p:ext uri="{BB962C8B-B14F-4D97-AF65-F5344CB8AC3E}">
        <p14:creationId xmlns:p14="http://schemas.microsoft.com/office/powerpoint/2010/main" val="1081464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9E704-87AB-E3E0-C30C-9D19BC28C2F3}"/>
              </a:ext>
            </a:extLst>
          </p:cNvPr>
          <p:cNvSpPr>
            <a:spLocks noGrp="1"/>
          </p:cNvSpPr>
          <p:nvPr>
            <p:ph type="ctrTitle"/>
          </p:nvPr>
        </p:nvSpPr>
        <p:spPr/>
        <p:txBody>
          <a:bodyPr/>
          <a:lstStyle/>
          <a:p>
            <a:r>
              <a:rPr lang="en-US" dirty="0"/>
              <a:t>Standards for </a:t>
            </a:r>
            <a:br>
              <a:rPr lang="en-US" dirty="0"/>
            </a:br>
            <a:r>
              <a:rPr lang="en-US" dirty="0"/>
              <a:t>Human Factors!</a:t>
            </a:r>
          </a:p>
        </p:txBody>
      </p:sp>
      <p:sp>
        <p:nvSpPr>
          <p:cNvPr id="3" name="Subtitle 2">
            <a:extLst>
              <a:ext uri="{FF2B5EF4-FFF2-40B4-BE49-F238E27FC236}">
                <a16:creationId xmlns:a16="http://schemas.microsoft.com/office/drawing/2014/main" id="{7B2D1AF8-7521-62E1-E3E8-BB8408E80BF6}"/>
              </a:ext>
            </a:extLst>
          </p:cNvPr>
          <p:cNvSpPr>
            <a:spLocks noGrp="1"/>
          </p:cNvSpPr>
          <p:nvPr>
            <p:ph type="subTitle" idx="1"/>
          </p:nvPr>
        </p:nvSpPr>
        <p:spPr/>
        <p:txBody>
          <a:bodyPr/>
          <a:lstStyle/>
          <a:p>
            <a:r>
              <a:rPr lang="en-US" dirty="0"/>
              <a:t>PSYC 562</a:t>
            </a:r>
          </a:p>
          <a:p>
            <a:r>
              <a:rPr lang="en-US" dirty="0"/>
              <a:t>University of Idaho</a:t>
            </a:r>
          </a:p>
        </p:txBody>
      </p:sp>
    </p:spTree>
    <p:extLst>
      <p:ext uri="{BB962C8B-B14F-4D97-AF65-F5344CB8AC3E}">
        <p14:creationId xmlns:p14="http://schemas.microsoft.com/office/powerpoint/2010/main" val="1666595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0451B-2C34-098C-F32B-5FEF78594D0C}"/>
              </a:ext>
            </a:extLst>
          </p:cNvPr>
          <p:cNvSpPr>
            <a:spLocks noGrp="1"/>
          </p:cNvSpPr>
          <p:nvPr>
            <p:ph type="title"/>
          </p:nvPr>
        </p:nvSpPr>
        <p:spPr/>
        <p:txBody>
          <a:bodyPr/>
          <a:lstStyle/>
          <a:p>
            <a:r>
              <a:rPr lang="en-US" dirty="0"/>
              <a:t>What is a Standard?</a:t>
            </a:r>
          </a:p>
        </p:txBody>
      </p:sp>
      <p:sp>
        <p:nvSpPr>
          <p:cNvPr id="5" name="TextBox 4">
            <a:extLst>
              <a:ext uri="{FF2B5EF4-FFF2-40B4-BE49-F238E27FC236}">
                <a16:creationId xmlns:a16="http://schemas.microsoft.com/office/drawing/2014/main" id="{962EA29B-C04B-CB03-5477-33A3549384F8}"/>
              </a:ext>
            </a:extLst>
          </p:cNvPr>
          <p:cNvSpPr txBox="1"/>
          <p:nvPr/>
        </p:nvSpPr>
        <p:spPr>
          <a:xfrm>
            <a:off x="1620982" y="1602754"/>
            <a:ext cx="6096000" cy="1477328"/>
          </a:xfrm>
          <a:prstGeom prst="rect">
            <a:avLst/>
          </a:prstGeom>
          <a:noFill/>
        </p:spPr>
        <p:txBody>
          <a:bodyPr wrap="square">
            <a:spAutoFit/>
          </a:bodyPr>
          <a:lstStyle/>
          <a:p>
            <a:r>
              <a:rPr lang="en-US" i="1" dirty="0"/>
              <a:t>Standards are the distilled wisdom of people with expertise in their subject matter and who know the needs of the organizations they represent – people such as manufacturers, sellers, buyers, customers, trade associations, users or regulators. </a:t>
            </a:r>
            <a:r>
              <a:rPr lang="en-US" dirty="0"/>
              <a:t>ISO</a:t>
            </a:r>
          </a:p>
        </p:txBody>
      </p:sp>
      <p:sp>
        <p:nvSpPr>
          <p:cNvPr id="11" name="Content Placeholder 7">
            <a:extLst>
              <a:ext uri="{FF2B5EF4-FFF2-40B4-BE49-F238E27FC236}">
                <a16:creationId xmlns:a16="http://schemas.microsoft.com/office/drawing/2014/main" id="{38F369FF-924A-CD3C-FD65-2497FF0B30D2}"/>
              </a:ext>
            </a:extLst>
          </p:cNvPr>
          <p:cNvSpPr txBox="1">
            <a:spLocks/>
          </p:cNvSpPr>
          <p:nvPr/>
        </p:nvSpPr>
        <p:spPr>
          <a:xfrm>
            <a:off x="838200" y="3474719"/>
            <a:ext cx="10515600" cy="27022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What are Human Factors Standards ?</a:t>
            </a:r>
            <a:endParaRPr lang="en-US" dirty="0"/>
          </a:p>
        </p:txBody>
      </p:sp>
    </p:spTree>
    <p:extLst>
      <p:ext uri="{BB962C8B-B14F-4D97-AF65-F5344CB8AC3E}">
        <p14:creationId xmlns:p14="http://schemas.microsoft.com/office/powerpoint/2010/main" val="230164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6E38B-9306-A8D0-9BF2-B3548975C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7AF57-F1C1-09DA-10E0-CC88AB680EFE}"/>
              </a:ext>
            </a:extLst>
          </p:cNvPr>
          <p:cNvSpPr>
            <a:spLocks noGrp="1"/>
          </p:cNvSpPr>
          <p:nvPr>
            <p:ph type="title"/>
          </p:nvPr>
        </p:nvSpPr>
        <p:spPr/>
        <p:txBody>
          <a:bodyPr/>
          <a:lstStyle/>
          <a:p>
            <a:r>
              <a:rPr lang="en-US" dirty="0"/>
              <a:t>What is a Standard?</a:t>
            </a:r>
          </a:p>
        </p:txBody>
      </p:sp>
      <p:sp>
        <p:nvSpPr>
          <p:cNvPr id="5" name="TextBox 4">
            <a:extLst>
              <a:ext uri="{FF2B5EF4-FFF2-40B4-BE49-F238E27FC236}">
                <a16:creationId xmlns:a16="http://schemas.microsoft.com/office/drawing/2014/main" id="{8C096AB2-67CB-C406-3E83-E23895507D6A}"/>
              </a:ext>
            </a:extLst>
          </p:cNvPr>
          <p:cNvSpPr txBox="1"/>
          <p:nvPr/>
        </p:nvSpPr>
        <p:spPr>
          <a:xfrm>
            <a:off x="1620982" y="1602754"/>
            <a:ext cx="6096000" cy="1477328"/>
          </a:xfrm>
          <a:prstGeom prst="rect">
            <a:avLst/>
          </a:prstGeom>
          <a:noFill/>
        </p:spPr>
        <p:txBody>
          <a:bodyPr wrap="square">
            <a:spAutoFit/>
          </a:bodyPr>
          <a:lstStyle/>
          <a:p>
            <a:r>
              <a:rPr lang="en-US" i="1" dirty="0"/>
              <a:t>Standards are the distilled wisdom of people with expertise in their subject matter and who know the needs of the organizations they represent – people such as manufacturers, sellers, buyers, customers, trade associations, users or regulators. </a:t>
            </a:r>
            <a:r>
              <a:rPr lang="en-US" dirty="0"/>
              <a:t>ISO</a:t>
            </a:r>
          </a:p>
        </p:txBody>
      </p:sp>
      <p:sp>
        <p:nvSpPr>
          <p:cNvPr id="8" name="Content Placeholder 7">
            <a:extLst>
              <a:ext uri="{FF2B5EF4-FFF2-40B4-BE49-F238E27FC236}">
                <a16:creationId xmlns:a16="http://schemas.microsoft.com/office/drawing/2014/main" id="{EF1568DC-E4E7-AA82-F8CF-C74238E9B6DA}"/>
              </a:ext>
            </a:extLst>
          </p:cNvPr>
          <p:cNvSpPr>
            <a:spLocks noGrp="1"/>
          </p:cNvSpPr>
          <p:nvPr>
            <p:ph idx="1"/>
          </p:nvPr>
        </p:nvSpPr>
        <p:spPr>
          <a:xfrm>
            <a:off x="838200" y="3474719"/>
            <a:ext cx="10515600" cy="2702243"/>
          </a:xfrm>
        </p:spPr>
        <p:txBody>
          <a:bodyPr>
            <a:normAutofit fontScale="92500" lnSpcReduction="10000"/>
          </a:bodyPr>
          <a:lstStyle/>
          <a:p>
            <a:pPr marL="0" indent="0">
              <a:buNone/>
            </a:pPr>
            <a:r>
              <a:rPr lang="en-US" b="1" dirty="0"/>
              <a:t>Human factors standards</a:t>
            </a:r>
            <a:r>
              <a:rPr lang="en-US" dirty="0"/>
              <a:t> are </a:t>
            </a:r>
            <a:r>
              <a:rPr lang="en-US" b="1" dirty="0"/>
              <a:t>systematic guidelines, criteria, and best practices</a:t>
            </a:r>
            <a:r>
              <a:rPr lang="en-US" dirty="0"/>
              <a:t> that ensure the design of systems, products, and environments aligns with human capabilities, limitations, and expectations. These standards aim to </a:t>
            </a:r>
            <a:r>
              <a:rPr lang="en-US" b="1" dirty="0"/>
              <a:t>optimize performance, safety, usability, and user satisfaction</a:t>
            </a:r>
            <a:r>
              <a:rPr lang="en-US" dirty="0"/>
              <a:t> by integrating principles from psychology, ergonomics, engineering, and design into the development process. </a:t>
            </a:r>
          </a:p>
          <a:p>
            <a:pPr marL="0" indent="0">
              <a:buNone/>
            </a:pPr>
            <a:r>
              <a:rPr lang="en-US" dirty="0"/>
              <a:t>- </a:t>
            </a:r>
            <a:r>
              <a:rPr lang="en-US" dirty="0" err="1"/>
              <a:t>DeepSeek</a:t>
            </a:r>
            <a:r>
              <a:rPr lang="en-US" dirty="0"/>
              <a:t> R1</a:t>
            </a:r>
          </a:p>
        </p:txBody>
      </p:sp>
    </p:spTree>
    <p:extLst>
      <p:ext uri="{BB962C8B-B14F-4D97-AF65-F5344CB8AC3E}">
        <p14:creationId xmlns:p14="http://schemas.microsoft.com/office/powerpoint/2010/main" val="203168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24B10-689C-345D-00D4-46E3ED6F3936}"/>
              </a:ext>
            </a:extLst>
          </p:cNvPr>
          <p:cNvSpPr>
            <a:spLocks noGrp="1"/>
          </p:cNvSpPr>
          <p:nvPr>
            <p:ph type="title"/>
          </p:nvPr>
        </p:nvSpPr>
        <p:spPr/>
        <p:txBody>
          <a:bodyPr/>
          <a:lstStyle/>
          <a:p>
            <a:r>
              <a:rPr lang="en-US" dirty="0"/>
              <a:t>Human Factors Standards</a:t>
            </a:r>
          </a:p>
        </p:txBody>
      </p:sp>
      <p:sp>
        <p:nvSpPr>
          <p:cNvPr id="3" name="Content Placeholder 2">
            <a:extLst>
              <a:ext uri="{FF2B5EF4-FFF2-40B4-BE49-F238E27FC236}">
                <a16:creationId xmlns:a16="http://schemas.microsoft.com/office/drawing/2014/main" id="{63E7A3A8-53C4-4697-CF15-F8019C76460C}"/>
              </a:ext>
            </a:extLst>
          </p:cNvPr>
          <p:cNvSpPr>
            <a:spLocks noGrp="1"/>
          </p:cNvSpPr>
          <p:nvPr>
            <p:ph idx="1"/>
          </p:nvPr>
        </p:nvSpPr>
        <p:spPr/>
        <p:txBody>
          <a:bodyPr/>
          <a:lstStyle/>
          <a:p>
            <a:r>
              <a:rPr lang="en-US" dirty="0"/>
              <a:t>Standards can be voluntary</a:t>
            </a:r>
          </a:p>
          <a:p>
            <a:r>
              <a:rPr lang="en-US" dirty="0"/>
              <a:t>Standards can be required</a:t>
            </a:r>
          </a:p>
          <a:p>
            <a:r>
              <a:rPr lang="en-US" dirty="0"/>
              <a:t>Standards are often domain specific</a:t>
            </a:r>
          </a:p>
          <a:p>
            <a:r>
              <a:rPr lang="en-US" dirty="0"/>
              <a:t>Standards can be interdisciplinary</a:t>
            </a:r>
          </a:p>
          <a:p>
            <a:r>
              <a:rPr lang="en-US" dirty="0"/>
              <a:t>Standards can incorporate or specify usability testing and validation</a:t>
            </a:r>
          </a:p>
          <a:p>
            <a:r>
              <a:rPr lang="en-US" dirty="0"/>
              <a:t>Some are enforced</a:t>
            </a:r>
          </a:p>
          <a:p>
            <a:endParaRPr lang="en-US" dirty="0"/>
          </a:p>
        </p:txBody>
      </p:sp>
    </p:spTree>
    <p:extLst>
      <p:ext uri="{BB962C8B-B14F-4D97-AF65-F5344CB8AC3E}">
        <p14:creationId xmlns:p14="http://schemas.microsoft.com/office/powerpoint/2010/main" val="728657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53041-1DE3-783F-D5DF-4B28B81F1E23}"/>
              </a:ext>
            </a:extLst>
          </p:cNvPr>
          <p:cNvSpPr>
            <a:spLocks noGrp="1"/>
          </p:cNvSpPr>
          <p:nvPr>
            <p:ph type="title"/>
          </p:nvPr>
        </p:nvSpPr>
        <p:spPr/>
        <p:txBody>
          <a:bodyPr/>
          <a:lstStyle/>
          <a:p>
            <a:r>
              <a:rPr lang="en-US" dirty="0"/>
              <a:t>Human Factors Standards (non-comprehensive)</a:t>
            </a:r>
          </a:p>
        </p:txBody>
      </p:sp>
      <p:sp>
        <p:nvSpPr>
          <p:cNvPr id="3" name="Content Placeholder 2">
            <a:extLst>
              <a:ext uri="{FF2B5EF4-FFF2-40B4-BE49-F238E27FC236}">
                <a16:creationId xmlns:a16="http://schemas.microsoft.com/office/drawing/2014/main" id="{AECE42B2-027E-50D6-C4AC-EBABF7D64C0D}"/>
              </a:ext>
            </a:extLst>
          </p:cNvPr>
          <p:cNvSpPr>
            <a:spLocks noGrp="1"/>
          </p:cNvSpPr>
          <p:nvPr>
            <p:ph idx="1"/>
          </p:nvPr>
        </p:nvSpPr>
        <p:spPr/>
        <p:txBody>
          <a:bodyPr/>
          <a:lstStyle/>
          <a:p>
            <a:r>
              <a:rPr lang="en-US" dirty="0"/>
              <a:t>MIL-STD-1472 (Military)</a:t>
            </a:r>
          </a:p>
          <a:p>
            <a:r>
              <a:rPr lang="en-US" dirty="0"/>
              <a:t>NUREG-0700 (Nuclear Power)</a:t>
            </a:r>
          </a:p>
          <a:p>
            <a:r>
              <a:rPr lang="en-US" dirty="0"/>
              <a:t>FAA 2016-12 (Aviation)</a:t>
            </a:r>
          </a:p>
          <a:p>
            <a:r>
              <a:rPr lang="en-US" dirty="0"/>
              <a:t>SAE Safety and Human Factors (Auto, not free)</a:t>
            </a:r>
          </a:p>
          <a:p>
            <a:r>
              <a:rPr lang="en-US" dirty="0"/>
              <a:t>ISO 9241-210:2019 Ergonomics of human-system interaction (not free)</a:t>
            </a:r>
          </a:p>
          <a:p>
            <a:r>
              <a:rPr lang="en-US" dirty="0"/>
              <a:t>FDA Guidance - Applying Human Factors and Usability Engineering to Medical Devices</a:t>
            </a:r>
          </a:p>
          <a:p>
            <a:endParaRPr lang="en-US" dirty="0"/>
          </a:p>
        </p:txBody>
      </p:sp>
    </p:spTree>
    <p:extLst>
      <p:ext uri="{BB962C8B-B14F-4D97-AF65-F5344CB8AC3E}">
        <p14:creationId xmlns:p14="http://schemas.microsoft.com/office/powerpoint/2010/main" val="1854139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5530-AEC7-27DD-1F5B-42573C7BD001}"/>
              </a:ext>
            </a:extLst>
          </p:cNvPr>
          <p:cNvSpPr>
            <a:spLocks noGrp="1"/>
          </p:cNvSpPr>
          <p:nvPr>
            <p:ph type="title"/>
          </p:nvPr>
        </p:nvSpPr>
        <p:spPr/>
        <p:txBody>
          <a:bodyPr/>
          <a:lstStyle/>
          <a:p>
            <a:r>
              <a:rPr lang="en-US" dirty="0"/>
              <a:t>When Did they come about?</a:t>
            </a:r>
          </a:p>
        </p:txBody>
      </p:sp>
      <p:sp>
        <p:nvSpPr>
          <p:cNvPr id="3" name="Content Placeholder 2">
            <a:extLst>
              <a:ext uri="{FF2B5EF4-FFF2-40B4-BE49-F238E27FC236}">
                <a16:creationId xmlns:a16="http://schemas.microsoft.com/office/drawing/2014/main" id="{6F71FB04-6FBB-0010-BB66-7E1682D52A60}"/>
              </a:ext>
            </a:extLst>
          </p:cNvPr>
          <p:cNvSpPr>
            <a:spLocks noGrp="1"/>
          </p:cNvSpPr>
          <p:nvPr>
            <p:ph idx="1"/>
          </p:nvPr>
        </p:nvSpPr>
        <p:spPr/>
        <p:txBody>
          <a:bodyPr/>
          <a:lstStyle/>
          <a:p>
            <a:r>
              <a:rPr lang="en-US" dirty="0"/>
              <a:t>NUREG 0700 (published in 1981) after 3-mile island</a:t>
            </a:r>
          </a:p>
          <a:p>
            <a:r>
              <a:rPr lang="en-US" dirty="0"/>
              <a:t>MIL-STD 1472 (1981) standardize procurement of equipment</a:t>
            </a:r>
          </a:p>
          <a:p>
            <a:pPr lvl="1"/>
            <a:r>
              <a:rPr lang="en-US" b="1" dirty="0"/>
              <a:t>B-17 "Flying Fortress" Bombers</a:t>
            </a:r>
            <a:r>
              <a:rPr lang="en-US" dirty="0"/>
              <a:t>: Pilots frequently retracted the landing gear instead of the flaps (or vice versa) due to identical toggle switches placed side by side. This design flaw caused catastrophic crashes during takeoff and landing.</a:t>
            </a:r>
          </a:p>
          <a:p>
            <a:pPr lvl="1"/>
            <a:r>
              <a:rPr lang="en-US" dirty="0"/>
              <a:t>1980-1990S Friendly fire incidents leading to legibility standards with Night Vision Googles</a:t>
            </a:r>
          </a:p>
          <a:p>
            <a:endParaRPr lang="en-US" dirty="0"/>
          </a:p>
          <a:p>
            <a:endParaRPr lang="en-US" dirty="0"/>
          </a:p>
        </p:txBody>
      </p:sp>
    </p:spTree>
    <p:extLst>
      <p:ext uri="{BB962C8B-B14F-4D97-AF65-F5344CB8AC3E}">
        <p14:creationId xmlns:p14="http://schemas.microsoft.com/office/powerpoint/2010/main" val="3149226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0701E-9BCC-29F4-9384-35065A0F4768}"/>
              </a:ext>
            </a:extLst>
          </p:cNvPr>
          <p:cNvSpPr>
            <a:spLocks noGrp="1"/>
          </p:cNvSpPr>
          <p:nvPr>
            <p:ph type="title"/>
          </p:nvPr>
        </p:nvSpPr>
        <p:spPr/>
        <p:txBody>
          <a:bodyPr/>
          <a:lstStyle/>
          <a:p>
            <a:r>
              <a:rPr lang="en-US" dirty="0"/>
              <a:t>How are they used?</a:t>
            </a:r>
          </a:p>
        </p:txBody>
      </p:sp>
      <p:sp>
        <p:nvSpPr>
          <p:cNvPr id="3" name="Content Placeholder 2">
            <a:extLst>
              <a:ext uri="{FF2B5EF4-FFF2-40B4-BE49-F238E27FC236}">
                <a16:creationId xmlns:a16="http://schemas.microsoft.com/office/drawing/2014/main" id="{C08D42F7-A2C0-644D-7F9D-41F63B22AEA6}"/>
              </a:ext>
            </a:extLst>
          </p:cNvPr>
          <p:cNvSpPr>
            <a:spLocks noGrp="1"/>
          </p:cNvSpPr>
          <p:nvPr>
            <p:ph idx="1"/>
          </p:nvPr>
        </p:nvSpPr>
        <p:spPr/>
        <p:txBody>
          <a:bodyPr>
            <a:normAutofit fontScale="62500" lnSpcReduction="20000"/>
          </a:bodyPr>
          <a:lstStyle/>
          <a:p>
            <a:r>
              <a:rPr lang="en-US" dirty="0"/>
              <a:t>As documentation for compliance</a:t>
            </a:r>
          </a:p>
          <a:p>
            <a:r>
              <a:rPr lang="en-US" dirty="0"/>
              <a:t>Certification</a:t>
            </a:r>
          </a:p>
          <a:p>
            <a:pPr lvl="1"/>
            <a:r>
              <a:rPr lang="en-US" dirty="0"/>
              <a:t>Healthcare, aviation (</a:t>
            </a:r>
            <a:r>
              <a:rPr lang="en-US" b="1" dirty="0"/>
              <a:t>DO-178C Certification for software)</a:t>
            </a:r>
            <a:r>
              <a:rPr lang="en-US" dirty="0"/>
              <a:t>, Consumer Products </a:t>
            </a:r>
            <a:r>
              <a:rPr lang="en-US" b="1" dirty="0"/>
              <a:t>(UL)</a:t>
            </a:r>
          </a:p>
          <a:p>
            <a:r>
              <a:rPr lang="en-US" dirty="0"/>
              <a:t>Formative evaluation</a:t>
            </a:r>
          </a:p>
          <a:p>
            <a:pPr lvl="1"/>
            <a:r>
              <a:rPr lang="en-US" dirty="0"/>
              <a:t>Early usability testing (</a:t>
            </a:r>
            <a:r>
              <a:rPr lang="en-US" b="1" dirty="0"/>
              <a:t>ISO 9241-210, MIL-STD-1472G)</a:t>
            </a:r>
            <a:endParaRPr lang="en-US" dirty="0"/>
          </a:p>
          <a:p>
            <a:r>
              <a:rPr lang="en-US" dirty="0"/>
              <a:t>User-centered design frameworks</a:t>
            </a:r>
          </a:p>
          <a:p>
            <a:pPr lvl="1"/>
            <a:r>
              <a:rPr lang="en-US" b="1" dirty="0"/>
              <a:t>ISO 9241-210</a:t>
            </a:r>
            <a:r>
              <a:rPr lang="en-US" dirty="0"/>
              <a:t>’s "user-centered design process" is used in automotive HMI (Human-Machine Interface) development to align touchscreen layouts with driver expectations.</a:t>
            </a:r>
          </a:p>
          <a:p>
            <a:pPr lvl="1"/>
            <a:r>
              <a:rPr lang="en-US" b="1" dirty="0"/>
              <a:t>SAE J2944</a:t>
            </a:r>
            <a:r>
              <a:rPr lang="en-US" dirty="0"/>
              <a:t> (Driver-Vehicle Interaction) helps automakers design infotainment systems that minimize distraction.</a:t>
            </a:r>
          </a:p>
          <a:p>
            <a:r>
              <a:rPr lang="en-US" dirty="0"/>
              <a:t>Design and Engineering</a:t>
            </a:r>
          </a:p>
          <a:p>
            <a:pPr lvl="1"/>
            <a:r>
              <a:rPr lang="en-US" dirty="0"/>
              <a:t>using anthropometric tables from MIL-STD-1472 for ergonomics</a:t>
            </a:r>
          </a:p>
          <a:p>
            <a:pPr lvl="1"/>
            <a:r>
              <a:rPr lang="en-US" dirty="0"/>
              <a:t>using NUREG 0700 to design HMI displays</a:t>
            </a:r>
          </a:p>
          <a:p>
            <a:pPr lvl="1"/>
            <a:r>
              <a:rPr lang="en-US" dirty="0"/>
              <a:t>WCAG2.1 for inclusive design</a:t>
            </a:r>
          </a:p>
          <a:p>
            <a:pPr lvl="1"/>
            <a:r>
              <a:rPr lang="en-US" dirty="0"/>
              <a:t>Guidelines for future products</a:t>
            </a:r>
          </a:p>
          <a:p>
            <a:r>
              <a:rPr lang="en-US" dirty="0"/>
              <a:t>Litigation</a:t>
            </a:r>
          </a:p>
          <a:p>
            <a:pPr lvl="1"/>
            <a:r>
              <a:rPr lang="en-US" dirty="0"/>
              <a:t>Show non-compliance of product to applicable standards</a:t>
            </a:r>
          </a:p>
          <a:p>
            <a:pPr lvl="1"/>
            <a:endParaRPr lang="en-US" dirty="0"/>
          </a:p>
          <a:p>
            <a:pPr lvl="1"/>
            <a:endParaRPr lang="en-US" dirty="0"/>
          </a:p>
        </p:txBody>
      </p:sp>
    </p:spTree>
    <p:extLst>
      <p:ext uri="{BB962C8B-B14F-4D97-AF65-F5344CB8AC3E}">
        <p14:creationId xmlns:p14="http://schemas.microsoft.com/office/powerpoint/2010/main" val="3529722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TotalTime>
  <Words>484</Words>
  <Application>Microsoft Office PowerPoint</Application>
  <PresentationFormat>Widescreen</PresentationFormat>
  <Paragraphs>49</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Standards for  Human Factors!</vt:lpstr>
      <vt:lpstr>What is a Standard?</vt:lpstr>
      <vt:lpstr>What is a Standard?</vt:lpstr>
      <vt:lpstr>Human Factors Standards</vt:lpstr>
      <vt:lpstr>Human Factors Standards (non-comprehensive)</vt:lpstr>
      <vt:lpstr>When Did they come about?</vt:lpstr>
      <vt:lpstr>How are they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Factors Standards!</dc:title>
  <dc:creator>Roger Lew</dc:creator>
  <cp:lastModifiedBy>Roger Lew</cp:lastModifiedBy>
  <cp:revision>4</cp:revision>
  <dcterms:created xsi:type="dcterms:W3CDTF">2023-02-01T17:56:42Z</dcterms:created>
  <dcterms:modified xsi:type="dcterms:W3CDTF">2025-01-29T23:24:34Z</dcterms:modified>
</cp:coreProperties>
</file>