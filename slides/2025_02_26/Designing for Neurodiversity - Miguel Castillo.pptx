
<file path=[Content_Types].xml><?xml version="1.0" encoding="utf-8"?>
<Types xmlns="http://schemas.openxmlformats.org/package/2006/content-types">
  <Default Extension="jpeg" ContentType="image/jpeg"/>
  <Default Extension="jpg" ContentType="image/jpeg"/>
  <Default Extension="m4a" ContentType="audi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0"/>
  </p:notesMasterIdLst>
  <p:sldIdLst>
    <p:sldId id="275" r:id="rId2"/>
    <p:sldId id="274" r:id="rId3"/>
    <p:sldId id="260" r:id="rId4"/>
    <p:sldId id="257" r:id="rId5"/>
    <p:sldId id="272" r:id="rId6"/>
    <p:sldId id="273" r:id="rId7"/>
    <p:sldId id="263" r:id="rId8"/>
    <p:sldId id="269" r:id="rId9"/>
    <p:sldId id="282" r:id="rId10"/>
    <p:sldId id="276" r:id="rId11"/>
    <p:sldId id="270" r:id="rId12"/>
    <p:sldId id="259" r:id="rId13"/>
    <p:sldId id="280" r:id="rId14"/>
    <p:sldId id="281" r:id="rId15"/>
    <p:sldId id="277" r:id="rId16"/>
    <p:sldId id="265" r:id="rId17"/>
    <p:sldId id="283" r:id="rId18"/>
    <p:sldId id="284"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2807"/>
    <p:restoredTop sz="90974"/>
  </p:normalViewPr>
  <p:slideViewPr>
    <p:cSldViewPr snapToGrid="0">
      <p:cViewPr varScale="1">
        <p:scale>
          <a:sx n="110" d="100"/>
          <a:sy n="110" d="100"/>
        </p:scale>
        <p:origin x="1048" y="1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7022CC5-CA37-1F4F-A2C7-41BCF1B405C2}" type="datetimeFigureOut">
              <a:rPr lang="en-US" smtClean="0"/>
              <a:t>2/26/25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BEC9F24-6ED1-F24B-BC02-E69E3D0AF317}" type="slidenum">
              <a:rPr lang="en-US" smtClean="0"/>
              <a:t>‹#›</a:t>
            </a:fld>
            <a:endParaRPr lang="en-US"/>
          </a:p>
        </p:txBody>
      </p:sp>
    </p:spTree>
    <p:extLst>
      <p:ext uri="{BB962C8B-B14F-4D97-AF65-F5344CB8AC3E}">
        <p14:creationId xmlns:p14="http://schemas.microsoft.com/office/powerpoint/2010/main" val="269203987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a:spcBef>
                <a:spcPts val="0"/>
              </a:spcBef>
              <a:spcAft>
                <a:spcPts val="0"/>
              </a:spcAft>
            </a:pPr>
            <a:r>
              <a:rPr lang="en-US" sz="1800" dirty="0">
                <a:effectLst/>
                <a:latin typeface="Calibri" panose="020F0502020204030204" pitchFamily="34" charset="0"/>
                <a:ea typeface="Calibri" panose="020F0502020204030204" pitchFamily="34" charset="0"/>
                <a:cs typeface="Times New Roman" panose="02020603050405020304" pitchFamily="18" charset="0"/>
              </a:rPr>
              <a:t>In this session, I’ll be presenting on </a:t>
            </a:r>
            <a:r>
              <a:rPr lang="en-US" sz="1800" i="1" dirty="0">
                <a:effectLst/>
                <a:latin typeface="Calibri" panose="020F0502020204030204" pitchFamily="34" charset="0"/>
                <a:ea typeface="Calibri" panose="020F0502020204030204" pitchFamily="34" charset="0"/>
                <a:cs typeface="Times New Roman" panose="02020603050405020304" pitchFamily="18" charset="0"/>
              </a:rPr>
              <a:t>Designing for Neurodiversity: Sensory-Inclusive Environments.</a:t>
            </a:r>
            <a:r>
              <a:rPr lang="en-US" sz="1800" dirty="0">
                <a:effectLst/>
                <a:latin typeface="Calibri" panose="020F0502020204030204" pitchFamily="34" charset="0"/>
                <a:ea typeface="Calibri" panose="020F0502020204030204" pitchFamily="34" charset="0"/>
                <a:cs typeface="Times New Roman" panose="02020603050405020304" pitchFamily="18" charset="0"/>
              </a:rPr>
              <a:t> My interest in this topic started when I came across the news article about LEGOLAND resorts in North America becoming Certified Autism Centers found on the class resources. This sounded interesting and I became curious in understanding what this meant? how would this it impact individuals on the spectrum?</a:t>
            </a:r>
          </a:p>
          <a:p>
            <a:pPr marL="0" marR="0">
              <a:spcBef>
                <a:spcPts val="0"/>
              </a:spcBef>
              <a:spcAft>
                <a:spcPts val="0"/>
              </a:spcAft>
            </a:pPr>
            <a:r>
              <a:rPr lang="en-US" sz="1800" dirty="0">
                <a:effectLst/>
                <a:latin typeface="Calibri" panose="020F0502020204030204" pitchFamily="34" charset="0"/>
                <a:ea typeface="Calibri" panose="020F0502020204030204" pitchFamily="34" charset="0"/>
                <a:cs typeface="Times New Roman" panose="02020603050405020304" pitchFamily="18" charset="0"/>
              </a:rPr>
              <a:t> </a:t>
            </a:r>
          </a:p>
          <a:p>
            <a:pPr marL="0" marR="0">
              <a:spcBef>
                <a:spcPts val="0"/>
              </a:spcBef>
              <a:spcAft>
                <a:spcPts val="0"/>
              </a:spcAft>
            </a:pPr>
            <a:r>
              <a:rPr lang="en-US" sz="1800" dirty="0">
                <a:effectLst/>
                <a:latin typeface="Calibri" panose="020F0502020204030204" pitchFamily="34" charset="0"/>
                <a:ea typeface="Calibri" panose="020F0502020204030204" pitchFamily="34" charset="0"/>
                <a:cs typeface="Times New Roman" panose="02020603050405020304" pitchFamily="18" charset="0"/>
              </a:rPr>
              <a:t>As I learned more about the topic, I became aware of the sensory processing differences. I was surprised by how much everyday environmental stimuli can affect neurodivergent individuals. So, I wanted to share what I learned. </a:t>
            </a:r>
          </a:p>
          <a:p>
            <a:pPr marL="0" marR="0">
              <a:spcBef>
                <a:spcPts val="0"/>
              </a:spcBef>
              <a:spcAft>
                <a:spcPts val="0"/>
              </a:spcAft>
            </a:pP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a:spcBef>
                <a:spcPts val="0"/>
              </a:spcBef>
              <a:spcAft>
                <a:spcPts val="0"/>
              </a:spcAft>
            </a:pPr>
            <a:r>
              <a:rPr lang="en-US" sz="1800" dirty="0">
                <a:effectLst/>
                <a:latin typeface="Calibri" panose="020F0502020204030204" pitchFamily="34" charset="0"/>
                <a:ea typeface="Calibri" panose="020F0502020204030204" pitchFamily="34" charset="0"/>
                <a:cs typeface="Times New Roman" panose="02020603050405020304" pitchFamily="18" charset="0"/>
              </a:rPr>
              <a:t>I think understanding these sensory differences can help designers create more inclusive and comfortable experiences for a wide range of people. </a:t>
            </a:r>
          </a:p>
        </p:txBody>
      </p:sp>
      <p:sp>
        <p:nvSpPr>
          <p:cNvPr id="4" name="Slide Number Placeholder 3"/>
          <p:cNvSpPr>
            <a:spLocks noGrp="1"/>
          </p:cNvSpPr>
          <p:nvPr>
            <p:ph type="sldNum" sz="quarter" idx="5"/>
          </p:nvPr>
        </p:nvSpPr>
        <p:spPr/>
        <p:txBody>
          <a:bodyPr/>
          <a:lstStyle/>
          <a:p>
            <a:fld id="{ABEC9F24-6ED1-F24B-BC02-E69E3D0AF317}" type="slidenum">
              <a:rPr lang="en-US" smtClean="0"/>
              <a:t>1</a:t>
            </a:fld>
            <a:endParaRPr lang="en-US"/>
          </a:p>
        </p:txBody>
      </p:sp>
    </p:spTree>
    <p:extLst>
      <p:ext uri="{BB962C8B-B14F-4D97-AF65-F5344CB8AC3E}">
        <p14:creationId xmlns:p14="http://schemas.microsoft.com/office/powerpoint/2010/main" val="144321141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sz="2800" b="0" i="0" u="none" strike="noStrike" dirty="0">
                <a:solidFill>
                  <a:srgbClr val="000000"/>
                </a:solidFill>
                <a:effectLst/>
              </a:rPr>
              <a:t>I assume everyone knows what LEGOLAND is, but if not, it’s basically a theme park with rides and shows, similar to Disneyland or Universal Studios.</a:t>
            </a:r>
          </a:p>
          <a:p>
            <a:pPr algn="l"/>
            <a:endParaRPr lang="en-US" sz="2800" b="0" i="0" u="none" strike="noStrike" dirty="0">
              <a:solidFill>
                <a:srgbClr val="000000"/>
              </a:solidFill>
              <a:effectLst/>
            </a:endParaRPr>
          </a:p>
          <a:p>
            <a:pPr algn="l"/>
            <a:r>
              <a:rPr lang="en-US" sz="2800" b="0" i="0" u="none" strike="noStrike" dirty="0">
                <a:solidFill>
                  <a:srgbClr val="000000"/>
                </a:solidFill>
                <a:effectLst/>
              </a:rPr>
              <a:t>As of 2023, all LEGOLAND resorts in North America have been designated as Certified Autism Centers.</a:t>
            </a:r>
          </a:p>
          <a:p>
            <a:pPr algn="l"/>
            <a:endParaRPr lang="en-US" sz="2800" b="0" i="0" u="none" strike="noStrike" dirty="0">
              <a:solidFill>
                <a:srgbClr val="000000"/>
              </a:solidFill>
              <a:effectLst/>
            </a:endParaRPr>
          </a:p>
          <a:p>
            <a:pPr algn="l"/>
            <a:r>
              <a:rPr lang="en-US" sz="2800" b="0" i="0" u="none" strike="noStrike" dirty="0">
                <a:solidFill>
                  <a:srgbClr val="000000"/>
                </a:solidFill>
                <a:effectLst/>
              </a:rPr>
              <a:t>LEGOLAND partnered with the International Board of Credentialing and Continuing Education Standards (IBCCES) to achieve this certification across its theme parks, water park, and on-site hotels.</a:t>
            </a:r>
          </a:p>
          <a:p>
            <a:pPr algn="l"/>
            <a:endParaRPr lang="en-US" sz="2800" b="0" i="0" u="none" strike="noStrike" dirty="0">
              <a:solidFill>
                <a:srgbClr val="000000"/>
              </a:solidFill>
              <a:effectLst/>
            </a:endParaRPr>
          </a:p>
          <a:p>
            <a:pPr algn="l"/>
            <a:r>
              <a:rPr lang="en-US" sz="2800" b="0" i="0" u="none" strike="noStrike" dirty="0">
                <a:solidFill>
                  <a:srgbClr val="000000"/>
                </a:solidFill>
                <a:effectLst/>
              </a:rPr>
              <a:t>This means the board provided them evidence-based training, onsite reviews, and customized recommendations. </a:t>
            </a:r>
          </a:p>
          <a:p>
            <a:pPr algn="l"/>
            <a:endParaRPr lang="en-US" sz="2800" b="0" i="0" u="none" strike="noStrike" dirty="0">
              <a:solidFill>
                <a:srgbClr val="000000"/>
              </a:solidFill>
              <a:effectLst/>
            </a:endParaRPr>
          </a:p>
          <a:p>
            <a:pPr algn="l"/>
            <a:r>
              <a:rPr lang="en-US" sz="2800" b="0" i="0" u="none" strike="noStrike" dirty="0">
                <a:solidFill>
                  <a:srgbClr val="000000"/>
                </a:solidFill>
                <a:effectLst/>
              </a:rPr>
              <a:t>This board worked with the resort to conduct a staff-wide autism sensitivity and awareness training. This ensures team members are equipped to better assist individuals on the spectrum or those with other sensory sensitivities.</a:t>
            </a:r>
          </a:p>
          <a:p>
            <a:pPr algn="l"/>
            <a:endParaRPr lang="en-US" sz="2800" b="0" i="0" u="none" strike="noStrike" dirty="0">
              <a:solidFill>
                <a:srgbClr val="000000"/>
              </a:solidFill>
              <a:effectLst/>
            </a:endParaRPr>
          </a:p>
          <a:p>
            <a:pPr algn="l"/>
            <a:r>
              <a:rPr lang="en-US" sz="2800" b="0" i="0" u="none" strike="noStrike" dirty="0">
                <a:solidFill>
                  <a:srgbClr val="000000"/>
                </a:solidFill>
                <a:effectLst/>
              </a:rPr>
              <a:t>Additionally, they ensured designated spaces on-site provide quiet rooms and low-sensory areas, allowing guests with sensory sensitivities to take a break and relax in a less stimulating environment.</a:t>
            </a:r>
          </a:p>
          <a:p>
            <a:pPr algn="l"/>
            <a:endParaRPr lang="en-US" sz="2800" b="0" i="0" u="none" strike="noStrike" dirty="0">
              <a:solidFill>
                <a:srgbClr val="000000"/>
              </a:solidFill>
              <a:effectLst/>
            </a:endParaRPr>
          </a:p>
          <a:p>
            <a:pPr algn="l"/>
            <a:r>
              <a:rPr lang="en-US" sz="2800" b="0" i="0" u="none" strike="noStrike" dirty="0">
                <a:solidFill>
                  <a:srgbClr val="000000"/>
                </a:solidFill>
                <a:effectLst/>
              </a:rPr>
              <a:t>Also, the board conducted an in-depth review of the resort to help develop detailed Sensory Guides. These guides indicate whether there are bright lights, loud sounds, or other features guests might need to plan around.</a:t>
            </a:r>
          </a:p>
          <a:p>
            <a:pPr algn="l"/>
            <a:endParaRPr lang="en-US" sz="2800" b="0" i="0" u="none" strike="noStrike" dirty="0">
              <a:solidFill>
                <a:srgbClr val="000000"/>
              </a:solidFill>
              <a:effectLst/>
            </a:endParaRPr>
          </a:p>
          <a:p>
            <a:pPr algn="l"/>
            <a:r>
              <a:rPr lang="en-US" sz="4000" b="0" i="0" u="none" strike="noStrike" dirty="0">
                <a:solidFill>
                  <a:srgbClr val="000000"/>
                </a:solidFill>
                <a:effectLst/>
                <a:latin typeface="-webkit-standard"/>
              </a:rPr>
              <a:t>I found this particularly interesting because it helps parents and/or those who are neurodivergent prepare well in advance to reduce uncertainty and anxiety, which I learned is a common practice among the community.</a:t>
            </a:r>
            <a:endParaRPr lang="en-US" sz="2800" b="0" i="0" u="none" strike="noStrike" dirty="0">
              <a:solidFill>
                <a:srgbClr val="000000"/>
              </a:solidFill>
              <a:effectLst/>
            </a:endParaRPr>
          </a:p>
        </p:txBody>
      </p:sp>
      <p:sp>
        <p:nvSpPr>
          <p:cNvPr id="4" name="Slide Number Placeholder 3"/>
          <p:cNvSpPr>
            <a:spLocks noGrp="1"/>
          </p:cNvSpPr>
          <p:nvPr>
            <p:ph type="sldNum" sz="quarter" idx="5"/>
          </p:nvPr>
        </p:nvSpPr>
        <p:spPr/>
        <p:txBody>
          <a:bodyPr/>
          <a:lstStyle/>
          <a:p>
            <a:fld id="{ABEC9F24-6ED1-F24B-BC02-E69E3D0AF317}" type="slidenum">
              <a:rPr lang="en-US" smtClean="0"/>
              <a:t>2</a:t>
            </a:fld>
            <a:endParaRPr lang="en-US"/>
          </a:p>
        </p:txBody>
      </p:sp>
    </p:spTree>
    <p:extLst>
      <p:ext uri="{BB962C8B-B14F-4D97-AF65-F5344CB8AC3E}">
        <p14:creationId xmlns:p14="http://schemas.microsoft.com/office/powerpoint/2010/main" val="340682112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dirty="0">
                <a:effectLst/>
                <a:latin typeface="CeraPro"/>
              </a:rPr>
              <a:t>SENSORY LEVEL &amp; PARTICIPANT GUIDELINES: </a:t>
            </a:r>
            <a:r>
              <a:rPr lang="en-US" sz="1800" dirty="0">
                <a:effectLst/>
                <a:latin typeface="CeraPro"/>
              </a:rPr>
              <a:t>1 = Low Sensory Stimulation, 10 = High Sensory Stimulation </a:t>
            </a:r>
            <a:endParaRPr lang="en-US" dirty="0">
              <a:effectLst/>
            </a:endParaRPr>
          </a:p>
          <a:p>
            <a:endParaRPr lang="en-US" dirty="0"/>
          </a:p>
          <a:p>
            <a:r>
              <a:rPr lang="en-US" sz="1200" dirty="0">
                <a:effectLst/>
                <a:latin typeface="Calibri" panose="020F0502020204030204" pitchFamily="34" charset="0"/>
                <a:ea typeface="Calibri" panose="020F0502020204030204" pitchFamily="34" charset="0"/>
                <a:cs typeface="Times New Roman" panose="02020603050405020304" pitchFamily="18" charset="0"/>
              </a:rPr>
              <a:t>The guides are posted on each ride and on our website and mobile app. </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This is the sensory guide for LEGOLAND in New York. As you can see it provides information about the individual attraction, and the sense rating for each of the sense with a description.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effectLst/>
                <a:latin typeface="Calibri" panose="020F0502020204030204" pitchFamily="34" charset="0"/>
                <a:ea typeface="Calibri" panose="020F0502020204030204" pitchFamily="34" charset="0"/>
                <a:cs typeface="Times New Roman" panose="02020603050405020304" pitchFamily="18" charset="0"/>
              </a:rPr>
              <a:t>They indicate whether there are bright lights, loud sounds, or any features families might need to plan around. </a:t>
            </a:r>
          </a:p>
          <a:p>
            <a:endParaRPr lang="en-US" dirty="0"/>
          </a:p>
          <a:p>
            <a:r>
              <a:rPr lang="en-US" dirty="0"/>
              <a:t>Overall, it provides </a:t>
            </a:r>
            <a:r>
              <a:rPr lang="en-US" sz="1800" dirty="0">
                <a:effectLst/>
                <a:latin typeface="Calibri" panose="020F0502020204030204" pitchFamily="34" charset="0"/>
                <a:ea typeface="Calibri" panose="020F0502020204030204" pitchFamily="34" charset="0"/>
                <a:cs typeface="Times New Roman" panose="02020603050405020304" pitchFamily="18" charset="0"/>
              </a:rPr>
              <a:t>insight on how each attraction may affect each of the five senses. </a:t>
            </a:r>
          </a:p>
          <a:p>
            <a:pPr marL="0" marR="0">
              <a:spcBef>
                <a:spcPts val="0"/>
              </a:spcBef>
              <a:spcAft>
                <a:spcPts val="0"/>
              </a:spcAft>
            </a:pPr>
            <a:r>
              <a:rPr lang="en-US" sz="1800" dirty="0">
                <a:effectLst/>
                <a:latin typeface="Calibri" panose="020F0502020204030204" pitchFamily="34" charset="0"/>
                <a:ea typeface="Calibri" panose="020F0502020204030204" pitchFamily="34" charset="0"/>
                <a:cs typeface="Times New Roman" panose="02020603050405020304" pitchFamily="18" charset="0"/>
              </a:rPr>
              <a:t> </a:t>
            </a:r>
          </a:p>
          <a:p>
            <a:pPr marL="0" marR="0">
              <a:spcBef>
                <a:spcPts val="0"/>
              </a:spcBef>
              <a:spcAft>
                <a:spcPts val="0"/>
              </a:spcAft>
            </a:pPr>
            <a:r>
              <a:rPr lang="en-US" sz="1800" dirty="0">
                <a:effectLst/>
                <a:latin typeface="Calibri" panose="020F0502020204030204" pitchFamily="34" charset="0"/>
                <a:ea typeface="Calibri" panose="020F0502020204030204" pitchFamily="34" charset="0"/>
                <a:cs typeface="Times New Roman" panose="02020603050405020304" pitchFamily="18" charset="0"/>
              </a:rPr>
              <a:t>By rating the sensory levels of each attraction – touch, taste, sound, sight, and smell – we make it easier for families to pre-plan activities that align with the needs of their children or themselves. </a:t>
            </a:r>
          </a:p>
          <a:p>
            <a:pPr marL="0" marR="0">
              <a:spcBef>
                <a:spcPts val="0"/>
              </a:spcBef>
              <a:spcAft>
                <a:spcPts val="0"/>
              </a:spcAft>
            </a:pPr>
            <a:r>
              <a:rPr lang="en-US" sz="1800" dirty="0">
                <a:effectLst/>
                <a:latin typeface="Calibri" panose="020F0502020204030204" pitchFamily="34" charset="0"/>
                <a:ea typeface="Calibri" panose="020F0502020204030204" pitchFamily="34" charset="0"/>
                <a:cs typeface="Times New Roman" panose="02020603050405020304" pitchFamily="18" charset="0"/>
              </a:rPr>
              <a:t> </a:t>
            </a:r>
          </a:p>
          <a:p>
            <a:pPr marL="0" marR="0">
              <a:spcBef>
                <a:spcPts val="0"/>
              </a:spcBef>
              <a:spcAft>
                <a:spcPts val="0"/>
              </a:spcAft>
            </a:pPr>
            <a:r>
              <a:rPr lang="en-US" sz="1800" dirty="0">
                <a:effectLst/>
                <a:latin typeface="Calibri" panose="020F0502020204030204" pitchFamily="34" charset="0"/>
                <a:ea typeface="Calibri" panose="020F0502020204030204" pitchFamily="34" charset="0"/>
                <a:cs typeface="Times New Roman" panose="02020603050405020304" pitchFamily="18" charset="0"/>
              </a:rPr>
              <a:t>Guides also feature a Park map that indicates low-traffic areas for visitors needing a low-sensory break area.</a:t>
            </a:r>
          </a:p>
          <a:p>
            <a:pPr marL="0" marR="0">
              <a:spcBef>
                <a:spcPts val="0"/>
              </a:spcBef>
              <a:spcAft>
                <a:spcPts val="0"/>
              </a:spcAft>
            </a:pP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fld id="{ABEC9F24-6ED1-F24B-BC02-E69E3D0AF317}" type="slidenum">
              <a:rPr lang="en-US" smtClean="0"/>
              <a:t>3</a:t>
            </a:fld>
            <a:endParaRPr lang="en-US"/>
          </a:p>
        </p:txBody>
      </p:sp>
    </p:spTree>
    <p:extLst>
      <p:ext uri="{BB962C8B-B14F-4D97-AF65-F5344CB8AC3E}">
        <p14:creationId xmlns:p14="http://schemas.microsoft.com/office/powerpoint/2010/main" val="338258720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b="0" i="0" u="none" strike="noStrike" dirty="0">
                <a:solidFill>
                  <a:srgbClr val="000000"/>
                </a:solidFill>
                <a:effectLst/>
              </a:rPr>
              <a:t>As you can see, LEGOLAND’s implementations primarily address sensory sensitivity needs, which are often overlooked since most visitors do not require these accommodations to enjoy the resort.</a:t>
            </a:r>
          </a:p>
          <a:p>
            <a:pPr algn="l"/>
            <a:endParaRPr lang="en-US" b="0" i="0" u="none" strike="noStrike" dirty="0">
              <a:solidFill>
                <a:srgbClr val="000000"/>
              </a:solidFill>
              <a:effectLst/>
            </a:endParaRPr>
          </a:p>
          <a:p>
            <a:pPr algn="l"/>
            <a:r>
              <a:rPr lang="en-US" b="0" i="0" u="none" strike="noStrike" dirty="0">
                <a:solidFill>
                  <a:srgbClr val="000000"/>
                </a:solidFill>
                <a:effectLst/>
              </a:rPr>
              <a:t>These individuals are sometimes collectively referred to as </a:t>
            </a:r>
            <a:r>
              <a:rPr lang="en-US" b="1" i="0" u="none" strike="noStrike" dirty="0">
                <a:solidFill>
                  <a:srgbClr val="000000"/>
                </a:solidFill>
                <a:effectLst/>
              </a:rPr>
              <a:t>Neurotypical</a:t>
            </a:r>
            <a:r>
              <a:rPr lang="en-US" b="0" i="0" u="none" strike="noStrike" dirty="0">
                <a:solidFill>
                  <a:srgbClr val="000000"/>
                </a:solidFill>
                <a:effectLst/>
              </a:rPr>
              <a:t>:</a:t>
            </a:r>
          </a:p>
          <a:p>
            <a:pPr marL="171450" indent="-171450" algn="l">
              <a:buFont typeface="Arial" panose="020B0604020202020204" pitchFamily="34" charset="0"/>
              <a:buChar char="•"/>
            </a:pPr>
            <a:r>
              <a:rPr lang="en-US" b="0" i="0" u="none" strike="noStrike" dirty="0">
                <a:solidFill>
                  <a:srgbClr val="000000"/>
                </a:solidFill>
                <a:effectLst/>
              </a:rPr>
              <a:t>A neurotypical person has neurocognitive functions (thinking and reasoning abilities) that align with societal norms and expectations.</a:t>
            </a:r>
          </a:p>
          <a:p>
            <a:pPr algn="l"/>
            <a:endParaRPr lang="en-US" b="1" i="0" u="none" strike="noStrike" dirty="0">
              <a:solidFill>
                <a:srgbClr val="000000"/>
              </a:solidFill>
              <a:effectLst/>
            </a:endParaRPr>
          </a:p>
          <a:p>
            <a:pPr algn="l"/>
            <a:r>
              <a:rPr lang="en-US" b="0" i="0" u="none" strike="noStrike" dirty="0">
                <a:solidFill>
                  <a:srgbClr val="000000"/>
                </a:solidFill>
                <a:effectLst/>
              </a:rPr>
              <a:t>So, who require these  accommodations? LEGOLAND specifically mentions individuals on the autism spectrum and those with other sensory sensitivities. However, </a:t>
            </a:r>
            <a:r>
              <a:rPr lang="en-US" b="1" i="0" u="none" strike="noStrike" dirty="0">
                <a:solidFill>
                  <a:srgbClr val="000000"/>
                </a:solidFill>
                <a:effectLst/>
              </a:rPr>
              <a:t>sensory sensitivity can affect people of all ages and abilities</a:t>
            </a:r>
            <a:r>
              <a:rPr lang="en-US" b="0" i="0" u="none" strike="noStrike" dirty="0">
                <a:solidFill>
                  <a:srgbClr val="000000"/>
                </a:solidFill>
                <a:effectLst/>
              </a:rPr>
              <a:t>—whether temporarily or permanently—and may co-occur with various diagnoses, or simple differences, including (but not limited to): </a:t>
            </a:r>
            <a:r>
              <a:rPr lang="en-US" b="1" i="0" u="none" strike="noStrike" dirty="0">
                <a:solidFill>
                  <a:srgbClr val="000000"/>
                </a:solidFill>
                <a:effectLst/>
              </a:rPr>
              <a:t>Autism, ADHD, PTSD.</a:t>
            </a:r>
          </a:p>
          <a:p>
            <a:pPr algn="l"/>
            <a:endParaRPr lang="en-US" b="0" i="0" u="none" strike="noStrike" dirty="0">
              <a:solidFill>
                <a:srgbClr val="000000"/>
              </a:solidFill>
              <a:effectLst/>
            </a:endParaRPr>
          </a:p>
          <a:p>
            <a:pPr algn="l"/>
            <a:r>
              <a:rPr lang="en-US" b="0" i="0" u="none" strike="noStrike" dirty="0">
                <a:solidFill>
                  <a:srgbClr val="000000"/>
                </a:solidFill>
                <a:effectLst/>
              </a:rPr>
              <a:t>These individuals are often grouped as </a:t>
            </a:r>
            <a:r>
              <a:rPr lang="en-US" b="1" i="0" u="none" strike="noStrike" dirty="0">
                <a:solidFill>
                  <a:srgbClr val="000000"/>
                </a:solidFill>
                <a:effectLst/>
              </a:rPr>
              <a:t>Neurodivergent</a:t>
            </a:r>
            <a:r>
              <a:rPr lang="en-US" b="0" i="0" u="none" strike="noStrike" dirty="0">
                <a:solidFill>
                  <a:srgbClr val="000000"/>
                </a:solidFill>
                <a:effectLst/>
              </a:rPr>
              <a:t>: </a:t>
            </a:r>
          </a:p>
          <a:p>
            <a:pPr marL="171450" indent="-171450" algn="l">
              <a:buFont typeface="Arial" panose="020B0604020202020204" pitchFamily="34" charset="0"/>
              <a:buChar char="•"/>
            </a:pPr>
            <a:r>
              <a:rPr lang="en-US" b="0" i="0" u="none" strike="noStrike" dirty="0">
                <a:solidFill>
                  <a:srgbClr val="000000"/>
                </a:solidFill>
                <a:effectLst/>
              </a:rPr>
              <a:t>Neurodivergent refers to people whose neurocognitive functions diverge from societal norms and expectations.</a:t>
            </a:r>
          </a:p>
          <a:p>
            <a:pPr algn="l"/>
            <a:endParaRPr lang="en-US" b="0" i="0" u="none" strike="noStrike" dirty="0">
              <a:solidFill>
                <a:srgbClr val="000000"/>
              </a:solidFill>
              <a:effectLst/>
            </a:endParaRPr>
          </a:p>
          <a:p>
            <a:pPr algn="l"/>
            <a:r>
              <a:rPr lang="en-US" b="0" i="0" u="none" strike="noStrike" dirty="0">
                <a:solidFill>
                  <a:srgbClr val="000000"/>
                </a:solidFill>
                <a:effectLst/>
              </a:rPr>
              <a:t>However, many individuals have not undergone formal neurological assessment or do not fit neatly into one category. Even neurotypical individuals can be affected by elements of the built environment—for example, experiencing dizziness or headaches due to excessive sensory stimulation (auditory or visual noise).</a:t>
            </a:r>
          </a:p>
          <a:p>
            <a:pPr algn="l"/>
            <a:endParaRPr lang="en-US" b="0" i="0" u="none" strike="noStrike" dirty="0">
              <a:solidFill>
                <a:srgbClr val="000000"/>
              </a:solidFill>
              <a:effectLst/>
            </a:endParaRPr>
          </a:p>
          <a:p>
            <a:pPr algn="l"/>
            <a:r>
              <a:rPr lang="en-US" b="0" i="0" u="none" strike="noStrike" dirty="0">
                <a:solidFill>
                  <a:srgbClr val="000000"/>
                </a:solidFill>
                <a:effectLst/>
              </a:rPr>
              <a:t>To ensure </a:t>
            </a:r>
            <a:r>
              <a:rPr lang="en-US" b="1" i="0" u="none" strike="noStrike" dirty="0">
                <a:solidFill>
                  <a:srgbClr val="000000"/>
                </a:solidFill>
                <a:effectLst/>
              </a:rPr>
              <a:t>inclusive and enjoyable experiences for everyone,</a:t>
            </a:r>
            <a:r>
              <a:rPr lang="en-US" b="0" i="0" u="none" strike="noStrike" dirty="0">
                <a:solidFill>
                  <a:srgbClr val="000000"/>
                </a:solidFill>
                <a:effectLst/>
              </a:rPr>
              <a:t> designers and stakeholders must</a:t>
            </a:r>
            <a:r>
              <a:rPr lang="en-US" b="0" i="0" u="none" strike="noStrike" dirty="0">
                <a:solidFill>
                  <a:srgbClr val="000000"/>
                </a:solidFill>
                <a:effectLst/>
                <a:latin typeface="-webkit-standard"/>
              </a:rPr>
              <a:t> recognize the wide range of ways people experience and process the world due to neurodiversity.</a:t>
            </a:r>
            <a:r>
              <a:rPr lang="en-US" b="0" i="0" u="none" strike="noStrike" dirty="0">
                <a:solidFill>
                  <a:srgbClr val="000000"/>
                </a:solidFill>
                <a:effectLst/>
              </a:rPr>
              <a:t> </a:t>
            </a:r>
          </a:p>
          <a:p>
            <a:pPr algn="l"/>
            <a:endParaRPr lang="en-US" b="0" i="0" u="none" strike="noStrike" dirty="0">
              <a:solidFill>
                <a:srgbClr val="000000"/>
              </a:solidFill>
              <a:effectLst/>
            </a:endParaRPr>
          </a:p>
          <a:p>
            <a:pPr algn="l"/>
            <a:r>
              <a:rPr lang="en-US" b="0" i="0" u="none" strike="noStrike" dirty="0">
                <a:solidFill>
                  <a:srgbClr val="000000"/>
                </a:solidFill>
                <a:effectLst/>
              </a:rPr>
              <a:t>This presentation primarily focuses on individuals on the autism spectrum—who frequently experience sensory processing differences— but the insights may also apply to anyone with sensory processing difference. </a:t>
            </a:r>
          </a:p>
          <a:p>
            <a:pPr algn="l"/>
            <a:endParaRPr lang="en-US" dirty="0"/>
          </a:p>
        </p:txBody>
      </p:sp>
      <p:sp>
        <p:nvSpPr>
          <p:cNvPr id="4" name="Slide Number Placeholder 3"/>
          <p:cNvSpPr>
            <a:spLocks noGrp="1"/>
          </p:cNvSpPr>
          <p:nvPr>
            <p:ph type="sldNum" sz="quarter" idx="5"/>
          </p:nvPr>
        </p:nvSpPr>
        <p:spPr/>
        <p:txBody>
          <a:bodyPr/>
          <a:lstStyle/>
          <a:p>
            <a:fld id="{ABEC9F24-6ED1-F24B-BC02-E69E3D0AF317}" type="slidenum">
              <a:rPr lang="en-US" smtClean="0"/>
              <a:t>4</a:t>
            </a:fld>
            <a:endParaRPr lang="en-US"/>
          </a:p>
        </p:txBody>
      </p:sp>
    </p:spTree>
    <p:extLst>
      <p:ext uri="{BB962C8B-B14F-4D97-AF65-F5344CB8AC3E}">
        <p14:creationId xmlns:p14="http://schemas.microsoft.com/office/powerpoint/2010/main" val="133120057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r>
              <a:rPr lang="en-US" b="0" dirty="0"/>
              <a:t>Now, </a:t>
            </a:r>
          </a:p>
          <a:p>
            <a:pPr marL="0" indent="0">
              <a:buNone/>
            </a:pPr>
            <a:endParaRPr lang="en-US" b="0" dirty="0"/>
          </a:p>
          <a:p>
            <a:pPr marL="0" indent="0">
              <a:buNone/>
            </a:pPr>
            <a:r>
              <a:rPr lang="en-US" b="0" dirty="0"/>
              <a:t>As a refresher, </a:t>
            </a:r>
            <a:r>
              <a:rPr lang="en-US" b="1" dirty="0"/>
              <a:t>Sensory processing </a:t>
            </a:r>
            <a:r>
              <a:rPr lang="en-US" dirty="0"/>
              <a:t>is how information is perceived, processed and organized when received through the senses i.e., hearing, sight, smell, touch, taste and movement. </a:t>
            </a:r>
          </a:p>
          <a:p>
            <a:pPr marL="0" indent="0">
              <a:buNone/>
            </a:pPr>
            <a:endParaRPr lang="en-US" dirty="0"/>
          </a:p>
          <a:p>
            <a:pPr marL="0" indent="0">
              <a:buNone/>
            </a:pPr>
            <a:r>
              <a:rPr lang="en-US" dirty="0"/>
              <a:t>So, to have a </a:t>
            </a:r>
            <a:r>
              <a:rPr lang="en-US" b="1" dirty="0"/>
              <a:t>sensory processing difference</a:t>
            </a:r>
            <a:r>
              <a:rPr lang="en-US" dirty="0"/>
              <a:t>, is to react through the senses in a different way to the majority. </a:t>
            </a:r>
          </a:p>
          <a:p>
            <a:pPr marL="0" indent="0">
              <a:buNone/>
            </a:pPr>
            <a:endParaRPr lang="en-US" dirty="0"/>
          </a:p>
          <a:p>
            <a:pPr marL="0" indent="0">
              <a:buNone/>
            </a:pPr>
            <a:r>
              <a:rPr lang="en-US" dirty="0"/>
              <a:t>This reaction may be</a:t>
            </a:r>
            <a:r>
              <a:rPr lang="en-US" b="1" dirty="0"/>
              <a:t> hypersensitive </a:t>
            </a:r>
            <a:r>
              <a:rPr lang="en-US" dirty="0"/>
              <a:t>where the neurological reaction is high or overwhelming, or </a:t>
            </a:r>
            <a:r>
              <a:rPr lang="en-US" b="1" dirty="0"/>
              <a:t>hyposensitive</a:t>
            </a:r>
            <a:r>
              <a:rPr lang="en-US" dirty="0"/>
              <a:t> where the reaction is very low or underwhelming.</a:t>
            </a:r>
          </a:p>
          <a:p>
            <a:endParaRPr lang="en-US" dirty="0"/>
          </a:p>
        </p:txBody>
      </p:sp>
      <p:sp>
        <p:nvSpPr>
          <p:cNvPr id="4" name="Slide Number Placeholder 3"/>
          <p:cNvSpPr>
            <a:spLocks noGrp="1"/>
          </p:cNvSpPr>
          <p:nvPr>
            <p:ph type="sldNum" sz="quarter" idx="5"/>
          </p:nvPr>
        </p:nvSpPr>
        <p:spPr/>
        <p:txBody>
          <a:bodyPr/>
          <a:lstStyle/>
          <a:p>
            <a:fld id="{ABEC9F24-6ED1-F24B-BC02-E69E3D0AF317}" type="slidenum">
              <a:rPr lang="en-US" smtClean="0"/>
              <a:t>5</a:t>
            </a:fld>
            <a:endParaRPr lang="en-US"/>
          </a:p>
        </p:txBody>
      </p:sp>
    </p:spTree>
    <p:extLst>
      <p:ext uri="{BB962C8B-B14F-4D97-AF65-F5344CB8AC3E}">
        <p14:creationId xmlns:p14="http://schemas.microsoft.com/office/powerpoint/2010/main" val="414209126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Hypersensitivity</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We can think of hypersensitivity as </a:t>
            </a:r>
            <a:r>
              <a:rPr lang="en-US" b="1" dirty="0"/>
              <a:t>Over stimulation</a:t>
            </a:r>
          </a:p>
          <a:p>
            <a:pPr marL="171450" indent="-171450">
              <a:buFont typeface="Arial" panose="020B0604020202020204" pitchFamily="34" charset="0"/>
              <a:buChar char="•"/>
            </a:pPr>
            <a:r>
              <a:rPr lang="en-US" dirty="0"/>
              <a:t>H</a:t>
            </a:r>
            <a:r>
              <a:rPr lang="en-US" dirty="0">
                <a:effectLst/>
              </a:rPr>
              <a:t>eightened response to physical (via sound, sight, touch, or smell) and/or emotional stimuli and the tendency to be easily overwhelmed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2400" dirty="0"/>
              <a:t>For example, </a:t>
            </a:r>
            <a:r>
              <a:rPr lang="en-US" sz="2400" b="0" i="0" u="none" strike="noStrike" dirty="0">
                <a:solidFill>
                  <a:srgbClr val="1B1B1B"/>
                </a:solidFill>
                <a:effectLst/>
                <a:latin typeface="Source Sans Pro" panose="020F0502020204030204" pitchFamily="34" charset="0"/>
              </a:rPr>
              <a:t>those with hypersensitivity may experience extreme feelings of being hot, cold, or pain. </a:t>
            </a:r>
            <a:r>
              <a:rPr lang="en-US" sz="2400" b="0" i="0" u="none" strike="noStrike" dirty="0">
                <a:solidFill>
                  <a:srgbClr val="272F37"/>
                </a:solidFill>
                <a:effectLst/>
                <a:latin typeface="open-sans"/>
              </a:rPr>
              <a:t>Certain lights, sounds, smells, textures and tastes can be overwhelming.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2400" b="0" i="0" u="none" strike="noStrike" dirty="0">
              <a:solidFill>
                <a:srgbClr val="272F37"/>
              </a:solidFill>
              <a:effectLst/>
              <a:latin typeface="open-sans"/>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2400" b="0" i="0" u="none" strike="noStrike" dirty="0">
                <a:solidFill>
                  <a:srgbClr val="272F37"/>
                </a:solidFill>
                <a:effectLst/>
                <a:latin typeface="open-sans"/>
              </a:rPr>
              <a:t>Hypersensitivity usually result in </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sz="2400" dirty="0"/>
          </a:p>
          <a:p>
            <a:r>
              <a:rPr lang="en-US" b="1" dirty="0"/>
              <a:t>Sensory avoidance </a:t>
            </a:r>
          </a:p>
          <a:p>
            <a:pPr marL="171450" lvl="0" indent="-171450">
              <a:buFont typeface="Arial" panose="020B0604020202020204" pitchFamily="34" charset="0"/>
              <a:buChar char="•"/>
            </a:pPr>
            <a:r>
              <a:rPr lang="en-US" dirty="0">
                <a:solidFill>
                  <a:srgbClr val="272F37"/>
                </a:solidFill>
              </a:rPr>
              <a:t>P</a:t>
            </a:r>
            <a:r>
              <a:rPr lang="en-US" b="0" i="0" u="none" strike="noStrike" dirty="0">
                <a:solidFill>
                  <a:srgbClr val="272F37"/>
                </a:solidFill>
                <a:effectLst/>
              </a:rPr>
              <a:t>ulling away from physical touch</a:t>
            </a:r>
          </a:p>
          <a:p>
            <a:pPr marL="171450" lvl="0" indent="-171450">
              <a:buFont typeface="Arial" panose="020B0604020202020204" pitchFamily="34" charset="0"/>
              <a:buChar char="•"/>
            </a:pPr>
            <a:r>
              <a:rPr lang="en-US" dirty="0">
                <a:solidFill>
                  <a:srgbClr val="272F37"/>
                </a:solidFill>
              </a:rPr>
              <a:t>C</a:t>
            </a:r>
            <a:r>
              <a:rPr lang="en-US" b="0" i="0" u="none" strike="noStrike" dirty="0">
                <a:solidFill>
                  <a:srgbClr val="272F37"/>
                </a:solidFill>
                <a:effectLst/>
              </a:rPr>
              <a:t>overing the ears to avoid loud or unpredictable sounds</a:t>
            </a:r>
          </a:p>
          <a:p>
            <a:pPr marL="171450" lvl="0" indent="-171450">
              <a:buFont typeface="Arial" panose="020B0604020202020204" pitchFamily="34" charset="0"/>
              <a:buChar char="•"/>
            </a:pPr>
            <a:r>
              <a:rPr lang="en-US" dirty="0">
                <a:solidFill>
                  <a:srgbClr val="272F37"/>
                </a:solidFill>
              </a:rPr>
              <a:t>A</a:t>
            </a:r>
            <a:r>
              <a:rPr lang="en-US" b="0" i="0" u="none" strike="noStrike" dirty="0">
                <a:solidFill>
                  <a:srgbClr val="272F37"/>
                </a:solidFill>
                <a:effectLst/>
              </a:rPr>
              <a:t>voiding certain kinds of clothing</a:t>
            </a:r>
            <a:endParaRPr lang="en-US" dirty="0"/>
          </a:p>
          <a:p>
            <a:pPr marL="171450" indent="-171450">
              <a:buFontTx/>
              <a:buChar char="-"/>
            </a:pPr>
            <a:endParaRPr lang="en-US" dirty="0"/>
          </a:p>
        </p:txBody>
      </p:sp>
      <p:sp>
        <p:nvSpPr>
          <p:cNvPr id="4" name="Slide Number Placeholder 3"/>
          <p:cNvSpPr>
            <a:spLocks noGrp="1"/>
          </p:cNvSpPr>
          <p:nvPr>
            <p:ph type="sldNum" sz="quarter" idx="5"/>
          </p:nvPr>
        </p:nvSpPr>
        <p:spPr/>
        <p:txBody>
          <a:bodyPr/>
          <a:lstStyle/>
          <a:p>
            <a:fld id="{ABEC9F24-6ED1-F24B-BC02-E69E3D0AF317}" type="slidenum">
              <a:rPr lang="en-US" smtClean="0"/>
              <a:t>6</a:t>
            </a:fld>
            <a:endParaRPr lang="en-US"/>
          </a:p>
        </p:txBody>
      </p:sp>
    </p:spTree>
    <p:extLst>
      <p:ext uri="{BB962C8B-B14F-4D97-AF65-F5344CB8AC3E}">
        <p14:creationId xmlns:p14="http://schemas.microsoft.com/office/powerpoint/2010/main" val="385740253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Hyposensitivity</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Little to no response from stimulus</a:t>
            </a:r>
            <a:endParaRPr lang="en-US" b="1" dirty="0"/>
          </a:p>
          <a:p>
            <a:pPr marL="171450" indent="-171450">
              <a:buFont typeface="Arial" panose="020B0604020202020204" pitchFamily="34" charset="0"/>
              <a:buChar char="•"/>
            </a:pPr>
            <a:r>
              <a:rPr lang="en-US" dirty="0"/>
              <a:t>R</a:t>
            </a:r>
            <a:r>
              <a:rPr lang="en-US" dirty="0">
                <a:effectLst/>
              </a:rPr>
              <a:t>educed response to environmental stimuli </a:t>
            </a:r>
          </a:p>
          <a:p>
            <a:pPr marL="628650" lvl="1" indent="-171450">
              <a:buFont typeface="Arial" panose="020B0604020202020204" pitchFamily="34" charset="0"/>
              <a:buChar char="•"/>
            </a:pPr>
            <a:r>
              <a:rPr lang="en-US" sz="2400" b="0" i="0" dirty="0"/>
              <a:t>Ex: A</a:t>
            </a:r>
            <a:r>
              <a:rPr lang="en-US" sz="2400" b="0" i="0" dirty="0">
                <a:effectLst/>
              </a:rPr>
              <a:t> need to touch things excessively, turning the volume very loud, etc. </a:t>
            </a:r>
          </a:p>
          <a:p>
            <a:pPr marL="628650" lvl="1" indent="-171450">
              <a:buFont typeface="Arial" panose="020B0604020202020204" pitchFamily="34" charset="0"/>
              <a:buChar char="•"/>
            </a:pPr>
            <a:r>
              <a:rPr lang="en-US" sz="2400" b="0" i="0" u="none" strike="noStrike" dirty="0">
                <a:solidFill>
                  <a:srgbClr val="272F37"/>
                </a:solidFill>
                <a:effectLst/>
                <a:latin typeface="open-sans"/>
              </a:rPr>
              <a:t>Ex: Can also look like a constant need for movement; difficulty recognizing sensations like hunger, illness or pain; or attraction to loud noises, bright lights and vibrant colors</a:t>
            </a:r>
          </a:p>
          <a:p>
            <a:pPr marL="628650" lvl="1" indent="-171450">
              <a:buFont typeface="Arial" panose="020B0604020202020204" pitchFamily="34" charset="0"/>
              <a:buChar char="•"/>
            </a:pPr>
            <a:endParaRPr lang="en-US" sz="2400" b="0" i="0" u="none" strike="noStrike" dirty="0">
              <a:solidFill>
                <a:srgbClr val="272F37"/>
              </a:solidFill>
              <a:effectLst/>
              <a:latin typeface="open-sans"/>
            </a:endParaRPr>
          </a:p>
          <a:p>
            <a:pPr marL="0" lvl="0" indent="0">
              <a:buFont typeface="Arial" panose="020B0604020202020204" pitchFamily="34" charset="0"/>
              <a:buNone/>
            </a:pPr>
            <a:r>
              <a:rPr lang="en-US" sz="2400" b="0" i="0" u="none" strike="noStrike" dirty="0">
                <a:solidFill>
                  <a:srgbClr val="272F37"/>
                </a:solidFill>
                <a:effectLst/>
                <a:latin typeface="open-sans"/>
              </a:rPr>
              <a:t>Those with hyposensitivity usually engage in</a:t>
            </a:r>
          </a:p>
          <a:p>
            <a:pPr marL="628650" lvl="1" indent="-171450">
              <a:buFont typeface="Arial" panose="020B0604020202020204" pitchFamily="34" charset="0"/>
              <a:buChar char="•"/>
            </a:pPr>
            <a:endParaRPr lang="en-US" sz="2400" i="1" dirty="0"/>
          </a:p>
          <a:p>
            <a:r>
              <a:rPr lang="en-US" b="1" dirty="0"/>
              <a:t>Sensory Seeking</a:t>
            </a:r>
          </a:p>
          <a:p>
            <a:pPr marL="171450" lvl="0" indent="-171450">
              <a:buFont typeface="Arial" panose="020B0604020202020204" pitchFamily="34" charset="0"/>
              <a:buChar char="•"/>
            </a:pPr>
            <a:r>
              <a:rPr lang="en-US" dirty="0"/>
              <a:t>M</a:t>
            </a:r>
            <a:r>
              <a:rPr lang="en-US" b="0" i="0" u="none" strike="noStrike" dirty="0">
                <a:effectLst/>
              </a:rPr>
              <a:t>aking loud noises</a:t>
            </a:r>
          </a:p>
          <a:p>
            <a:pPr marL="171450" lvl="0" indent="-171450">
              <a:buFont typeface="Arial" panose="020B0604020202020204" pitchFamily="34" charset="0"/>
              <a:buChar char="•"/>
            </a:pPr>
            <a:r>
              <a:rPr lang="en-US" dirty="0"/>
              <a:t>T</a:t>
            </a:r>
            <a:r>
              <a:rPr lang="en-US" b="0" i="0" u="none" strike="noStrike" dirty="0">
                <a:effectLst/>
              </a:rPr>
              <a:t>ouching people or objects</a:t>
            </a:r>
          </a:p>
          <a:p>
            <a:pPr marL="171450" lvl="0" indent="-171450">
              <a:buFont typeface="Arial" panose="020B0604020202020204" pitchFamily="34" charset="0"/>
              <a:buChar char="•"/>
            </a:pPr>
            <a:r>
              <a:rPr lang="en-US" dirty="0"/>
              <a:t>R</a:t>
            </a:r>
            <a:r>
              <a:rPr lang="en-US" b="0" i="0" u="none" strike="noStrike" dirty="0">
                <a:effectLst/>
              </a:rPr>
              <a:t>ocking back and forth</a:t>
            </a:r>
            <a:r>
              <a:rPr lang="en-US" dirty="0"/>
              <a:t> </a:t>
            </a:r>
          </a:p>
          <a:p>
            <a:pPr marL="171450" indent="-171450">
              <a:buFontTx/>
              <a:buChar char="-"/>
            </a:pPr>
            <a:endParaRPr lang="en-US" b="0" i="0" u="none" strike="noStrike" dirty="0">
              <a:solidFill>
                <a:srgbClr val="272F37"/>
              </a:solidFill>
              <a:effectLst/>
              <a:latin typeface="open-sans"/>
            </a:endParaRPr>
          </a:p>
        </p:txBody>
      </p:sp>
      <p:sp>
        <p:nvSpPr>
          <p:cNvPr id="4" name="Slide Number Placeholder 3"/>
          <p:cNvSpPr>
            <a:spLocks noGrp="1"/>
          </p:cNvSpPr>
          <p:nvPr>
            <p:ph type="sldNum" sz="quarter" idx="5"/>
          </p:nvPr>
        </p:nvSpPr>
        <p:spPr/>
        <p:txBody>
          <a:bodyPr/>
          <a:lstStyle/>
          <a:p>
            <a:fld id="{ABEC9F24-6ED1-F24B-BC02-E69E3D0AF317}" type="slidenum">
              <a:rPr lang="en-US" smtClean="0"/>
              <a:t>7</a:t>
            </a:fld>
            <a:endParaRPr lang="en-US"/>
          </a:p>
        </p:txBody>
      </p:sp>
    </p:spTree>
    <p:extLst>
      <p:ext uri="{BB962C8B-B14F-4D97-AF65-F5344CB8AC3E}">
        <p14:creationId xmlns:p14="http://schemas.microsoft.com/office/powerpoint/2010/main" val="266910240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i="0" u="none" strike="noStrike" dirty="0">
                <a:solidFill>
                  <a:srgbClr val="231F20"/>
                </a:solidFill>
                <a:effectLst/>
              </a:rPr>
              <a:t>Sensory overload </a:t>
            </a:r>
            <a:r>
              <a:rPr lang="en-US" b="0" i="0" u="none" strike="noStrike" dirty="0">
                <a:solidFill>
                  <a:srgbClr val="231F20"/>
                </a:solidFill>
                <a:effectLst/>
              </a:rPr>
              <a:t>happens when one or more of the body’s</a:t>
            </a:r>
            <a:r>
              <a:rPr lang="en-US" b="0" i="0" strike="noStrike" dirty="0">
                <a:effectLst/>
              </a:rPr>
              <a:t> </a:t>
            </a:r>
            <a:r>
              <a:rPr lang="en-US" b="0" i="0" dirty="0">
                <a:effectLst/>
              </a:rPr>
              <a:t>five senses</a:t>
            </a:r>
            <a:r>
              <a:rPr lang="en-US" b="0" i="0" strike="noStrike" dirty="0">
                <a:effectLst/>
              </a:rPr>
              <a:t> </a:t>
            </a:r>
            <a:r>
              <a:rPr lang="en-US" b="0" i="0" u="none" strike="noStrike" dirty="0">
                <a:solidFill>
                  <a:srgbClr val="231F20"/>
                </a:solidFill>
                <a:effectLst/>
              </a:rPr>
              <a:t>become overwhelmed. </a:t>
            </a:r>
            <a:r>
              <a:rPr lang="en-US" dirty="0"/>
              <a:t>This leads to stress and anxiety. </a:t>
            </a:r>
            <a:endParaRPr lang="en-US" b="0" i="0" u="none" strike="noStrike" dirty="0">
              <a:solidFill>
                <a:srgbClr val="231F20"/>
              </a:solidFill>
              <a:effectLst/>
            </a:endParaRPr>
          </a:p>
          <a:p>
            <a:pPr marL="171450" indent="-171450">
              <a:buFont typeface="Arial" panose="020B0604020202020204" pitchFamily="34" charset="0"/>
              <a:buChar char="•"/>
            </a:pPr>
            <a:r>
              <a:rPr lang="en-US" b="0" i="0" u="none" strike="noStrike" dirty="0">
                <a:solidFill>
                  <a:srgbClr val="231F20"/>
                </a:solidFill>
                <a:effectLst/>
              </a:rPr>
              <a:t>It can happen, for example, in a crowded restaurant, when the radio is too loud, or when a passerby is wearing a strongly scented perfume.</a:t>
            </a:r>
          </a:p>
          <a:p>
            <a:pPr marL="171450" indent="-171450">
              <a:buFont typeface="Arial" panose="020B0604020202020204" pitchFamily="34" charset="0"/>
              <a:buChar char="•"/>
            </a:pPr>
            <a:r>
              <a:rPr lang="en-US" b="0" i="0" u="none" strike="noStrike" dirty="0">
                <a:solidFill>
                  <a:srgbClr val="272F37"/>
                </a:solidFill>
                <a:effectLst/>
                <a:latin typeface="open-sans"/>
              </a:rPr>
              <a:t>This can be triggered by a single event, like an unexpected loud noise, or it can build up over time due to the effort it takes to cope with sensory sensitivities in daily life. Sensory overload can feel like intense anxiety, a need to escape the situation or difficulty communicating. </a:t>
            </a:r>
          </a:p>
          <a:p>
            <a:pPr marL="171450" indent="-171450">
              <a:buFont typeface="Arial" panose="020B0604020202020204" pitchFamily="34" charset="0"/>
              <a:buChar char="•"/>
            </a:pPr>
            <a:endParaRPr lang="en-US" b="0" i="0" u="none" strike="noStrike" dirty="0">
              <a:solidFill>
                <a:srgbClr val="231F20"/>
              </a:solidFill>
              <a:effectLst/>
              <a:latin typeface="open-sans"/>
            </a:endParaRPr>
          </a:p>
          <a:p>
            <a:pPr marL="171450" indent="-171450">
              <a:buFont typeface="Arial" panose="020B0604020202020204" pitchFamily="34" charset="0"/>
              <a:buChar char="•"/>
            </a:pPr>
            <a:r>
              <a:rPr lang="en-US" b="0" i="0" u="none" strike="noStrike" dirty="0">
                <a:solidFill>
                  <a:srgbClr val="231F20"/>
                </a:solidFill>
                <a:effectLst/>
                <a:latin typeface="open-sans"/>
              </a:rPr>
              <a:t>As a response to sensory overload, individuals may have meltdowns, may want to escape/run away, and may also have shutdowns. </a:t>
            </a:r>
          </a:p>
          <a:p>
            <a:pPr marL="171450" indent="-171450">
              <a:buFont typeface="Arial" panose="020B0604020202020204" pitchFamily="34" charset="0"/>
              <a:buChar char="•"/>
            </a:pPr>
            <a:endParaRPr lang="en-US" b="0" i="0" u="none" strike="noStrike" dirty="0">
              <a:solidFill>
                <a:srgbClr val="231F20"/>
              </a:solidFill>
              <a:effectLst/>
              <a:latin typeface="open-sans"/>
            </a:endParaRPr>
          </a:p>
          <a:p>
            <a:pPr marL="0" indent="0">
              <a:buFont typeface="Arial" panose="020B0604020202020204" pitchFamily="34" charset="0"/>
              <a:buNone/>
            </a:pPr>
            <a:endParaRPr lang="en-US" b="0" i="0" u="none" strike="noStrike" dirty="0">
              <a:solidFill>
                <a:srgbClr val="747474"/>
              </a:solidFill>
              <a:effectLst/>
              <a:latin typeface="Arial" panose="020B0604020202020204" pitchFamily="34" charset="0"/>
            </a:endParaRPr>
          </a:p>
          <a:p>
            <a:pPr marL="0" indent="0">
              <a:buFont typeface="Arial" panose="020B0604020202020204" pitchFamily="34" charset="0"/>
              <a:buNone/>
            </a:pPr>
            <a:r>
              <a:rPr lang="en-US" b="0" i="0" u="none" strike="noStrike" dirty="0">
                <a:solidFill>
                  <a:srgbClr val="747474"/>
                </a:solidFill>
                <a:effectLst/>
                <a:latin typeface="Arial" panose="020B0604020202020204" pitchFamily="34" charset="0"/>
              </a:rPr>
              <a:t>Meltdown</a:t>
            </a:r>
          </a:p>
          <a:p>
            <a:pPr marL="171450" indent="-171450">
              <a:buFont typeface="Arial" panose="020B0604020202020204" pitchFamily="34" charset="0"/>
              <a:buChar char="•"/>
            </a:pPr>
            <a:r>
              <a:rPr lang="en-US" b="0" i="0" u="none" strike="noStrike" dirty="0">
                <a:solidFill>
                  <a:srgbClr val="272F37"/>
                </a:solidFill>
                <a:effectLst/>
                <a:latin typeface="open-sans"/>
              </a:rPr>
              <a:t>Overwhelming emotions that lead to behaviors that vary like becoming very </a:t>
            </a:r>
            <a:r>
              <a:rPr lang="en-US" b="0" i="0" u="none" strike="noStrike" dirty="0">
                <a:solidFill>
                  <a:srgbClr val="747474"/>
                </a:solidFill>
                <a:effectLst/>
                <a:latin typeface="Arial" panose="020B0604020202020204" pitchFamily="34" charset="0"/>
              </a:rPr>
              <a:t>verbal, crying and  becoming more aggressive.</a:t>
            </a:r>
          </a:p>
          <a:p>
            <a:pPr marL="0" indent="0">
              <a:buFont typeface="Arial" panose="020B0604020202020204" pitchFamily="34" charset="0"/>
              <a:buNone/>
            </a:pPr>
            <a:endParaRPr lang="en-US" b="0" i="0" u="none" strike="noStrike" dirty="0">
              <a:solidFill>
                <a:srgbClr val="747474"/>
              </a:solidFill>
              <a:effectLst/>
              <a:latin typeface="Arial" panose="020B0604020202020204" pitchFamily="34" charset="0"/>
            </a:endParaRPr>
          </a:p>
          <a:p>
            <a:pPr marL="0" indent="0">
              <a:buFont typeface="Arial" panose="020B0604020202020204" pitchFamily="34" charset="0"/>
              <a:buNone/>
            </a:pPr>
            <a:r>
              <a:rPr lang="en-US" b="0" i="0" u="none" strike="noStrike" dirty="0">
                <a:solidFill>
                  <a:srgbClr val="747474"/>
                </a:solidFill>
                <a:effectLst/>
                <a:latin typeface="Arial" panose="020B0604020202020204" pitchFamily="34" charset="0"/>
              </a:rPr>
              <a:t>Flight</a:t>
            </a:r>
          </a:p>
          <a:p>
            <a:pPr marL="171450" indent="-171450">
              <a:buFont typeface="Arial" panose="020B0604020202020204" pitchFamily="34" charset="0"/>
              <a:buChar char="•"/>
            </a:pPr>
            <a:r>
              <a:rPr lang="en-US" b="0" i="0" u="none" strike="noStrike" dirty="0">
                <a:solidFill>
                  <a:srgbClr val="747474"/>
                </a:solidFill>
                <a:effectLst/>
                <a:latin typeface="Arial" panose="020B0604020202020204" pitchFamily="34" charset="0"/>
              </a:rPr>
              <a:t>When the individual becomes overloaded, they will </a:t>
            </a:r>
            <a:r>
              <a:rPr lang="en-US" b="1" i="0" u="none" strike="noStrike" dirty="0">
                <a:solidFill>
                  <a:srgbClr val="747474"/>
                </a:solidFill>
                <a:effectLst/>
                <a:latin typeface="Arial" panose="020B0604020202020204" pitchFamily="34" charset="0"/>
              </a:rPr>
              <a:t>try to get away from the sensory information</a:t>
            </a:r>
            <a:r>
              <a:rPr lang="en-US" b="0" i="0" u="none" strike="noStrike" dirty="0">
                <a:solidFill>
                  <a:srgbClr val="747474"/>
                </a:solidFill>
                <a:effectLst/>
                <a:latin typeface="Arial" panose="020B0604020202020204" pitchFamily="34" charset="0"/>
              </a:rPr>
              <a:t> that’s causing the sensory overload</a:t>
            </a:r>
          </a:p>
          <a:p>
            <a:pPr marL="171450" indent="-171450">
              <a:buFont typeface="Arial" panose="020B0604020202020204" pitchFamily="34" charset="0"/>
              <a:buChar char="•"/>
            </a:pPr>
            <a:endParaRPr lang="en-US" b="0" i="0" u="none" strike="noStrike" dirty="0">
              <a:solidFill>
                <a:srgbClr val="747474"/>
              </a:solidFill>
              <a:effectLst/>
              <a:latin typeface="Arial" panose="020B0604020202020204" pitchFamily="34" charset="0"/>
            </a:endParaRPr>
          </a:p>
          <a:p>
            <a:pPr marL="0" indent="0">
              <a:buFont typeface="Arial" panose="020B0604020202020204" pitchFamily="34" charset="0"/>
              <a:buNone/>
            </a:pPr>
            <a:r>
              <a:rPr lang="en-US" b="0" i="0" u="none" strike="noStrike" dirty="0">
                <a:solidFill>
                  <a:srgbClr val="747474"/>
                </a:solidFill>
                <a:effectLst/>
                <a:latin typeface="Arial" panose="020B0604020202020204" pitchFamily="34" charset="0"/>
              </a:rPr>
              <a:t>Shutdown </a:t>
            </a:r>
          </a:p>
          <a:p>
            <a:pPr marL="171450" indent="-171450">
              <a:buFont typeface="Arial" panose="020B0604020202020204" pitchFamily="34" charset="0"/>
              <a:buChar char="•"/>
            </a:pPr>
            <a:r>
              <a:rPr lang="en-US" b="0" i="0" u="none" strike="noStrike" dirty="0">
                <a:solidFill>
                  <a:srgbClr val="747474"/>
                </a:solidFill>
                <a:effectLst/>
                <a:latin typeface="Arial" panose="020B0604020202020204" pitchFamily="34" charset="0"/>
              </a:rPr>
              <a:t>Shutdown due to sensory overload usually means the individual g</a:t>
            </a:r>
            <a:r>
              <a:rPr lang="en-US" b="1" i="0" u="none" strike="noStrike" dirty="0">
                <a:solidFill>
                  <a:srgbClr val="747474"/>
                </a:solidFill>
                <a:effectLst/>
                <a:latin typeface="Arial" panose="020B0604020202020204" pitchFamily="34" charset="0"/>
              </a:rPr>
              <a:t>oes quiet and just stops processing information</a:t>
            </a:r>
            <a:r>
              <a:rPr lang="en-US" b="0" i="0" u="none" strike="noStrike" dirty="0">
                <a:solidFill>
                  <a:srgbClr val="747474"/>
                </a:solidFill>
                <a:effectLst/>
                <a:latin typeface="Arial" panose="020B0604020202020204" pitchFamily="34" charset="0"/>
              </a:rPr>
              <a:t>.  </a:t>
            </a:r>
            <a:endParaRPr lang="en-US" b="0" i="0" u="none" strike="noStrike" dirty="0">
              <a:solidFill>
                <a:srgbClr val="272F37"/>
              </a:solidFill>
              <a:effectLst/>
              <a:latin typeface="open-sans"/>
            </a:endParaRPr>
          </a:p>
        </p:txBody>
      </p:sp>
      <p:sp>
        <p:nvSpPr>
          <p:cNvPr id="4" name="Slide Number Placeholder 3"/>
          <p:cNvSpPr>
            <a:spLocks noGrp="1"/>
          </p:cNvSpPr>
          <p:nvPr>
            <p:ph type="sldNum" sz="quarter" idx="5"/>
          </p:nvPr>
        </p:nvSpPr>
        <p:spPr/>
        <p:txBody>
          <a:bodyPr/>
          <a:lstStyle/>
          <a:p>
            <a:fld id="{ABEC9F24-6ED1-F24B-BC02-E69E3D0AF317}" type="slidenum">
              <a:rPr lang="en-US" smtClean="0"/>
              <a:t>8</a:t>
            </a:fld>
            <a:endParaRPr lang="en-US"/>
          </a:p>
        </p:txBody>
      </p:sp>
    </p:spTree>
    <p:extLst>
      <p:ext uri="{BB962C8B-B14F-4D97-AF65-F5344CB8AC3E}">
        <p14:creationId xmlns:p14="http://schemas.microsoft.com/office/powerpoint/2010/main" val="386894804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u="none" strike="noStrike" dirty="0">
                <a:solidFill>
                  <a:srgbClr val="3F3F3F"/>
                </a:solidFill>
                <a:effectLst/>
                <a:latin typeface="hero-new"/>
              </a:rPr>
              <a:t>This is a quick video representation of how a child with autism may experience a typical UK shopping center and how overwhelming it can become. The child finds it difficult to filter out noises and lights as he walks into the </a:t>
            </a:r>
            <a:r>
              <a:rPr lang="en-US" b="0" i="0" u="none" strike="noStrike" dirty="0" err="1">
                <a:solidFill>
                  <a:srgbClr val="3F3F3F"/>
                </a:solidFill>
                <a:effectLst/>
                <a:latin typeface="hero-new"/>
              </a:rPr>
              <a:t>centre</a:t>
            </a:r>
            <a:r>
              <a:rPr lang="en-US" b="0" i="0" u="none" strike="noStrike" dirty="0">
                <a:solidFill>
                  <a:srgbClr val="3F3F3F"/>
                </a:solidFill>
                <a:effectLst/>
                <a:latin typeface="hero-new"/>
              </a:rPr>
              <a:t>.  </a:t>
            </a:r>
            <a:endParaRPr lang="en-US" b="0" i="0" u="none" strike="noStrike" dirty="0">
              <a:solidFill>
                <a:srgbClr val="272F37"/>
              </a:solidFill>
              <a:effectLst/>
              <a:latin typeface="open-sans"/>
            </a:endParaRPr>
          </a:p>
        </p:txBody>
      </p:sp>
      <p:sp>
        <p:nvSpPr>
          <p:cNvPr id="4" name="Slide Number Placeholder 3"/>
          <p:cNvSpPr>
            <a:spLocks noGrp="1"/>
          </p:cNvSpPr>
          <p:nvPr>
            <p:ph type="sldNum" sz="quarter" idx="5"/>
          </p:nvPr>
        </p:nvSpPr>
        <p:spPr/>
        <p:txBody>
          <a:bodyPr/>
          <a:lstStyle/>
          <a:p>
            <a:fld id="{ABEC9F24-6ED1-F24B-BC02-E69E3D0AF317}" type="slidenum">
              <a:rPr lang="en-US" smtClean="0"/>
              <a:t>9</a:t>
            </a:fld>
            <a:endParaRPr lang="en-US"/>
          </a:p>
        </p:txBody>
      </p:sp>
    </p:spTree>
    <p:extLst>
      <p:ext uri="{BB962C8B-B14F-4D97-AF65-F5344CB8AC3E}">
        <p14:creationId xmlns:p14="http://schemas.microsoft.com/office/powerpoint/2010/main" val="102062038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0" i="0" u="none" strike="noStrike" dirty="0">
              <a:solidFill>
                <a:srgbClr val="272F37"/>
              </a:solidFill>
              <a:effectLst/>
              <a:latin typeface="open-sans"/>
            </a:endParaRPr>
          </a:p>
        </p:txBody>
      </p:sp>
      <p:sp>
        <p:nvSpPr>
          <p:cNvPr id="4" name="Slide Number Placeholder 3"/>
          <p:cNvSpPr>
            <a:spLocks noGrp="1"/>
          </p:cNvSpPr>
          <p:nvPr>
            <p:ph type="sldNum" sz="quarter" idx="5"/>
          </p:nvPr>
        </p:nvSpPr>
        <p:spPr/>
        <p:txBody>
          <a:bodyPr/>
          <a:lstStyle/>
          <a:p>
            <a:fld id="{ABEC9F24-6ED1-F24B-BC02-E69E3D0AF317}" type="slidenum">
              <a:rPr lang="en-US" smtClean="0"/>
              <a:t>10</a:t>
            </a:fld>
            <a:endParaRPr lang="en-US"/>
          </a:p>
        </p:txBody>
      </p:sp>
    </p:spTree>
    <p:extLst>
      <p:ext uri="{BB962C8B-B14F-4D97-AF65-F5344CB8AC3E}">
        <p14:creationId xmlns:p14="http://schemas.microsoft.com/office/powerpoint/2010/main" val="194153911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u="none" strike="noStrike" dirty="0">
                <a:solidFill>
                  <a:srgbClr val="3F3F3F"/>
                </a:solidFill>
                <a:effectLst/>
                <a:latin typeface="hero-new"/>
              </a:rPr>
              <a:t>Some of the most common environmental triggers that may cause sensory overloads or shutdowns.</a:t>
            </a:r>
          </a:p>
          <a:p>
            <a:endParaRPr lang="en-US" b="0" i="0" u="none" strike="noStrike" dirty="0">
              <a:solidFill>
                <a:srgbClr val="3F3F3F"/>
              </a:solidFill>
              <a:effectLst/>
              <a:latin typeface="hero-new"/>
            </a:endParaRPr>
          </a:p>
          <a:p>
            <a:r>
              <a:rPr lang="en-US" b="0" i="0" u="none" strike="noStrike" dirty="0">
                <a:solidFill>
                  <a:srgbClr val="3F3F3F"/>
                </a:solidFill>
                <a:effectLst/>
                <a:latin typeface="hero-new"/>
              </a:rPr>
              <a:t>bright lights </a:t>
            </a:r>
          </a:p>
          <a:p>
            <a:r>
              <a:rPr lang="en-US" b="0" i="0" u="none" strike="noStrike" dirty="0">
                <a:solidFill>
                  <a:srgbClr val="3F3F3F"/>
                </a:solidFill>
                <a:effectLst/>
                <a:latin typeface="hero-new"/>
              </a:rPr>
              <a:t>- no natural light</a:t>
            </a:r>
          </a:p>
          <a:p>
            <a:r>
              <a:rPr lang="en-US" b="0" i="0" u="none" strike="noStrike" dirty="0">
                <a:solidFill>
                  <a:srgbClr val="3F3F3F"/>
                </a:solidFill>
                <a:effectLst/>
                <a:latin typeface="hero-new"/>
              </a:rPr>
              <a:t>excessive noise </a:t>
            </a:r>
          </a:p>
          <a:p>
            <a:r>
              <a:rPr lang="en-US" b="0" i="0" u="none" strike="noStrike" dirty="0">
                <a:solidFill>
                  <a:srgbClr val="3F3F3F"/>
                </a:solidFill>
                <a:effectLst/>
                <a:latin typeface="hero-new"/>
              </a:rPr>
              <a:t>- background music </a:t>
            </a:r>
          </a:p>
          <a:p>
            <a:r>
              <a:rPr lang="en-US" b="0" i="0" u="none" strike="noStrike" dirty="0">
                <a:solidFill>
                  <a:srgbClr val="3F3F3F"/>
                </a:solidFill>
                <a:effectLst/>
                <a:latin typeface="hero-new"/>
              </a:rPr>
              <a:t>smells</a:t>
            </a:r>
          </a:p>
          <a:p>
            <a:r>
              <a:rPr lang="en-US" b="0" i="0" u="none" strike="noStrike" dirty="0">
                <a:solidFill>
                  <a:srgbClr val="3F3F3F"/>
                </a:solidFill>
                <a:effectLst/>
                <a:latin typeface="hero-new"/>
              </a:rPr>
              <a:t>- store perfumes </a:t>
            </a:r>
          </a:p>
          <a:p>
            <a:r>
              <a:rPr lang="en-US" b="0" i="0" u="none" strike="noStrike" dirty="0">
                <a:solidFill>
                  <a:srgbClr val="3F3F3F"/>
                </a:solidFill>
                <a:effectLst/>
                <a:latin typeface="hero-new"/>
              </a:rPr>
              <a:t>crowds </a:t>
            </a:r>
          </a:p>
          <a:p>
            <a:r>
              <a:rPr lang="en-US" b="0" i="0" u="none" strike="noStrike" dirty="0">
                <a:solidFill>
                  <a:srgbClr val="3F3F3F"/>
                </a:solidFill>
                <a:effectLst/>
                <a:latin typeface="hero-new"/>
              </a:rPr>
              <a:t>- no space </a:t>
            </a:r>
          </a:p>
          <a:p>
            <a:r>
              <a:rPr lang="en-US" b="0" i="0" u="none" strike="noStrike" dirty="0">
                <a:solidFill>
                  <a:srgbClr val="3F3F3F"/>
                </a:solidFill>
                <a:effectLst/>
                <a:latin typeface="hero-new"/>
              </a:rPr>
              <a:t>queues</a:t>
            </a:r>
          </a:p>
          <a:p>
            <a:r>
              <a:rPr lang="en-US" b="0" i="0" u="none" strike="noStrike" dirty="0">
                <a:solidFill>
                  <a:srgbClr val="3F3F3F"/>
                </a:solidFill>
                <a:effectLst/>
                <a:latin typeface="hero-new"/>
              </a:rPr>
              <a:t>- no way to bypass</a:t>
            </a:r>
          </a:p>
          <a:p>
            <a:endParaRPr lang="en-US" b="0" i="0" u="none" strike="noStrike" dirty="0">
              <a:solidFill>
                <a:srgbClr val="3F3F3F"/>
              </a:solidFill>
              <a:effectLst/>
              <a:latin typeface="hero-new"/>
            </a:endParaRPr>
          </a:p>
        </p:txBody>
      </p:sp>
      <p:sp>
        <p:nvSpPr>
          <p:cNvPr id="4" name="Slide Number Placeholder 3"/>
          <p:cNvSpPr>
            <a:spLocks noGrp="1"/>
          </p:cNvSpPr>
          <p:nvPr>
            <p:ph type="sldNum" sz="quarter" idx="5"/>
          </p:nvPr>
        </p:nvSpPr>
        <p:spPr/>
        <p:txBody>
          <a:bodyPr/>
          <a:lstStyle/>
          <a:p>
            <a:fld id="{ABEC9F24-6ED1-F24B-BC02-E69E3D0AF317}" type="slidenum">
              <a:rPr lang="en-US" smtClean="0"/>
              <a:t>11</a:t>
            </a:fld>
            <a:endParaRPr lang="en-US"/>
          </a:p>
        </p:txBody>
      </p:sp>
    </p:spTree>
    <p:extLst>
      <p:ext uri="{BB962C8B-B14F-4D97-AF65-F5344CB8AC3E}">
        <p14:creationId xmlns:p14="http://schemas.microsoft.com/office/powerpoint/2010/main" val="81888384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2800" b="0" i="0" u="none" strike="noStrike" dirty="0">
                <a:solidFill>
                  <a:srgbClr val="272F37"/>
                </a:solidFill>
                <a:effectLst/>
                <a:latin typeface="open-sans"/>
              </a:rPr>
              <a:t>Understanding and accommodating sensory issues can ease discomfort and increase opportunities for people to learn, socialize, communicate and participate in the community. </a:t>
            </a:r>
          </a:p>
          <a:p>
            <a:endParaRPr lang="en-US" sz="2800" b="0" i="0" u="none" strike="noStrike" dirty="0">
              <a:solidFill>
                <a:srgbClr val="272F37"/>
              </a:solidFill>
              <a:effectLst/>
              <a:latin typeface="open-sans"/>
            </a:endParaRPr>
          </a:p>
          <a:p>
            <a:r>
              <a:rPr lang="en-US" sz="2800" b="0" i="0" u="none" strike="noStrike" dirty="0">
                <a:solidFill>
                  <a:srgbClr val="272F37"/>
                </a:solidFill>
                <a:effectLst/>
                <a:latin typeface="open-sans"/>
              </a:rPr>
              <a:t>These considerations can apply to theme parks like LEGOLAND, supermarkets, restaurants, museums, etc. </a:t>
            </a:r>
            <a:endParaRPr lang="en-US" sz="2800" dirty="0"/>
          </a:p>
          <a:p>
            <a:pPr marL="0" lvl="0" indent="0">
              <a:buFont typeface="Arial" panose="020B0604020202020204" pitchFamily="34" charset="0"/>
              <a:buNone/>
            </a:pPr>
            <a:endParaRPr lang="en-US" sz="2800" b="0" i="0" u="none" strike="noStrike" dirty="0">
              <a:solidFill>
                <a:srgbClr val="3F3F3F"/>
              </a:solidFill>
              <a:effectLst/>
              <a:latin typeface="hero-new"/>
            </a:endParaRPr>
          </a:p>
          <a:p>
            <a:pPr marL="0" lvl="0" indent="0">
              <a:buFont typeface="Arial" panose="020B0604020202020204" pitchFamily="34" charset="0"/>
              <a:buNone/>
            </a:pPr>
            <a:r>
              <a:rPr lang="en-US" sz="1800" b="0" i="0" u="none" strike="noStrike" dirty="0">
                <a:solidFill>
                  <a:srgbClr val="3F3F3F"/>
                </a:solidFill>
                <a:effectLst/>
                <a:latin typeface="hero-new"/>
              </a:rPr>
              <a:t>There are many ways you can adapt your environment to minimize the risk of sensory overload.</a:t>
            </a:r>
          </a:p>
          <a:p>
            <a:pPr marL="0" lvl="0" indent="0">
              <a:buFont typeface="Arial" panose="020B0604020202020204" pitchFamily="34" charset="0"/>
              <a:buNone/>
            </a:pPr>
            <a:endParaRPr lang="en-US" sz="1800" b="0" i="0" u="none" strike="noStrike" dirty="0">
              <a:solidFill>
                <a:srgbClr val="3F3F3F"/>
              </a:solidFill>
              <a:effectLst/>
              <a:latin typeface="hero-new"/>
            </a:endParaRPr>
          </a:p>
          <a:p>
            <a:pPr marL="0" lvl="0" indent="0">
              <a:buFont typeface="Arial" panose="020B0604020202020204" pitchFamily="34" charset="0"/>
              <a:buNone/>
            </a:pPr>
            <a:r>
              <a:rPr lang="en-US" sz="1800" b="0" i="0" u="none" strike="noStrike" dirty="0">
                <a:solidFill>
                  <a:srgbClr val="3F3F3F"/>
                </a:solidFill>
                <a:effectLst/>
                <a:latin typeface="hero-new"/>
              </a:rPr>
              <a:t>Lights</a:t>
            </a:r>
          </a:p>
          <a:p>
            <a:pPr marL="285750" lvl="0" indent="-285750">
              <a:buFontTx/>
              <a:buChar char="-"/>
            </a:pPr>
            <a:r>
              <a:rPr lang="en-US" sz="1800" b="0" i="0" u="none" strike="noStrike" dirty="0">
                <a:solidFill>
                  <a:srgbClr val="3F3F3F"/>
                </a:solidFill>
                <a:effectLst/>
                <a:latin typeface="hero-new"/>
              </a:rPr>
              <a:t>reduce light brightness by dimming or turning off when possible OR have dedicated area to do so if not feasible for the entire building</a:t>
            </a:r>
          </a:p>
          <a:p>
            <a:pPr marL="285750" lvl="0" indent="-285750">
              <a:buFontTx/>
              <a:buChar char="-"/>
            </a:pPr>
            <a:r>
              <a:rPr lang="en-US" sz="1800" b="0" i="0" u="none" strike="noStrike" dirty="0">
                <a:solidFill>
                  <a:srgbClr val="3F3F3F"/>
                </a:solidFill>
                <a:effectLst/>
                <a:latin typeface="hero-new"/>
              </a:rPr>
              <a:t>Have sunglasses available </a:t>
            </a:r>
          </a:p>
          <a:p>
            <a:pPr marL="285750" lvl="0" indent="-285750">
              <a:buFontTx/>
              <a:buChar char="-"/>
            </a:pPr>
            <a:endParaRPr lang="en-US" sz="1800" b="0" i="0" u="none" strike="noStrike" dirty="0">
              <a:solidFill>
                <a:srgbClr val="3F3F3F"/>
              </a:solidFill>
              <a:effectLst/>
              <a:latin typeface="hero-new"/>
            </a:endParaRPr>
          </a:p>
          <a:p>
            <a:pPr marL="0" lvl="0" indent="0">
              <a:buFontTx/>
              <a:buNone/>
            </a:pPr>
            <a:r>
              <a:rPr lang="en-US" sz="1800" b="0" i="0" u="none" strike="noStrike" dirty="0">
                <a:solidFill>
                  <a:srgbClr val="3F3F3F"/>
                </a:solidFill>
                <a:effectLst/>
                <a:latin typeface="hero-new"/>
              </a:rPr>
              <a:t>Noise</a:t>
            </a:r>
          </a:p>
          <a:p>
            <a:pPr marL="285750" lvl="0" indent="-285750">
              <a:buFontTx/>
              <a:buChar char="-"/>
            </a:pPr>
            <a:r>
              <a:rPr lang="en-US" sz="1800" b="0" i="0" u="none" strike="noStrike" dirty="0">
                <a:solidFill>
                  <a:srgbClr val="3F3F3F"/>
                </a:solidFill>
                <a:effectLst/>
                <a:latin typeface="hero-new"/>
              </a:rPr>
              <a:t>Reduce volume of background music through premises </a:t>
            </a:r>
          </a:p>
          <a:p>
            <a:pPr marL="285750" lvl="0" indent="-285750">
              <a:buFontTx/>
              <a:buChar char="-"/>
            </a:pPr>
            <a:r>
              <a:rPr lang="en-US" sz="1800" b="0" i="0" u="none" strike="noStrike" dirty="0">
                <a:solidFill>
                  <a:srgbClr val="3F3F3F"/>
                </a:solidFill>
                <a:effectLst/>
                <a:latin typeface="hero-new"/>
              </a:rPr>
              <a:t>Provide alternatives to noisy hand dryers like paper towels </a:t>
            </a:r>
          </a:p>
          <a:p>
            <a:pPr marL="285750" lvl="0" indent="-285750">
              <a:buFontTx/>
              <a:buChar char="-"/>
            </a:pPr>
            <a:r>
              <a:rPr lang="en-US" sz="1800" b="0" i="0" u="none" strike="noStrike" dirty="0">
                <a:solidFill>
                  <a:srgbClr val="3F3F3F"/>
                </a:solidFill>
                <a:effectLst/>
                <a:latin typeface="hero-new"/>
              </a:rPr>
              <a:t>Have headphones or ear defender available for people to use </a:t>
            </a:r>
          </a:p>
          <a:p>
            <a:pPr marL="285750" lvl="0" indent="-285750">
              <a:buFontTx/>
              <a:buChar char="-"/>
            </a:pPr>
            <a:endParaRPr lang="en-US" sz="1800" b="0" i="0" u="none" strike="noStrike" dirty="0">
              <a:solidFill>
                <a:srgbClr val="3F3F3F"/>
              </a:solidFill>
              <a:effectLst/>
              <a:latin typeface="hero-new"/>
            </a:endParaRPr>
          </a:p>
          <a:p>
            <a:pPr marL="285750" lvl="0" indent="-285750">
              <a:buFontTx/>
              <a:buChar char="-"/>
            </a:pPr>
            <a:endParaRPr lang="en-US" sz="1800" b="0" i="0" u="none" strike="noStrike" dirty="0">
              <a:solidFill>
                <a:srgbClr val="3F3F3F"/>
              </a:solidFill>
              <a:effectLst/>
              <a:latin typeface="hero-new"/>
            </a:endParaRPr>
          </a:p>
          <a:p>
            <a:pPr marL="285750" lvl="0" indent="-285750">
              <a:buFontTx/>
              <a:buChar char="-"/>
            </a:pPr>
            <a:endParaRPr lang="en-US" sz="1800" b="0" i="0" u="none" strike="noStrike" dirty="0">
              <a:solidFill>
                <a:srgbClr val="3F3F3F"/>
              </a:solidFill>
              <a:effectLst/>
              <a:latin typeface="hero-new"/>
            </a:endParaRPr>
          </a:p>
          <a:p>
            <a:pPr marL="285750" lvl="0" indent="-285750">
              <a:buFontTx/>
              <a:buChar char="-"/>
            </a:pPr>
            <a:endParaRPr lang="en-US" sz="1800" b="0" i="0" u="none" strike="noStrike" dirty="0">
              <a:solidFill>
                <a:srgbClr val="3F3F3F"/>
              </a:solidFill>
              <a:effectLst/>
              <a:latin typeface="hero-new"/>
            </a:endParaRPr>
          </a:p>
          <a:p>
            <a:pPr marL="0" lvl="0" indent="0">
              <a:buFont typeface="Arial" panose="020B0604020202020204" pitchFamily="34" charset="0"/>
              <a:buNone/>
            </a:pPr>
            <a:endParaRPr lang="en-US" sz="1800" b="0" i="0" u="none" strike="noStrike" dirty="0">
              <a:solidFill>
                <a:srgbClr val="3F3F3F"/>
              </a:solidFill>
              <a:effectLst/>
              <a:latin typeface="hero-new"/>
            </a:endParaRPr>
          </a:p>
          <a:p>
            <a:pPr marL="0" lvl="0" indent="0">
              <a:buFont typeface="Arial" panose="020B0604020202020204" pitchFamily="34" charset="0"/>
              <a:buNone/>
            </a:pPr>
            <a:endParaRPr lang="en-US" sz="1800" b="0" i="0" u="none" strike="noStrike" dirty="0">
              <a:solidFill>
                <a:srgbClr val="3F3F3F"/>
              </a:solidFill>
              <a:effectLst/>
              <a:latin typeface="hero-new"/>
            </a:endParaRPr>
          </a:p>
        </p:txBody>
      </p:sp>
      <p:sp>
        <p:nvSpPr>
          <p:cNvPr id="4" name="Slide Number Placeholder 3"/>
          <p:cNvSpPr>
            <a:spLocks noGrp="1"/>
          </p:cNvSpPr>
          <p:nvPr>
            <p:ph type="sldNum" sz="quarter" idx="5"/>
          </p:nvPr>
        </p:nvSpPr>
        <p:spPr/>
        <p:txBody>
          <a:bodyPr/>
          <a:lstStyle/>
          <a:p>
            <a:fld id="{ABEC9F24-6ED1-F24B-BC02-E69E3D0AF317}" type="slidenum">
              <a:rPr lang="en-US" smtClean="0"/>
              <a:t>12</a:t>
            </a:fld>
            <a:endParaRPr lang="en-US"/>
          </a:p>
        </p:txBody>
      </p:sp>
    </p:spTree>
    <p:extLst>
      <p:ext uri="{BB962C8B-B14F-4D97-AF65-F5344CB8AC3E}">
        <p14:creationId xmlns:p14="http://schemas.microsoft.com/office/powerpoint/2010/main" val="21114310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85750" lvl="0" indent="-285750">
              <a:buFontTx/>
              <a:buChar char="-"/>
            </a:pPr>
            <a:endParaRPr lang="en-US" sz="1800" b="0" i="0" u="none" strike="noStrike" dirty="0">
              <a:solidFill>
                <a:srgbClr val="3F3F3F"/>
              </a:solidFill>
              <a:effectLst/>
              <a:latin typeface="hero-new"/>
            </a:endParaRPr>
          </a:p>
          <a:p>
            <a:pPr marL="285750" lvl="0" indent="-285750">
              <a:buFontTx/>
              <a:buChar char="-"/>
            </a:pPr>
            <a:endParaRPr lang="en-US" sz="1800" b="0" i="0" u="none" strike="noStrike" dirty="0">
              <a:solidFill>
                <a:srgbClr val="3F3F3F"/>
              </a:solidFill>
              <a:effectLst/>
              <a:latin typeface="hero-new"/>
            </a:endParaRPr>
          </a:p>
          <a:p>
            <a:pPr marL="285750" lvl="0" indent="-285750">
              <a:buFontTx/>
              <a:buChar char="-"/>
            </a:pPr>
            <a:endParaRPr lang="en-US" sz="1800" b="0" i="0" u="none" strike="noStrike" dirty="0">
              <a:solidFill>
                <a:srgbClr val="3F3F3F"/>
              </a:solidFill>
              <a:effectLst/>
              <a:latin typeface="hero-new"/>
            </a:endParaRPr>
          </a:p>
          <a:p>
            <a:pPr marL="285750" lvl="0" indent="-285750">
              <a:buFontTx/>
              <a:buChar char="-"/>
            </a:pPr>
            <a:endParaRPr lang="en-US" sz="1800" b="0" i="0" u="none" strike="noStrike" dirty="0">
              <a:solidFill>
                <a:srgbClr val="3F3F3F"/>
              </a:solidFill>
              <a:effectLst/>
              <a:latin typeface="hero-new"/>
            </a:endParaRPr>
          </a:p>
          <a:p>
            <a:pPr marL="0" lvl="0" indent="0">
              <a:buFont typeface="Arial" panose="020B0604020202020204" pitchFamily="34" charset="0"/>
              <a:buNone/>
            </a:pPr>
            <a:endParaRPr lang="en-US" sz="1800" b="0" i="0" u="none" strike="noStrike" dirty="0">
              <a:solidFill>
                <a:srgbClr val="3F3F3F"/>
              </a:solidFill>
              <a:effectLst/>
              <a:latin typeface="hero-new"/>
            </a:endParaRPr>
          </a:p>
          <a:p>
            <a:pPr marL="0" lvl="0" indent="0">
              <a:buFont typeface="Arial" panose="020B0604020202020204" pitchFamily="34" charset="0"/>
              <a:buNone/>
            </a:pPr>
            <a:endParaRPr lang="en-US" sz="1800" b="0" i="0" u="none" strike="noStrike" dirty="0">
              <a:solidFill>
                <a:srgbClr val="3F3F3F"/>
              </a:solidFill>
              <a:effectLst/>
              <a:latin typeface="hero-new"/>
            </a:endParaRPr>
          </a:p>
        </p:txBody>
      </p:sp>
      <p:sp>
        <p:nvSpPr>
          <p:cNvPr id="4" name="Slide Number Placeholder 3"/>
          <p:cNvSpPr>
            <a:spLocks noGrp="1"/>
          </p:cNvSpPr>
          <p:nvPr>
            <p:ph type="sldNum" sz="quarter" idx="5"/>
          </p:nvPr>
        </p:nvSpPr>
        <p:spPr/>
        <p:txBody>
          <a:bodyPr/>
          <a:lstStyle/>
          <a:p>
            <a:fld id="{ABEC9F24-6ED1-F24B-BC02-E69E3D0AF317}" type="slidenum">
              <a:rPr lang="en-US" smtClean="0"/>
              <a:t>13</a:t>
            </a:fld>
            <a:endParaRPr lang="en-US"/>
          </a:p>
        </p:txBody>
      </p:sp>
    </p:spTree>
    <p:extLst>
      <p:ext uri="{BB962C8B-B14F-4D97-AF65-F5344CB8AC3E}">
        <p14:creationId xmlns:p14="http://schemas.microsoft.com/office/powerpoint/2010/main" val="395939542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85750" lvl="0" indent="-285750">
              <a:buFontTx/>
              <a:buChar char="-"/>
            </a:pPr>
            <a:endParaRPr lang="en-US" sz="1800" b="0" i="0" u="none" strike="noStrike" dirty="0">
              <a:solidFill>
                <a:srgbClr val="3F3F3F"/>
              </a:solidFill>
              <a:effectLst/>
              <a:latin typeface="hero-new"/>
            </a:endParaRPr>
          </a:p>
          <a:p>
            <a:pPr marL="285750" lvl="0" indent="-285750">
              <a:buFontTx/>
              <a:buChar char="-"/>
            </a:pPr>
            <a:endParaRPr lang="en-US" sz="1800" b="0" i="0" u="none" strike="noStrike" dirty="0">
              <a:solidFill>
                <a:srgbClr val="3F3F3F"/>
              </a:solidFill>
              <a:effectLst/>
              <a:latin typeface="hero-new"/>
            </a:endParaRPr>
          </a:p>
          <a:p>
            <a:pPr marL="285750" lvl="0" indent="-285750">
              <a:buFontTx/>
              <a:buChar char="-"/>
            </a:pPr>
            <a:endParaRPr lang="en-US" sz="1800" b="0" i="0" u="none" strike="noStrike" dirty="0">
              <a:solidFill>
                <a:srgbClr val="3F3F3F"/>
              </a:solidFill>
              <a:effectLst/>
              <a:latin typeface="hero-new"/>
            </a:endParaRPr>
          </a:p>
          <a:p>
            <a:pPr marL="285750" lvl="0" indent="-285750">
              <a:buFontTx/>
              <a:buChar char="-"/>
            </a:pPr>
            <a:endParaRPr lang="en-US" sz="1800" b="0" i="0" u="none" strike="noStrike" dirty="0">
              <a:solidFill>
                <a:srgbClr val="3F3F3F"/>
              </a:solidFill>
              <a:effectLst/>
              <a:latin typeface="hero-new"/>
            </a:endParaRPr>
          </a:p>
          <a:p>
            <a:pPr marL="0" lvl="0" indent="0">
              <a:buFont typeface="Arial" panose="020B0604020202020204" pitchFamily="34" charset="0"/>
              <a:buNone/>
            </a:pPr>
            <a:endParaRPr lang="en-US" sz="1800" b="0" i="0" u="none" strike="noStrike" dirty="0">
              <a:solidFill>
                <a:srgbClr val="3F3F3F"/>
              </a:solidFill>
              <a:effectLst/>
              <a:latin typeface="hero-new"/>
            </a:endParaRPr>
          </a:p>
          <a:p>
            <a:pPr marL="0" lvl="0" indent="0">
              <a:buFont typeface="Arial" panose="020B0604020202020204" pitchFamily="34" charset="0"/>
              <a:buNone/>
            </a:pPr>
            <a:endParaRPr lang="en-US" sz="1800" b="0" i="0" u="none" strike="noStrike" dirty="0">
              <a:solidFill>
                <a:srgbClr val="3F3F3F"/>
              </a:solidFill>
              <a:effectLst/>
              <a:latin typeface="hero-new"/>
            </a:endParaRPr>
          </a:p>
        </p:txBody>
      </p:sp>
      <p:sp>
        <p:nvSpPr>
          <p:cNvPr id="4" name="Slide Number Placeholder 3"/>
          <p:cNvSpPr>
            <a:spLocks noGrp="1"/>
          </p:cNvSpPr>
          <p:nvPr>
            <p:ph type="sldNum" sz="quarter" idx="5"/>
          </p:nvPr>
        </p:nvSpPr>
        <p:spPr/>
        <p:txBody>
          <a:bodyPr/>
          <a:lstStyle/>
          <a:p>
            <a:fld id="{ABEC9F24-6ED1-F24B-BC02-E69E3D0AF317}" type="slidenum">
              <a:rPr lang="en-US" smtClean="0"/>
              <a:t>14</a:t>
            </a:fld>
            <a:endParaRPr lang="en-US"/>
          </a:p>
        </p:txBody>
      </p:sp>
    </p:spTree>
    <p:extLst>
      <p:ext uri="{BB962C8B-B14F-4D97-AF65-F5344CB8AC3E}">
        <p14:creationId xmlns:p14="http://schemas.microsoft.com/office/powerpoint/2010/main" val="364415039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FontTx/>
              <a:buNone/>
            </a:pPr>
            <a:r>
              <a:rPr lang="en-US" sz="1800" b="0" i="0" u="none" strike="noStrike" dirty="0">
                <a:solidFill>
                  <a:srgbClr val="3F3F3F"/>
                </a:solidFill>
                <a:effectLst/>
                <a:latin typeface="hero-new"/>
              </a:rPr>
              <a:t>Designated quite space </a:t>
            </a:r>
          </a:p>
          <a:p>
            <a:pPr marL="285750" lvl="0" indent="-285750">
              <a:buFontTx/>
              <a:buChar char="-"/>
            </a:pPr>
            <a:r>
              <a:rPr lang="en-US" sz="1800" b="0" i="0" u="none" strike="noStrike" dirty="0">
                <a:solidFill>
                  <a:srgbClr val="3F3F3F"/>
                </a:solidFill>
                <a:effectLst/>
                <a:latin typeface="hero-new"/>
              </a:rPr>
              <a:t>Quiet space away from main crowds with reduced noise and lightning  when individuals and their companions can retreat to if an environment becomes too much. </a:t>
            </a:r>
          </a:p>
          <a:p>
            <a:pPr marL="285750" marR="0" lvl="0" indent="-285750" algn="l" defTabSz="914400" rtl="0" eaLnBrk="1" fontAlgn="auto" latinLnBrk="0" hangingPunct="1">
              <a:lnSpc>
                <a:spcPct val="100000"/>
              </a:lnSpc>
              <a:spcBef>
                <a:spcPts val="0"/>
              </a:spcBef>
              <a:spcAft>
                <a:spcPts val="0"/>
              </a:spcAft>
              <a:buClrTx/>
              <a:buSzTx/>
              <a:buFontTx/>
              <a:buChar char="-"/>
              <a:tabLst/>
              <a:defRPr/>
            </a:pPr>
            <a:r>
              <a:rPr lang="en-US" sz="4000" dirty="0"/>
              <a:t>Such space could also feature soft seating and sensory toys, stress balls and games.  </a:t>
            </a:r>
          </a:p>
          <a:p>
            <a:pPr marL="285750" marR="0" lvl="0" indent="-285750" algn="l" defTabSz="914400" rtl="0" eaLnBrk="1" fontAlgn="auto" latinLnBrk="0" hangingPunct="1">
              <a:lnSpc>
                <a:spcPct val="100000"/>
              </a:lnSpc>
              <a:spcBef>
                <a:spcPts val="0"/>
              </a:spcBef>
              <a:spcAft>
                <a:spcPts val="0"/>
              </a:spcAft>
              <a:buClrTx/>
              <a:buSzTx/>
              <a:buFontTx/>
              <a:buChar char="-"/>
              <a:tabLst/>
              <a:defRPr/>
            </a:pPr>
            <a:endParaRPr lang="en-US" sz="400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4000" dirty="0"/>
              <a:t>Dedicated hour</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5400" b="0" i="0" u="none" strike="noStrike" dirty="0">
                <a:solidFill>
                  <a:srgbClr val="3F3F3F"/>
                </a:solidFill>
                <a:effectLst/>
                <a:latin typeface="hero-new"/>
              </a:rPr>
              <a:t>- Organize a special autism hour during a less busy period, or this could be a quieter session just for autistic visitors where lighting is dimmed, and background noise is reduced. This could be a monthly event, opening an hour or two later or earlier than usual.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400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4000" dirty="0"/>
              <a:t>As an example: </a:t>
            </a:r>
            <a:r>
              <a:rPr lang="en-US" sz="5400" b="0" i="0" u="none" strike="noStrike" dirty="0">
                <a:solidFill>
                  <a:srgbClr val="FFFFFF"/>
                </a:solidFill>
                <a:effectLst/>
                <a:latin typeface="font-regular"/>
              </a:rPr>
              <a:t>LEGO Ferrari Build &amp; Race from 1pm to 2pm daily, offering a quieter experience.</a:t>
            </a:r>
            <a:endParaRPr lang="en-US" sz="4000" dirty="0"/>
          </a:p>
          <a:p>
            <a:pPr marL="285750" marR="0" lvl="0" indent="-285750" algn="l" defTabSz="914400" rtl="0" eaLnBrk="1" fontAlgn="auto" latinLnBrk="0" hangingPunct="1">
              <a:lnSpc>
                <a:spcPct val="100000"/>
              </a:lnSpc>
              <a:spcBef>
                <a:spcPts val="0"/>
              </a:spcBef>
              <a:spcAft>
                <a:spcPts val="0"/>
              </a:spcAft>
              <a:buClrTx/>
              <a:buSzTx/>
              <a:buFontTx/>
              <a:buChar char="-"/>
              <a:tabLst/>
              <a:defRPr/>
            </a:pPr>
            <a:endParaRPr lang="en-US" sz="4000" dirty="0"/>
          </a:p>
          <a:p>
            <a:pPr marL="285750" marR="0" lvl="0" indent="-285750" algn="l" defTabSz="914400" rtl="0" eaLnBrk="1" fontAlgn="auto" latinLnBrk="0" hangingPunct="1">
              <a:lnSpc>
                <a:spcPct val="100000"/>
              </a:lnSpc>
              <a:spcBef>
                <a:spcPts val="0"/>
              </a:spcBef>
              <a:spcAft>
                <a:spcPts val="0"/>
              </a:spcAft>
              <a:buClrTx/>
              <a:buSzTx/>
              <a:buFontTx/>
              <a:buChar char="-"/>
              <a:tabLst/>
              <a:defRPr/>
            </a:pPr>
            <a:endParaRPr lang="en-US" sz="4000" dirty="0"/>
          </a:p>
          <a:p>
            <a:pPr marL="285750" lvl="0" indent="-285750">
              <a:buFontTx/>
              <a:buChar char="-"/>
            </a:pPr>
            <a:endParaRPr lang="en-US" sz="1800" b="0" i="0" u="none" strike="noStrike" dirty="0">
              <a:solidFill>
                <a:srgbClr val="3F3F3F"/>
              </a:solidFill>
              <a:effectLst/>
              <a:latin typeface="hero-new"/>
            </a:endParaRPr>
          </a:p>
          <a:p>
            <a:pPr marL="285750" lvl="0" indent="-285750">
              <a:buFontTx/>
              <a:buChar char="-"/>
            </a:pPr>
            <a:endParaRPr lang="en-US" sz="1800" b="0" i="0" u="none" strike="noStrike" dirty="0">
              <a:solidFill>
                <a:srgbClr val="3F3F3F"/>
              </a:solidFill>
              <a:effectLst/>
              <a:latin typeface="hero-new"/>
            </a:endParaRPr>
          </a:p>
          <a:p>
            <a:pPr marL="0" lvl="0" indent="0">
              <a:buFont typeface="Arial" panose="020B0604020202020204" pitchFamily="34" charset="0"/>
              <a:buNone/>
            </a:pPr>
            <a:endParaRPr lang="en-US" sz="1800" b="0" i="0" u="none" strike="noStrike" dirty="0">
              <a:solidFill>
                <a:srgbClr val="3F3F3F"/>
              </a:solidFill>
              <a:effectLst/>
              <a:latin typeface="hero-new"/>
            </a:endParaRPr>
          </a:p>
          <a:p>
            <a:pPr marL="0" lvl="0" indent="0">
              <a:buFont typeface="Arial" panose="020B0604020202020204" pitchFamily="34" charset="0"/>
              <a:buNone/>
            </a:pPr>
            <a:endParaRPr lang="en-US" sz="1800" b="0" i="0" u="none" strike="noStrike" dirty="0">
              <a:solidFill>
                <a:srgbClr val="3F3F3F"/>
              </a:solidFill>
              <a:effectLst/>
              <a:latin typeface="hero-new"/>
            </a:endParaRPr>
          </a:p>
        </p:txBody>
      </p:sp>
      <p:sp>
        <p:nvSpPr>
          <p:cNvPr id="4" name="Slide Number Placeholder 3"/>
          <p:cNvSpPr>
            <a:spLocks noGrp="1"/>
          </p:cNvSpPr>
          <p:nvPr>
            <p:ph type="sldNum" sz="quarter" idx="5"/>
          </p:nvPr>
        </p:nvSpPr>
        <p:spPr/>
        <p:txBody>
          <a:bodyPr/>
          <a:lstStyle/>
          <a:p>
            <a:fld id="{ABEC9F24-6ED1-F24B-BC02-E69E3D0AF317}" type="slidenum">
              <a:rPr lang="en-US" smtClean="0"/>
              <a:t>15</a:t>
            </a:fld>
            <a:endParaRPr lang="en-US"/>
          </a:p>
        </p:txBody>
      </p:sp>
    </p:spTree>
    <p:extLst>
      <p:ext uri="{BB962C8B-B14F-4D97-AF65-F5344CB8AC3E}">
        <p14:creationId xmlns:p14="http://schemas.microsoft.com/office/powerpoint/2010/main" val="159821461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u="none" strike="noStrike" dirty="0">
                <a:solidFill>
                  <a:srgbClr val="000000"/>
                </a:solidFill>
                <a:effectLst/>
                <a:latin typeface="-webkit-standard"/>
              </a:rPr>
              <a:t>The recommendations above were gathered from various sensory sensitivity and autism-related resources. These are not specifically tailored for designers. But I did come across the PAS 6463 design guide: </a:t>
            </a:r>
            <a:r>
              <a:rPr lang="en-US" b="0" i="1" u="none" strike="noStrike" dirty="0">
                <a:solidFill>
                  <a:srgbClr val="000000"/>
                </a:solidFill>
                <a:effectLst/>
              </a:rPr>
              <a:t>Design for the Mind – Neurodiversity and the Built Environment</a:t>
            </a:r>
            <a:r>
              <a:rPr lang="en-US" b="0" i="0" u="none" strike="noStrike" dirty="0">
                <a:solidFill>
                  <a:srgbClr val="000000"/>
                </a:solidFill>
                <a:effectLst/>
                <a:latin typeface="-webkit-standard"/>
              </a:rPr>
              <a:t>. </a:t>
            </a:r>
            <a:endParaRPr lang="en-US" dirty="0"/>
          </a:p>
        </p:txBody>
      </p:sp>
      <p:sp>
        <p:nvSpPr>
          <p:cNvPr id="4" name="Slide Number Placeholder 3"/>
          <p:cNvSpPr>
            <a:spLocks noGrp="1"/>
          </p:cNvSpPr>
          <p:nvPr>
            <p:ph type="sldNum" sz="quarter" idx="5"/>
          </p:nvPr>
        </p:nvSpPr>
        <p:spPr/>
        <p:txBody>
          <a:bodyPr/>
          <a:lstStyle/>
          <a:p>
            <a:fld id="{ABEC9F24-6ED1-F24B-BC02-E69E3D0AF317}" type="slidenum">
              <a:rPr lang="en-US" smtClean="0"/>
              <a:t>16</a:t>
            </a:fld>
            <a:endParaRPr lang="en-US"/>
          </a:p>
        </p:txBody>
      </p:sp>
    </p:spTree>
    <p:extLst>
      <p:ext uri="{BB962C8B-B14F-4D97-AF65-F5344CB8AC3E}">
        <p14:creationId xmlns:p14="http://schemas.microsoft.com/office/powerpoint/2010/main" val="397528521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957176-A58D-4F8C-2B43-A8CC00B0317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E9800FDB-402A-1407-4477-93B7541B244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85B4703-14C2-3BDB-B42F-791105629E7D}"/>
              </a:ext>
            </a:extLst>
          </p:cNvPr>
          <p:cNvSpPr>
            <a:spLocks noGrp="1"/>
          </p:cNvSpPr>
          <p:nvPr>
            <p:ph type="dt" sz="half" idx="10"/>
          </p:nvPr>
        </p:nvSpPr>
        <p:spPr/>
        <p:txBody>
          <a:bodyPr/>
          <a:lstStyle/>
          <a:p>
            <a:fld id="{420CAAEB-A852-E041-9225-D3C49E75B44E}" type="datetimeFigureOut">
              <a:rPr lang="en-US" smtClean="0"/>
              <a:t>2/26/25</a:t>
            </a:fld>
            <a:endParaRPr lang="en-US"/>
          </a:p>
        </p:txBody>
      </p:sp>
      <p:sp>
        <p:nvSpPr>
          <p:cNvPr id="5" name="Footer Placeholder 4">
            <a:extLst>
              <a:ext uri="{FF2B5EF4-FFF2-40B4-BE49-F238E27FC236}">
                <a16:creationId xmlns:a16="http://schemas.microsoft.com/office/drawing/2014/main" id="{A325F4C4-10A0-1DF1-6F1E-D874CD80FCE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9D3E2C2-2B5B-0D2D-0C07-E483F8686CDF}"/>
              </a:ext>
            </a:extLst>
          </p:cNvPr>
          <p:cNvSpPr>
            <a:spLocks noGrp="1"/>
          </p:cNvSpPr>
          <p:nvPr>
            <p:ph type="sldNum" sz="quarter" idx="12"/>
          </p:nvPr>
        </p:nvSpPr>
        <p:spPr/>
        <p:txBody>
          <a:bodyPr/>
          <a:lstStyle/>
          <a:p>
            <a:fld id="{AEBACACA-9B23-A940-90F9-1F4CBC605686}" type="slidenum">
              <a:rPr lang="en-US" smtClean="0"/>
              <a:t>‹#›</a:t>
            </a:fld>
            <a:endParaRPr lang="en-US"/>
          </a:p>
        </p:txBody>
      </p:sp>
    </p:spTree>
    <p:extLst>
      <p:ext uri="{BB962C8B-B14F-4D97-AF65-F5344CB8AC3E}">
        <p14:creationId xmlns:p14="http://schemas.microsoft.com/office/powerpoint/2010/main" val="147005339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39BE27-7006-8CCD-F2D5-C85BD0F06F1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420C6BD-23BC-CAA5-C75A-20E5002FAA3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E964D7B-9938-7FC5-EEAA-0C8763D2EE3F}"/>
              </a:ext>
            </a:extLst>
          </p:cNvPr>
          <p:cNvSpPr>
            <a:spLocks noGrp="1"/>
          </p:cNvSpPr>
          <p:nvPr>
            <p:ph type="dt" sz="half" idx="10"/>
          </p:nvPr>
        </p:nvSpPr>
        <p:spPr/>
        <p:txBody>
          <a:bodyPr/>
          <a:lstStyle/>
          <a:p>
            <a:fld id="{420CAAEB-A852-E041-9225-D3C49E75B44E}" type="datetimeFigureOut">
              <a:rPr lang="en-US" smtClean="0"/>
              <a:t>2/26/25</a:t>
            </a:fld>
            <a:endParaRPr lang="en-US"/>
          </a:p>
        </p:txBody>
      </p:sp>
      <p:sp>
        <p:nvSpPr>
          <p:cNvPr id="5" name="Footer Placeholder 4">
            <a:extLst>
              <a:ext uri="{FF2B5EF4-FFF2-40B4-BE49-F238E27FC236}">
                <a16:creationId xmlns:a16="http://schemas.microsoft.com/office/drawing/2014/main" id="{DB253B3B-B107-6636-F6F1-08356F7CA87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339CF25-3848-CF96-4F5F-DB05AEA3B5DC}"/>
              </a:ext>
            </a:extLst>
          </p:cNvPr>
          <p:cNvSpPr>
            <a:spLocks noGrp="1"/>
          </p:cNvSpPr>
          <p:nvPr>
            <p:ph type="sldNum" sz="quarter" idx="12"/>
          </p:nvPr>
        </p:nvSpPr>
        <p:spPr/>
        <p:txBody>
          <a:bodyPr/>
          <a:lstStyle/>
          <a:p>
            <a:fld id="{AEBACACA-9B23-A940-90F9-1F4CBC605686}" type="slidenum">
              <a:rPr lang="en-US" smtClean="0"/>
              <a:t>‹#›</a:t>
            </a:fld>
            <a:endParaRPr lang="en-US"/>
          </a:p>
        </p:txBody>
      </p:sp>
    </p:spTree>
    <p:extLst>
      <p:ext uri="{BB962C8B-B14F-4D97-AF65-F5344CB8AC3E}">
        <p14:creationId xmlns:p14="http://schemas.microsoft.com/office/powerpoint/2010/main" val="39711405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DD67DA-9DC6-9567-5C62-CCED36C5EE3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CFC5AE7-5BBA-B49D-5484-EA75B59A65F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68CCA01-3FE1-9C01-B57E-A0F389AC9B01}"/>
              </a:ext>
            </a:extLst>
          </p:cNvPr>
          <p:cNvSpPr>
            <a:spLocks noGrp="1"/>
          </p:cNvSpPr>
          <p:nvPr>
            <p:ph type="dt" sz="half" idx="10"/>
          </p:nvPr>
        </p:nvSpPr>
        <p:spPr/>
        <p:txBody>
          <a:bodyPr/>
          <a:lstStyle/>
          <a:p>
            <a:fld id="{420CAAEB-A852-E041-9225-D3C49E75B44E}" type="datetimeFigureOut">
              <a:rPr lang="en-US" smtClean="0"/>
              <a:t>2/26/25</a:t>
            </a:fld>
            <a:endParaRPr lang="en-US"/>
          </a:p>
        </p:txBody>
      </p:sp>
      <p:sp>
        <p:nvSpPr>
          <p:cNvPr id="5" name="Footer Placeholder 4">
            <a:extLst>
              <a:ext uri="{FF2B5EF4-FFF2-40B4-BE49-F238E27FC236}">
                <a16:creationId xmlns:a16="http://schemas.microsoft.com/office/drawing/2014/main" id="{0C7A9700-684C-88CD-9723-52FBCC8C8C6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5973A0B-791A-BCBB-EEAB-9CDF93814CEA}"/>
              </a:ext>
            </a:extLst>
          </p:cNvPr>
          <p:cNvSpPr>
            <a:spLocks noGrp="1"/>
          </p:cNvSpPr>
          <p:nvPr>
            <p:ph type="sldNum" sz="quarter" idx="12"/>
          </p:nvPr>
        </p:nvSpPr>
        <p:spPr/>
        <p:txBody>
          <a:bodyPr/>
          <a:lstStyle/>
          <a:p>
            <a:fld id="{AEBACACA-9B23-A940-90F9-1F4CBC605686}" type="slidenum">
              <a:rPr lang="en-US" smtClean="0"/>
              <a:t>‹#›</a:t>
            </a:fld>
            <a:endParaRPr lang="en-US"/>
          </a:p>
        </p:txBody>
      </p:sp>
    </p:spTree>
    <p:extLst>
      <p:ext uri="{BB962C8B-B14F-4D97-AF65-F5344CB8AC3E}">
        <p14:creationId xmlns:p14="http://schemas.microsoft.com/office/powerpoint/2010/main" val="338440840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F4B08D-DEB1-541E-8E35-0782084B48B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524CEF4-AFF6-52F7-3EB8-BA86790C756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1C363FF0-CD9F-F771-1169-59C569308ED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B57A053-34F1-091F-F753-29271086CA1B}"/>
              </a:ext>
            </a:extLst>
          </p:cNvPr>
          <p:cNvSpPr>
            <a:spLocks noGrp="1"/>
          </p:cNvSpPr>
          <p:nvPr>
            <p:ph type="dt" sz="half" idx="10"/>
          </p:nvPr>
        </p:nvSpPr>
        <p:spPr/>
        <p:txBody>
          <a:bodyPr/>
          <a:lstStyle/>
          <a:p>
            <a:fld id="{420CAAEB-A852-E041-9225-D3C49E75B44E}" type="datetimeFigureOut">
              <a:rPr lang="en-US" smtClean="0"/>
              <a:t>2/26/25</a:t>
            </a:fld>
            <a:endParaRPr lang="en-US"/>
          </a:p>
        </p:txBody>
      </p:sp>
      <p:sp>
        <p:nvSpPr>
          <p:cNvPr id="6" name="Footer Placeholder 5">
            <a:extLst>
              <a:ext uri="{FF2B5EF4-FFF2-40B4-BE49-F238E27FC236}">
                <a16:creationId xmlns:a16="http://schemas.microsoft.com/office/drawing/2014/main" id="{71B32503-A6D8-1CB4-4A9B-67CD59122F9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CE5A116-17FC-F999-725D-DB94D252A4FE}"/>
              </a:ext>
            </a:extLst>
          </p:cNvPr>
          <p:cNvSpPr>
            <a:spLocks noGrp="1"/>
          </p:cNvSpPr>
          <p:nvPr>
            <p:ph type="sldNum" sz="quarter" idx="12"/>
          </p:nvPr>
        </p:nvSpPr>
        <p:spPr/>
        <p:txBody>
          <a:bodyPr/>
          <a:lstStyle/>
          <a:p>
            <a:fld id="{AEBACACA-9B23-A940-90F9-1F4CBC605686}" type="slidenum">
              <a:rPr lang="en-US" smtClean="0"/>
              <a:t>‹#›</a:t>
            </a:fld>
            <a:endParaRPr lang="en-US"/>
          </a:p>
        </p:txBody>
      </p:sp>
    </p:spTree>
    <p:extLst>
      <p:ext uri="{BB962C8B-B14F-4D97-AF65-F5344CB8AC3E}">
        <p14:creationId xmlns:p14="http://schemas.microsoft.com/office/powerpoint/2010/main" val="239562463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EAD9C3-F68F-7D61-8456-42E8D598437C}"/>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163A1D62-8F6B-035B-F257-6C89F8BC08D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43C8C65-BC0E-547B-E7D1-9763BC682E8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FE0AB6A4-7565-6A9A-71A9-8D800E26E62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E7C0F9E-8D98-6D9A-C93A-5AE16B991B6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D48C006-6E31-9858-4A20-7263E2076B35}"/>
              </a:ext>
            </a:extLst>
          </p:cNvPr>
          <p:cNvSpPr>
            <a:spLocks noGrp="1"/>
          </p:cNvSpPr>
          <p:nvPr>
            <p:ph type="dt" sz="half" idx="10"/>
          </p:nvPr>
        </p:nvSpPr>
        <p:spPr/>
        <p:txBody>
          <a:bodyPr/>
          <a:lstStyle/>
          <a:p>
            <a:fld id="{420CAAEB-A852-E041-9225-D3C49E75B44E}" type="datetimeFigureOut">
              <a:rPr lang="en-US" smtClean="0"/>
              <a:t>2/26/25</a:t>
            </a:fld>
            <a:endParaRPr lang="en-US"/>
          </a:p>
        </p:txBody>
      </p:sp>
      <p:sp>
        <p:nvSpPr>
          <p:cNvPr id="8" name="Footer Placeholder 7">
            <a:extLst>
              <a:ext uri="{FF2B5EF4-FFF2-40B4-BE49-F238E27FC236}">
                <a16:creationId xmlns:a16="http://schemas.microsoft.com/office/drawing/2014/main" id="{C3CE12DA-0091-668F-7EC4-097B0C0AB24D}"/>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3C0B6D9B-07C8-F550-B9BE-39C5BFAFA3E6}"/>
              </a:ext>
            </a:extLst>
          </p:cNvPr>
          <p:cNvSpPr>
            <a:spLocks noGrp="1"/>
          </p:cNvSpPr>
          <p:nvPr>
            <p:ph type="sldNum" sz="quarter" idx="12"/>
          </p:nvPr>
        </p:nvSpPr>
        <p:spPr/>
        <p:txBody>
          <a:bodyPr/>
          <a:lstStyle/>
          <a:p>
            <a:fld id="{AEBACACA-9B23-A940-90F9-1F4CBC605686}" type="slidenum">
              <a:rPr lang="en-US" smtClean="0"/>
              <a:t>‹#›</a:t>
            </a:fld>
            <a:endParaRPr lang="en-US"/>
          </a:p>
        </p:txBody>
      </p:sp>
    </p:spTree>
    <p:extLst>
      <p:ext uri="{BB962C8B-B14F-4D97-AF65-F5344CB8AC3E}">
        <p14:creationId xmlns:p14="http://schemas.microsoft.com/office/powerpoint/2010/main" val="84946494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4E607E-D7BB-A070-93F6-43D4431EC63C}"/>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948F5153-94B6-3636-E876-213A3E668502}"/>
              </a:ext>
            </a:extLst>
          </p:cNvPr>
          <p:cNvSpPr>
            <a:spLocks noGrp="1"/>
          </p:cNvSpPr>
          <p:nvPr>
            <p:ph type="dt" sz="half" idx="10"/>
          </p:nvPr>
        </p:nvSpPr>
        <p:spPr/>
        <p:txBody>
          <a:bodyPr/>
          <a:lstStyle/>
          <a:p>
            <a:fld id="{420CAAEB-A852-E041-9225-D3C49E75B44E}" type="datetimeFigureOut">
              <a:rPr lang="en-US" smtClean="0"/>
              <a:t>2/26/25</a:t>
            </a:fld>
            <a:endParaRPr lang="en-US"/>
          </a:p>
        </p:txBody>
      </p:sp>
      <p:sp>
        <p:nvSpPr>
          <p:cNvPr id="4" name="Footer Placeholder 3">
            <a:extLst>
              <a:ext uri="{FF2B5EF4-FFF2-40B4-BE49-F238E27FC236}">
                <a16:creationId xmlns:a16="http://schemas.microsoft.com/office/drawing/2014/main" id="{9C03862F-2AD8-5D3D-75AB-ED26B7CA63B3}"/>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624A84B-6D21-D2C2-FE9D-B316F06E0C1A}"/>
              </a:ext>
            </a:extLst>
          </p:cNvPr>
          <p:cNvSpPr>
            <a:spLocks noGrp="1"/>
          </p:cNvSpPr>
          <p:nvPr>
            <p:ph type="sldNum" sz="quarter" idx="12"/>
          </p:nvPr>
        </p:nvSpPr>
        <p:spPr/>
        <p:txBody>
          <a:bodyPr/>
          <a:lstStyle/>
          <a:p>
            <a:fld id="{AEBACACA-9B23-A940-90F9-1F4CBC605686}" type="slidenum">
              <a:rPr lang="en-US" smtClean="0"/>
              <a:t>‹#›</a:t>
            </a:fld>
            <a:endParaRPr lang="en-US"/>
          </a:p>
        </p:txBody>
      </p:sp>
    </p:spTree>
    <p:extLst>
      <p:ext uri="{BB962C8B-B14F-4D97-AF65-F5344CB8AC3E}">
        <p14:creationId xmlns:p14="http://schemas.microsoft.com/office/powerpoint/2010/main" val="124508545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EF30E7A-23F1-AB87-F7E6-658396A2A835}"/>
              </a:ext>
            </a:extLst>
          </p:cNvPr>
          <p:cNvSpPr>
            <a:spLocks noGrp="1"/>
          </p:cNvSpPr>
          <p:nvPr>
            <p:ph type="dt" sz="half" idx="10"/>
          </p:nvPr>
        </p:nvSpPr>
        <p:spPr/>
        <p:txBody>
          <a:bodyPr/>
          <a:lstStyle/>
          <a:p>
            <a:fld id="{420CAAEB-A852-E041-9225-D3C49E75B44E}" type="datetimeFigureOut">
              <a:rPr lang="en-US" smtClean="0"/>
              <a:t>2/26/25</a:t>
            </a:fld>
            <a:endParaRPr lang="en-US"/>
          </a:p>
        </p:txBody>
      </p:sp>
      <p:sp>
        <p:nvSpPr>
          <p:cNvPr id="3" name="Footer Placeholder 2">
            <a:extLst>
              <a:ext uri="{FF2B5EF4-FFF2-40B4-BE49-F238E27FC236}">
                <a16:creationId xmlns:a16="http://schemas.microsoft.com/office/drawing/2014/main" id="{633F360E-F05C-8F0C-5D43-671C3B077632}"/>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59D1EAE-8D98-2F60-4A20-9DE672CCF6D0}"/>
              </a:ext>
            </a:extLst>
          </p:cNvPr>
          <p:cNvSpPr>
            <a:spLocks noGrp="1"/>
          </p:cNvSpPr>
          <p:nvPr>
            <p:ph type="sldNum" sz="quarter" idx="12"/>
          </p:nvPr>
        </p:nvSpPr>
        <p:spPr/>
        <p:txBody>
          <a:bodyPr/>
          <a:lstStyle/>
          <a:p>
            <a:fld id="{AEBACACA-9B23-A940-90F9-1F4CBC605686}" type="slidenum">
              <a:rPr lang="en-US" smtClean="0"/>
              <a:t>‹#›</a:t>
            </a:fld>
            <a:endParaRPr lang="en-US"/>
          </a:p>
        </p:txBody>
      </p:sp>
    </p:spTree>
    <p:extLst>
      <p:ext uri="{BB962C8B-B14F-4D97-AF65-F5344CB8AC3E}">
        <p14:creationId xmlns:p14="http://schemas.microsoft.com/office/powerpoint/2010/main" val="339689542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773722-8921-ABB1-059C-06C265B5592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41348096-FE16-D650-5F76-6196FF80C20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5B11B88-F301-CB61-9A55-520606C8FAA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AEA165D-8770-0DBF-C6AD-7D34D7576952}"/>
              </a:ext>
            </a:extLst>
          </p:cNvPr>
          <p:cNvSpPr>
            <a:spLocks noGrp="1"/>
          </p:cNvSpPr>
          <p:nvPr>
            <p:ph type="dt" sz="half" idx="10"/>
          </p:nvPr>
        </p:nvSpPr>
        <p:spPr/>
        <p:txBody>
          <a:bodyPr/>
          <a:lstStyle/>
          <a:p>
            <a:fld id="{420CAAEB-A852-E041-9225-D3C49E75B44E}" type="datetimeFigureOut">
              <a:rPr lang="en-US" smtClean="0"/>
              <a:t>2/26/25</a:t>
            </a:fld>
            <a:endParaRPr lang="en-US"/>
          </a:p>
        </p:txBody>
      </p:sp>
      <p:sp>
        <p:nvSpPr>
          <p:cNvPr id="6" name="Footer Placeholder 5">
            <a:extLst>
              <a:ext uri="{FF2B5EF4-FFF2-40B4-BE49-F238E27FC236}">
                <a16:creationId xmlns:a16="http://schemas.microsoft.com/office/drawing/2014/main" id="{22893FF5-AD4D-5E37-FAB4-9455B745886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0126D94-9BB2-3F97-6FD6-01A0957ACF7E}"/>
              </a:ext>
            </a:extLst>
          </p:cNvPr>
          <p:cNvSpPr>
            <a:spLocks noGrp="1"/>
          </p:cNvSpPr>
          <p:nvPr>
            <p:ph type="sldNum" sz="quarter" idx="12"/>
          </p:nvPr>
        </p:nvSpPr>
        <p:spPr/>
        <p:txBody>
          <a:bodyPr/>
          <a:lstStyle/>
          <a:p>
            <a:fld id="{AEBACACA-9B23-A940-90F9-1F4CBC605686}" type="slidenum">
              <a:rPr lang="en-US" smtClean="0"/>
              <a:t>‹#›</a:t>
            </a:fld>
            <a:endParaRPr lang="en-US"/>
          </a:p>
        </p:txBody>
      </p:sp>
    </p:spTree>
    <p:extLst>
      <p:ext uri="{BB962C8B-B14F-4D97-AF65-F5344CB8AC3E}">
        <p14:creationId xmlns:p14="http://schemas.microsoft.com/office/powerpoint/2010/main" val="2211392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2050FC-A645-93D3-DE18-E225ABB1565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696810AC-763C-7643-4459-8B105BBDA1E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86232243-7EDB-8DD9-5AEF-61859DB37C9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983F332-9D6E-85EF-A8F7-4D114CEC8B1B}"/>
              </a:ext>
            </a:extLst>
          </p:cNvPr>
          <p:cNvSpPr>
            <a:spLocks noGrp="1"/>
          </p:cNvSpPr>
          <p:nvPr>
            <p:ph type="dt" sz="half" idx="10"/>
          </p:nvPr>
        </p:nvSpPr>
        <p:spPr/>
        <p:txBody>
          <a:bodyPr/>
          <a:lstStyle/>
          <a:p>
            <a:fld id="{420CAAEB-A852-E041-9225-D3C49E75B44E}" type="datetimeFigureOut">
              <a:rPr lang="en-US" smtClean="0"/>
              <a:t>2/26/25</a:t>
            </a:fld>
            <a:endParaRPr lang="en-US"/>
          </a:p>
        </p:txBody>
      </p:sp>
      <p:sp>
        <p:nvSpPr>
          <p:cNvPr id="6" name="Footer Placeholder 5">
            <a:extLst>
              <a:ext uri="{FF2B5EF4-FFF2-40B4-BE49-F238E27FC236}">
                <a16:creationId xmlns:a16="http://schemas.microsoft.com/office/drawing/2014/main" id="{7F080928-FC51-D6CA-4DC4-1D9A67B4943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C39D4A0-9F0E-6912-2AE4-23ACFD97BF3A}"/>
              </a:ext>
            </a:extLst>
          </p:cNvPr>
          <p:cNvSpPr>
            <a:spLocks noGrp="1"/>
          </p:cNvSpPr>
          <p:nvPr>
            <p:ph type="sldNum" sz="quarter" idx="12"/>
          </p:nvPr>
        </p:nvSpPr>
        <p:spPr/>
        <p:txBody>
          <a:bodyPr/>
          <a:lstStyle/>
          <a:p>
            <a:fld id="{AEBACACA-9B23-A940-90F9-1F4CBC605686}" type="slidenum">
              <a:rPr lang="en-US" smtClean="0"/>
              <a:t>‹#›</a:t>
            </a:fld>
            <a:endParaRPr lang="en-US"/>
          </a:p>
        </p:txBody>
      </p:sp>
    </p:spTree>
    <p:extLst>
      <p:ext uri="{BB962C8B-B14F-4D97-AF65-F5344CB8AC3E}">
        <p14:creationId xmlns:p14="http://schemas.microsoft.com/office/powerpoint/2010/main" val="228676478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921CCC-7952-3F62-6F0D-7BA7C2528A2A}"/>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71154870-92B9-E19A-B69F-A557029A8E8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FA987FF-4DE3-ECAD-FEEB-BA1D5534B073}"/>
              </a:ext>
            </a:extLst>
          </p:cNvPr>
          <p:cNvSpPr>
            <a:spLocks noGrp="1"/>
          </p:cNvSpPr>
          <p:nvPr>
            <p:ph type="dt" sz="half" idx="10"/>
          </p:nvPr>
        </p:nvSpPr>
        <p:spPr/>
        <p:txBody>
          <a:bodyPr/>
          <a:lstStyle/>
          <a:p>
            <a:fld id="{420CAAEB-A852-E041-9225-D3C49E75B44E}" type="datetimeFigureOut">
              <a:rPr lang="en-US" smtClean="0"/>
              <a:t>2/26/25</a:t>
            </a:fld>
            <a:endParaRPr lang="en-US"/>
          </a:p>
        </p:txBody>
      </p:sp>
      <p:sp>
        <p:nvSpPr>
          <p:cNvPr id="5" name="Footer Placeholder 4">
            <a:extLst>
              <a:ext uri="{FF2B5EF4-FFF2-40B4-BE49-F238E27FC236}">
                <a16:creationId xmlns:a16="http://schemas.microsoft.com/office/drawing/2014/main" id="{57C2B87E-A415-5F17-B531-82CD3ADA69E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E1152FA-A070-2C3E-1B79-6ABBED733E17}"/>
              </a:ext>
            </a:extLst>
          </p:cNvPr>
          <p:cNvSpPr>
            <a:spLocks noGrp="1"/>
          </p:cNvSpPr>
          <p:nvPr>
            <p:ph type="sldNum" sz="quarter" idx="12"/>
          </p:nvPr>
        </p:nvSpPr>
        <p:spPr/>
        <p:txBody>
          <a:bodyPr/>
          <a:lstStyle/>
          <a:p>
            <a:fld id="{AEBACACA-9B23-A940-90F9-1F4CBC605686}" type="slidenum">
              <a:rPr lang="en-US" smtClean="0"/>
              <a:t>‹#›</a:t>
            </a:fld>
            <a:endParaRPr lang="en-US"/>
          </a:p>
        </p:txBody>
      </p:sp>
    </p:spTree>
    <p:extLst>
      <p:ext uri="{BB962C8B-B14F-4D97-AF65-F5344CB8AC3E}">
        <p14:creationId xmlns:p14="http://schemas.microsoft.com/office/powerpoint/2010/main" val="264224964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9923CF9-5530-5C4F-5688-46AE2160C872}"/>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69D1E2A-A94F-89D7-4210-965DD93E706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43F991E-78F2-B435-ED95-94438D391B11}"/>
              </a:ext>
            </a:extLst>
          </p:cNvPr>
          <p:cNvSpPr>
            <a:spLocks noGrp="1"/>
          </p:cNvSpPr>
          <p:nvPr>
            <p:ph type="dt" sz="half" idx="10"/>
          </p:nvPr>
        </p:nvSpPr>
        <p:spPr/>
        <p:txBody>
          <a:bodyPr/>
          <a:lstStyle/>
          <a:p>
            <a:fld id="{420CAAEB-A852-E041-9225-D3C49E75B44E}" type="datetimeFigureOut">
              <a:rPr lang="en-US" smtClean="0"/>
              <a:t>2/26/25</a:t>
            </a:fld>
            <a:endParaRPr lang="en-US"/>
          </a:p>
        </p:txBody>
      </p:sp>
      <p:sp>
        <p:nvSpPr>
          <p:cNvPr id="5" name="Footer Placeholder 4">
            <a:extLst>
              <a:ext uri="{FF2B5EF4-FFF2-40B4-BE49-F238E27FC236}">
                <a16:creationId xmlns:a16="http://schemas.microsoft.com/office/drawing/2014/main" id="{30FF763C-100A-E32A-0780-1B1429A815A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9109D86-A247-76F8-62B1-C7FEFB58D2C2}"/>
              </a:ext>
            </a:extLst>
          </p:cNvPr>
          <p:cNvSpPr>
            <a:spLocks noGrp="1"/>
          </p:cNvSpPr>
          <p:nvPr>
            <p:ph type="sldNum" sz="quarter" idx="12"/>
          </p:nvPr>
        </p:nvSpPr>
        <p:spPr/>
        <p:txBody>
          <a:bodyPr/>
          <a:lstStyle/>
          <a:p>
            <a:fld id="{AEBACACA-9B23-A940-90F9-1F4CBC605686}" type="slidenum">
              <a:rPr lang="en-US" smtClean="0"/>
              <a:t>‹#›</a:t>
            </a:fld>
            <a:endParaRPr lang="en-US"/>
          </a:p>
        </p:txBody>
      </p:sp>
    </p:spTree>
    <p:extLst>
      <p:ext uri="{BB962C8B-B14F-4D97-AF65-F5344CB8AC3E}">
        <p14:creationId xmlns:p14="http://schemas.microsoft.com/office/powerpoint/2010/main" val="306939864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D265AD6-7023-E397-05CC-30444BB6423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1945F567-6103-6200-485F-6D21298EBF0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E6D842E-0869-7754-0690-4192480EF3C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20CAAEB-A852-E041-9225-D3C49E75B44E}" type="datetimeFigureOut">
              <a:rPr lang="en-US" smtClean="0"/>
              <a:t>2/26/25</a:t>
            </a:fld>
            <a:endParaRPr lang="en-US"/>
          </a:p>
        </p:txBody>
      </p:sp>
      <p:sp>
        <p:nvSpPr>
          <p:cNvPr id="5" name="Footer Placeholder 4">
            <a:extLst>
              <a:ext uri="{FF2B5EF4-FFF2-40B4-BE49-F238E27FC236}">
                <a16:creationId xmlns:a16="http://schemas.microsoft.com/office/drawing/2014/main" id="{FDB2BAE9-C1E9-79C3-6ACC-F21BE80F1B7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EAEAB262-70E1-257E-7098-3EBF228A929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EBACACA-9B23-A940-90F9-1F4CBC605686}" type="slidenum">
              <a:rPr lang="en-US" smtClean="0"/>
              <a:t>‹#›</a:t>
            </a:fld>
            <a:endParaRPr lang="en-US"/>
          </a:p>
        </p:txBody>
      </p:sp>
    </p:spTree>
    <p:extLst>
      <p:ext uri="{BB962C8B-B14F-4D97-AF65-F5344CB8AC3E}">
        <p14:creationId xmlns:p14="http://schemas.microsoft.com/office/powerpoint/2010/main" val="229597829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audio" Target="../media/media1.m4a"/><Relationship Id="rId1" Type="http://schemas.microsoft.com/office/2007/relationships/media" Target="../media/media1.m4a"/><Relationship Id="rId5" Type="http://schemas.openxmlformats.org/officeDocument/2006/relationships/image" Target="../media/image1.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2.m4a"/><Relationship Id="rId1" Type="http://schemas.microsoft.com/office/2007/relationships/media" Target="../media/media2.m4a"/><Relationship Id="rId6" Type="http://schemas.openxmlformats.org/officeDocument/2006/relationships/image" Target="../media/image1.png"/><Relationship Id="rId5" Type="http://schemas.openxmlformats.org/officeDocument/2006/relationships/image" Target="../media/image2.jpg"/><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2.xml"/><Relationship Id="rId7" Type="http://schemas.openxmlformats.org/officeDocument/2006/relationships/image" Target="../media/image1.png"/><Relationship Id="rId2" Type="http://schemas.openxmlformats.org/officeDocument/2006/relationships/audio" Target="../media/media3.m4a"/><Relationship Id="rId1" Type="http://schemas.microsoft.com/office/2007/relationships/media" Target="../media/media3.m4a"/><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4.m4a"/><Relationship Id="rId1" Type="http://schemas.microsoft.com/office/2007/relationships/media" Target="../media/media4.m4a"/><Relationship Id="rId5" Type="http://schemas.openxmlformats.org/officeDocument/2006/relationships/image" Target="../media/image1.pn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5.m4a"/><Relationship Id="rId1" Type="http://schemas.microsoft.com/office/2007/relationships/media" Target="../media/media5.m4a"/><Relationship Id="rId5" Type="http://schemas.openxmlformats.org/officeDocument/2006/relationships/image" Target="../media/image1.pn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6.m4a"/><Relationship Id="rId1" Type="http://schemas.microsoft.com/office/2007/relationships/media" Target="../media/media6.m4a"/><Relationship Id="rId5" Type="http://schemas.openxmlformats.org/officeDocument/2006/relationships/image" Target="../media/image1.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7.m4a"/><Relationship Id="rId1" Type="http://schemas.microsoft.com/office/2007/relationships/media" Target="../media/media7.m4a"/><Relationship Id="rId5" Type="http://schemas.openxmlformats.org/officeDocument/2006/relationships/image" Target="../media/image1.pn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8.m4a"/><Relationship Id="rId1" Type="http://schemas.microsoft.com/office/2007/relationships/media" Target="../media/media8.m4a"/><Relationship Id="rId5" Type="http://schemas.openxmlformats.org/officeDocument/2006/relationships/image" Target="../media/image1.pn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9.m4a"/><Relationship Id="rId1" Type="http://schemas.microsoft.com/office/2007/relationships/media" Target="../media/media9.m4a"/><Relationship Id="rId6" Type="http://schemas.openxmlformats.org/officeDocument/2006/relationships/image" Target="../media/image1.png"/><Relationship Id="rId5" Type="http://schemas.openxmlformats.org/officeDocument/2006/relationships/image" Target="../media/image5.pn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2.xml"/><Relationship Id="rId1" Type="http://schemas.openxmlformats.org/officeDocument/2006/relationships/video" Target="https://www.youtube.com/embed/aPknwW8mPAM?start=84&amp;feature=oembed" TargetMode="External"/><Relationship Id="rId4" Type="http://schemas.openxmlformats.org/officeDocument/2006/relationships/image" Target="../media/image6.jpeg"/></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10.m4a"/><Relationship Id="rId1" Type="http://schemas.microsoft.com/office/2007/relationships/media" Target="../media/media10.m4a"/><Relationship Id="rId5" Type="http://schemas.openxmlformats.org/officeDocument/2006/relationships/image" Target="../media/image1.png"/><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11.m4a"/><Relationship Id="rId1" Type="http://schemas.microsoft.com/office/2007/relationships/media" Target="../media/media11.m4a"/><Relationship Id="rId6" Type="http://schemas.openxmlformats.org/officeDocument/2006/relationships/image" Target="../media/image1.png"/><Relationship Id="rId5" Type="http://schemas.openxmlformats.org/officeDocument/2006/relationships/image" Target="../media/image7.jpg"/><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12.m4a"/><Relationship Id="rId1" Type="http://schemas.microsoft.com/office/2007/relationships/media" Target="../media/media12.m4a"/><Relationship Id="rId6" Type="http://schemas.openxmlformats.org/officeDocument/2006/relationships/image" Target="../media/image1.png"/><Relationship Id="rId5" Type="http://schemas.openxmlformats.org/officeDocument/2006/relationships/image" Target="../media/image8.png"/><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13.m4a"/><Relationship Id="rId1" Type="http://schemas.microsoft.com/office/2007/relationships/media" Target="../media/media13.m4a"/><Relationship Id="rId6" Type="http://schemas.openxmlformats.org/officeDocument/2006/relationships/image" Target="../media/image1.png"/><Relationship Id="rId5" Type="http://schemas.openxmlformats.org/officeDocument/2006/relationships/image" Target="../media/image9.png"/><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14.m4a"/><Relationship Id="rId1" Type="http://schemas.microsoft.com/office/2007/relationships/media" Target="../media/media14.m4a"/><Relationship Id="rId6" Type="http://schemas.openxmlformats.org/officeDocument/2006/relationships/image" Target="../media/image1.png"/><Relationship Id="rId5" Type="http://schemas.openxmlformats.org/officeDocument/2006/relationships/image" Target="../media/image10.jpg"/><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15.m4a"/><Relationship Id="rId1" Type="http://schemas.microsoft.com/office/2007/relationships/media" Target="../media/media15.m4a"/><Relationship Id="rId5" Type="http://schemas.openxmlformats.org/officeDocument/2006/relationships/image" Target="../media/image1.png"/><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16.m4a"/><Relationship Id="rId1" Type="http://schemas.microsoft.com/office/2007/relationships/media" Target="../media/media16.m4a"/><Relationship Id="rId6" Type="http://schemas.openxmlformats.org/officeDocument/2006/relationships/image" Target="../media/image1.png"/><Relationship Id="rId5" Type="http://schemas.openxmlformats.org/officeDocument/2006/relationships/hyperlink" Target="mailto:cast4317@vandals.uidaho.edu" TargetMode="External"/><Relationship Id="rId4" Type="http://schemas.openxmlformats.org/officeDocument/2006/relationships/image" Target="../media/image11.jpeg"/></Relationships>
</file>

<file path=ppt/slides/_rels/slide18.xml.rels><?xml version="1.0" encoding="UTF-8" standalone="yes"?>
<Relationships xmlns="http://schemas.openxmlformats.org/package/2006/relationships"><Relationship Id="rId8" Type="http://schemas.openxmlformats.org/officeDocument/2006/relationships/hyperlink" Target="https://www.cibse.org/media/sgmfhexo/b_559_21_0089-design-for-the-mind.pdf" TargetMode="External"/><Relationship Id="rId3" Type="http://schemas.openxmlformats.org/officeDocument/2006/relationships/hyperlink" Target="https://www.autismspeaks.org/sensory-issues" TargetMode="External"/><Relationship Id="rId7" Type="http://schemas.openxmlformats.org/officeDocument/2006/relationships/hyperlink" Target="https://www.legoland.com/california/plan-your-visit/know-before-you-go/accessibility-information/" TargetMode="External"/><Relationship Id="rId2" Type="http://schemas.openxmlformats.org/officeDocument/2006/relationships/hyperlink" Target="https://www.autism.org.uk/what-we-do/autism-know-how/autism-accreditation/autism-friendly-award/guides-and-resources/accessible-environments" TargetMode="External"/><Relationship Id="rId1" Type="http://schemas.openxmlformats.org/officeDocument/2006/relationships/slideLayout" Target="../slideLayouts/slideLayout2.xml"/><Relationship Id="rId6" Type="http://schemas.openxmlformats.org/officeDocument/2006/relationships/hyperlink" Target="https://www.youtube.com/watch?v=aPknwW8mPAM&amp;t=84s" TargetMode="External"/><Relationship Id="rId5" Type="http://schemas.openxmlformats.org/officeDocument/2006/relationships/hyperlink" Target="https://www.sensoryfriendly.net/what-does-it-mean-to-be-sensory-sensitive/#:~:text=Sensory%20sensitivity%20can%20be%20experienced,be%20present%20in%20various%20conditions" TargetMode="External"/><Relationship Id="rId4" Type="http://schemas.openxmlformats.org/officeDocument/2006/relationships/hyperlink" Target="https://www.griffinot.com/what-is-sensory-overload/#:~:text=Running%20away%20(flight),get%20out%20of%20the%20space"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59EF30C2-29AC-4A0D-BC0A-A679CF113ED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Freeform 13">
            <a:extLst>
              <a:ext uri="{FF2B5EF4-FFF2-40B4-BE49-F238E27FC236}">
                <a16:creationId xmlns:a16="http://schemas.microsoft.com/office/drawing/2014/main" id="{9C682A1A-5B2D-4111-BBD6-620165633E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00500" y="1087403"/>
            <a:ext cx="8191500" cy="5770597"/>
          </a:xfrm>
          <a:custGeom>
            <a:avLst/>
            <a:gdLst>
              <a:gd name="connsiteX0" fmla="*/ 4929467 w 8191500"/>
              <a:gd name="connsiteY0" fmla="*/ 0 h 5770597"/>
              <a:gd name="connsiteX1" fmla="*/ 8065066 w 8191500"/>
              <a:gd name="connsiteY1" fmla="*/ 1118513 h 5770597"/>
              <a:gd name="connsiteX2" fmla="*/ 8191500 w 8191500"/>
              <a:gd name="connsiteY2" fmla="*/ 1227339 h 5770597"/>
              <a:gd name="connsiteX3" fmla="*/ 8191500 w 8191500"/>
              <a:gd name="connsiteY3" fmla="*/ 5770597 h 5770597"/>
              <a:gd name="connsiteX4" fmla="*/ 79523 w 8191500"/>
              <a:gd name="connsiteY4" fmla="*/ 5770597 h 5770597"/>
              <a:gd name="connsiteX5" fmla="*/ 56799 w 8191500"/>
              <a:gd name="connsiteY5" fmla="*/ 5644158 h 5770597"/>
              <a:gd name="connsiteX6" fmla="*/ 0 w 8191500"/>
              <a:gd name="connsiteY6" fmla="*/ 4898209 h 5770597"/>
              <a:gd name="connsiteX7" fmla="*/ 4929467 w 8191500"/>
              <a:gd name="connsiteY7" fmla="*/ 0 h 57705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191500" h="5770597">
                <a:moveTo>
                  <a:pt x="4929467" y="0"/>
                </a:moveTo>
                <a:cubicBezTo>
                  <a:pt x="6120547" y="0"/>
                  <a:pt x="7212963" y="419755"/>
                  <a:pt x="8065066" y="1118513"/>
                </a:cubicBezTo>
                <a:lnTo>
                  <a:pt x="8191500" y="1227339"/>
                </a:lnTo>
                <a:lnTo>
                  <a:pt x="8191500" y="5770597"/>
                </a:lnTo>
                <a:lnTo>
                  <a:pt x="79523" y="5770597"/>
                </a:lnTo>
                <a:lnTo>
                  <a:pt x="56799" y="5644158"/>
                </a:lnTo>
                <a:cubicBezTo>
                  <a:pt x="19398" y="5400934"/>
                  <a:pt x="0" y="5151822"/>
                  <a:pt x="0" y="4898209"/>
                </a:cubicBezTo>
                <a:cubicBezTo>
                  <a:pt x="0" y="2193003"/>
                  <a:pt x="2206998" y="0"/>
                  <a:pt x="4929467"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1378A894-4E82-1F56-C143-711D34F3EFDF}"/>
              </a:ext>
            </a:extLst>
          </p:cNvPr>
          <p:cNvSpPr>
            <a:spLocks noGrp="1"/>
          </p:cNvSpPr>
          <p:nvPr>
            <p:ph type="ctrTitle"/>
          </p:nvPr>
        </p:nvSpPr>
        <p:spPr>
          <a:xfrm>
            <a:off x="5093520" y="2744662"/>
            <a:ext cx="6589707" cy="2387600"/>
          </a:xfrm>
        </p:spPr>
        <p:txBody>
          <a:bodyPr>
            <a:normAutofit/>
          </a:bodyPr>
          <a:lstStyle/>
          <a:p>
            <a:pPr algn="r"/>
            <a:r>
              <a:rPr lang="en-US" sz="5100" b="0" i="0" u="none" strike="noStrike" dirty="0">
                <a:solidFill>
                  <a:srgbClr val="FFFFFF"/>
                </a:solidFill>
                <a:effectLst/>
              </a:rPr>
              <a:t>Designing for Neurodiversity: Sensory-Inclusive Environments</a:t>
            </a:r>
            <a:endParaRPr lang="en-US" sz="5100" dirty="0">
              <a:solidFill>
                <a:srgbClr val="FFFFFF"/>
              </a:solidFill>
            </a:endParaRPr>
          </a:p>
        </p:txBody>
      </p:sp>
      <p:sp>
        <p:nvSpPr>
          <p:cNvPr id="3" name="Subtitle 2">
            <a:extLst>
              <a:ext uri="{FF2B5EF4-FFF2-40B4-BE49-F238E27FC236}">
                <a16:creationId xmlns:a16="http://schemas.microsoft.com/office/drawing/2014/main" id="{5A1E4C24-8AF1-0C7A-CB7E-5486DD942380}"/>
              </a:ext>
            </a:extLst>
          </p:cNvPr>
          <p:cNvSpPr>
            <a:spLocks noGrp="1"/>
          </p:cNvSpPr>
          <p:nvPr>
            <p:ph type="subTitle" idx="1"/>
          </p:nvPr>
        </p:nvSpPr>
        <p:spPr>
          <a:xfrm>
            <a:off x="5093520" y="5224337"/>
            <a:ext cx="6589707" cy="1329443"/>
          </a:xfrm>
        </p:spPr>
        <p:txBody>
          <a:bodyPr>
            <a:normAutofit/>
          </a:bodyPr>
          <a:lstStyle/>
          <a:p>
            <a:pPr algn="r"/>
            <a:r>
              <a:rPr lang="en-US">
                <a:solidFill>
                  <a:srgbClr val="FFFFFF"/>
                </a:solidFill>
              </a:rPr>
              <a:t>Miguel Castillo </a:t>
            </a:r>
          </a:p>
        </p:txBody>
      </p:sp>
      <p:cxnSp>
        <p:nvCxnSpPr>
          <p:cNvPr id="25" name="Straight Connector 24">
            <a:extLst>
              <a:ext uri="{FF2B5EF4-FFF2-40B4-BE49-F238E27FC236}">
                <a16:creationId xmlns:a16="http://schemas.microsoft.com/office/drawing/2014/main" id="{266A0658-1CC4-4B0D-AAB7-A702286AFB0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06241" y="183933"/>
            <a:ext cx="0" cy="1597708"/>
          </a:xfrm>
          <a:prstGeom prst="line">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cxnSp>
      <p:sp>
        <p:nvSpPr>
          <p:cNvPr id="27" name="Freeform: Shape 26">
            <a:extLst>
              <a:ext uri="{FF2B5EF4-FFF2-40B4-BE49-F238E27FC236}">
                <a16:creationId xmlns:a16="http://schemas.microsoft.com/office/drawing/2014/main" id="{A04F1504-431A-4D86-9091-AE7E4B33376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292348" y="1"/>
            <a:ext cx="2279742" cy="1267785"/>
          </a:xfrm>
          <a:custGeom>
            <a:avLst/>
            <a:gdLst>
              <a:gd name="connsiteX0" fmla="*/ 0 w 2279742"/>
              <a:gd name="connsiteY0" fmla="*/ 0 h 1267785"/>
              <a:gd name="connsiteX1" fmla="*/ 138700 w 2279742"/>
              <a:gd name="connsiteY1" fmla="*/ 0 h 1267785"/>
              <a:gd name="connsiteX2" fmla="*/ 138700 w 2279742"/>
              <a:gd name="connsiteY2" fmla="*/ 1078193 h 1267785"/>
              <a:gd name="connsiteX3" fmla="*/ 2002733 w 2279742"/>
              <a:gd name="connsiteY3" fmla="*/ 0 h 1267785"/>
              <a:gd name="connsiteX4" fmla="*/ 2279742 w 2279742"/>
              <a:gd name="connsiteY4" fmla="*/ 0 h 1267785"/>
              <a:gd name="connsiteX5" fmla="*/ 104026 w 2279742"/>
              <a:gd name="connsiteY5" fmla="*/ 1258503 h 1267785"/>
              <a:gd name="connsiteX6" fmla="*/ 69351 w 2279742"/>
              <a:gd name="connsiteY6" fmla="*/ 1267785 h 1267785"/>
              <a:gd name="connsiteX7" fmla="*/ 0 w 2279742"/>
              <a:gd name="connsiteY7" fmla="*/ 1198436 h 12677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279742" h="1267785">
                <a:moveTo>
                  <a:pt x="0" y="0"/>
                </a:moveTo>
                <a:lnTo>
                  <a:pt x="138700" y="0"/>
                </a:lnTo>
                <a:lnTo>
                  <a:pt x="138700" y="1078193"/>
                </a:lnTo>
                <a:lnTo>
                  <a:pt x="2002733" y="0"/>
                </a:lnTo>
                <a:lnTo>
                  <a:pt x="2279742" y="0"/>
                </a:lnTo>
                <a:lnTo>
                  <a:pt x="104026" y="1258503"/>
                </a:lnTo>
                <a:cubicBezTo>
                  <a:pt x="93484" y="1264595"/>
                  <a:pt x="81523" y="1267796"/>
                  <a:pt x="69351" y="1267785"/>
                </a:cubicBezTo>
                <a:cubicBezTo>
                  <a:pt x="31049" y="1267785"/>
                  <a:pt x="0" y="1236737"/>
                  <a:pt x="0" y="1198436"/>
                </a:cubicBezTo>
                <a:close/>
              </a:path>
            </a:pathLst>
          </a:custGeom>
          <a:solidFill>
            <a:schemeClr val="accent6"/>
          </a:solidFill>
          <a:ln w="9525" cap="flat">
            <a:noFill/>
            <a:prstDash val="solid"/>
            <a:miter/>
          </a:ln>
        </p:spPr>
        <p:txBody>
          <a:bodyPr rtlCol="0" anchor="ctr"/>
          <a:lstStyle/>
          <a:p>
            <a:endParaRPr lang="en-US" dirty="0"/>
          </a:p>
        </p:txBody>
      </p:sp>
      <p:sp>
        <p:nvSpPr>
          <p:cNvPr id="29" name="Freeform: Shape 28">
            <a:extLst>
              <a:ext uri="{FF2B5EF4-FFF2-40B4-BE49-F238E27FC236}">
                <a16:creationId xmlns:a16="http://schemas.microsoft.com/office/drawing/2014/main" id="{EA804283-B929-4503-802F-4585376E2B4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208695" y="1"/>
            <a:ext cx="1135066" cy="477997"/>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1" name="Oval 30">
            <a:extLst>
              <a:ext uri="{FF2B5EF4-FFF2-40B4-BE49-F238E27FC236}">
                <a16:creationId xmlns:a16="http://schemas.microsoft.com/office/drawing/2014/main" id="{AD3811F5-514E-49A4-B382-673ED228A4C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69044" y="514898"/>
            <a:ext cx="2393351" cy="2328423"/>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33" name="Freeform: Shape 32">
            <a:extLst>
              <a:ext uri="{FF2B5EF4-FFF2-40B4-BE49-F238E27FC236}">
                <a16:creationId xmlns:a16="http://schemas.microsoft.com/office/drawing/2014/main" id="{067AD921-1CEE-4C1B-9AA3-C66D908DDD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2949740"/>
            <a:ext cx="1186451" cy="1771650"/>
          </a:xfrm>
          <a:custGeom>
            <a:avLst/>
            <a:gdLst>
              <a:gd name="connsiteX0" fmla="*/ 61913 w 1186451"/>
              <a:gd name="connsiteY0" fmla="*/ 0 h 1771650"/>
              <a:gd name="connsiteX1" fmla="*/ 1186451 w 1186451"/>
              <a:gd name="connsiteY1" fmla="*/ 0 h 1771650"/>
              <a:gd name="connsiteX2" fmla="*/ 1186451 w 1186451"/>
              <a:gd name="connsiteY2" fmla="*/ 123825 h 1771650"/>
              <a:gd name="connsiteX3" fmla="*/ 123825 w 1186451"/>
              <a:gd name="connsiteY3" fmla="*/ 123825 h 1771650"/>
              <a:gd name="connsiteX4" fmla="*/ 123825 w 1186451"/>
              <a:gd name="connsiteY4" fmla="*/ 1647825 h 1771650"/>
              <a:gd name="connsiteX5" fmla="*/ 1186451 w 1186451"/>
              <a:gd name="connsiteY5" fmla="*/ 1647825 h 1771650"/>
              <a:gd name="connsiteX6" fmla="*/ 1186451 w 1186451"/>
              <a:gd name="connsiteY6" fmla="*/ 1771650 h 1771650"/>
              <a:gd name="connsiteX7" fmla="*/ 61913 w 1186451"/>
              <a:gd name="connsiteY7" fmla="*/ 1771650 h 1771650"/>
              <a:gd name="connsiteX8" fmla="*/ 0 w 1186451"/>
              <a:gd name="connsiteY8" fmla="*/ 1709738 h 1771650"/>
              <a:gd name="connsiteX9" fmla="*/ 0 w 1186451"/>
              <a:gd name="connsiteY9" fmla="*/ 61913 h 1771650"/>
              <a:gd name="connsiteX10" fmla="*/ 61913 w 1186451"/>
              <a:gd name="connsiteY10" fmla="*/ 0 h 1771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6451" h="1771650">
                <a:moveTo>
                  <a:pt x="61913" y="0"/>
                </a:moveTo>
                <a:lnTo>
                  <a:pt x="1186451" y="0"/>
                </a:lnTo>
                <a:lnTo>
                  <a:pt x="1186451" y="123825"/>
                </a:lnTo>
                <a:lnTo>
                  <a:pt x="123825" y="123825"/>
                </a:lnTo>
                <a:lnTo>
                  <a:pt x="123825" y="1647825"/>
                </a:lnTo>
                <a:lnTo>
                  <a:pt x="1186451" y="1647825"/>
                </a:lnTo>
                <a:lnTo>
                  <a:pt x="1186451" y="1771650"/>
                </a:lnTo>
                <a:lnTo>
                  <a:pt x="61913" y="1771650"/>
                </a:lnTo>
                <a:cubicBezTo>
                  <a:pt x="27719" y="1771650"/>
                  <a:pt x="0" y="1743932"/>
                  <a:pt x="0" y="1709738"/>
                </a:cubicBezTo>
                <a:lnTo>
                  <a:pt x="0" y="61913"/>
                </a:lnTo>
                <a:cubicBezTo>
                  <a:pt x="0" y="27719"/>
                  <a:pt x="27719" y="0"/>
                  <a:pt x="61913" y="0"/>
                </a:cubicBezTo>
                <a:close/>
              </a:path>
            </a:pathLst>
          </a:custGeom>
          <a:solidFill>
            <a:schemeClr val="accent6"/>
          </a:solidFill>
          <a:ln w="9525" cap="flat">
            <a:noFill/>
            <a:prstDash val="solid"/>
            <a:miter/>
          </a:ln>
        </p:spPr>
        <p:txBody>
          <a:bodyPr rtlCol="0" anchor="ctr"/>
          <a:lstStyle/>
          <a:p>
            <a:endParaRPr lang="en-US"/>
          </a:p>
        </p:txBody>
      </p:sp>
      <p:sp>
        <p:nvSpPr>
          <p:cNvPr id="35" name="Arc 34">
            <a:extLst>
              <a:ext uri="{FF2B5EF4-FFF2-40B4-BE49-F238E27FC236}">
                <a16:creationId xmlns:a16="http://schemas.microsoft.com/office/drawing/2014/main" id="{C36A08F5-3B56-47C5-A371-9187BE56E1E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539683" y="4203427"/>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pic>
        <p:nvPicPr>
          <p:cNvPr id="40" name="Audio 39">
            <a:hlinkClick r:id="" action="ppaction://media"/>
            <a:extLst>
              <a:ext uri="{FF2B5EF4-FFF2-40B4-BE49-F238E27FC236}">
                <a16:creationId xmlns:a16="http://schemas.microsoft.com/office/drawing/2014/main" id="{2DFACE40-68ED-AB1C-E101-0FC58147009F}"/>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11226800" y="5892800"/>
            <a:ext cx="812800" cy="812800"/>
          </a:xfrm>
          <a:prstGeom prst="rect">
            <a:avLst/>
          </a:prstGeom>
        </p:spPr>
      </p:pic>
    </p:spTree>
    <p:extLst>
      <p:ext uri="{BB962C8B-B14F-4D97-AF65-F5344CB8AC3E}">
        <p14:creationId xmlns:p14="http://schemas.microsoft.com/office/powerpoint/2010/main" val="3730522568"/>
      </p:ext>
    </p:extLst>
  </p:cSld>
  <p:clrMapOvr>
    <a:masterClrMapping/>
  </p:clrMapOvr>
  <mc:AlternateContent xmlns:mc="http://schemas.openxmlformats.org/markup-compatibility/2006" xmlns:p14="http://schemas.microsoft.com/office/powerpoint/2010/main">
    <mc:Choice Requires="p14">
      <p:transition spd="slow" p14:dur="2000" advTm="52320"/>
    </mc:Choice>
    <mc:Fallback xmlns="">
      <p:transition spd="slow" advTm="5232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40"/>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40"/>
                </p:tgtEl>
              </p:cMediaNode>
            </p:audio>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0" name="Rectangle 89">
            <a:extLst>
              <a:ext uri="{FF2B5EF4-FFF2-40B4-BE49-F238E27FC236}">
                <a16:creationId xmlns:a16="http://schemas.microsoft.com/office/drawing/2014/main" id="{6A84B152-3496-4C52-AF08-97AFFC09DD2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2" name="Title 1">
            <a:extLst>
              <a:ext uri="{FF2B5EF4-FFF2-40B4-BE49-F238E27FC236}">
                <a16:creationId xmlns:a16="http://schemas.microsoft.com/office/drawing/2014/main" id="{F520342A-24DB-48D7-21A4-03288BE351BB}"/>
              </a:ext>
            </a:extLst>
          </p:cNvPr>
          <p:cNvSpPr>
            <a:spLocks noGrp="1"/>
          </p:cNvSpPr>
          <p:nvPr>
            <p:ph type="title"/>
          </p:nvPr>
        </p:nvSpPr>
        <p:spPr>
          <a:xfrm>
            <a:off x="838200" y="365125"/>
            <a:ext cx="5393361" cy="1325563"/>
          </a:xfrm>
        </p:spPr>
        <p:txBody>
          <a:bodyPr>
            <a:normAutofit/>
          </a:bodyPr>
          <a:lstStyle/>
          <a:p>
            <a:r>
              <a:rPr lang="en-US" dirty="0"/>
              <a:t>LEGOLAND Certified Autism Center</a:t>
            </a:r>
          </a:p>
        </p:txBody>
      </p:sp>
      <p:sp>
        <p:nvSpPr>
          <p:cNvPr id="92" name="Freeform: Shape 91">
            <a:extLst>
              <a:ext uri="{FF2B5EF4-FFF2-40B4-BE49-F238E27FC236}">
                <a16:creationId xmlns:a16="http://schemas.microsoft.com/office/drawing/2014/main" id="{6B2ADB95-0FA3-4BD7-A8AC-89D014A83E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198657" y="1"/>
            <a:ext cx="1155142" cy="625027"/>
          </a:xfrm>
          <a:custGeom>
            <a:avLst/>
            <a:gdLst>
              <a:gd name="connsiteX0" fmla="*/ 4784 w 1155142"/>
              <a:gd name="connsiteY0" fmla="*/ 0 h 625027"/>
              <a:gd name="connsiteX1" fmla="*/ 1150358 w 1155142"/>
              <a:gd name="connsiteY1" fmla="*/ 0 h 625027"/>
              <a:gd name="connsiteX2" fmla="*/ 1155142 w 1155142"/>
              <a:gd name="connsiteY2" fmla="*/ 47456 h 625027"/>
              <a:gd name="connsiteX3" fmla="*/ 577571 w 1155142"/>
              <a:gd name="connsiteY3" fmla="*/ 625027 h 625027"/>
              <a:gd name="connsiteX4" fmla="*/ 0 w 1155142"/>
              <a:gd name="connsiteY4" fmla="*/ 47456 h 6250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5142" h="625027">
                <a:moveTo>
                  <a:pt x="4784" y="0"/>
                </a:moveTo>
                <a:lnTo>
                  <a:pt x="1150358" y="0"/>
                </a:lnTo>
                <a:lnTo>
                  <a:pt x="1155142" y="47456"/>
                </a:lnTo>
                <a:cubicBezTo>
                  <a:pt x="1155142" y="366440"/>
                  <a:pt x="896555" y="625027"/>
                  <a:pt x="577571" y="625027"/>
                </a:cubicBezTo>
                <a:cubicBezTo>
                  <a:pt x="258587" y="625027"/>
                  <a:pt x="0" y="366440"/>
                  <a:pt x="0" y="47456"/>
                </a:cubicBezTo>
                <a:close/>
              </a:path>
            </a:pathLst>
          </a:custGeom>
          <a:solidFill>
            <a:schemeClr val="accent1">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85" name="Content Placeholder 2">
            <a:extLst>
              <a:ext uri="{FF2B5EF4-FFF2-40B4-BE49-F238E27FC236}">
                <a16:creationId xmlns:a16="http://schemas.microsoft.com/office/drawing/2014/main" id="{BC84A509-A486-D73D-39A8-E7B3D710FDEC}"/>
              </a:ext>
            </a:extLst>
          </p:cNvPr>
          <p:cNvSpPr>
            <a:spLocks noGrp="1"/>
          </p:cNvSpPr>
          <p:nvPr>
            <p:ph idx="1"/>
          </p:nvPr>
        </p:nvSpPr>
        <p:spPr>
          <a:xfrm>
            <a:off x="838200" y="1825625"/>
            <a:ext cx="5393361" cy="4351338"/>
          </a:xfrm>
        </p:spPr>
        <p:txBody>
          <a:bodyPr anchor="ctr">
            <a:normAutofit/>
          </a:bodyPr>
          <a:lstStyle/>
          <a:p>
            <a:r>
              <a:rPr lang="en-US" sz="2200" dirty="0"/>
              <a:t>LEGOLANDS in North America considered </a:t>
            </a:r>
            <a:r>
              <a:rPr lang="en-US" sz="2200" dirty="0">
                <a:effectLst/>
              </a:rPr>
              <a:t>Certified Autism Center</a:t>
            </a:r>
          </a:p>
          <a:p>
            <a:r>
              <a:rPr lang="en-US" sz="2200" dirty="0">
                <a:effectLst/>
              </a:rPr>
              <a:t>Certified by the International Board of Credentialing and Continuing Education Standards (IBCCES)</a:t>
            </a:r>
          </a:p>
          <a:p>
            <a:pPr lvl="1"/>
            <a:r>
              <a:rPr lang="en-US" sz="2200" dirty="0"/>
              <a:t>Employee training </a:t>
            </a:r>
          </a:p>
          <a:p>
            <a:pPr lvl="1"/>
            <a:r>
              <a:rPr lang="en-US" sz="2200" dirty="0"/>
              <a:t>Low sensory rooms</a:t>
            </a:r>
          </a:p>
          <a:p>
            <a:pPr lvl="1"/>
            <a:r>
              <a:rPr lang="en-US" sz="2200" dirty="0"/>
              <a:t>Sensory guides</a:t>
            </a:r>
          </a:p>
        </p:txBody>
      </p:sp>
      <p:sp>
        <p:nvSpPr>
          <p:cNvPr id="94" name="Oval 93">
            <a:extLst>
              <a:ext uri="{FF2B5EF4-FFF2-40B4-BE49-F238E27FC236}">
                <a16:creationId xmlns:a16="http://schemas.microsoft.com/office/drawing/2014/main" id="{C924DBCE-E731-4B22-8181-A39C1D86276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08185" y="3423959"/>
            <a:ext cx="630884" cy="630884"/>
          </a:xfrm>
          <a:prstGeom prst="ellipse">
            <a:avLst/>
          </a:prstGeom>
          <a:noFill/>
          <a:ln w="1270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6" name="Freeform: Shape 95">
            <a:extLst>
              <a:ext uri="{FF2B5EF4-FFF2-40B4-BE49-F238E27FC236}">
                <a16:creationId xmlns:a16="http://schemas.microsoft.com/office/drawing/2014/main" id="{4CBF9756-6AC8-4C65-84DF-56FBFFA1D87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463438">
            <a:off x="7450227" y="5166682"/>
            <a:ext cx="1835725" cy="2024785"/>
          </a:xfrm>
          <a:custGeom>
            <a:avLst/>
            <a:gdLst>
              <a:gd name="connsiteX0" fmla="*/ 1801138 w 1835725"/>
              <a:gd name="connsiteY0" fmla="*/ 1622662 h 2024785"/>
              <a:gd name="connsiteX1" fmla="*/ 1835717 w 1835725"/>
              <a:gd name="connsiteY1" fmla="*/ 1680254 h 2024785"/>
              <a:gd name="connsiteX2" fmla="*/ 1812568 w 1835725"/>
              <a:gd name="connsiteY2" fmla="*/ 1877193 h 2024785"/>
              <a:gd name="connsiteX3" fmla="*/ 1776210 w 1835725"/>
              <a:gd name="connsiteY3" fmla="*/ 2024785 h 2024785"/>
              <a:gd name="connsiteX4" fmla="*/ 1655772 w 1835725"/>
              <a:gd name="connsiteY4" fmla="*/ 1983449 h 2024785"/>
              <a:gd name="connsiteX5" fmla="*/ 1687591 w 1835725"/>
              <a:gd name="connsiteY5" fmla="*/ 1854495 h 2024785"/>
              <a:gd name="connsiteX6" fmla="*/ 1708939 w 1835725"/>
              <a:gd name="connsiteY6" fmla="*/ 1673301 h 2024785"/>
              <a:gd name="connsiteX7" fmla="*/ 1778129 w 1835725"/>
              <a:gd name="connsiteY7" fmla="*/ 1615979 h 2024785"/>
              <a:gd name="connsiteX8" fmla="*/ 1801138 w 1835725"/>
              <a:gd name="connsiteY8" fmla="*/ 1622662 h 2024785"/>
              <a:gd name="connsiteX9" fmla="*/ 1585229 w 1835725"/>
              <a:gd name="connsiteY9" fmla="*/ 764759 h 2024785"/>
              <a:gd name="connsiteX10" fmla="*/ 1623024 w 1835725"/>
              <a:gd name="connsiteY10" fmla="*/ 792810 h 2024785"/>
              <a:gd name="connsiteX11" fmla="*/ 1777614 w 1835725"/>
              <a:gd name="connsiteY11" fmla="*/ 1157141 h 2024785"/>
              <a:gd name="connsiteX12" fmla="*/ 1733799 w 1835725"/>
              <a:gd name="connsiteY12" fmla="*/ 1235532 h 2024785"/>
              <a:gd name="connsiteX13" fmla="*/ 1716464 w 1835725"/>
              <a:gd name="connsiteY13" fmla="*/ 1237722 h 2024785"/>
              <a:gd name="connsiteX14" fmla="*/ 1716464 w 1835725"/>
              <a:gd name="connsiteY14" fmla="*/ 1237913 h 2024785"/>
              <a:gd name="connsiteX15" fmla="*/ 1655409 w 1835725"/>
              <a:gd name="connsiteY15" fmla="*/ 1191717 h 2024785"/>
              <a:gd name="connsiteX16" fmla="*/ 1513200 w 1835725"/>
              <a:gd name="connsiteY16" fmla="*/ 856627 h 2024785"/>
              <a:gd name="connsiteX17" fmla="*/ 1538499 w 1835725"/>
              <a:gd name="connsiteY17" fmla="*/ 770415 h 2024785"/>
              <a:gd name="connsiteX18" fmla="*/ 1585229 w 1835725"/>
              <a:gd name="connsiteY18" fmla="*/ 764759 h 2024785"/>
              <a:gd name="connsiteX19" fmla="*/ 477919 w 1835725"/>
              <a:gd name="connsiteY19" fmla="*/ 21437 h 2024785"/>
              <a:gd name="connsiteX20" fmla="*/ 509236 w 1835725"/>
              <a:gd name="connsiteY20" fmla="*/ 84182 h 2024785"/>
              <a:gd name="connsiteX21" fmla="*/ 445829 w 1835725"/>
              <a:gd name="connsiteY21" fmla="*/ 139871 h 2024785"/>
              <a:gd name="connsiteX22" fmla="*/ 437447 w 1835725"/>
              <a:gd name="connsiteY22" fmla="*/ 139395 h 2024785"/>
              <a:gd name="connsiteX23" fmla="*/ 73211 w 1835725"/>
              <a:gd name="connsiteY23" fmla="*/ 137204 h 2024785"/>
              <a:gd name="connsiteX24" fmla="*/ 749 w 1835725"/>
              <a:gd name="connsiteY24" fmla="*/ 84082 h 2024785"/>
              <a:gd name="connsiteX25" fmla="*/ 53871 w 1835725"/>
              <a:gd name="connsiteY25" fmla="*/ 11621 h 2024785"/>
              <a:gd name="connsiteX26" fmla="*/ 58352 w 1835725"/>
              <a:gd name="connsiteY26" fmla="*/ 11093 h 2024785"/>
              <a:gd name="connsiteX27" fmla="*/ 454020 w 1835725"/>
              <a:gd name="connsiteY27" fmla="*/ 13474 h 2024785"/>
              <a:gd name="connsiteX28" fmla="*/ 477919 w 1835725"/>
              <a:gd name="connsiteY28" fmla="*/ 21437 h 2024785"/>
              <a:gd name="connsiteX29" fmla="*/ 957797 w 1835725"/>
              <a:gd name="connsiteY29" fmla="*/ 167970 h 2024785"/>
              <a:gd name="connsiteX30" fmla="*/ 1286982 w 1835725"/>
              <a:gd name="connsiteY30" fmla="*/ 387616 h 2024785"/>
              <a:gd name="connsiteX31" fmla="*/ 1293725 w 1835725"/>
              <a:gd name="connsiteY31" fmla="*/ 477075 h 2024785"/>
              <a:gd name="connsiteX32" fmla="*/ 1245453 w 1835725"/>
              <a:gd name="connsiteY32" fmla="*/ 499154 h 2024785"/>
              <a:gd name="connsiteX33" fmla="*/ 1245167 w 1835725"/>
              <a:gd name="connsiteY33" fmla="*/ 499154 h 2024785"/>
              <a:gd name="connsiteX34" fmla="*/ 1203638 w 1835725"/>
              <a:gd name="connsiteY34" fmla="*/ 484104 h 2024785"/>
              <a:gd name="connsiteX35" fmla="*/ 900647 w 1835725"/>
              <a:gd name="connsiteY35" fmla="*/ 281508 h 2024785"/>
              <a:gd name="connsiteX36" fmla="*/ 872454 w 1835725"/>
              <a:gd name="connsiteY36" fmla="*/ 196164 h 2024785"/>
              <a:gd name="connsiteX37" fmla="*/ 957797 w 1835725"/>
              <a:gd name="connsiteY37" fmla="*/ 167970 h 20247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835725" h="2024785">
                <a:moveTo>
                  <a:pt x="1801138" y="1622662"/>
                </a:moveTo>
                <a:cubicBezTo>
                  <a:pt x="1822105" y="1633400"/>
                  <a:pt x="1836117" y="1655372"/>
                  <a:pt x="1835717" y="1680254"/>
                </a:cubicBezTo>
                <a:cubicBezTo>
                  <a:pt x="1832093" y="1746382"/>
                  <a:pt x="1824354" y="1812154"/>
                  <a:pt x="1812568" y="1877193"/>
                </a:cubicBezTo>
                <a:lnTo>
                  <a:pt x="1776210" y="2024785"/>
                </a:lnTo>
                <a:lnTo>
                  <a:pt x="1655772" y="1983449"/>
                </a:lnTo>
                <a:lnTo>
                  <a:pt x="1687591" y="1854495"/>
                </a:lnTo>
                <a:cubicBezTo>
                  <a:pt x="1698455" y="1794657"/>
                  <a:pt x="1705590" y="1734142"/>
                  <a:pt x="1708939" y="1673301"/>
                </a:cubicBezTo>
                <a:cubicBezTo>
                  <a:pt x="1712216" y="1638363"/>
                  <a:pt x="1743190" y="1612703"/>
                  <a:pt x="1778129" y="1615979"/>
                </a:cubicBezTo>
                <a:cubicBezTo>
                  <a:pt x="1786387" y="1616753"/>
                  <a:pt x="1794149" y="1619084"/>
                  <a:pt x="1801138" y="1622662"/>
                </a:cubicBezTo>
                <a:close/>
                <a:moveTo>
                  <a:pt x="1585229" y="764759"/>
                </a:moveTo>
                <a:cubicBezTo>
                  <a:pt x="1600438" y="768789"/>
                  <a:pt x="1614156" y="778436"/>
                  <a:pt x="1623024" y="792810"/>
                </a:cubicBezTo>
                <a:cubicBezTo>
                  <a:pt x="1689575" y="907319"/>
                  <a:pt x="1741505" y="1029715"/>
                  <a:pt x="1777614" y="1157141"/>
                </a:cubicBezTo>
                <a:cubicBezTo>
                  <a:pt x="1787149" y="1190888"/>
                  <a:pt x="1767537" y="1225969"/>
                  <a:pt x="1733799" y="1235532"/>
                </a:cubicBezTo>
                <a:cubicBezTo>
                  <a:pt x="1728151" y="1237046"/>
                  <a:pt x="1722312" y="1237780"/>
                  <a:pt x="1716464" y="1237722"/>
                </a:cubicBezTo>
                <a:lnTo>
                  <a:pt x="1716464" y="1237913"/>
                </a:lnTo>
                <a:cubicBezTo>
                  <a:pt x="1688070" y="1237913"/>
                  <a:pt x="1663124" y="1219044"/>
                  <a:pt x="1655409" y="1191717"/>
                </a:cubicBezTo>
                <a:cubicBezTo>
                  <a:pt x="1622214" y="1074512"/>
                  <a:pt x="1574437" y="961936"/>
                  <a:pt x="1513200" y="856627"/>
                </a:cubicBezTo>
                <a:cubicBezTo>
                  <a:pt x="1496379" y="825834"/>
                  <a:pt x="1507704" y="787236"/>
                  <a:pt x="1538499" y="770415"/>
                </a:cubicBezTo>
                <a:cubicBezTo>
                  <a:pt x="1553325" y="762319"/>
                  <a:pt x="1570022" y="760730"/>
                  <a:pt x="1585229" y="764759"/>
                </a:cubicBezTo>
                <a:close/>
                <a:moveTo>
                  <a:pt x="477919" y="21437"/>
                </a:moveTo>
                <a:cubicBezTo>
                  <a:pt x="499341" y="33775"/>
                  <a:pt x="512445" y="58102"/>
                  <a:pt x="509236" y="84182"/>
                </a:cubicBezTo>
                <a:cubicBezTo>
                  <a:pt x="505303" y="116151"/>
                  <a:pt x="478038" y="140098"/>
                  <a:pt x="445829" y="139871"/>
                </a:cubicBezTo>
                <a:cubicBezTo>
                  <a:pt x="443027" y="139899"/>
                  <a:pt x="440227" y="139740"/>
                  <a:pt x="437447" y="139395"/>
                </a:cubicBezTo>
                <a:cubicBezTo>
                  <a:pt x="316592" y="123615"/>
                  <a:pt x="194247" y="122878"/>
                  <a:pt x="73211" y="137204"/>
                </a:cubicBezTo>
                <a:cubicBezTo>
                  <a:pt x="38532" y="142545"/>
                  <a:pt x="6090" y="118762"/>
                  <a:pt x="749" y="84082"/>
                </a:cubicBezTo>
                <a:cubicBezTo>
                  <a:pt x="-4591" y="49403"/>
                  <a:pt x="19192" y="16961"/>
                  <a:pt x="53871" y="11621"/>
                </a:cubicBezTo>
                <a:cubicBezTo>
                  <a:pt x="55358" y="11392"/>
                  <a:pt x="56852" y="11216"/>
                  <a:pt x="58352" y="11093"/>
                </a:cubicBezTo>
                <a:cubicBezTo>
                  <a:pt x="189834" y="-4456"/>
                  <a:pt x="322735" y="-3656"/>
                  <a:pt x="454020" y="13474"/>
                </a:cubicBezTo>
                <a:cubicBezTo>
                  <a:pt x="462713" y="14543"/>
                  <a:pt x="470778" y="17324"/>
                  <a:pt x="477919" y="21437"/>
                </a:cubicBezTo>
                <a:close/>
                <a:moveTo>
                  <a:pt x="957797" y="167970"/>
                </a:moveTo>
                <a:cubicBezTo>
                  <a:pt x="1076184" y="227289"/>
                  <a:pt x="1186759" y="301068"/>
                  <a:pt x="1286982" y="387616"/>
                </a:cubicBezTo>
                <a:cubicBezTo>
                  <a:pt x="1313547" y="410457"/>
                  <a:pt x="1316566" y="450510"/>
                  <a:pt x="1293725" y="477075"/>
                </a:cubicBezTo>
                <a:cubicBezTo>
                  <a:pt x="1281638" y="491137"/>
                  <a:pt x="1263998" y="499204"/>
                  <a:pt x="1245453" y="499154"/>
                </a:cubicBezTo>
                <a:lnTo>
                  <a:pt x="1245167" y="499154"/>
                </a:lnTo>
                <a:cubicBezTo>
                  <a:pt x="1229965" y="499301"/>
                  <a:pt x="1215220" y="493956"/>
                  <a:pt x="1203638" y="484104"/>
                </a:cubicBezTo>
                <a:cubicBezTo>
                  <a:pt x="1111407" y="404300"/>
                  <a:pt x="1009633" y="336248"/>
                  <a:pt x="900647" y="281508"/>
                </a:cubicBezTo>
                <a:cubicBezTo>
                  <a:pt x="869295" y="265726"/>
                  <a:pt x="856672" y="227516"/>
                  <a:pt x="872454" y="196164"/>
                </a:cubicBezTo>
                <a:cubicBezTo>
                  <a:pt x="888235" y="164811"/>
                  <a:pt x="926445" y="152188"/>
                  <a:pt x="957797" y="167970"/>
                </a:cubicBezTo>
                <a:close/>
              </a:path>
            </a:pathLst>
          </a:custGeom>
          <a:solidFill>
            <a:schemeClr val="accent4"/>
          </a:solidFill>
          <a:ln w="9525" cap="flat">
            <a:noFill/>
            <a:prstDash val="solid"/>
            <a:miter/>
          </a:ln>
        </p:spPr>
        <p:txBody>
          <a:bodyPr rtlCol="0" anchor="ctr"/>
          <a:lstStyle/>
          <a:p>
            <a:endParaRPr lang="en-US"/>
          </a:p>
        </p:txBody>
      </p:sp>
      <p:pic>
        <p:nvPicPr>
          <p:cNvPr id="7" name="Picture 6" descr="A group of people wearing clothing&#10;&#10;Description automatically generated">
            <a:extLst>
              <a:ext uri="{FF2B5EF4-FFF2-40B4-BE49-F238E27FC236}">
                <a16:creationId xmlns:a16="http://schemas.microsoft.com/office/drawing/2014/main" id="{6E6CC216-F385-6758-6DBA-6FCD7867B6DF}"/>
              </a:ext>
            </a:extLst>
          </p:cNvPr>
          <p:cNvPicPr>
            <a:picLocks noChangeAspect="1"/>
          </p:cNvPicPr>
          <p:nvPr/>
        </p:nvPicPr>
        <p:blipFill>
          <a:blip r:embed="rId5"/>
          <a:srcRect l="22412" r="10838"/>
          <a:stretch/>
        </p:blipFill>
        <p:spPr>
          <a:xfrm>
            <a:off x="7751975" y="1075239"/>
            <a:ext cx="4128603" cy="4128603"/>
          </a:xfrm>
          <a:custGeom>
            <a:avLst/>
            <a:gdLst/>
            <a:ahLst/>
            <a:cxnLst/>
            <a:rect l="l" t="t" r="r" b="b"/>
            <a:pathLst>
              <a:path w="2663168" h="2663168">
                <a:moveTo>
                  <a:pt x="1331584" y="0"/>
                </a:moveTo>
                <a:cubicBezTo>
                  <a:pt x="2066998" y="0"/>
                  <a:pt x="2663168" y="596170"/>
                  <a:pt x="2663168" y="1331584"/>
                </a:cubicBezTo>
                <a:cubicBezTo>
                  <a:pt x="2663168" y="2066998"/>
                  <a:pt x="2066998" y="2663168"/>
                  <a:pt x="1331584" y="2663168"/>
                </a:cubicBezTo>
                <a:cubicBezTo>
                  <a:pt x="596170" y="2663168"/>
                  <a:pt x="0" y="2066998"/>
                  <a:pt x="0" y="1331584"/>
                </a:cubicBezTo>
                <a:cubicBezTo>
                  <a:pt x="0" y="596170"/>
                  <a:pt x="596170" y="0"/>
                  <a:pt x="1331584" y="0"/>
                </a:cubicBezTo>
                <a:close/>
              </a:path>
            </a:pathLst>
          </a:custGeom>
        </p:spPr>
      </p:pic>
      <p:sp>
        <p:nvSpPr>
          <p:cNvPr id="98" name="Freeform: Shape 97">
            <a:extLst>
              <a:ext uri="{FF2B5EF4-FFF2-40B4-BE49-F238E27FC236}">
                <a16:creationId xmlns:a16="http://schemas.microsoft.com/office/drawing/2014/main" id="{2D385988-EAAF-4C27-AF8A-2BFBECAF3D4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749602" y="1"/>
            <a:ext cx="2066948" cy="1621879"/>
          </a:xfrm>
          <a:custGeom>
            <a:avLst/>
            <a:gdLst>
              <a:gd name="connsiteX0" fmla="*/ 0 w 2066948"/>
              <a:gd name="connsiteY0" fmla="*/ 0 h 1621879"/>
              <a:gd name="connsiteX1" fmla="*/ 123825 w 2066948"/>
              <a:gd name="connsiteY1" fmla="*/ 0 h 1621879"/>
              <a:gd name="connsiteX2" fmla="*/ 123825 w 2066948"/>
              <a:gd name="connsiteY2" fmla="*/ 1452620 h 1621879"/>
              <a:gd name="connsiteX3" fmla="*/ 1881378 w 2066948"/>
              <a:gd name="connsiteY3" fmla="*/ 436017 h 1621879"/>
              <a:gd name="connsiteX4" fmla="*/ 1127572 w 2066948"/>
              <a:gd name="connsiteY4" fmla="*/ 0 h 1621879"/>
              <a:gd name="connsiteX5" fmla="*/ 1374887 w 2066948"/>
              <a:gd name="connsiteY5" fmla="*/ 0 h 1621879"/>
              <a:gd name="connsiteX6" fmla="*/ 2035969 w 2066948"/>
              <a:gd name="connsiteY6" fmla="*/ 382391 h 1621879"/>
              <a:gd name="connsiteX7" fmla="*/ 2058648 w 2066948"/>
              <a:gd name="connsiteY7" fmla="*/ 466963 h 1621879"/>
              <a:gd name="connsiteX8" fmla="*/ 2035969 w 2066948"/>
              <a:gd name="connsiteY8" fmla="*/ 489642 h 1621879"/>
              <a:gd name="connsiteX9" fmla="*/ 92869 w 2066948"/>
              <a:gd name="connsiteY9" fmla="*/ 1613592 h 1621879"/>
              <a:gd name="connsiteX10" fmla="*/ 61913 w 2066948"/>
              <a:gd name="connsiteY10" fmla="*/ 1621879 h 1621879"/>
              <a:gd name="connsiteX11" fmla="*/ 0 w 2066948"/>
              <a:gd name="connsiteY11" fmla="*/ 1559967 h 16218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066948" h="1621879">
                <a:moveTo>
                  <a:pt x="0" y="0"/>
                </a:moveTo>
                <a:lnTo>
                  <a:pt x="123825" y="0"/>
                </a:lnTo>
                <a:lnTo>
                  <a:pt x="123825" y="1452620"/>
                </a:lnTo>
                <a:lnTo>
                  <a:pt x="1881378" y="436017"/>
                </a:lnTo>
                <a:lnTo>
                  <a:pt x="1127572" y="0"/>
                </a:lnTo>
                <a:lnTo>
                  <a:pt x="1374887" y="0"/>
                </a:lnTo>
                <a:lnTo>
                  <a:pt x="2035969" y="382391"/>
                </a:lnTo>
                <a:cubicBezTo>
                  <a:pt x="2065582" y="399479"/>
                  <a:pt x="2075745" y="437340"/>
                  <a:pt x="2058648" y="466963"/>
                </a:cubicBezTo>
                <a:cubicBezTo>
                  <a:pt x="2053219" y="476384"/>
                  <a:pt x="2045389" y="484204"/>
                  <a:pt x="2035969" y="489642"/>
                </a:cubicBezTo>
                <a:lnTo>
                  <a:pt x="92869" y="1613592"/>
                </a:lnTo>
                <a:cubicBezTo>
                  <a:pt x="83458" y="1619031"/>
                  <a:pt x="72780" y="1621889"/>
                  <a:pt x="61913" y="1621879"/>
                </a:cubicBezTo>
                <a:cubicBezTo>
                  <a:pt x="27719" y="1621879"/>
                  <a:pt x="0" y="1594161"/>
                  <a:pt x="0" y="1559967"/>
                </a:cubicBezTo>
                <a:close/>
              </a:path>
            </a:pathLst>
          </a:custGeom>
          <a:solidFill>
            <a:schemeClr val="accent6"/>
          </a:solidFill>
          <a:ln w="9525" cap="flat">
            <a:noFill/>
            <a:prstDash val="solid"/>
            <a:miter/>
          </a:ln>
        </p:spPr>
        <p:txBody>
          <a:bodyPr rtlCol="0" anchor="ctr"/>
          <a:lstStyle/>
          <a:p>
            <a:endParaRPr lang="en-US"/>
          </a:p>
        </p:txBody>
      </p:sp>
      <p:cxnSp>
        <p:nvCxnSpPr>
          <p:cNvPr id="100" name="Straight Connector 99">
            <a:extLst>
              <a:ext uri="{FF2B5EF4-FFF2-40B4-BE49-F238E27FC236}">
                <a16:creationId xmlns:a16="http://schemas.microsoft.com/office/drawing/2014/main" id="{43621FD4-D14D-45D5-9A57-9A2DE5EA59C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2138745" y="1027906"/>
            <a:ext cx="0" cy="1597708"/>
          </a:xfrm>
          <a:prstGeom prst="line">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cxnSp>
      <p:sp>
        <p:nvSpPr>
          <p:cNvPr id="102" name="Freeform: Shape 101">
            <a:extLst>
              <a:ext uri="{FF2B5EF4-FFF2-40B4-BE49-F238E27FC236}">
                <a16:creationId xmlns:a16="http://schemas.microsoft.com/office/drawing/2014/main" id="{B621D332-7329-4994-8836-C429A51B75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09527" y="6033795"/>
            <a:ext cx="1991064" cy="824205"/>
          </a:xfrm>
          <a:custGeom>
            <a:avLst/>
            <a:gdLst>
              <a:gd name="connsiteX0" fmla="*/ 995532 w 1991064"/>
              <a:gd name="connsiteY0" fmla="*/ 0 h 824205"/>
              <a:gd name="connsiteX1" fmla="*/ 1984823 w 1991064"/>
              <a:gd name="connsiteY1" fmla="*/ 784423 h 824205"/>
              <a:gd name="connsiteX2" fmla="*/ 1991064 w 1991064"/>
              <a:gd name="connsiteY2" fmla="*/ 824205 h 824205"/>
              <a:gd name="connsiteX3" fmla="*/ 0 w 1991064"/>
              <a:gd name="connsiteY3" fmla="*/ 824205 h 824205"/>
              <a:gd name="connsiteX4" fmla="*/ 6241 w 1991064"/>
              <a:gd name="connsiteY4" fmla="*/ 784423 h 824205"/>
              <a:gd name="connsiteX5" fmla="*/ 995532 w 1991064"/>
              <a:gd name="connsiteY5" fmla="*/ 0 h 8242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991064" h="824205">
                <a:moveTo>
                  <a:pt x="995532" y="0"/>
                </a:moveTo>
                <a:cubicBezTo>
                  <a:pt x="1483521" y="0"/>
                  <a:pt x="1890663" y="336754"/>
                  <a:pt x="1984823" y="784423"/>
                </a:cubicBezTo>
                <a:lnTo>
                  <a:pt x="1991064" y="824205"/>
                </a:lnTo>
                <a:lnTo>
                  <a:pt x="0" y="824205"/>
                </a:lnTo>
                <a:lnTo>
                  <a:pt x="6241" y="784423"/>
                </a:lnTo>
                <a:cubicBezTo>
                  <a:pt x="100402" y="336754"/>
                  <a:pt x="507544" y="0"/>
                  <a:pt x="995532"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04" name="Freeform: Shape 103">
            <a:extLst>
              <a:ext uri="{FF2B5EF4-FFF2-40B4-BE49-F238E27FC236}">
                <a16:creationId xmlns:a16="http://schemas.microsoft.com/office/drawing/2014/main" id="{2D20F754-35A9-4508-BE3C-C59996D1437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851696" y="5519196"/>
            <a:ext cx="1340305" cy="1338805"/>
          </a:xfrm>
          <a:custGeom>
            <a:avLst/>
            <a:gdLst>
              <a:gd name="connsiteX0" fmla="*/ 61913 w 1340305"/>
              <a:gd name="connsiteY0" fmla="*/ 0 h 1338805"/>
              <a:gd name="connsiteX1" fmla="*/ 1340305 w 1340305"/>
              <a:gd name="connsiteY1" fmla="*/ 0 h 1338805"/>
              <a:gd name="connsiteX2" fmla="*/ 1340305 w 1340305"/>
              <a:gd name="connsiteY2" fmla="*/ 123825 h 1338805"/>
              <a:gd name="connsiteX3" fmla="*/ 123825 w 1340305"/>
              <a:gd name="connsiteY3" fmla="*/ 123825 h 1338805"/>
              <a:gd name="connsiteX4" fmla="*/ 123825 w 1340305"/>
              <a:gd name="connsiteY4" fmla="*/ 1338805 h 1338805"/>
              <a:gd name="connsiteX5" fmla="*/ 0 w 1340305"/>
              <a:gd name="connsiteY5" fmla="*/ 1338805 h 1338805"/>
              <a:gd name="connsiteX6" fmla="*/ 0 w 1340305"/>
              <a:gd name="connsiteY6" fmla="*/ 61913 h 1338805"/>
              <a:gd name="connsiteX7" fmla="*/ 61913 w 1340305"/>
              <a:gd name="connsiteY7" fmla="*/ 0 h 13388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340305" h="1338805">
                <a:moveTo>
                  <a:pt x="61913" y="0"/>
                </a:moveTo>
                <a:lnTo>
                  <a:pt x="1340305" y="0"/>
                </a:lnTo>
                <a:lnTo>
                  <a:pt x="1340305" y="123825"/>
                </a:lnTo>
                <a:lnTo>
                  <a:pt x="123825" y="123825"/>
                </a:lnTo>
                <a:lnTo>
                  <a:pt x="123825" y="1338805"/>
                </a:lnTo>
                <a:lnTo>
                  <a:pt x="0" y="1338805"/>
                </a:lnTo>
                <a:lnTo>
                  <a:pt x="0" y="61913"/>
                </a:lnTo>
                <a:cubicBezTo>
                  <a:pt x="0" y="27719"/>
                  <a:pt x="27719" y="0"/>
                  <a:pt x="61913" y="0"/>
                </a:cubicBezTo>
                <a:close/>
              </a:path>
            </a:pathLst>
          </a:custGeom>
          <a:solidFill>
            <a:schemeClr val="accent6"/>
          </a:solidFill>
          <a:ln w="9525" cap="flat">
            <a:noFill/>
            <a:prstDash val="solid"/>
            <a:miter/>
          </a:ln>
        </p:spPr>
        <p:txBody>
          <a:bodyPr rtlCol="0" anchor="ctr"/>
          <a:lstStyle/>
          <a:p>
            <a:endParaRPr lang="en-US"/>
          </a:p>
        </p:txBody>
      </p:sp>
      <p:pic>
        <p:nvPicPr>
          <p:cNvPr id="19" name="Audio 18">
            <a:hlinkClick r:id="" action="ppaction://media"/>
            <a:extLst>
              <a:ext uri="{FF2B5EF4-FFF2-40B4-BE49-F238E27FC236}">
                <a16:creationId xmlns:a16="http://schemas.microsoft.com/office/drawing/2014/main" id="{B1AF55D2-31D8-D225-0A84-6B20DE53125A}"/>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11226800" y="5892800"/>
            <a:ext cx="812800" cy="812800"/>
          </a:xfrm>
          <a:prstGeom prst="rect">
            <a:avLst/>
          </a:prstGeom>
        </p:spPr>
      </p:pic>
    </p:spTree>
    <p:extLst>
      <p:ext uri="{BB962C8B-B14F-4D97-AF65-F5344CB8AC3E}">
        <p14:creationId xmlns:p14="http://schemas.microsoft.com/office/powerpoint/2010/main" val="2406949671"/>
      </p:ext>
    </p:extLst>
  </p:cSld>
  <p:clrMapOvr>
    <a:masterClrMapping/>
  </p:clrMapOvr>
  <mc:AlternateContent xmlns:mc="http://schemas.openxmlformats.org/markup-compatibility/2006" xmlns:p14="http://schemas.microsoft.com/office/powerpoint/2010/main">
    <mc:Choice Requires="p14">
      <p:transition spd="slow" p14:dur="2000" advTm="95264"/>
    </mc:Choice>
    <mc:Fallback xmlns="">
      <p:transition spd="slow" advTm="95264"/>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19"/>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19"/>
                </p:tgtEl>
              </p:cMediaNode>
            </p:audio>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6" name="Rectangle 22">
            <a:extLst>
              <a:ext uri="{FF2B5EF4-FFF2-40B4-BE49-F238E27FC236}">
                <a16:creationId xmlns:a16="http://schemas.microsoft.com/office/drawing/2014/main" id="{017517EF-BD4D-4055-BDB4-A322C53568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520342A-24DB-48D7-21A4-03288BE351BB}"/>
              </a:ext>
            </a:extLst>
          </p:cNvPr>
          <p:cNvSpPr>
            <a:spLocks noGrp="1"/>
          </p:cNvSpPr>
          <p:nvPr>
            <p:ph type="title"/>
          </p:nvPr>
        </p:nvSpPr>
        <p:spPr>
          <a:xfrm>
            <a:off x="901690" y="405575"/>
            <a:ext cx="6430414" cy="1371600"/>
          </a:xfrm>
        </p:spPr>
        <p:txBody>
          <a:bodyPr vert="horz" lIns="91440" tIns="45720" rIns="91440" bIns="45720" rtlCol="0" anchor="ctr">
            <a:normAutofit/>
          </a:bodyPr>
          <a:lstStyle/>
          <a:p>
            <a:r>
              <a:rPr lang="en-US" kern="1200" dirty="0">
                <a:solidFill>
                  <a:schemeClr val="tx1"/>
                </a:solidFill>
                <a:latin typeface="+mj-lt"/>
                <a:ea typeface="+mj-ea"/>
                <a:cs typeface="+mj-cs"/>
              </a:rPr>
              <a:t>LEGOLAND Sensory Guide</a:t>
            </a:r>
          </a:p>
        </p:txBody>
      </p:sp>
      <p:sp>
        <p:nvSpPr>
          <p:cNvPr id="27" name="Rectangle 26">
            <a:extLst>
              <a:ext uri="{FF2B5EF4-FFF2-40B4-BE49-F238E27FC236}">
                <a16:creationId xmlns:a16="http://schemas.microsoft.com/office/drawing/2014/main" id="{2568BC19-F052-4108-93E1-6A3D1DEC072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4784" y="764424"/>
            <a:ext cx="128016" cy="65390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pic>
        <p:nvPicPr>
          <p:cNvPr id="7" name="Picture 6" descr="A brochure with a picture of people&#10;&#10;Description automatically generated">
            <a:extLst>
              <a:ext uri="{FF2B5EF4-FFF2-40B4-BE49-F238E27FC236}">
                <a16:creationId xmlns:a16="http://schemas.microsoft.com/office/drawing/2014/main" id="{0885AE55-CC9A-4E95-E232-2BEBAF3454FA}"/>
              </a:ext>
            </a:extLst>
          </p:cNvPr>
          <p:cNvPicPr>
            <a:picLocks noChangeAspect="1"/>
          </p:cNvPicPr>
          <p:nvPr/>
        </p:nvPicPr>
        <p:blipFill rotWithShape="1">
          <a:blip r:embed="rId5"/>
          <a:srcRect l="51250" r="2" b="15180"/>
          <a:stretch/>
        </p:blipFill>
        <p:spPr>
          <a:xfrm>
            <a:off x="6096000" y="1494971"/>
            <a:ext cx="4522430" cy="4957454"/>
          </a:xfrm>
          <a:prstGeom prst="rect">
            <a:avLst/>
          </a:prstGeom>
          <a:ln>
            <a:solidFill>
              <a:schemeClr val="bg2">
                <a:lumMod val="50000"/>
              </a:schemeClr>
            </a:solidFill>
          </a:ln>
          <a:effectLst>
            <a:softEdge rad="0"/>
          </a:effectLst>
        </p:spPr>
      </p:pic>
      <p:pic>
        <p:nvPicPr>
          <p:cNvPr id="15" name="Content Placeholder 4">
            <a:extLst>
              <a:ext uri="{FF2B5EF4-FFF2-40B4-BE49-F238E27FC236}">
                <a16:creationId xmlns:a16="http://schemas.microsoft.com/office/drawing/2014/main" id="{EF2421DA-01B7-CA68-E048-340323A1376C}"/>
              </a:ext>
            </a:extLst>
          </p:cNvPr>
          <p:cNvPicPr>
            <a:picLocks noChangeAspect="1"/>
          </p:cNvPicPr>
          <p:nvPr/>
        </p:nvPicPr>
        <p:blipFill>
          <a:blip r:embed="rId6"/>
          <a:srcRect r="2" b="2845"/>
          <a:stretch/>
        </p:blipFill>
        <p:spPr>
          <a:xfrm>
            <a:off x="1573570" y="1494971"/>
            <a:ext cx="3941684" cy="4957454"/>
          </a:xfrm>
          <a:prstGeom prst="rect">
            <a:avLst/>
          </a:prstGeom>
          <a:ln>
            <a:solidFill>
              <a:schemeClr val="bg2">
                <a:lumMod val="50000"/>
              </a:schemeClr>
            </a:solidFill>
          </a:ln>
          <a:effectLst>
            <a:softEdge rad="0"/>
          </a:effectLst>
        </p:spPr>
      </p:pic>
      <p:pic>
        <p:nvPicPr>
          <p:cNvPr id="63" name="Audio 62">
            <a:hlinkClick r:id="" action="ppaction://media"/>
            <a:extLst>
              <a:ext uri="{FF2B5EF4-FFF2-40B4-BE49-F238E27FC236}">
                <a16:creationId xmlns:a16="http://schemas.microsoft.com/office/drawing/2014/main" id="{F58B9E44-7C2B-336C-7CC4-B779F06DCF73}"/>
              </a:ext>
            </a:extLst>
          </p:cNvPr>
          <p:cNvPicPr>
            <a:picLocks noChangeAspect="1"/>
          </p:cNvPicPr>
          <p:nvPr>
            <a:audioFile r:link="rId2"/>
            <p:extLst>
              <p:ext uri="{DAA4B4D4-6D71-4841-9C94-3DE7FCFB9230}">
                <p14:media xmlns:p14="http://schemas.microsoft.com/office/powerpoint/2010/main" r:embed="rId1"/>
              </p:ext>
            </p:extLst>
          </p:nvPr>
        </p:nvPicPr>
        <p:blipFill>
          <a:blip r:embed="rId7"/>
          <a:stretch>
            <a:fillRect/>
          </a:stretch>
        </p:blipFill>
        <p:spPr>
          <a:xfrm>
            <a:off x="11226800" y="5892800"/>
            <a:ext cx="812800" cy="812800"/>
          </a:xfrm>
          <a:prstGeom prst="rect">
            <a:avLst/>
          </a:prstGeom>
        </p:spPr>
      </p:pic>
    </p:spTree>
    <p:extLst>
      <p:ext uri="{BB962C8B-B14F-4D97-AF65-F5344CB8AC3E}">
        <p14:creationId xmlns:p14="http://schemas.microsoft.com/office/powerpoint/2010/main" val="3142965605"/>
      </p:ext>
    </p:extLst>
  </p:cSld>
  <p:clrMapOvr>
    <a:masterClrMapping/>
  </p:clrMapOvr>
  <mc:AlternateContent xmlns:mc="http://schemas.openxmlformats.org/markup-compatibility/2006" xmlns:p14="http://schemas.microsoft.com/office/powerpoint/2010/main">
    <mc:Choice Requires="p14">
      <p:transition spd="slow" p14:dur="2000" advTm="183029"/>
    </mc:Choice>
    <mc:Fallback xmlns="">
      <p:transition spd="slow" advTm="183029"/>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63"/>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63"/>
                </p:tgtEl>
              </p:cMediaNode>
            </p:audio>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C2554CA6-288E-4202-BC52-2E5A8F0C0A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B10BB131-AC8E-4A8E-A5D1-36260F720C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9189" y="1119031"/>
            <a:ext cx="4619938" cy="4619938"/>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520342A-24DB-48D7-21A4-03288BE351BB}"/>
              </a:ext>
            </a:extLst>
          </p:cNvPr>
          <p:cNvSpPr>
            <a:spLocks noGrp="1"/>
          </p:cNvSpPr>
          <p:nvPr>
            <p:ph type="title"/>
          </p:nvPr>
        </p:nvSpPr>
        <p:spPr>
          <a:xfrm>
            <a:off x="1171074" y="1396686"/>
            <a:ext cx="3240506" cy="4064628"/>
          </a:xfrm>
        </p:spPr>
        <p:txBody>
          <a:bodyPr>
            <a:normAutofit/>
          </a:bodyPr>
          <a:lstStyle/>
          <a:p>
            <a:r>
              <a:rPr lang="en-US" dirty="0">
                <a:solidFill>
                  <a:srgbClr val="FFFFFF"/>
                </a:solidFill>
              </a:rPr>
              <a:t>Sensory Sensitive</a:t>
            </a:r>
          </a:p>
        </p:txBody>
      </p:sp>
      <p:sp>
        <p:nvSpPr>
          <p:cNvPr id="12" name="Arc 11">
            <a:extLst>
              <a:ext uri="{FF2B5EF4-FFF2-40B4-BE49-F238E27FC236}">
                <a16:creationId xmlns:a16="http://schemas.microsoft.com/office/drawing/2014/main" id="{5B7778FC-632E-4DCA-A7CB-0D7731CCF97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9809111">
            <a:off x="8683720" y="941148"/>
            <a:ext cx="2987899" cy="2987899"/>
          </a:xfrm>
          <a:prstGeom prst="arc">
            <a:avLst>
              <a:gd name="adj1" fmla="val 15817365"/>
              <a:gd name="adj2" fmla="val 178138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4" name="Oval 13">
            <a:extLst>
              <a:ext uri="{FF2B5EF4-FFF2-40B4-BE49-F238E27FC236}">
                <a16:creationId xmlns:a16="http://schemas.microsoft.com/office/drawing/2014/main" id="{FA23A907-97FB-4A8F-880A-DD77401C42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10048" y="4780992"/>
            <a:ext cx="546100" cy="546100"/>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3" name="Content Placeholder 2">
            <a:extLst>
              <a:ext uri="{FF2B5EF4-FFF2-40B4-BE49-F238E27FC236}">
                <a16:creationId xmlns:a16="http://schemas.microsoft.com/office/drawing/2014/main" id="{BC84A509-A486-D73D-39A8-E7B3D710FDEC}"/>
              </a:ext>
            </a:extLst>
          </p:cNvPr>
          <p:cNvSpPr>
            <a:spLocks noGrp="1"/>
          </p:cNvSpPr>
          <p:nvPr>
            <p:ph idx="1"/>
          </p:nvPr>
        </p:nvSpPr>
        <p:spPr>
          <a:xfrm>
            <a:off x="5370153" y="1119031"/>
            <a:ext cx="5911799" cy="5015069"/>
          </a:xfrm>
        </p:spPr>
        <p:txBody>
          <a:bodyPr anchor="ctr">
            <a:noAutofit/>
          </a:bodyPr>
          <a:lstStyle/>
          <a:p>
            <a:pPr marL="0" indent="0">
              <a:buNone/>
            </a:pPr>
            <a:r>
              <a:rPr lang="en-US" sz="2200" b="1" dirty="0"/>
              <a:t>Sensory Sensitive </a:t>
            </a:r>
          </a:p>
          <a:p>
            <a:pPr lvl="1"/>
            <a:r>
              <a:rPr lang="en-US" sz="2200" dirty="0"/>
              <a:t>People with sensory sensitivities experience sensory input more intensely or differently than others</a:t>
            </a:r>
          </a:p>
          <a:p>
            <a:pPr lvl="1"/>
            <a:r>
              <a:rPr lang="en-US" sz="2200" dirty="0"/>
              <a:t>Can be experienced by people of all ages and abilities. It can be temporary or permanent experience, and may co-occur with various diagnoses, or simple differences, including (but not limited to): Autism, ADHD, PTSD. </a:t>
            </a:r>
          </a:p>
          <a:p>
            <a:pPr lvl="1"/>
            <a:endParaRPr lang="en-US" sz="2200" dirty="0"/>
          </a:p>
          <a:p>
            <a:pPr marL="0" indent="0">
              <a:buNone/>
            </a:pPr>
            <a:r>
              <a:rPr lang="en-US" sz="2200" b="1" dirty="0"/>
              <a:t>Neurodiversity </a:t>
            </a:r>
          </a:p>
          <a:p>
            <a:pPr lvl="1"/>
            <a:r>
              <a:rPr lang="en-US" sz="2200" dirty="0"/>
              <a:t>Neurotypical </a:t>
            </a:r>
          </a:p>
          <a:p>
            <a:pPr lvl="1"/>
            <a:r>
              <a:rPr lang="en-US" sz="2200" dirty="0"/>
              <a:t>Neurodivergent (Autism, ADHD, Dyslexia) </a:t>
            </a:r>
          </a:p>
        </p:txBody>
      </p:sp>
      <p:pic>
        <p:nvPicPr>
          <p:cNvPr id="15" name="Audio 14">
            <a:hlinkClick r:id="" action="ppaction://media"/>
            <a:extLst>
              <a:ext uri="{FF2B5EF4-FFF2-40B4-BE49-F238E27FC236}">
                <a16:creationId xmlns:a16="http://schemas.microsoft.com/office/drawing/2014/main" id="{E7CAD390-492A-E9CC-7F2D-A7B46855D5DF}"/>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11226800" y="5892800"/>
            <a:ext cx="812800" cy="812800"/>
          </a:xfrm>
          <a:prstGeom prst="rect">
            <a:avLst/>
          </a:prstGeom>
        </p:spPr>
      </p:pic>
    </p:spTree>
    <p:extLst>
      <p:ext uri="{BB962C8B-B14F-4D97-AF65-F5344CB8AC3E}">
        <p14:creationId xmlns:p14="http://schemas.microsoft.com/office/powerpoint/2010/main" val="1439040746"/>
      </p:ext>
    </p:extLst>
  </p:cSld>
  <p:clrMapOvr>
    <a:masterClrMapping/>
  </p:clrMapOvr>
  <mc:AlternateContent xmlns:mc="http://schemas.openxmlformats.org/markup-compatibility/2006" xmlns:p14="http://schemas.microsoft.com/office/powerpoint/2010/main">
    <mc:Choice Requires="p14">
      <p:transition spd="slow" p14:dur="2000" advTm="121365"/>
    </mc:Choice>
    <mc:Fallback xmlns="">
      <p:transition spd="slow" advTm="121365"/>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15"/>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15"/>
                </p:tgtEl>
              </p:cMediaNode>
            </p:audio>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E92FEB64-6EEA-4759-B4A4-BD2C1E660B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B10BB131-AC8E-4A8E-A5D1-36260F720C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07393" y="847600"/>
            <a:ext cx="4619938" cy="4619938"/>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520342A-24DB-48D7-21A4-03288BE351BB}"/>
              </a:ext>
            </a:extLst>
          </p:cNvPr>
          <p:cNvSpPr>
            <a:spLocks noGrp="1"/>
          </p:cNvSpPr>
          <p:nvPr>
            <p:ph type="title"/>
          </p:nvPr>
        </p:nvSpPr>
        <p:spPr>
          <a:xfrm>
            <a:off x="1389278" y="1233241"/>
            <a:ext cx="3240506" cy="4064628"/>
          </a:xfrm>
        </p:spPr>
        <p:txBody>
          <a:bodyPr>
            <a:normAutofit/>
          </a:bodyPr>
          <a:lstStyle/>
          <a:p>
            <a:r>
              <a:rPr lang="en-US">
                <a:solidFill>
                  <a:srgbClr val="FFFFFF"/>
                </a:solidFill>
              </a:rPr>
              <a:t>Sensory Processing Difference</a:t>
            </a:r>
          </a:p>
        </p:txBody>
      </p:sp>
      <p:sp>
        <p:nvSpPr>
          <p:cNvPr id="12" name="Freeform: Shape 11">
            <a:extLst>
              <a:ext uri="{FF2B5EF4-FFF2-40B4-BE49-F238E27FC236}">
                <a16:creationId xmlns:a16="http://schemas.microsoft.com/office/drawing/2014/main" id="{14847E93-7DC1-4D4B-8829-B19AA7137C5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530529" y="0"/>
            <a:ext cx="1155142" cy="591009"/>
          </a:xfrm>
          <a:custGeom>
            <a:avLst/>
            <a:gdLst>
              <a:gd name="connsiteX0" fmla="*/ 1355 w 1155142"/>
              <a:gd name="connsiteY0" fmla="*/ 0 h 591009"/>
              <a:gd name="connsiteX1" fmla="*/ 1153787 w 1155142"/>
              <a:gd name="connsiteY1" fmla="*/ 0 h 591009"/>
              <a:gd name="connsiteX2" fmla="*/ 1155142 w 1155142"/>
              <a:gd name="connsiteY2" fmla="*/ 13438 h 591009"/>
              <a:gd name="connsiteX3" fmla="*/ 577571 w 1155142"/>
              <a:gd name="connsiteY3" fmla="*/ 591009 h 591009"/>
              <a:gd name="connsiteX4" fmla="*/ 0 w 1155142"/>
              <a:gd name="connsiteY4" fmla="*/ 13438 h 5910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5142" h="591009">
                <a:moveTo>
                  <a:pt x="1355" y="0"/>
                </a:moveTo>
                <a:lnTo>
                  <a:pt x="1153787" y="0"/>
                </a:lnTo>
                <a:lnTo>
                  <a:pt x="1155142" y="13438"/>
                </a:lnTo>
                <a:cubicBezTo>
                  <a:pt x="1155142" y="332422"/>
                  <a:pt x="896555" y="591009"/>
                  <a:pt x="577571" y="591009"/>
                </a:cubicBezTo>
                <a:cubicBezTo>
                  <a:pt x="258587" y="591009"/>
                  <a:pt x="0" y="332422"/>
                  <a:pt x="0" y="13438"/>
                </a:cubicBez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Freeform: Shape 13">
            <a:extLst>
              <a:ext uri="{FF2B5EF4-FFF2-40B4-BE49-F238E27FC236}">
                <a16:creationId xmlns:a16="http://schemas.microsoft.com/office/drawing/2014/main" id="{5566D6E1-03A1-4D73-A4E0-35D74D568A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961511" y="-1"/>
            <a:ext cx="1737401" cy="959536"/>
          </a:xfrm>
          <a:custGeom>
            <a:avLst/>
            <a:gdLst>
              <a:gd name="connsiteX0" fmla="*/ 0 w 1737401"/>
              <a:gd name="connsiteY0" fmla="*/ 0 h 959536"/>
              <a:gd name="connsiteX1" fmla="*/ 123825 w 1737401"/>
              <a:gd name="connsiteY1" fmla="*/ 0 h 959536"/>
              <a:gd name="connsiteX2" fmla="*/ 123825 w 1737401"/>
              <a:gd name="connsiteY2" fmla="*/ 790277 h 959536"/>
              <a:gd name="connsiteX3" fmla="*/ 1490095 w 1737401"/>
              <a:gd name="connsiteY3" fmla="*/ 0 h 959536"/>
              <a:gd name="connsiteX4" fmla="*/ 1737401 w 1737401"/>
              <a:gd name="connsiteY4" fmla="*/ 0 h 959536"/>
              <a:gd name="connsiteX5" fmla="*/ 92869 w 1737401"/>
              <a:gd name="connsiteY5" fmla="*/ 951249 h 959536"/>
              <a:gd name="connsiteX6" fmla="*/ 61913 w 1737401"/>
              <a:gd name="connsiteY6" fmla="*/ 959536 h 959536"/>
              <a:gd name="connsiteX7" fmla="*/ 0 w 1737401"/>
              <a:gd name="connsiteY7" fmla="*/ 897624 h 959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37401" h="959536">
                <a:moveTo>
                  <a:pt x="0" y="0"/>
                </a:moveTo>
                <a:lnTo>
                  <a:pt x="123825" y="0"/>
                </a:lnTo>
                <a:lnTo>
                  <a:pt x="123825" y="790277"/>
                </a:lnTo>
                <a:lnTo>
                  <a:pt x="1490095" y="0"/>
                </a:lnTo>
                <a:lnTo>
                  <a:pt x="1737401" y="0"/>
                </a:lnTo>
                <a:lnTo>
                  <a:pt x="92869" y="951249"/>
                </a:lnTo>
                <a:cubicBezTo>
                  <a:pt x="83458" y="956688"/>
                  <a:pt x="72780" y="959546"/>
                  <a:pt x="61913" y="959536"/>
                </a:cubicBezTo>
                <a:cubicBezTo>
                  <a:pt x="27719" y="959536"/>
                  <a:pt x="0" y="931818"/>
                  <a:pt x="0" y="897624"/>
                </a:cubicBezTo>
                <a:close/>
              </a:path>
            </a:pathLst>
          </a:custGeom>
          <a:solidFill>
            <a:schemeClr val="accent6"/>
          </a:solidFill>
          <a:ln w="9525"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9F835A99-04AC-494A-A572-AFE8413CC9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2936831"/>
            <a:ext cx="159741" cy="552996"/>
          </a:xfrm>
          <a:custGeom>
            <a:avLst/>
            <a:gdLst>
              <a:gd name="connsiteX0" fmla="*/ 159741 w 159741"/>
              <a:gd name="connsiteY0" fmla="*/ 0 h 552996"/>
              <a:gd name="connsiteX1" fmla="*/ 159741 w 159741"/>
              <a:gd name="connsiteY1" fmla="*/ 552996 h 552996"/>
              <a:gd name="connsiteX2" fmla="*/ 141849 w 159741"/>
              <a:gd name="connsiteY2" fmla="*/ 543285 h 552996"/>
              <a:gd name="connsiteX3" fmla="*/ 0 w 159741"/>
              <a:gd name="connsiteY3" fmla="*/ 276498 h 552996"/>
              <a:gd name="connsiteX4" fmla="*/ 141849 w 159741"/>
              <a:gd name="connsiteY4" fmla="*/ 9711 h 5529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9741" h="552996">
                <a:moveTo>
                  <a:pt x="159741" y="0"/>
                </a:moveTo>
                <a:lnTo>
                  <a:pt x="159741" y="552996"/>
                </a:lnTo>
                <a:lnTo>
                  <a:pt x="141849" y="543285"/>
                </a:lnTo>
                <a:cubicBezTo>
                  <a:pt x="56268" y="485467"/>
                  <a:pt x="0" y="387554"/>
                  <a:pt x="0" y="276498"/>
                </a:cubicBezTo>
                <a:cubicBezTo>
                  <a:pt x="0" y="165443"/>
                  <a:pt x="56268" y="67529"/>
                  <a:pt x="141849" y="9711"/>
                </a:cubicBezTo>
                <a:close/>
              </a:path>
            </a:pathLst>
          </a:custGeom>
          <a:solidFill>
            <a:schemeClr val="accent4"/>
          </a:solidFill>
          <a:ln w="12700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 name="Content Placeholder 2">
            <a:extLst>
              <a:ext uri="{FF2B5EF4-FFF2-40B4-BE49-F238E27FC236}">
                <a16:creationId xmlns:a16="http://schemas.microsoft.com/office/drawing/2014/main" id="{BC84A509-A486-D73D-39A8-E7B3D710FDEC}"/>
              </a:ext>
            </a:extLst>
          </p:cNvPr>
          <p:cNvSpPr>
            <a:spLocks noGrp="1"/>
          </p:cNvSpPr>
          <p:nvPr>
            <p:ph idx="1"/>
          </p:nvPr>
        </p:nvSpPr>
        <p:spPr>
          <a:xfrm>
            <a:off x="6096000" y="820880"/>
            <a:ext cx="5257799" cy="4889350"/>
          </a:xfrm>
        </p:spPr>
        <p:txBody>
          <a:bodyPr anchor="ctr">
            <a:normAutofit/>
          </a:bodyPr>
          <a:lstStyle/>
          <a:p>
            <a:pPr marL="0" indent="0">
              <a:buNone/>
            </a:pPr>
            <a:r>
              <a:rPr lang="en-US" sz="2200" b="1" dirty="0"/>
              <a:t>Sensory processing </a:t>
            </a:r>
            <a:r>
              <a:rPr lang="en-US" sz="2200" dirty="0"/>
              <a:t>is how information is perceived, processed and organized when received through the senses i.e., hearing, sight, smell, touch, taste and movement. </a:t>
            </a:r>
          </a:p>
          <a:p>
            <a:pPr marL="0" indent="0">
              <a:buNone/>
            </a:pPr>
            <a:endParaRPr lang="en-US" sz="2200" dirty="0"/>
          </a:p>
          <a:p>
            <a:pPr marL="0" indent="0">
              <a:buNone/>
            </a:pPr>
            <a:r>
              <a:rPr lang="en-US" sz="2200" dirty="0"/>
              <a:t>To have a </a:t>
            </a:r>
            <a:r>
              <a:rPr lang="en-US" sz="2200" b="1" dirty="0"/>
              <a:t>sensory processing difference</a:t>
            </a:r>
            <a:r>
              <a:rPr lang="en-US" sz="2200" dirty="0"/>
              <a:t>, is to react through the senses in a different way to the majority. </a:t>
            </a:r>
          </a:p>
          <a:p>
            <a:pPr marL="0" indent="0">
              <a:buNone/>
            </a:pPr>
            <a:endParaRPr lang="en-US" sz="2200" dirty="0"/>
          </a:p>
          <a:p>
            <a:pPr marL="0" indent="0">
              <a:buNone/>
            </a:pPr>
            <a:r>
              <a:rPr lang="en-US" sz="2200" dirty="0"/>
              <a:t>The reaction may be</a:t>
            </a:r>
            <a:r>
              <a:rPr lang="en-US" sz="2200" b="1" dirty="0"/>
              <a:t> hypersensitive </a:t>
            </a:r>
            <a:r>
              <a:rPr lang="en-US" sz="2200" dirty="0"/>
              <a:t>where the neurological reaction is high or overwhelming, or </a:t>
            </a:r>
            <a:r>
              <a:rPr lang="en-US" sz="2200" b="1" dirty="0"/>
              <a:t>hyposensitive</a:t>
            </a:r>
            <a:r>
              <a:rPr lang="en-US" sz="2200" dirty="0"/>
              <a:t> where the reaction is very low or underwhelming.</a:t>
            </a:r>
          </a:p>
        </p:txBody>
      </p:sp>
      <p:sp>
        <p:nvSpPr>
          <p:cNvPr id="18" name="Freeform: Shape 17">
            <a:extLst>
              <a:ext uri="{FF2B5EF4-FFF2-40B4-BE49-F238E27FC236}">
                <a16:creationId xmlns:a16="http://schemas.microsoft.com/office/drawing/2014/main" id="{7B786209-1B0B-4CA9-9BDD-F7327066A8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5835649"/>
            <a:ext cx="1548180" cy="1022351"/>
          </a:xfrm>
          <a:custGeom>
            <a:avLst/>
            <a:gdLst>
              <a:gd name="connsiteX0" fmla="*/ 61913 w 1548180"/>
              <a:gd name="connsiteY0" fmla="*/ 0 h 1022351"/>
              <a:gd name="connsiteX1" fmla="*/ 1548180 w 1548180"/>
              <a:gd name="connsiteY1" fmla="*/ 0 h 1022351"/>
              <a:gd name="connsiteX2" fmla="*/ 1548180 w 1548180"/>
              <a:gd name="connsiteY2" fmla="*/ 123825 h 1022351"/>
              <a:gd name="connsiteX3" fmla="*/ 123825 w 1548180"/>
              <a:gd name="connsiteY3" fmla="*/ 123825 h 1022351"/>
              <a:gd name="connsiteX4" fmla="*/ 123825 w 1548180"/>
              <a:gd name="connsiteY4" fmla="*/ 1022351 h 1022351"/>
              <a:gd name="connsiteX5" fmla="*/ 0 w 1548180"/>
              <a:gd name="connsiteY5" fmla="*/ 1022351 h 1022351"/>
              <a:gd name="connsiteX6" fmla="*/ 0 w 1548180"/>
              <a:gd name="connsiteY6" fmla="*/ 61913 h 1022351"/>
              <a:gd name="connsiteX7" fmla="*/ 61913 w 1548180"/>
              <a:gd name="connsiteY7" fmla="*/ 0 h 10223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48180" h="1022351">
                <a:moveTo>
                  <a:pt x="61913" y="0"/>
                </a:moveTo>
                <a:lnTo>
                  <a:pt x="1548180" y="0"/>
                </a:lnTo>
                <a:lnTo>
                  <a:pt x="1548180" y="123825"/>
                </a:lnTo>
                <a:lnTo>
                  <a:pt x="123825" y="123825"/>
                </a:lnTo>
                <a:lnTo>
                  <a:pt x="123825" y="1022351"/>
                </a:lnTo>
                <a:lnTo>
                  <a:pt x="0" y="1022351"/>
                </a:lnTo>
                <a:lnTo>
                  <a:pt x="0" y="61913"/>
                </a:lnTo>
                <a:cubicBezTo>
                  <a:pt x="0" y="27719"/>
                  <a:pt x="27719" y="0"/>
                  <a:pt x="61913" y="0"/>
                </a:cubicBezTo>
                <a:close/>
              </a:path>
            </a:pathLst>
          </a:custGeom>
          <a:solidFill>
            <a:schemeClr val="accent6"/>
          </a:solidFill>
          <a:ln w="9525"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2D2964BB-484D-45AE-AD66-D407D06296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405056" y="5717905"/>
            <a:ext cx="1771609" cy="1140095"/>
          </a:xfrm>
          <a:custGeom>
            <a:avLst/>
            <a:gdLst>
              <a:gd name="connsiteX0" fmla="*/ 1561721 w 1771609"/>
              <a:gd name="connsiteY0" fmla="*/ 763041 h 1140095"/>
              <a:gd name="connsiteX1" fmla="*/ 1623024 w 1771609"/>
              <a:gd name="connsiteY1" fmla="*/ 792810 h 1140095"/>
              <a:gd name="connsiteX2" fmla="*/ 1711735 w 1771609"/>
              <a:gd name="connsiteY2" fmla="*/ 970132 h 1140095"/>
              <a:gd name="connsiteX3" fmla="*/ 1771609 w 1771609"/>
              <a:gd name="connsiteY3" fmla="*/ 1140095 h 1140095"/>
              <a:gd name="connsiteX4" fmla="*/ 1637225 w 1771609"/>
              <a:gd name="connsiteY4" fmla="*/ 1140095 h 1140095"/>
              <a:gd name="connsiteX5" fmla="*/ 1594820 w 1771609"/>
              <a:gd name="connsiteY5" fmla="*/ 1019711 h 1140095"/>
              <a:gd name="connsiteX6" fmla="*/ 1513200 w 1771609"/>
              <a:gd name="connsiteY6" fmla="*/ 856627 h 1140095"/>
              <a:gd name="connsiteX7" fmla="*/ 1538499 w 1771609"/>
              <a:gd name="connsiteY7" fmla="*/ 770415 h 1140095"/>
              <a:gd name="connsiteX8" fmla="*/ 1561721 w 1771609"/>
              <a:gd name="connsiteY8" fmla="*/ 763041 h 1140095"/>
              <a:gd name="connsiteX9" fmla="*/ 933455 w 1771609"/>
              <a:gd name="connsiteY9" fmla="*/ 161309 h 1140095"/>
              <a:gd name="connsiteX10" fmla="*/ 957797 w 1771609"/>
              <a:gd name="connsiteY10" fmla="*/ 167970 h 1140095"/>
              <a:gd name="connsiteX11" fmla="*/ 1286982 w 1771609"/>
              <a:gd name="connsiteY11" fmla="*/ 387616 h 1140095"/>
              <a:gd name="connsiteX12" fmla="*/ 1293725 w 1771609"/>
              <a:gd name="connsiteY12" fmla="*/ 477075 h 1140095"/>
              <a:gd name="connsiteX13" fmla="*/ 1245453 w 1771609"/>
              <a:gd name="connsiteY13" fmla="*/ 499154 h 1140095"/>
              <a:gd name="connsiteX14" fmla="*/ 1245167 w 1771609"/>
              <a:gd name="connsiteY14" fmla="*/ 499154 h 1140095"/>
              <a:gd name="connsiteX15" fmla="*/ 1203638 w 1771609"/>
              <a:gd name="connsiteY15" fmla="*/ 484104 h 1140095"/>
              <a:gd name="connsiteX16" fmla="*/ 900647 w 1771609"/>
              <a:gd name="connsiteY16" fmla="*/ 281508 h 1140095"/>
              <a:gd name="connsiteX17" fmla="*/ 872454 w 1771609"/>
              <a:gd name="connsiteY17" fmla="*/ 196164 h 1140095"/>
              <a:gd name="connsiteX18" fmla="*/ 933455 w 1771609"/>
              <a:gd name="connsiteY18" fmla="*/ 161309 h 1140095"/>
              <a:gd name="connsiteX19" fmla="*/ 256260 w 1771609"/>
              <a:gd name="connsiteY19" fmla="*/ 29 h 1140095"/>
              <a:gd name="connsiteX20" fmla="*/ 454020 w 1771609"/>
              <a:gd name="connsiteY20" fmla="*/ 13474 h 1140095"/>
              <a:gd name="connsiteX21" fmla="*/ 509236 w 1771609"/>
              <a:gd name="connsiteY21" fmla="*/ 84182 h 1140095"/>
              <a:gd name="connsiteX22" fmla="*/ 445829 w 1771609"/>
              <a:gd name="connsiteY22" fmla="*/ 139871 h 1140095"/>
              <a:gd name="connsiteX23" fmla="*/ 437447 w 1771609"/>
              <a:gd name="connsiteY23" fmla="*/ 139395 h 1140095"/>
              <a:gd name="connsiteX24" fmla="*/ 73211 w 1771609"/>
              <a:gd name="connsiteY24" fmla="*/ 137204 h 1140095"/>
              <a:gd name="connsiteX25" fmla="*/ 749 w 1771609"/>
              <a:gd name="connsiteY25" fmla="*/ 84082 h 1140095"/>
              <a:gd name="connsiteX26" fmla="*/ 53871 w 1771609"/>
              <a:gd name="connsiteY26" fmla="*/ 11621 h 1140095"/>
              <a:gd name="connsiteX27" fmla="*/ 58352 w 1771609"/>
              <a:gd name="connsiteY27" fmla="*/ 11093 h 1140095"/>
              <a:gd name="connsiteX28" fmla="*/ 256260 w 1771609"/>
              <a:gd name="connsiteY28" fmla="*/ 29 h 11400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771609" h="1140095">
                <a:moveTo>
                  <a:pt x="1561721" y="763041"/>
                </a:moveTo>
                <a:cubicBezTo>
                  <a:pt x="1585506" y="760324"/>
                  <a:pt x="1609722" y="771249"/>
                  <a:pt x="1623024" y="792810"/>
                </a:cubicBezTo>
                <a:cubicBezTo>
                  <a:pt x="1656300" y="850065"/>
                  <a:pt x="1685920" y="909291"/>
                  <a:pt x="1711735" y="970132"/>
                </a:cubicBezTo>
                <a:lnTo>
                  <a:pt x="1771609" y="1140095"/>
                </a:lnTo>
                <a:lnTo>
                  <a:pt x="1637225" y="1140095"/>
                </a:lnTo>
                <a:lnTo>
                  <a:pt x="1594820" y="1019711"/>
                </a:lnTo>
                <a:cubicBezTo>
                  <a:pt x="1571072" y="963753"/>
                  <a:pt x="1543818" y="909282"/>
                  <a:pt x="1513200" y="856627"/>
                </a:cubicBezTo>
                <a:cubicBezTo>
                  <a:pt x="1496379" y="825834"/>
                  <a:pt x="1507704" y="787236"/>
                  <a:pt x="1538499" y="770415"/>
                </a:cubicBezTo>
                <a:cubicBezTo>
                  <a:pt x="1545912" y="766367"/>
                  <a:pt x="1553792" y="763946"/>
                  <a:pt x="1561721" y="763041"/>
                </a:cubicBezTo>
                <a:close/>
                <a:moveTo>
                  <a:pt x="933455" y="161309"/>
                </a:moveTo>
                <a:cubicBezTo>
                  <a:pt x="941693" y="161855"/>
                  <a:pt x="949959" y="164025"/>
                  <a:pt x="957797" y="167970"/>
                </a:cubicBezTo>
                <a:cubicBezTo>
                  <a:pt x="1076184" y="227289"/>
                  <a:pt x="1186759" y="301068"/>
                  <a:pt x="1286982" y="387616"/>
                </a:cubicBezTo>
                <a:cubicBezTo>
                  <a:pt x="1313547" y="410457"/>
                  <a:pt x="1316566" y="450510"/>
                  <a:pt x="1293725" y="477075"/>
                </a:cubicBezTo>
                <a:cubicBezTo>
                  <a:pt x="1281638" y="491137"/>
                  <a:pt x="1263998" y="499204"/>
                  <a:pt x="1245453" y="499154"/>
                </a:cubicBezTo>
                <a:lnTo>
                  <a:pt x="1245167" y="499154"/>
                </a:lnTo>
                <a:cubicBezTo>
                  <a:pt x="1229965" y="499301"/>
                  <a:pt x="1215220" y="493956"/>
                  <a:pt x="1203638" y="484104"/>
                </a:cubicBezTo>
                <a:cubicBezTo>
                  <a:pt x="1111407" y="404300"/>
                  <a:pt x="1009633" y="336248"/>
                  <a:pt x="900647" y="281508"/>
                </a:cubicBezTo>
                <a:cubicBezTo>
                  <a:pt x="869295" y="265726"/>
                  <a:pt x="856672" y="227516"/>
                  <a:pt x="872454" y="196164"/>
                </a:cubicBezTo>
                <a:cubicBezTo>
                  <a:pt x="884290" y="172650"/>
                  <a:pt x="908742" y="159670"/>
                  <a:pt x="933455" y="161309"/>
                </a:cubicBezTo>
                <a:close/>
                <a:moveTo>
                  <a:pt x="256260" y="29"/>
                </a:moveTo>
                <a:cubicBezTo>
                  <a:pt x="322331" y="427"/>
                  <a:pt x="388378" y="4909"/>
                  <a:pt x="454020" y="13474"/>
                </a:cubicBezTo>
                <a:cubicBezTo>
                  <a:pt x="488793" y="17752"/>
                  <a:pt x="513514" y="49409"/>
                  <a:pt x="509236" y="84182"/>
                </a:cubicBezTo>
                <a:cubicBezTo>
                  <a:pt x="505303" y="116151"/>
                  <a:pt x="478038" y="140098"/>
                  <a:pt x="445829" y="139871"/>
                </a:cubicBezTo>
                <a:cubicBezTo>
                  <a:pt x="443027" y="139899"/>
                  <a:pt x="440227" y="139740"/>
                  <a:pt x="437447" y="139395"/>
                </a:cubicBezTo>
                <a:cubicBezTo>
                  <a:pt x="316592" y="123615"/>
                  <a:pt x="194247" y="122878"/>
                  <a:pt x="73211" y="137204"/>
                </a:cubicBezTo>
                <a:cubicBezTo>
                  <a:pt x="38532" y="142545"/>
                  <a:pt x="6090" y="118762"/>
                  <a:pt x="749" y="84082"/>
                </a:cubicBezTo>
                <a:cubicBezTo>
                  <a:pt x="-4591" y="49403"/>
                  <a:pt x="19192" y="16961"/>
                  <a:pt x="53871" y="11621"/>
                </a:cubicBezTo>
                <a:cubicBezTo>
                  <a:pt x="55358" y="11392"/>
                  <a:pt x="56852" y="11216"/>
                  <a:pt x="58352" y="11093"/>
                </a:cubicBezTo>
                <a:cubicBezTo>
                  <a:pt x="124093" y="3319"/>
                  <a:pt x="190189" y="-369"/>
                  <a:pt x="256260" y="29"/>
                </a:cubicBezTo>
                <a:close/>
              </a:path>
            </a:pathLst>
          </a:custGeom>
          <a:solidFill>
            <a:schemeClr val="accent4"/>
          </a:solidFill>
          <a:ln w="9525"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6691AC69-A76E-4DAB-B565-468B6B87ACF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132972" y="6258755"/>
            <a:ext cx="1565940" cy="599245"/>
          </a:xfrm>
          <a:custGeom>
            <a:avLst/>
            <a:gdLst>
              <a:gd name="connsiteX0" fmla="*/ 782970 w 1565940"/>
              <a:gd name="connsiteY0" fmla="*/ 0 h 599245"/>
              <a:gd name="connsiteX1" fmla="*/ 1528042 w 1565940"/>
              <a:gd name="connsiteY1" fmla="*/ 480469 h 599245"/>
              <a:gd name="connsiteX2" fmla="*/ 1565940 w 1565940"/>
              <a:gd name="connsiteY2" fmla="*/ 599245 h 599245"/>
              <a:gd name="connsiteX3" fmla="*/ 0 w 1565940"/>
              <a:gd name="connsiteY3" fmla="*/ 599245 h 599245"/>
              <a:gd name="connsiteX4" fmla="*/ 37898 w 1565940"/>
              <a:gd name="connsiteY4" fmla="*/ 480469 h 599245"/>
              <a:gd name="connsiteX5" fmla="*/ 782970 w 1565940"/>
              <a:gd name="connsiteY5" fmla="*/ 0 h 599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65940" h="599245">
                <a:moveTo>
                  <a:pt x="782970" y="0"/>
                </a:moveTo>
                <a:cubicBezTo>
                  <a:pt x="1117910" y="0"/>
                  <a:pt x="1405287" y="198118"/>
                  <a:pt x="1528042" y="480469"/>
                </a:cubicBezTo>
                <a:lnTo>
                  <a:pt x="1565940" y="599245"/>
                </a:lnTo>
                <a:lnTo>
                  <a:pt x="0" y="599245"/>
                </a:lnTo>
                <a:lnTo>
                  <a:pt x="37898" y="480469"/>
                </a:lnTo>
                <a:cubicBezTo>
                  <a:pt x="160653" y="198118"/>
                  <a:pt x="448030" y="0"/>
                  <a:pt x="782970"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pic>
        <p:nvPicPr>
          <p:cNvPr id="17" name="Audio 16">
            <a:hlinkClick r:id="" action="ppaction://media"/>
            <a:extLst>
              <a:ext uri="{FF2B5EF4-FFF2-40B4-BE49-F238E27FC236}">
                <a16:creationId xmlns:a16="http://schemas.microsoft.com/office/drawing/2014/main" id="{DD5AD2D8-F571-E152-72F0-0181FF77ED18}"/>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11226800" y="5892800"/>
            <a:ext cx="812800" cy="812800"/>
          </a:xfrm>
          <a:prstGeom prst="rect">
            <a:avLst/>
          </a:prstGeom>
        </p:spPr>
      </p:pic>
    </p:spTree>
    <p:extLst>
      <p:ext uri="{BB962C8B-B14F-4D97-AF65-F5344CB8AC3E}">
        <p14:creationId xmlns:p14="http://schemas.microsoft.com/office/powerpoint/2010/main" val="2656302981"/>
      </p:ext>
    </p:extLst>
  </p:cSld>
  <p:clrMapOvr>
    <a:masterClrMapping/>
  </p:clrMapOvr>
  <mc:AlternateContent xmlns:mc="http://schemas.openxmlformats.org/markup-compatibility/2006" xmlns:p14="http://schemas.microsoft.com/office/powerpoint/2010/main">
    <mc:Choice Requires="p14">
      <p:transition spd="slow" p14:dur="2000" advTm="49290"/>
    </mc:Choice>
    <mc:Fallback xmlns="">
      <p:transition spd="slow" advTm="4929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17"/>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17"/>
                </p:tgtEl>
              </p:cMediaNode>
            </p:audio>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F837543A-6020-4505-A233-C9DB4BF740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520342A-24DB-48D7-21A4-03288BE351BB}"/>
              </a:ext>
            </a:extLst>
          </p:cNvPr>
          <p:cNvSpPr>
            <a:spLocks noGrp="1"/>
          </p:cNvSpPr>
          <p:nvPr>
            <p:ph type="title"/>
          </p:nvPr>
        </p:nvSpPr>
        <p:spPr>
          <a:xfrm>
            <a:off x="838200" y="365125"/>
            <a:ext cx="5558489" cy="1325563"/>
          </a:xfrm>
        </p:spPr>
        <p:txBody>
          <a:bodyPr>
            <a:normAutofit/>
          </a:bodyPr>
          <a:lstStyle/>
          <a:p>
            <a:r>
              <a:rPr lang="en-US"/>
              <a:t>Hypersensitivity</a:t>
            </a:r>
          </a:p>
        </p:txBody>
      </p:sp>
      <p:sp>
        <p:nvSpPr>
          <p:cNvPr id="19" name="Freeform: Shape 18">
            <a:extLst>
              <a:ext uri="{FF2B5EF4-FFF2-40B4-BE49-F238E27FC236}">
                <a16:creationId xmlns:a16="http://schemas.microsoft.com/office/drawing/2014/main" id="{35B16301-FB18-48BA-A6DD-C37CAF6F9A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208695" y="1"/>
            <a:ext cx="1135066" cy="477997"/>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 name="Content Placeholder 2">
            <a:extLst>
              <a:ext uri="{FF2B5EF4-FFF2-40B4-BE49-F238E27FC236}">
                <a16:creationId xmlns:a16="http://schemas.microsoft.com/office/drawing/2014/main" id="{BC84A509-A486-D73D-39A8-E7B3D710FDEC}"/>
              </a:ext>
            </a:extLst>
          </p:cNvPr>
          <p:cNvSpPr>
            <a:spLocks noGrp="1"/>
          </p:cNvSpPr>
          <p:nvPr>
            <p:ph idx="1"/>
          </p:nvPr>
        </p:nvSpPr>
        <p:spPr>
          <a:xfrm>
            <a:off x="838200" y="1825625"/>
            <a:ext cx="5558489" cy="4351338"/>
          </a:xfrm>
        </p:spPr>
        <p:txBody>
          <a:bodyPr>
            <a:normAutofit/>
          </a:bodyPr>
          <a:lstStyle/>
          <a:p>
            <a:pPr marL="0" indent="0">
              <a:buNone/>
            </a:pPr>
            <a:r>
              <a:rPr lang="en-US" b="1"/>
              <a:t>Hypersensitivity</a:t>
            </a:r>
          </a:p>
          <a:p>
            <a:pPr lvl="1"/>
            <a:r>
              <a:rPr lang="en-US"/>
              <a:t>H</a:t>
            </a:r>
            <a:r>
              <a:rPr lang="en-US">
                <a:effectLst/>
              </a:rPr>
              <a:t>eightened response to physical (via sound, sight, touch, or smell) and/or emotional stimuli and the tendency to be easily overwhelmed </a:t>
            </a:r>
          </a:p>
          <a:p>
            <a:pPr lvl="1"/>
            <a:endParaRPr lang="en-US"/>
          </a:p>
          <a:p>
            <a:pPr marL="0" indent="0">
              <a:buNone/>
            </a:pPr>
            <a:r>
              <a:rPr lang="en-US" b="1"/>
              <a:t>Sensory Avoidance </a:t>
            </a:r>
          </a:p>
          <a:p>
            <a:pPr lvl="1"/>
            <a:r>
              <a:rPr lang="en-US"/>
              <a:t>P</a:t>
            </a:r>
            <a:r>
              <a:rPr lang="en-US" b="0" i="0" u="none" strike="noStrike">
                <a:effectLst/>
              </a:rPr>
              <a:t>ulling away from physical touch</a:t>
            </a:r>
          </a:p>
          <a:p>
            <a:pPr lvl="1"/>
            <a:r>
              <a:rPr lang="en-US"/>
              <a:t>C</a:t>
            </a:r>
            <a:r>
              <a:rPr lang="en-US" b="0" i="0" u="none" strike="noStrike">
                <a:effectLst/>
              </a:rPr>
              <a:t>overing the ears to avoid loud or unpredictable sounds</a:t>
            </a:r>
          </a:p>
          <a:p>
            <a:pPr lvl="1"/>
            <a:r>
              <a:rPr lang="en-US"/>
              <a:t>A</a:t>
            </a:r>
            <a:r>
              <a:rPr lang="en-US" b="0" i="0" u="none" strike="noStrike">
                <a:effectLst/>
              </a:rPr>
              <a:t>voiding certain kinds of clothing</a:t>
            </a:r>
            <a:endParaRPr lang="en-US"/>
          </a:p>
        </p:txBody>
      </p:sp>
      <p:sp>
        <p:nvSpPr>
          <p:cNvPr id="21" name="Oval 20">
            <a:extLst>
              <a:ext uri="{FF2B5EF4-FFF2-40B4-BE49-F238E27FC236}">
                <a16:creationId xmlns:a16="http://schemas.microsoft.com/office/drawing/2014/main" id="{C3C0D90E-074A-4F52-9B11-B52BEF4BCBE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21310" y="2624479"/>
            <a:ext cx="812427" cy="812427"/>
          </a:xfrm>
          <a:prstGeom prst="ellipse">
            <a:avLst/>
          </a:prstGeom>
          <a:noFill/>
          <a:ln w="12700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Block Arc 22">
            <a:extLst>
              <a:ext uri="{FF2B5EF4-FFF2-40B4-BE49-F238E27FC236}">
                <a16:creationId xmlns:a16="http://schemas.microsoft.com/office/drawing/2014/main" id="{CABBD4C1-E6F8-46F6-8152-A8A97490BF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8912417" y="1218531"/>
            <a:ext cx="2387600" cy="2387600"/>
          </a:xfrm>
          <a:prstGeom prst="blockArc">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5" name="Freeform: Shape 24">
            <a:extLst>
              <a:ext uri="{FF2B5EF4-FFF2-40B4-BE49-F238E27FC236}">
                <a16:creationId xmlns:a16="http://schemas.microsoft.com/office/drawing/2014/main" id="{83BA5EF5-1FE9-4BF9-83BB-269BCDDF61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21310" y="0"/>
            <a:ext cx="2315251" cy="1550992"/>
          </a:xfrm>
          <a:custGeom>
            <a:avLst/>
            <a:gdLst>
              <a:gd name="connsiteX0" fmla="*/ 0 w 2315251"/>
              <a:gd name="connsiteY0" fmla="*/ 0 h 1550992"/>
              <a:gd name="connsiteX1" fmla="*/ 138700 w 2315251"/>
              <a:gd name="connsiteY1" fmla="*/ 0 h 1550992"/>
              <a:gd name="connsiteX2" fmla="*/ 138700 w 2315251"/>
              <a:gd name="connsiteY2" fmla="*/ 1361400 h 1550992"/>
              <a:gd name="connsiteX3" fmla="*/ 2107387 w 2315251"/>
              <a:gd name="connsiteY3" fmla="*/ 222673 h 1550992"/>
              <a:gd name="connsiteX4" fmla="*/ 1722420 w 2315251"/>
              <a:gd name="connsiteY4" fmla="*/ 0 h 1550992"/>
              <a:gd name="connsiteX5" fmla="*/ 1999436 w 2315251"/>
              <a:gd name="connsiteY5" fmla="*/ 0 h 1550992"/>
              <a:gd name="connsiteX6" fmla="*/ 2280549 w 2315251"/>
              <a:gd name="connsiteY6" fmla="*/ 162605 h 1550992"/>
              <a:gd name="connsiteX7" fmla="*/ 2305953 w 2315251"/>
              <a:gd name="connsiteY7" fmla="*/ 257336 h 1550992"/>
              <a:gd name="connsiteX8" fmla="*/ 2280549 w 2315251"/>
              <a:gd name="connsiteY8" fmla="*/ 282740 h 1550992"/>
              <a:gd name="connsiteX9" fmla="*/ 104026 w 2315251"/>
              <a:gd name="connsiteY9" fmla="*/ 1541710 h 1550992"/>
              <a:gd name="connsiteX10" fmla="*/ 69351 w 2315251"/>
              <a:gd name="connsiteY10" fmla="*/ 1550992 h 1550992"/>
              <a:gd name="connsiteX11" fmla="*/ 0 w 2315251"/>
              <a:gd name="connsiteY11" fmla="*/ 1481643 h 15509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315251" h="1550992">
                <a:moveTo>
                  <a:pt x="0" y="0"/>
                </a:moveTo>
                <a:lnTo>
                  <a:pt x="138700" y="0"/>
                </a:lnTo>
                <a:lnTo>
                  <a:pt x="138700" y="1361400"/>
                </a:lnTo>
                <a:lnTo>
                  <a:pt x="2107387" y="222673"/>
                </a:lnTo>
                <a:lnTo>
                  <a:pt x="1722420" y="0"/>
                </a:lnTo>
                <a:lnTo>
                  <a:pt x="1999436" y="0"/>
                </a:lnTo>
                <a:lnTo>
                  <a:pt x="2280549" y="162605"/>
                </a:lnTo>
                <a:cubicBezTo>
                  <a:pt x="2313720" y="181745"/>
                  <a:pt x="2325104" y="224155"/>
                  <a:pt x="2305953" y="257336"/>
                </a:cubicBezTo>
                <a:cubicBezTo>
                  <a:pt x="2299872" y="267889"/>
                  <a:pt x="2291101" y="276648"/>
                  <a:pt x="2280549" y="282740"/>
                </a:cubicBezTo>
                <a:lnTo>
                  <a:pt x="104026" y="1541710"/>
                </a:lnTo>
                <a:cubicBezTo>
                  <a:pt x="93484" y="1547802"/>
                  <a:pt x="81523" y="1551003"/>
                  <a:pt x="69351" y="1550992"/>
                </a:cubicBezTo>
                <a:cubicBezTo>
                  <a:pt x="31049" y="1550992"/>
                  <a:pt x="0" y="1519944"/>
                  <a:pt x="0" y="1481643"/>
                </a:cubicBezTo>
                <a:close/>
              </a:path>
            </a:pathLst>
          </a:custGeom>
          <a:solidFill>
            <a:schemeClr val="accent6"/>
          </a:solidFill>
          <a:ln w="9525" cap="flat">
            <a:noFill/>
            <a:prstDash val="solid"/>
            <a:miter/>
          </a:ln>
        </p:spPr>
        <p:txBody>
          <a:bodyPr rtlCol="0" anchor="ctr"/>
          <a:lstStyle/>
          <a:p>
            <a:endParaRPr lang="en-US" dirty="0"/>
          </a:p>
        </p:txBody>
      </p:sp>
      <p:cxnSp>
        <p:nvCxnSpPr>
          <p:cNvPr id="27" name="Straight Connector 26">
            <a:extLst>
              <a:ext uri="{FF2B5EF4-FFF2-40B4-BE49-F238E27FC236}">
                <a16:creationId xmlns:a16="http://schemas.microsoft.com/office/drawing/2014/main" id="{4B3BCACB-5880-460B-9606-8C433A9AF99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724638" y="1331572"/>
            <a:ext cx="0" cy="1597708"/>
          </a:xfrm>
          <a:prstGeom prst="line">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cxnSp>
      <p:sp>
        <p:nvSpPr>
          <p:cNvPr id="29" name="Freeform: Shape 28">
            <a:extLst>
              <a:ext uri="{FF2B5EF4-FFF2-40B4-BE49-F238E27FC236}">
                <a16:creationId xmlns:a16="http://schemas.microsoft.com/office/drawing/2014/main" id="{88853921-7BC9-4BDE-ACAB-133C683C82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005550" y="4112081"/>
            <a:ext cx="1186451" cy="1771650"/>
          </a:xfrm>
          <a:custGeom>
            <a:avLst/>
            <a:gdLst>
              <a:gd name="connsiteX0" fmla="*/ 61913 w 1186451"/>
              <a:gd name="connsiteY0" fmla="*/ 0 h 1771650"/>
              <a:gd name="connsiteX1" fmla="*/ 1186451 w 1186451"/>
              <a:gd name="connsiteY1" fmla="*/ 0 h 1771650"/>
              <a:gd name="connsiteX2" fmla="*/ 1186451 w 1186451"/>
              <a:gd name="connsiteY2" fmla="*/ 123825 h 1771650"/>
              <a:gd name="connsiteX3" fmla="*/ 123825 w 1186451"/>
              <a:gd name="connsiteY3" fmla="*/ 123825 h 1771650"/>
              <a:gd name="connsiteX4" fmla="*/ 123825 w 1186451"/>
              <a:gd name="connsiteY4" fmla="*/ 1647825 h 1771650"/>
              <a:gd name="connsiteX5" fmla="*/ 1186451 w 1186451"/>
              <a:gd name="connsiteY5" fmla="*/ 1647825 h 1771650"/>
              <a:gd name="connsiteX6" fmla="*/ 1186451 w 1186451"/>
              <a:gd name="connsiteY6" fmla="*/ 1771650 h 1771650"/>
              <a:gd name="connsiteX7" fmla="*/ 61913 w 1186451"/>
              <a:gd name="connsiteY7" fmla="*/ 1771650 h 1771650"/>
              <a:gd name="connsiteX8" fmla="*/ 0 w 1186451"/>
              <a:gd name="connsiteY8" fmla="*/ 1709738 h 1771650"/>
              <a:gd name="connsiteX9" fmla="*/ 0 w 1186451"/>
              <a:gd name="connsiteY9" fmla="*/ 61913 h 1771650"/>
              <a:gd name="connsiteX10" fmla="*/ 61913 w 1186451"/>
              <a:gd name="connsiteY10" fmla="*/ 0 h 1771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6451" h="1771650">
                <a:moveTo>
                  <a:pt x="61913" y="0"/>
                </a:moveTo>
                <a:lnTo>
                  <a:pt x="1186451" y="0"/>
                </a:lnTo>
                <a:lnTo>
                  <a:pt x="1186451" y="123825"/>
                </a:lnTo>
                <a:lnTo>
                  <a:pt x="123825" y="123825"/>
                </a:lnTo>
                <a:lnTo>
                  <a:pt x="123825" y="1647825"/>
                </a:lnTo>
                <a:lnTo>
                  <a:pt x="1186451" y="1647825"/>
                </a:lnTo>
                <a:lnTo>
                  <a:pt x="1186451" y="1771650"/>
                </a:lnTo>
                <a:lnTo>
                  <a:pt x="61913" y="1771650"/>
                </a:lnTo>
                <a:cubicBezTo>
                  <a:pt x="27719" y="1771650"/>
                  <a:pt x="0" y="1743932"/>
                  <a:pt x="0" y="1709738"/>
                </a:cubicBezTo>
                <a:lnTo>
                  <a:pt x="0" y="61913"/>
                </a:lnTo>
                <a:cubicBezTo>
                  <a:pt x="0" y="27719"/>
                  <a:pt x="27719" y="0"/>
                  <a:pt x="61913" y="0"/>
                </a:cubicBezTo>
                <a:close/>
              </a:path>
            </a:pathLst>
          </a:custGeom>
          <a:solidFill>
            <a:schemeClr val="accent6"/>
          </a:solidFill>
          <a:ln w="9525" cap="flat">
            <a:noFill/>
            <a:prstDash val="solid"/>
            <a:miter/>
          </a:ln>
        </p:spPr>
        <p:txBody>
          <a:bodyPr rtlCol="0" anchor="ctr"/>
          <a:lstStyle/>
          <a:p>
            <a:endParaRPr lang="en-US"/>
          </a:p>
        </p:txBody>
      </p:sp>
      <p:sp>
        <p:nvSpPr>
          <p:cNvPr id="31" name="Arc 30">
            <a:extLst>
              <a:ext uri="{FF2B5EF4-FFF2-40B4-BE49-F238E27FC236}">
                <a16:creationId xmlns:a16="http://schemas.microsoft.com/office/drawing/2014/main" id="{09192968-3AE7-4470-A61C-97294BB927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992895">
            <a:off x="6086940" y="4145122"/>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3" name="Freeform: Shape 32">
            <a:extLst>
              <a:ext uri="{FF2B5EF4-FFF2-40B4-BE49-F238E27FC236}">
                <a16:creationId xmlns:a16="http://schemas.microsoft.com/office/drawing/2014/main" id="{3AB72E55-43E4-4356-BFE8-E2102CB0B5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21310" y="4962670"/>
            <a:ext cx="2643352" cy="1895331"/>
          </a:xfrm>
          <a:custGeom>
            <a:avLst/>
            <a:gdLst>
              <a:gd name="connsiteX0" fmla="*/ 1321676 w 2643352"/>
              <a:gd name="connsiteY0" fmla="*/ 0 h 1895331"/>
              <a:gd name="connsiteX1" fmla="*/ 2643352 w 2643352"/>
              <a:gd name="connsiteY1" fmla="*/ 1321676 h 1895331"/>
              <a:gd name="connsiteX2" fmla="*/ 2539488 w 2643352"/>
              <a:gd name="connsiteY2" fmla="*/ 1836132 h 1895331"/>
              <a:gd name="connsiteX3" fmla="*/ 2510970 w 2643352"/>
              <a:gd name="connsiteY3" fmla="*/ 1895331 h 1895331"/>
              <a:gd name="connsiteX4" fmla="*/ 132382 w 2643352"/>
              <a:gd name="connsiteY4" fmla="*/ 1895331 h 1895331"/>
              <a:gd name="connsiteX5" fmla="*/ 103864 w 2643352"/>
              <a:gd name="connsiteY5" fmla="*/ 1836132 h 1895331"/>
              <a:gd name="connsiteX6" fmla="*/ 0 w 2643352"/>
              <a:gd name="connsiteY6" fmla="*/ 1321676 h 1895331"/>
              <a:gd name="connsiteX7" fmla="*/ 1321676 w 2643352"/>
              <a:gd name="connsiteY7" fmla="*/ 0 h 18953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43352" h="1895331">
                <a:moveTo>
                  <a:pt x="1321676" y="0"/>
                </a:moveTo>
                <a:cubicBezTo>
                  <a:pt x="2051617" y="0"/>
                  <a:pt x="2643352" y="591735"/>
                  <a:pt x="2643352" y="1321676"/>
                </a:cubicBezTo>
                <a:cubicBezTo>
                  <a:pt x="2643352" y="1504161"/>
                  <a:pt x="2606369" y="1678009"/>
                  <a:pt x="2539488" y="1836132"/>
                </a:cubicBezTo>
                <a:lnTo>
                  <a:pt x="2510970" y="1895331"/>
                </a:lnTo>
                <a:lnTo>
                  <a:pt x="132382" y="1895331"/>
                </a:lnTo>
                <a:lnTo>
                  <a:pt x="103864" y="1836132"/>
                </a:lnTo>
                <a:cubicBezTo>
                  <a:pt x="36984" y="1678009"/>
                  <a:pt x="0" y="1504161"/>
                  <a:pt x="0" y="1321676"/>
                </a:cubicBezTo>
                <a:cubicBezTo>
                  <a:pt x="0" y="591735"/>
                  <a:pt x="591735" y="0"/>
                  <a:pt x="1321676"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Audio 5">
            <a:hlinkClick r:id="" action="ppaction://media"/>
            <a:extLst>
              <a:ext uri="{FF2B5EF4-FFF2-40B4-BE49-F238E27FC236}">
                <a16:creationId xmlns:a16="http://schemas.microsoft.com/office/drawing/2014/main" id="{5F0A8A81-F837-BDFC-5974-A723881245AE}"/>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11226800" y="5892800"/>
            <a:ext cx="812800" cy="812800"/>
          </a:xfrm>
          <a:prstGeom prst="rect">
            <a:avLst/>
          </a:prstGeom>
        </p:spPr>
      </p:pic>
    </p:spTree>
    <p:extLst>
      <p:ext uri="{BB962C8B-B14F-4D97-AF65-F5344CB8AC3E}">
        <p14:creationId xmlns:p14="http://schemas.microsoft.com/office/powerpoint/2010/main" val="2491252614"/>
      </p:ext>
    </p:extLst>
  </p:cSld>
  <p:clrMapOvr>
    <a:masterClrMapping/>
  </p:clrMapOvr>
  <mc:AlternateContent xmlns:mc="http://schemas.openxmlformats.org/markup-compatibility/2006" xmlns:p14="http://schemas.microsoft.com/office/powerpoint/2010/main">
    <mc:Choice Requires="p14">
      <p:transition spd="slow" p14:dur="2000" advTm="43797"/>
    </mc:Choice>
    <mc:Fallback xmlns="">
      <p:transition spd="slow" advTm="43797"/>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6"/>
                </p:tgtEl>
              </p:cMediaNode>
            </p:audio>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F837543A-6020-4505-A233-C9DB4BF740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520342A-24DB-48D7-21A4-03288BE351BB}"/>
              </a:ext>
            </a:extLst>
          </p:cNvPr>
          <p:cNvSpPr>
            <a:spLocks noGrp="1"/>
          </p:cNvSpPr>
          <p:nvPr>
            <p:ph type="title"/>
          </p:nvPr>
        </p:nvSpPr>
        <p:spPr>
          <a:xfrm>
            <a:off x="838200" y="365125"/>
            <a:ext cx="5558489" cy="1325563"/>
          </a:xfrm>
        </p:spPr>
        <p:txBody>
          <a:bodyPr>
            <a:normAutofit/>
          </a:bodyPr>
          <a:lstStyle/>
          <a:p>
            <a:r>
              <a:rPr lang="en-US"/>
              <a:t>Hyposensitivity</a:t>
            </a:r>
          </a:p>
        </p:txBody>
      </p:sp>
      <p:sp>
        <p:nvSpPr>
          <p:cNvPr id="19" name="Freeform: Shape 18">
            <a:extLst>
              <a:ext uri="{FF2B5EF4-FFF2-40B4-BE49-F238E27FC236}">
                <a16:creationId xmlns:a16="http://schemas.microsoft.com/office/drawing/2014/main" id="{35B16301-FB18-48BA-A6DD-C37CAF6F9A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208695" y="1"/>
            <a:ext cx="1135066" cy="477997"/>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 name="Content Placeholder 2">
            <a:extLst>
              <a:ext uri="{FF2B5EF4-FFF2-40B4-BE49-F238E27FC236}">
                <a16:creationId xmlns:a16="http://schemas.microsoft.com/office/drawing/2014/main" id="{BC84A509-A486-D73D-39A8-E7B3D710FDEC}"/>
              </a:ext>
            </a:extLst>
          </p:cNvPr>
          <p:cNvSpPr>
            <a:spLocks noGrp="1"/>
          </p:cNvSpPr>
          <p:nvPr>
            <p:ph idx="1"/>
          </p:nvPr>
        </p:nvSpPr>
        <p:spPr>
          <a:xfrm>
            <a:off x="838200" y="1825625"/>
            <a:ext cx="5558489" cy="4351338"/>
          </a:xfrm>
        </p:spPr>
        <p:txBody>
          <a:bodyPr>
            <a:normAutofit/>
          </a:bodyPr>
          <a:lstStyle/>
          <a:p>
            <a:pPr marL="0" indent="0">
              <a:buNone/>
            </a:pPr>
            <a:r>
              <a:rPr lang="en-US" b="1"/>
              <a:t>Hyposensitivity</a:t>
            </a:r>
          </a:p>
          <a:p>
            <a:pPr lvl="1"/>
            <a:r>
              <a:rPr lang="en-US"/>
              <a:t>R</a:t>
            </a:r>
            <a:r>
              <a:rPr lang="en-US">
                <a:effectLst/>
              </a:rPr>
              <a:t>educed response to environmental stimuli </a:t>
            </a:r>
          </a:p>
          <a:p>
            <a:pPr lvl="2"/>
            <a:r>
              <a:rPr lang="en-US" i="1"/>
              <a:t>Ex: A</a:t>
            </a:r>
            <a:r>
              <a:rPr lang="en-US" i="1">
                <a:effectLst/>
              </a:rPr>
              <a:t> need to touch things excessively, turning the volume very loud, etc. </a:t>
            </a:r>
          </a:p>
          <a:p>
            <a:pPr marL="914400" lvl="2" indent="0">
              <a:buNone/>
            </a:pPr>
            <a:endParaRPr lang="en-US" i="1"/>
          </a:p>
          <a:p>
            <a:pPr marL="0" indent="0">
              <a:buNone/>
            </a:pPr>
            <a:r>
              <a:rPr lang="en-US" b="1"/>
              <a:t>Sensory Seeking</a:t>
            </a:r>
          </a:p>
          <a:p>
            <a:pPr lvl="1"/>
            <a:r>
              <a:rPr lang="en-US"/>
              <a:t>M</a:t>
            </a:r>
            <a:r>
              <a:rPr lang="en-US" b="0" i="0" u="none" strike="noStrike">
                <a:effectLst/>
              </a:rPr>
              <a:t>aking loud noises</a:t>
            </a:r>
          </a:p>
          <a:p>
            <a:pPr lvl="1"/>
            <a:r>
              <a:rPr lang="en-US"/>
              <a:t>T</a:t>
            </a:r>
            <a:r>
              <a:rPr lang="en-US" b="0" i="0" u="none" strike="noStrike">
                <a:effectLst/>
              </a:rPr>
              <a:t>ouching people or objects</a:t>
            </a:r>
          </a:p>
          <a:p>
            <a:pPr lvl="1"/>
            <a:r>
              <a:rPr lang="en-US"/>
              <a:t>R</a:t>
            </a:r>
            <a:r>
              <a:rPr lang="en-US" b="0" i="0" u="none" strike="noStrike">
                <a:effectLst/>
              </a:rPr>
              <a:t>ocking back and forth</a:t>
            </a:r>
            <a:r>
              <a:rPr lang="en-US"/>
              <a:t> </a:t>
            </a:r>
          </a:p>
        </p:txBody>
      </p:sp>
      <p:sp>
        <p:nvSpPr>
          <p:cNvPr id="21" name="Oval 20">
            <a:extLst>
              <a:ext uri="{FF2B5EF4-FFF2-40B4-BE49-F238E27FC236}">
                <a16:creationId xmlns:a16="http://schemas.microsoft.com/office/drawing/2014/main" id="{C3C0D90E-074A-4F52-9B11-B52BEF4BCBE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21310" y="2624479"/>
            <a:ext cx="812427" cy="812427"/>
          </a:xfrm>
          <a:prstGeom prst="ellipse">
            <a:avLst/>
          </a:prstGeom>
          <a:noFill/>
          <a:ln w="12700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Block Arc 22">
            <a:extLst>
              <a:ext uri="{FF2B5EF4-FFF2-40B4-BE49-F238E27FC236}">
                <a16:creationId xmlns:a16="http://schemas.microsoft.com/office/drawing/2014/main" id="{CABBD4C1-E6F8-46F6-8152-A8A97490BF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8912417" y="1218531"/>
            <a:ext cx="2387600" cy="2387600"/>
          </a:xfrm>
          <a:prstGeom prst="blockArc">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5" name="Freeform: Shape 24">
            <a:extLst>
              <a:ext uri="{FF2B5EF4-FFF2-40B4-BE49-F238E27FC236}">
                <a16:creationId xmlns:a16="http://schemas.microsoft.com/office/drawing/2014/main" id="{83BA5EF5-1FE9-4BF9-83BB-269BCDDF61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21310" y="0"/>
            <a:ext cx="2315251" cy="1550992"/>
          </a:xfrm>
          <a:custGeom>
            <a:avLst/>
            <a:gdLst>
              <a:gd name="connsiteX0" fmla="*/ 0 w 2315251"/>
              <a:gd name="connsiteY0" fmla="*/ 0 h 1550992"/>
              <a:gd name="connsiteX1" fmla="*/ 138700 w 2315251"/>
              <a:gd name="connsiteY1" fmla="*/ 0 h 1550992"/>
              <a:gd name="connsiteX2" fmla="*/ 138700 w 2315251"/>
              <a:gd name="connsiteY2" fmla="*/ 1361400 h 1550992"/>
              <a:gd name="connsiteX3" fmla="*/ 2107387 w 2315251"/>
              <a:gd name="connsiteY3" fmla="*/ 222673 h 1550992"/>
              <a:gd name="connsiteX4" fmla="*/ 1722420 w 2315251"/>
              <a:gd name="connsiteY4" fmla="*/ 0 h 1550992"/>
              <a:gd name="connsiteX5" fmla="*/ 1999436 w 2315251"/>
              <a:gd name="connsiteY5" fmla="*/ 0 h 1550992"/>
              <a:gd name="connsiteX6" fmla="*/ 2280549 w 2315251"/>
              <a:gd name="connsiteY6" fmla="*/ 162605 h 1550992"/>
              <a:gd name="connsiteX7" fmla="*/ 2305953 w 2315251"/>
              <a:gd name="connsiteY7" fmla="*/ 257336 h 1550992"/>
              <a:gd name="connsiteX8" fmla="*/ 2280549 w 2315251"/>
              <a:gd name="connsiteY8" fmla="*/ 282740 h 1550992"/>
              <a:gd name="connsiteX9" fmla="*/ 104026 w 2315251"/>
              <a:gd name="connsiteY9" fmla="*/ 1541710 h 1550992"/>
              <a:gd name="connsiteX10" fmla="*/ 69351 w 2315251"/>
              <a:gd name="connsiteY10" fmla="*/ 1550992 h 1550992"/>
              <a:gd name="connsiteX11" fmla="*/ 0 w 2315251"/>
              <a:gd name="connsiteY11" fmla="*/ 1481643 h 15509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315251" h="1550992">
                <a:moveTo>
                  <a:pt x="0" y="0"/>
                </a:moveTo>
                <a:lnTo>
                  <a:pt x="138700" y="0"/>
                </a:lnTo>
                <a:lnTo>
                  <a:pt x="138700" y="1361400"/>
                </a:lnTo>
                <a:lnTo>
                  <a:pt x="2107387" y="222673"/>
                </a:lnTo>
                <a:lnTo>
                  <a:pt x="1722420" y="0"/>
                </a:lnTo>
                <a:lnTo>
                  <a:pt x="1999436" y="0"/>
                </a:lnTo>
                <a:lnTo>
                  <a:pt x="2280549" y="162605"/>
                </a:lnTo>
                <a:cubicBezTo>
                  <a:pt x="2313720" y="181745"/>
                  <a:pt x="2325104" y="224155"/>
                  <a:pt x="2305953" y="257336"/>
                </a:cubicBezTo>
                <a:cubicBezTo>
                  <a:pt x="2299872" y="267889"/>
                  <a:pt x="2291101" y="276648"/>
                  <a:pt x="2280549" y="282740"/>
                </a:cubicBezTo>
                <a:lnTo>
                  <a:pt x="104026" y="1541710"/>
                </a:lnTo>
                <a:cubicBezTo>
                  <a:pt x="93484" y="1547802"/>
                  <a:pt x="81523" y="1551003"/>
                  <a:pt x="69351" y="1550992"/>
                </a:cubicBezTo>
                <a:cubicBezTo>
                  <a:pt x="31049" y="1550992"/>
                  <a:pt x="0" y="1519944"/>
                  <a:pt x="0" y="1481643"/>
                </a:cubicBezTo>
                <a:close/>
              </a:path>
            </a:pathLst>
          </a:custGeom>
          <a:solidFill>
            <a:schemeClr val="accent6"/>
          </a:solidFill>
          <a:ln w="9525" cap="flat">
            <a:noFill/>
            <a:prstDash val="solid"/>
            <a:miter/>
          </a:ln>
        </p:spPr>
        <p:txBody>
          <a:bodyPr rtlCol="0" anchor="ctr"/>
          <a:lstStyle/>
          <a:p>
            <a:endParaRPr lang="en-US" dirty="0"/>
          </a:p>
        </p:txBody>
      </p:sp>
      <p:cxnSp>
        <p:nvCxnSpPr>
          <p:cNvPr id="27" name="Straight Connector 26">
            <a:extLst>
              <a:ext uri="{FF2B5EF4-FFF2-40B4-BE49-F238E27FC236}">
                <a16:creationId xmlns:a16="http://schemas.microsoft.com/office/drawing/2014/main" id="{4B3BCACB-5880-460B-9606-8C433A9AF99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724638" y="1331572"/>
            <a:ext cx="0" cy="1597708"/>
          </a:xfrm>
          <a:prstGeom prst="line">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cxnSp>
      <p:sp>
        <p:nvSpPr>
          <p:cNvPr id="29" name="Freeform: Shape 28">
            <a:extLst>
              <a:ext uri="{FF2B5EF4-FFF2-40B4-BE49-F238E27FC236}">
                <a16:creationId xmlns:a16="http://schemas.microsoft.com/office/drawing/2014/main" id="{88853921-7BC9-4BDE-ACAB-133C683C82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005550" y="4112081"/>
            <a:ext cx="1186451" cy="1771650"/>
          </a:xfrm>
          <a:custGeom>
            <a:avLst/>
            <a:gdLst>
              <a:gd name="connsiteX0" fmla="*/ 61913 w 1186451"/>
              <a:gd name="connsiteY0" fmla="*/ 0 h 1771650"/>
              <a:gd name="connsiteX1" fmla="*/ 1186451 w 1186451"/>
              <a:gd name="connsiteY1" fmla="*/ 0 h 1771650"/>
              <a:gd name="connsiteX2" fmla="*/ 1186451 w 1186451"/>
              <a:gd name="connsiteY2" fmla="*/ 123825 h 1771650"/>
              <a:gd name="connsiteX3" fmla="*/ 123825 w 1186451"/>
              <a:gd name="connsiteY3" fmla="*/ 123825 h 1771650"/>
              <a:gd name="connsiteX4" fmla="*/ 123825 w 1186451"/>
              <a:gd name="connsiteY4" fmla="*/ 1647825 h 1771650"/>
              <a:gd name="connsiteX5" fmla="*/ 1186451 w 1186451"/>
              <a:gd name="connsiteY5" fmla="*/ 1647825 h 1771650"/>
              <a:gd name="connsiteX6" fmla="*/ 1186451 w 1186451"/>
              <a:gd name="connsiteY6" fmla="*/ 1771650 h 1771650"/>
              <a:gd name="connsiteX7" fmla="*/ 61913 w 1186451"/>
              <a:gd name="connsiteY7" fmla="*/ 1771650 h 1771650"/>
              <a:gd name="connsiteX8" fmla="*/ 0 w 1186451"/>
              <a:gd name="connsiteY8" fmla="*/ 1709738 h 1771650"/>
              <a:gd name="connsiteX9" fmla="*/ 0 w 1186451"/>
              <a:gd name="connsiteY9" fmla="*/ 61913 h 1771650"/>
              <a:gd name="connsiteX10" fmla="*/ 61913 w 1186451"/>
              <a:gd name="connsiteY10" fmla="*/ 0 h 1771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6451" h="1771650">
                <a:moveTo>
                  <a:pt x="61913" y="0"/>
                </a:moveTo>
                <a:lnTo>
                  <a:pt x="1186451" y="0"/>
                </a:lnTo>
                <a:lnTo>
                  <a:pt x="1186451" y="123825"/>
                </a:lnTo>
                <a:lnTo>
                  <a:pt x="123825" y="123825"/>
                </a:lnTo>
                <a:lnTo>
                  <a:pt x="123825" y="1647825"/>
                </a:lnTo>
                <a:lnTo>
                  <a:pt x="1186451" y="1647825"/>
                </a:lnTo>
                <a:lnTo>
                  <a:pt x="1186451" y="1771650"/>
                </a:lnTo>
                <a:lnTo>
                  <a:pt x="61913" y="1771650"/>
                </a:lnTo>
                <a:cubicBezTo>
                  <a:pt x="27719" y="1771650"/>
                  <a:pt x="0" y="1743932"/>
                  <a:pt x="0" y="1709738"/>
                </a:cubicBezTo>
                <a:lnTo>
                  <a:pt x="0" y="61913"/>
                </a:lnTo>
                <a:cubicBezTo>
                  <a:pt x="0" y="27719"/>
                  <a:pt x="27719" y="0"/>
                  <a:pt x="61913" y="0"/>
                </a:cubicBezTo>
                <a:close/>
              </a:path>
            </a:pathLst>
          </a:custGeom>
          <a:solidFill>
            <a:schemeClr val="accent6"/>
          </a:solidFill>
          <a:ln w="9525" cap="flat">
            <a:noFill/>
            <a:prstDash val="solid"/>
            <a:miter/>
          </a:ln>
        </p:spPr>
        <p:txBody>
          <a:bodyPr rtlCol="0" anchor="ctr"/>
          <a:lstStyle/>
          <a:p>
            <a:endParaRPr lang="en-US"/>
          </a:p>
        </p:txBody>
      </p:sp>
      <p:sp>
        <p:nvSpPr>
          <p:cNvPr id="31" name="Arc 30">
            <a:extLst>
              <a:ext uri="{FF2B5EF4-FFF2-40B4-BE49-F238E27FC236}">
                <a16:creationId xmlns:a16="http://schemas.microsoft.com/office/drawing/2014/main" id="{09192968-3AE7-4470-A61C-97294BB927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992895">
            <a:off x="6086940" y="4145122"/>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3" name="Freeform: Shape 32">
            <a:extLst>
              <a:ext uri="{FF2B5EF4-FFF2-40B4-BE49-F238E27FC236}">
                <a16:creationId xmlns:a16="http://schemas.microsoft.com/office/drawing/2014/main" id="{3AB72E55-43E4-4356-BFE8-E2102CB0B5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21310" y="4962670"/>
            <a:ext cx="2643352" cy="1895331"/>
          </a:xfrm>
          <a:custGeom>
            <a:avLst/>
            <a:gdLst>
              <a:gd name="connsiteX0" fmla="*/ 1321676 w 2643352"/>
              <a:gd name="connsiteY0" fmla="*/ 0 h 1895331"/>
              <a:gd name="connsiteX1" fmla="*/ 2643352 w 2643352"/>
              <a:gd name="connsiteY1" fmla="*/ 1321676 h 1895331"/>
              <a:gd name="connsiteX2" fmla="*/ 2539488 w 2643352"/>
              <a:gd name="connsiteY2" fmla="*/ 1836132 h 1895331"/>
              <a:gd name="connsiteX3" fmla="*/ 2510970 w 2643352"/>
              <a:gd name="connsiteY3" fmla="*/ 1895331 h 1895331"/>
              <a:gd name="connsiteX4" fmla="*/ 132382 w 2643352"/>
              <a:gd name="connsiteY4" fmla="*/ 1895331 h 1895331"/>
              <a:gd name="connsiteX5" fmla="*/ 103864 w 2643352"/>
              <a:gd name="connsiteY5" fmla="*/ 1836132 h 1895331"/>
              <a:gd name="connsiteX6" fmla="*/ 0 w 2643352"/>
              <a:gd name="connsiteY6" fmla="*/ 1321676 h 1895331"/>
              <a:gd name="connsiteX7" fmla="*/ 1321676 w 2643352"/>
              <a:gd name="connsiteY7" fmla="*/ 0 h 18953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43352" h="1895331">
                <a:moveTo>
                  <a:pt x="1321676" y="0"/>
                </a:moveTo>
                <a:cubicBezTo>
                  <a:pt x="2051617" y="0"/>
                  <a:pt x="2643352" y="591735"/>
                  <a:pt x="2643352" y="1321676"/>
                </a:cubicBezTo>
                <a:cubicBezTo>
                  <a:pt x="2643352" y="1504161"/>
                  <a:pt x="2606369" y="1678009"/>
                  <a:pt x="2539488" y="1836132"/>
                </a:cubicBezTo>
                <a:lnTo>
                  <a:pt x="2510970" y="1895331"/>
                </a:lnTo>
                <a:lnTo>
                  <a:pt x="132382" y="1895331"/>
                </a:lnTo>
                <a:lnTo>
                  <a:pt x="103864" y="1836132"/>
                </a:lnTo>
                <a:cubicBezTo>
                  <a:pt x="36984" y="1678009"/>
                  <a:pt x="0" y="1504161"/>
                  <a:pt x="0" y="1321676"/>
                </a:cubicBezTo>
                <a:cubicBezTo>
                  <a:pt x="0" y="591735"/>
                  <a:pt x="591735" y="0"/>
                  <a:pt x="1321676"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Audio 5">
            <a:hlinkClick r:id="" action="ppaction://media"/>
            <a:extLst>
              <a:ext uri="{FF2B5EF4-FFF2-40B4-BE49-F238E27FC236}">
                <a16:creationId xmlns:a16="http://schemas.microsoft.com/office/drawing/2014/main" id="{BA61D1F9-F87D-27C2-3FA8-C7743AE0A0BC}"/>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11226800" y="5892800"/>
            <a:ext cx="812800" cy="812800"/>
          </a:xfrm>
          <a:prstGeom prst="rect">
            <a:avLst/>
          </a:prstGeom>
        </p:spPr>
      </p:pic>
    </p:spTree>
    <p:extLst>
      <p:ext uri="{BB962C8B-B14F-4D97-AF65-F5344CB8AC3E}">
        <p14:creationId xmlns:p14="http://schemas.microsoft.com/office/powerpoint/2010/main" val="2623308073"/>
      </p:ext>
    </p:extLst>
  </p:cSld>
  <p:clrMapOvr>
    <a:masterClrMapping/>
  </p:clrMapOvr>
  <mc:AlternateContent xmlns:mc="http://schemas.openxmlformats.org/markup-compatibility/2006" xmlns:p14="http://schemas.microsoft.com/office/powerpoint/2010/main">
    <mc:Choice Requires="p14">
      <p:transition spd="slow" p14:dur="2000" advTm="40365"/>
    </mc:Choice>
    <mc:Fallback xmlns="">
      <p:transition spd="slow" advTm="40365"/>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6"/>
                </p:tgtEl>
              </p:cMediaNode>
            </p:audio>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C2554CA6-288E-4202-BC52-2E5A8F0C0A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B10BB131-AC8E-4A8E-A5D1-36260F720C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9189" y="1119031"/>
            <a:ext cx="4619938" cy="4619938"/>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520342A-24DB-48D7-21A4-03288BE351BB}"/>
              </a:ext>
            </a:extLst>
          </p:cNvPr>
          <p:cNvSpPr>
            <a:spLocks noGrp="1"/>
          </p:cNvSpPr>
          <p:nvPr>
            <p:ph type="title"/>
          </p:nvPr>
        </p:nvSpPr>
        <p:spPr>
          <a:xfrm>
            <a:off x="1171074" y="1396686"/>
            <a:ext cx="3240506" cy="4064628"/>
          </a:xfrm>
        </p:spPr>
        <p:txBody>
          <a:bodyPr>
            <a:normAutofit/>
          </a:bodyPr>
          <a:lstStyle/>
          <a:p>
            <a:r>
              <a:rPr lang="en-US">
                <a:solidFill>
                  <a:srgbClr val="FFFFFF"/>
                </a:solidFill>
              </a:rPr>
              <a:t>Sensory Overload</a:t>
            </a:r>
          </a:p>
        </p:txBody>
      </p:sp>
      <p:sp>
        <p:nvSpPr>
          <p:cNvPr id="21" name="Arc 20">
            <a:extLst>
              <a:ext uri="{FF2B5EF4-FFF2-40B4-BE49-F238E27FC236}">
                <a16:creationId xmlns:a16="http://schemas.microsoft.com/office/drawing/2014/main" id="{5B7778FC-632E-4DCA-A7CB-0D7731CCF97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9809111">
            <a:off x="8683720" y="941148"/>
            <a:ext cx="2987899" cy="2987899"/>
          </a:xfrm>
          <a:prstGeom prst="arc">
            <a:avLst>
              <a:gd name="adj1" fmla="val 15817365"/>
              <a:gd name="adj2" fmla="val 178138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23" name="Oval 22">
            <a:extLst>
              <a:ext uri="{FF2B5EF4-FFF2-40B4-BE49-F238E27FC236}">
                <a16:creationId xmlns:a16="http://schemas.microsoft.com/office/drawing/2014/main" id="{FA23A907-97FB-4A8F-880A-DD77401C42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10048" y="4780992"/>
            <a:ext cx="546100" cy="546100"/>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3" name="Content Placeholder 2">
            <a:extLst>
              <a:ext uri="{FF2B5EF4-FFF2-40B4-BE49-F238E27FC236}">
                <a16:creationId xmlns:a16="http://schemas.microsoft.com/office/drawing/2014/main" id="{BC84A509-A486-D73D-39A8-E7B3D710FDEC}"/>
              </a:ext>
            </a:extLst>
          </p:cNvPr>
          <p:cNvSpPr>
            <a:spLocks noGrp="1"/>
          </p:cNvSpPr>
          <p:nvPr>
            <p:ph idx="1"/>
          </p:nvPr>
        </p:nvSpPr>
        <p:spPr>
          <a:xfrm>
            <a:off x="5365121" y="2420471"/>
            <a:ext cx="6073844" cy="2976169"/>
          </a:xfrm>
        </p:spPr>
        <p:txBody>
          <a:bodyPr anchor="ctr">
            <a:noAutofit/>
          </a:bodyPr>
          <a:lstStyle/>
          <a:p>
            <a:pPr marL="0" indent="0">
              <a:buNone/>
            </a:pPr>
            <a:r>
              <a:rPr lang="en-US" sz="2200" b="1" i="0" u="none" strike="noStrike" dirty="0">
                <a:effectLst/>
              </a:rPr>
              <a:t>Sensory overload </a:t>
            </a:r>
            <a:r>
              <a:rPr lang="en-US" sz="2200" b="0" i="0" u="none" strike="noStrike" dirty="0">
                <a:effectLst/>
              </a:rPr>
              <a:t>happens when one or more of the body’s</a:t>
            </a:r>
            <a:r>
              <a:rPr lang="en-US" sz="2200" b="0" i="0" strike="noStrike" dirty="0">
                <a:effectLst/>
              </a:rPr>
              <a:t> </a:t>
            </a:r>
            <a:r>
              <a:rPr lang="en-US" sz="2200" b="0" i="0" dirty="0">
                <a:effectLst/>
              </a:rPr>
              <a:t>five senses</a:t>
            </a:r>
            <a:r>
              <a:rPr lang="en-US" sz="2200" b="0" i="0" strike="noStrike" dirty="0">
                <a:effectLst/>
              </a:rPr>
              <a:t> </a:t>
            </a:r>
            <a:r>
              <a:rPr lang="en-US" sz="2200" b="0" i="0" u="none" strike="noStrike" dirty="0">
                <a:effectLst/>
              </a:rPr>
              <a:t>become overwhelmed. </a:t>
            </a:r>
            <a:r>
              <a:rPr lang="en-US" sz="2200" dirty="0"/>
              <a:t>This leads to stress and anxiety. </a:t>
            </a:r>
            <a:endParaRPr lang="en-US" sz="2200" b="0" i="0" u="none" strike="noStrike" dirty="0">
              <a:effectLst/>
            </a:endParaRPr>
          </a:p>
          <a:p>
            <a:pPr lvl="1"/>
            <a:r>
              <a:rPr lang="en-US" sz="2200" b="0" i="0" u="none" strike="noStrike" dirty="0">
                <a:effectLst/>
              </a:rPr>
              <a:t>It can happen, for example, in a crowded restaurant, when the radio is too loud, or when a passerby is wearing a strongly scented perfume.</a:t>
            </a:r>
          </a:p>
          <a:p>
            <a:pPr marL="0" indent="0">
              <a:buNone/>
            </a:pPr>
            <a:endParaRPr lang="en-US" sz="2200" dirty="0"/>
          </a:p>
          <a:p>
            <a:r>
              <a:rPr lang="en-US" sz="2200" dirty="0"/>
              <a:t>Meltdown – behaviors vary</a:t>
            </a:r>
            <a:r>
              <a:rPr lang="en-US" sz="2200" i="0" u="none" strike="noStrike" dirty="0">
                <a:effectLst/>
              </a:rPr>
              <a:t>; crying, yelling</a:t>
            </a:r>
          </a:p>
          <a:p>
            <a:r>
              <a:rPr lang="en-US" sz="2200" dirty="0"/>
              <a:t>Flight – individuals try to get away from sensory stimulus </a:t>
            </a:r>
          </a:p>
          <a:p>
            <a:r>
              <a:rPr lang="en-US" sz="2200" dirty="0"/>
              <a:t>Shutdowns – individuals become unresponsive </a:t>
            </a:r>
          </a:p>
        </p:txBody>
      </p:sp>
      <p:pic>
        <p:nvPicPr>
          <p:cNvPr id="35" name="Audio 34">
            <a:hlinkClick r:id="" action="ppaction://media"/>
            <a:extLst>
              <a:ext uri="{FF2B5EF4-FFF2-40B4-BE49-F238E27FC236}">
                <a16:creationId xmlns:a16="http://schemas.microsoft.com/office/drawing/2014/main" id="{3FE018D2-4B7F-50E5-3B36-1043FDF43D75}"/>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11226800" y="5892800"/>
            <a:ext cx="812800" cy="812800"/>
          </a:xfrm>
          <a:prstGeom prst="rect">
            <a:avLst/>
          </a:prstGeom>
        </p:spPr>
      </p:pic>
    </p:spTree>
    <p:extLst>
      <p:ext uri="{BB962C8B-B14F-4D97-AF65-F5344CB8AC3E}">
        <p14:creationId xmlns:p14="http://schemas.microsoft.com/office/powerpoint/2010/main" val="1994900925"/>
      </p:ext>
    </p:extLst>
  </p:cSld>
  <p:clrMapOvr>
    <a:masterClrMapping/>
  </p:clrMapOvr>
  <mc:AlternateContent xmlns:mc="http://schemas.openxmlformats.org/markup-compatibility/2006" xmlns:p14="http://schemas.microsoft.com/office/powerpoint/2010/main">
    <mc:Choice Requires="p14">
      <p:transition spd="slow" p14:dur="2000" advTm="122677"/>
    </mc:Choice>
    <mc:Fallback xmlns="">
      <p:transition spd="slow" advTm="122677"/>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35"/>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35"/>
                </p:tgtEl>
              </p:cMediaNode>
            </p:audio>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92468898-5A6E-4D55-85EC-308E785EE06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520342A-24DB-48D7-21A4-03288BE351BB}"/>
              </a:ext>
            </a:extLst>
          </p:cNvPr>
          <p:cNvSpPr>
            <a:spLocks noGrp="1"/>
          </p:cNvSpPr>
          <p:nvPr>
            <p:ph type="title"/>
          </p:nvPr>
        </p:nvSpPr>
        <p:spPr>
          <a:xfrm>
            <a:off x="429768" y="411480"/>
            <a:ext cx="11201400" cy="1106424"/>
          </a:xfrm>
        </p:spPr>
        <p:txBody>
          <a:bodyPr>
            <a:normAutofit/>
          </a:bodyPr>
          <a:lstStyle/>
          <a:p>
            <a:r>
              <a:rPr lang="en-US" sz="3600" dirty="0"/>
              <a:t>Sensory Overload – National Autistic Society </a:t>
            </a:r>
          </a:p>
        </p:txBody>
      </p:sp>
      <p:sp>
        <p:nvSpPr>
          <p:cNvPr id="21" name="Rectangle 20">
            <a:extLst>
              <a:ext uri="{FF2B5EF4-FFF2-40B4-BE49-F238E27FC236}">
                <a16:creationId xmlns:a16="http://schemas.microsoft.com/office/drawing/2014/main" id="{3E23A947-2D45-4208-AE2B-64948C87A3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98458"/>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useBgFill="1">
        <p:nvSpPr>
          <p:cNvPr id="23" name="Rectangle 22" hidden="1">
            <a:extLst>
              <a:ext uri="{FF2B5EF4-FFF2-40B4-BE49-F238E27FC236}">
                <a16:creationId xmlns:a16="http://schemas.microsoft.com/office/drawing/2014/main" id="{E5BBB0F9-6A59-4D02-A9C7-A2D6516684C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43801" y="1721922"/>
            <a:ext cx="4218432" cy="4520560"/>
          </a:xfrm>
          <a:prstGeom prst="rect">
            <a:avLst/>
          </a:prstGeom>
          <a:ln w="9525">
            <a:solidFill>
              <a:srgbClr val="DEDEDE"/>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5" name="Content Placeholder 4" descr="A child looking at the camera&#10;&#10;Description automatically generated">
            <a:extLst>
              <a:ext uri="{FF2B5EF4-FFF2-40B4-BE49-F238E27FC236}">
                <a16:creationId xmlns:a16="http://schemas.microsoft.com/office/drawing/2014/main" id="{5AADBA0C-9764-8A1E-7290-E8A8C533F81F}"/>
              </a:ext>
            </a:extLst>
          </p:cNvPr>
          <p:cNvPicPr>
            <a:picLocks noGrp="1" noChangeAspect="1"/>
          </p:cNvPicPr>
          <p:nvPr>
            <p:ph idx="1"/>
          </p:nvPr>
        </p:nvPicPr>
        <p:blipFill>
          <a:blip r:embed="rId5"/>
          <a:stretch>
            <a:fillRect/>
          </a:stretch>
        </p:blipFill>
        <p:spPr>
          <a:xfrm>
            <a:off x="2636244" y="1929384"/>
            <a:ext cx="6919511" cy="3881001"/>
          </a:xfrm>
        </p:spPr>
      </p:pic>
      <p:pic>
        <p:nvPicPr>
          <p:cNvPr id="12" name="Audio 11">
            <a:hlinkClick r:id="" action="ppaction://media"/>
            <a:extLst>
              <a:ext uri="{FF2B5EF4-FFF2-40B4-BE49-F238E27FC236}">
                <a16:creationId xmlns:a16="http://schemas.microsoft.com/office/drawing/2014/main" id="{43756F31-A85B-D35B-D0F8-E0F947296244}"/>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11226800" y="5892800"/>
            <a:ext cx="812800" cy="812800"/>
          </a:xfrm>
          <a:prstGeom prst="rect">
            <a:avLst/>
          </a:prstGeom>
        </p:spPr>
      </p:pic>
    </p:spTree>
    <p:extLst>
      <p:ext uri="{BB962C8B-B14F-4D97-AF65-F5344CB8AC3E}">
        <p14:creationId xmlns:p14="http://schemas.microsoft.com/office/powerpoint/2010/main" val="1444363689"/>
      </p:ext>
    </p:extLst>
  </p:cSld>
  <p:clrMapOvr>
    <a:masterClrMapping/>
  </p:clrMapOvr>
  <mc:AlternateContent xmlns:mc="http://schemas.openxmlformats.org/markup-compatibility/2006" xmlns:p14="http://schemas.microsoft.com/office/powerpoint/2010/main">
    <mc:Choice Requires="p14">
      <p:transition spd="slow" p14:dur="2000" advTm="35616"/>
    </mc:Choice>
    <mc:Fallback xmlns="">
      <p:transition spd="slow" advTm="35616"/>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12"/>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12"/>
                </p:tgtEl>
              </p:cMediaNode>
            </p:audio>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92468898-5A6E-4D55-85EC-308E785EE06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520342A-24DB-48D7-21A4-03288BE351BB}"/>
              </a:ext>
            </a:extLst>
          </p:cNvPr>
          <p:cNvSpPr>
            <a:spLocks noGrp="1"/>
          </p:cNvSpPr>
          <p:nvPr>
            <p:ph type="title"/>
          </p:nvPr>
        </p:nvSpPr>
        <p:spPr>
          <a:xfrm>
            <a:off x="429768" y="411480"/>
            <a:ext cx="11201400" cy="1106424"/>
          </a:xfrm>
        </p:spPr>
        <p:txBody>
          <a:bodyPr>
            <a:normAutofit/>
          </a:bodyPr>
          <a:lstStyle/>
          <a:p>
            <a:r>
              <a:rPr lang="en-US" sz="3600" dirty="0"/>
              <a:t>Sensory Overload – National Autistic Society </a:t>
            </a:r>
          </a:p>
        </p:txBody>
      </p:sp>
      <p:sp>
        <p:nvSpPr>
          <p:cNvPr id="21" name="Rectangle 20">
            <a:extLst>
              <a:ext uri="{FF2B5EF4-FFF2-40B4-BE49-F238E27FC236}">
                <a16:creationId xmlns:a16="http://schemas.microsoft.com/office/drawing/2014/main" id="{3E23A947-2D45-4208-AE2B-64948C87A3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98458"/>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pic>
        <p:nvPicPr>
          <p:cNvPr id="4" name="Online Media 3" descr="A child in a blue jacket&#10;&#10;Description automatically generated">
            <a:hlinkClick r:id="" action="ppaction://media"/>
            <a:extLst>
              <a:ext uri="{FF2B5EF4-FFF2-40B4-BE49-F238E27FC236}">
                <a16:creationId xmlns:a16="http://schemas.microsoft.com/office/drawing/2014/main" id="{028529A3-2D88-0667-F8EB-839D6206B779}"/>
              </a:ext>
            </a:extLst>
          </p:cNvPr>
          <p:cNvPicPr>
            <a:picLocks noRot="1" noChangeAspect="1"/>
          </p:cNvPicPr>
          <p:nvPr>
            <a:videoFile r:link="rId1"/>
          </p:nvPr>
        </p:nvPicPr>
        <p:blipFill>
          <a:blip r:embed="rId4"/>
          <a:stretch>
            <a:fillRect/>
          </a:stretch>
        </p:blipFill>
        <p:spPr>
          <a:xfrm>
            <a:off x="2744724" y="1929384"/>
            <a:ext cx="6702552" cy="3786941"/>
          </a:xfrm>
          <a:prstGeom prst="rect">
            <a:avLst/>
          </a:prstGeom>
        </p:spPr>
      </p:pic>
      <p:sp useBgFill="1">
        <p:nvSpPr>
          <p:cNvPr id="23" name="Rectangle 22" hidden="1">
            <a:extLst>
              <a:ext uri="{FF2B5EF4-FFF2-40B4-BE49-F238E27FC236}">
                <a16:creationId xmlns:a16="http://schemas.microsoft.com/office/drawing/2014/main" id="{E5BBB0F9-6A59-4D02-A9C7-A2D6516684C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43801" y="1721922"/>
            <a:ext cx="4218432" cy="4520560"/>
          </a:xfrm>
          <a:prstGeom prst="rect">
            <a:avLst/>
          </a:prstGeom>
          <a:ln w="9525">
            <a:solidFill>
              <a:srgbClr val="DEDEDE"/>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 name="Content Placeholder 15" hidden="1">
            <a:extLst>
              <a:ext uri="{FF2B5EF4-FFF2-40B4-BE49-F238E27FC236}">
                <a16:creationId xmlns:a16="http://schemas.microsoft.com/office/drawing/2014/main" id="{A97EDC17-5F30-12C5-8A4D-6FD660E07795}"/>
              </a:ext>
            </a:extLst>
          </p:cNvPr>
          <p:cNvSpPr>
            <a:spLocks noGrp="1"/>
          </p:cNvSpPr>
          <p:nvPr>
            <p:ph idx="1"/>
          </p:nvPr>
        </p:nvSpPr>
        <p:spPr>
          <a:xfrm>
            <a:off x="7938752" y="2020824"/>
            <a:ext cx="3455097" cy="3959352"/>
          </a:xfrm>
        </p:spPr>
        <p:txBody>
          <a:bodyPr anchor="ctr">
            <a:normAutofit/>
          </a:bodyPr>
          <a:lstStyle/>
          <a:p>
            <a:endParaRPr lang="en-US" sz="1800" dirty="0"/>
          </a:p>
        </p:txBody>
      </p:sp>
    </p:spTree>
    <p:extLst>
      <p:ext uri="{BB962C8B-B14F-4D97-AF65-F5344CB8AC3E}">
        <p14:creationId xmlns:p14="http://schemas.microsoft.com/office/powerpoint/2010/main" val="34479759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4"/>
                </p:tgtEl>
              </p:cMediaNode>
            </p:video>
            <p:seq concurrent="1" nextAc="seek">
              <p:cTn id="8" restart="whenNotActive" fill="hold" evtFilter="cancelBubble" nodeType="interactiveSeq">
                <p:stCondLst>
                  <p:cond evt="onClick" delay="0">
                    <p:tgtEl>
                      <p:spTgt spid="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8" name="Rectangle 37">
            <a:extLst>
              <a:ext uri="{FF2B5EF4-FFF2-40B4-BE49-F238E27FC236}">
                <a16:creationId xmlns:a16="http://schemas.microsoft.com/office/drawing/2014/main" id="{E92FEB64-6EEA-4759-B4A4-BD2C1E660B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Oval 39">
            <a:extLst>
              <a:ext uri="{FF2B5EF4-FFF2-40B4-BE49-F238E27FC236}">
                <a16:creationId xmlns:a16="http://schemas.microsoft.com/office/drawing/2014/main" id="{B10BB131-AC8E-4A8E-A5D1-36260F720C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07393" y="847600"/>
            <a:ext cx="4619938" cy="4619938"/>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520342A-24DB-48D7-21A4-03288BE351BB}"/>
              </a:ext>
            </a:extLst>
          </p:cNvPr>
          <p:cNvSpPr>
            <a:spLocks noGrp="1"/>
          </p:cNvSpPr>
          <p:nvPr>
            <p:ph type="title"/>
          </p:nvPr>
        </p:nvSpPr>
        <p:spPr>
          <a:xfrm>
            <a:off x="1389278" y="1233241"/>
            <a:ext cx="3240506" cy="4064628"/>
          </a:xfrm>
        </p:spPr>
        <p:txBody>
          <a:bodyPr>
            <a:normAutofit/>
          </a:bodyPr>
          <a:lstStyle/>
          <a:p>
            <a:r>
              <a:rPr lang="en-US" sz="4100" dirty="0">
                <a:solidFill>
                  <a:srgbClr val="FFFFFF"/>
                </a:solidFill>
              </a:rPr>
              <a:t>Environmental Triggers</a:t>
            </a:r>
          </a:p>
        </p:txBody>
      </p:sp>
      <p:sp>
        <p:nvSpPr>
          <p:cNvPr id="42" name="Freeform: Shape 41">
            <a:extLst>
              <a:ext uri="{FF2B5EF4-FFF2-40B4-BE49-F238E27FC236}">
                <a16:creationId xmlns:a16="http://schemas.microsoft.com/office/drawing/2014/main" id="{14847E93-7DC1-4D4B-8829-B19AA7137C5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530529" y="0"/>
            <a:ext cx="1155142" cy="591009"/>
          </a:xfrm>
          <a:custGeom>
            <a:avLst/>
            <a:gdLst>
              <a:gd name="connsiteX0" fmla="*/ 1355 w 1155142"/>
              <a:gd name="connsiteY0" fmla="*/ 0 h 591009"/>
              <a:gd name="connsiteX1" fmla="*/ 1153787 w 1155142"/>
              <a:gd name="connsiteY1" fmla="*/ 0 h 591009"/>
              <a:gd name="connsiteX2" fmla="*/ 1155142 w 1155142"/>
              <a:gd name="connsiteY2" fmla="*/ 13438 h 591009"/>
              <a:gd name="connsiteX3" fmla="*/ 577571 w 1155142"/>
              <a:gd name="connsiteY3" fmla="*/ 591009 h 591009"/>
              <a:gd name="connsiteX4" fmla="*/ 0 w 1155142"/>
              <a:gd name="connsiteY4" fmla="*/ 13438 h 5910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5142" h="591009">
                <a:moveTo>
                  <a:pt x="1355" y="0"/>
                </a:moveTo>
                <a:lnTo>
                  <a:pt x="1153787" y="0"/>
                </a:lnTo>
                <a:lnTo>
                  <a:pt x="1155142" y="13438"/>
                </a:lnTo>
                <a:cubicBezTo>
                  <a:pt x="1155142" y="332422"/>
                  <a:pt x="896555" y="591009"/>
                  <a:pt x="577571" y="591009"/>
                </a:cubicBezTo>
                <a:cubicBezTo>
                  <a:pt x="258587" y="591009"/>
                  <a:pt x="0" y="332422"/>
                  <a:pt x="0" y="13438"/>
                </a:cubicBez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4" name="Freeform: Shape 43">
            <a:extLst>
              <a:ext uri="{FF2B5EF4-FFF2-40B4-BE49-F238E27FC236}">
                <a16:creationId xmlns:a16="http://schemas.microsoft.com/office/drawing/2014/main" id="{5566D6E1-03A1-4D73-A4E0-35D74D568A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961511" y="-1"/>
            <a:ext cx="1737401" cy="959536"/>
          </a:xfrm>
          <a:custGeom>
            <a:avLst/>
            <a:gdLst>
              <a:gd name="connsiteX0" fmla="*/ 0 w 1737401"/>
              <a:gd name="connsiteY0" fmla="*/ 0 h 959536"/>
              <a:gd name="connsiteX1" fmla="*/ 123825 w 1737401"/>
              <a:gd name="connsiteY1" fmla="*/ 0 h 959536"/>
              <a:gd name="connsiteX2" fmla="*/ 123825 w 1737401"/>
              <a:gd name="connsiteY2" fmla="*/ 790277 h 959536"/>
              <a:gd name="connsiteX3" fmla="*/ 1490095 w 1737401"/>
              <a:gd name="connsiteY3" fmla="*/ 0 h 959536"/>
              <a:gd name="connsiteX4" fmla="*/ 1737401 w 1737401"/>
              <a:gd name="connsiteY4" fmla="*/ 0 h 959536"/>
              <a:gd name="connsiteX5" fmla="*/ 92869 w 1737401"/>
              <a:gd name="connsiteY5" fmla="*/ 951249 h 959536"/>
              <a:gd name="connsiteX6" fmla="*/ 61913 w 1737401"/>
              <a:gd name="connsiteY6" fmla="*/ 959536 h 959536"/>
              <a:gd name="connsiteX7" fmla="*/ 0 w 1737401"/>
              <a:gd name="connsiteY7" fmla="*/ 897624 h 959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37401" h="959536">
                <a:moveTo>
                  <a:pt x="0" y="0"/>
                </a:moveTo>
                <a:lnTo>
                  <a:pt x="123825" y="0"/>
                </a:lnTo>
                <a:lnTo>
                  <a:pt x="123825" y="790277"/>
                </a:lnTo>
                <a:lnTo>
                  <a:pt x="1490095" y="0"/>
                </a:lnTo>
                <a:lnTo>
                  <a:pt x="1737401" y="0"/>
                </a:lnTo>
                <a:lnTo>
                  <a:pt x="92869" y="951249"/>
                </a:lnTo>
                <a:cubicBezTo>
                  <a:pt x="83458" y="956688"/>
                  <a:pt x="72780" y="959546"/>
                  <a:pt x="61913" y="959536"/>
                </a:cubicBezTo>
                <a:cubicBezTo>
                  <a:pt x="27719" y="959536"/>
                  <a:pt x="0" y="931818"/>
                  <a:pt x="0" y="897624"/>
                </a:cubicBezTo>
                <a:close/>
              </a:path>
            </a:pathLst>
          </a:custGeom>
          <a:solidFill>
            <a:schemeClr val="accent6"/>
          </a:solidFill>
          <a:ln w="9525" cap="flat">
            <a:noFill/>
            <a:prstDash val="solid"/>
            <a:miter/>
          </a:ln>
        </p:spPr>
        <p:txBody>
          <a:bodyPr rtlCol="0" anchor="ctr"/>
          <a:lstStyle/>
          <a:p>
            <a:endParaRPr lang="en-US"/>
          </a:p>
        </p:txBody>
      </p:sp>
      <p:sp>
        <p:nvSpPr>
          <p:cNvPr id="46" name="Freeform: Shape 45">
            <a:extLst>
              <a:ext uri="{FF2B5EF4-FFF2-40B4-BE49-F238E27FC236}">
                <a16:creationId xmlns:a16="http://schemas.microsoft.com/office/drawing/2014/main" id="{9F835A99-04AC-494A-A572-AFE8413CC9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2936831"/>
            <a:ext cx="159741" cy="552996"/>
          </a:xfrm>
          <a:custGeom>
            <a:avLst/>
            <a:gdLst>
              <a:gd name="connsiteX0" fmla="*/ 159741 w 159741"/>
              <a:gd name="connsiteY0" fmla="*/ 0 h 552996"/>
              <a:gd name="connsiteX1" fmla="*/ 159741 w 159741"/>
              <a:gd name="connsiteY1" fmla="*/ 552996 h 552996"/>
              <a:gd name="connsiteX2" fmla="*/ 141849 w 159741"/>
              <a:gd name="connsiteY2" fmla="*/ 543285 h 552996"/>
              <a:gd name="connsiteX3" fmla="*/ 0 w 159741"/>
              <a:gd name="connsiteY3" fmla="*/ 276498 h 552996"/>
              <a:gd name="connsiteX4" fmla="*/ 141849 w 159741"/>
              <a:gd name="connsiteY4" fmla="*/ 9711 h 5529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9741" h="552996">
                <a:moveTo>
                  <a:pt x="159741" y="0"/>
                </a:moveTo>
                <a:lnTo>
                  <a:pt x="159741" y="552996"/>
                </a:lnTo>
                <a:lnTo>
                  <a:pt x="141849" y="543285"/>
                </a:lnTo>
                <a:cubicBezTo>
                  <a:pt x="56268" y="485467"/>
                  <a:pt x="0" y="387554"/>
                  <a:pt x="0" y="276498"/>
                </a:cubicBezTo>
                <a:cubicBezTo>
                  <a:pt x="0" y="165443"/>
                  <a:pt x="56268" y="67529"/>
                  <a:pt x="141849" y="9711"/>
                </a:cubicBezTo>
                <a:close/>
              </a:path>
            </a:pathLst>
          </a:custGeom>
          <a:solidFill>
            <a:schemeClr val="accent4"/>
          </a:solidFill>
          <a:ln w="12700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 name="Content Placeholder 2">
            <a:extLst>
              <a:ext uri="{FF2B5EF4-FFF2-40B4-BE49-F238E27FC236}">
                <a16:creationId xmlns:a16="http://schemas.microsoft.com/office/drawing/2014/main" id="{BC84A509-A486-D73D-39A8-E7B3D710FDEC}"/>
              </a:ext>
            </a:extLst>
          </p:cNvPr>
          <p:cNvSpPr>
            <a:spLocks noGrp="1"/>
          </p:cNvSpPr>
          <p:nvPr>
            <p:ph idx="1"/>
          </p:nvPr>
        </p:nvSpPr>
        <p:spPr>
          <a:xfrm>
            <a:off x="6096000" y="820880"/>
            <a:ext cx="5257799" cy="4889350"/>
          </a:xfrm>
        </p:spPr>
        <p:txBody>
          <a:bodyPr anchor="ctr">
            <a:normAutofit/>
          </a:bodyPr>
          <a:lstStyle/>
          <a:p>
            <a:pPr>
              <a:buFont typeface="Arial" panose="020B0604020202020204" pitchFamily="34" charset="0"/>
              <a:buChar char="•"/>
            </a:pPr>
            <a:r>
              <a:rPr lang="en-US" sz="2200" dirty="0"/>
              <a:t>B</a:t>
            </a:r>
            <a:r>
              <a:rPr lang="en-US" sz="2200" b="0" i="0" u="none" strike="noStrike" dirty="0">
                <a:effectLst/>
              </a:rPr>
              <a:t>right lights </a:t>
            </a:r>
          </a:p>
          <a:p>
            <a:pPr>
              <a:buFont typeface="Arial" panose="020B0604020202020204" pitchFamily="34" charset="0"/>
              <a:buChar char="•"/>
            </a:pPr>
            <a:r>
              <a:rPr lang="en-US" sz="2200" dirty="0"/>
              <a:t>E</a:t>
            </a:r>
            <a:r>
              <a:rPr lang="en-US" sz="2200" b="0" i="0" u="none" strike="noStrike" dirty="0">
                <a:effectLst/>
              </a:rPr>
              <a:t>xcessive noise </a:t>
            </a:r>
          </a:p>
          <a:p>
            <a:pPr>
              <a:buFont typeface="Arial" panose="020B0604020202020204" pitchFamily="34" charset="0"/>
              <a:buChar char="•"/>
            </a:pPr>
            <a:r>
              <a:rPr lang="en-US" sz="2200" dirty="0"/>
              <a:t>S</a:t>
            </a:r>
            <a:r>
              <a:rPr lang="en-US" sz="2200" b="0" i="0" u="none" strike="noStrike" dirty="0">
                <a:effectLst/>
              </a:rPr>
              <a:t>mells </a:t>
            </a:r>
          </a:p>
          <a:p>
            <a:pPr>
              <a:buFont typeface="Arial" panose="020B0604020202020204" pitchFamily="34" charset="0"/>
              <a:buChar char="•"/>
            </a:pPr>
            <a:r>
              <a:rPr lang="en-US" sz="2200" dirty="0"/>
              <a:t>C</a:t>
            </a:r>
            <a:r>
              <a:rPr lang="en-US" sz="2200" b="0" i="0" u="none" strike="noStrike" dirty="0">
                <a:effectLst/>
              </a:rPr>
              <a:t>rowds </a:t>
            </a:r>
          </a:p>
          <a:p>
            <a:pPr>
              <a:buFont typeface="Arial" panose="020B0604020202020204" pitchFamily="34" charset="0"/>
              <a:buChar char="•"/>
            </a:pPr>
            <a:r>
              <a:rPr lang="en-US" sz="2200" dirty="0"/>
              <a:t>Q</a:t>
            </a:r>
            <a:r>
              <a:rPr lang="en-US" sz="2200" b="0" i="0" u="none" strike="noStrike" dirty="0">
                <a:effectLst/>
              </a:rPr>
              <a:t>ueues </a:t>
            </a:r>
          </a:p>
          <a:p>
            <a:pPr>
              <a:buFont typeface="Arial" panose="020B0604020202020204" pitchFamily="34" charset="0"/>
              <a:buChar char="•"/>
            </a:pPr>
            <a:r>
              <a:rPr lang="en-US" sz="2200" dirty="0"/>
              <a:t>O</a:t>
            </a:r>
            <a:r>
              <a:rPr lang="en-US" sz="2200" b="0" i="0" u="none" strike="noStrike" dirty="0">
                <a:effectLst/>
              </a:rPr>
              <a:t>verly hot or cold environments</a:t>
            </a:r>
          </a:p>
        </p:txBody>
      </p:sp>
      <p:sp>
        <p:nvSpPr>
          <p:cNvPr id="48" name="Freeform: Shape 47">
            <a:extLst>
              <a:ext uri="{FF2B5EF4-FFF2-40B4-BE49-F238E27FC236}">
                <a16:creationId xmlns:a16="http://schemas.microsoft.com/office/drawing/2014/main" id="{7B786209-1B0B-4CA9-9BDD-F7327066A8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5835649"/>
            <a:ext cx="1548180" cy="1022351"/>
          </a:xfrm>
          <a:custGeom>
            <a:avLst/>
            <a:gdLst>
              <a:gd name="connsiteX0" fmla="*/ 61913 w 1548180"/>
              <a:gd name="connsiteY0" fmla="*/ 0 h 1022351"/>
              <a:gd name="connsiteX1" fmla="*/ 1548180 w 1548180"/>
              <a:gd name="connsiteY1" fmla="*/ 0 h 1022351"/>
              <a:gd name="connsiteX2" fmla="*/ 1548180 w 1548180"/>
              <a:gd name="connsiteY2" fmla="*/ 123825 h 1022351"/>
              <a:gd name="connsiteX3" fmla="*/ 123825 w 1548180"/>
              <a:gd name="connsiteY3" fmla="*/ 123825 h 1022351"/>
              <a:gd name="connsiteX4" fmla="*/ 123825 w 1548180"/>
              <a:gd name="connsiteY4" fmla="*/ 1022351 h 1022351"/>
              <a:gd name="connsiteX5" fmla="*/ 0 w 1548180"/>
              <a:gd name="connsiteY5" fmla="*/ 1022351 h 1022351"/>
              <a:gd name="connsiteX6" fmla="*/ 0 w 1548180"/>
              <a:gd name="connsiteY6" fmla="*/ 61913 h 1022351"/>
              <a:gd name="connsiteX7" fmla="*/ 61913 w 1548180"/>
              <a:gd name="connsiteY7" fmla="*/ 0 h 10223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48180" h="1022351">
                <a:moveTo>
                  <a:pt x="61913" y="0"/>
                </a:moveTo>
                <a:lnTo>
                  <a:pt x="1548180" y="0"/>
                </a:lnTo>
                <a:lnTo>
                  <a:pt x="1548180" y="123825"/>
                </a:lnTo>
                <a:lnTo>
                  <a:pt x="123825" y="123825"/>
                </a:lnTo>
                <a:lnTo>
                  <a:pt x="123825" y="1022351"/>
                </a:lnTo>
                <a:lnTo>
                  <a:pt x="0" y="1022351"/>
                </a:lnTo>
                <a:lnTo>
                  <a:pt x="0" y="61913"/>
                </a:lnTo>
                <a:cubicBezTo>
                  <a:pt x="0" y="27719"/>
                  <a:pt x="27719" y="0"/>
                  <a:pt x="61913" y="0"/>
                </a:cubicBezTo>
                <a:close/>
              </a:path>
            </a:pathLst>
          </a:custGeom>
          <a:solidFill>
            <a:schemeClr val="accent6"/>
          </a:solidFill>
          <a:ln w="9525" cap="flat">
            <a:noFill/>
            <a:prstDash val="solid"/>
            <a:miter/>
          </a:ln>
        </p:spPr>
        <p:txBody>
          <a:bodyPr rtlCol="0" anchor="ctr"/>
          <a:lstStyle/>
          <a:p>
            <a:endParaRPr lang="en-US"/>
          </a:p>
        </p:txBody>
      </p:sp>
      <p:sp>
        <p:nvSpPr>
          <p:cNvPr id="50" name="Freeform: Shape 49">
            <a:extLst>
              <a:ext uri="{FF2B5EF4-FFF2-40B4-BE49-F238E27FC236}">
                <a16:creationId xmlns:a16="http://schemas.microsoft.com/office/drawing/2014/main" id="{2D2964BB-484D-45AE-AD66-D407D06296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405056" y="5717905"/>
            <a:ext cx="1771609" cy="1140095"/>
          </a:xfrm>
          <a:custGeom>
            <a:avLst/>
            <a:gdLst>
              <a:gd name="connsiteX0" fmla="*/ 1561721 w 1771609"/>
              <a:gd name="connsiteY0" fmla="*/ 763041 h 1140095"/>
              <a:gd name="connsiteX1" fmla="*/ 1623024 w 1771609"/>
              <a:gd name="connsiteY1" fmla="*/ 792810 h 1140095"/>
              <a:gd name="connsiteX2" fmla="*/ 1711735 w 1771609"/>
              <a:gd name="connsiteY2" fmla="*/ 970132 h 1140095"/>
              <a:gd name="connsiteX3" fmla="*/ 1771609 w 1771609"/>
              <a:gd name="connsiteY3" fmla="*/ 1140095 h 1140095"/>
              <a:gd name="connsiteX4" fmla="*/ 1637225 w 1771609"/>
              <a:gd name="connsiteY4" fmla="*/ 1140095 h 1140095"/>
              <a:gd name="connsiteX5" fmla="*/ 1594820 w 1771609"/>
              <a:gd name="connsiteY5" fmla="*/ 1019711 h 1140095"/>
              <a:gd name="connsiteX6" fmla="*/ 1513200 w 1771609"/>
              <a:gd name="connsiteY6" fmla="*/ 856627 h 1140095"/>
              <a:gd name="connsiteX7" fmla="*/ 1538499 w 1771609"/>
              <a:gd name="connsiteY7" fmla="*/ 770415 h 1140095"/>
              <a:gd name="connsiteX8" fmla="*/ 1561721 w 1771609"/>
              <a:gd name="connsiteY8" fmla="*/ 763041 h 1140095"/>
              <a:gd name="connsiteX9" fmla="*/ 933455 w 1771609"/>
              <a:gd name="connsiteY9" fmla="*/ 161309 h 1140095"/>
              <a:gd name="connsiteX10" fmla="*/ 957797 w 1771609"/>
              <a:gd name="connsiteY10" fmla="*/ 167970 h 1140095"/>
              <a:gd name="connsiteX11" fmla="*/ 1286982 w 1771609"/>
              <a:gd name="connsiteY11" fmla="*/ 387616 h 1140095"/>
              <a:gd name="connsiteX12" fmla="*/ 1293725 w 1771609"/>
              <a:gd name="connsiteY12" fmla="*/ 477075 h 1140095"/>
              <a:gd name="connsiteX13" fmla="*/ 1245453 w 1771609"/>
              <a:gd name="connsiteY13" fmla="*/ 499154 h 1140095"/>
              <a:gd name="connsiteX14" fmla="*/ 1245167 w 1771609"/>
              <a:gd name="connsiteY14" fmla="*/ 499154 h 1140095"/>
              <a:gd name="connsiteX15" fmla="*/ 1203638 w 1771609"/>
              <a:gd name="connsiteY15" fmla="*/ 484104 h 1140095"/>
              <a:gd name="connsiteX16" fmla="*/ 900647 w 1771609"/>
              <a:gd name="connsiteY16" fmla="*/ 281508 h 1140095"/>
              <a:gd name="connsiteX17" fmla="*/ 872454 w 1771609"/>
              <a:gd name="connsiteY17" fmla="*/ 196164 h 1140095"/>
              <a:gd name="connsiteX18" fmla="*/ 933455 w 1771609"/>
              <a:gd name="connsiteY18" fmla="*/ 161309 h 1140095"/>
              <a:gd name="connsiteX19" fmla="*/ 256260 w 1771609"/>
              <a:gd name="connsiteY19" fmla="*/ 29 h 1140095"/>
              <a:gd name="connsiteX20" fmla="*/ 454020 w 1771609"/>
              <a:gd name="connsiteY20" fmla="*/ 13474 h 1140095"/>
              <a:gd name="connsiteX21" fmla="*/ 509236 w 1771609"/>
              <a:gd name="connsiteY21" fmla="*/ 84182 h 1140095"/>
              <a:gd name="connsiteX22" fmla="*/ 445829 w 1771609"/>
              <a:gd name="connsiteY22" fmla="*/ 139871 h 1140095"/>
              <a:gd name="connsiteX23" fmla="*/ 437447 w 1771609"/>
              <a:gd name="connsiteY23" fmla="*/ 139395 h 1140095"/>
              <a:gd name="connsiteX24" fmla="*/ 73211 w 1771609"/>
              <a:gd name="connsiteY24" fmla="*/ 137204 h 1140095"/>
              <a:gd name="connsiteX25" fmla="*/ 749 w 1771609"/>
              <a:gd name="connsiteY25" fmla="*/ 84082 h 1140095"/>
              <a:gd name="connsiteX26" fmla="*/ 53871 w 1771609"/>
              <a:gd name="connsiteY26" fmla="*/ 11621 h 1140095"/>
              <a:gd name="connsiteX27" fmla="*/ 58352 w 1771609"/>
              <a:gd name="connsiteY27" fmla="*/ 11093 h 1140095"/>
              <a:gd name="connsiteX28" fmla="*/ 256260 w 1771609"/>
              <a:gd name="connsiteY28" fmla="*/ 29 h 11400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771609" h="1140095">
                <a:moveTo>
                  <a:pt x="1561721" y="763041"/>
                </a:moveTo>
                <a:cubicBezTo>
                  <a:pt x="1585506" y="760324"/>
                  <a:pt x="1609722" y="771249"/>
                  <a:pt x="1623024" y="792810"/>
                </a:cubicBezTo>
                <a:cubicBezTo>
                  <a:pt x="1656300" y="850065"/>
                  <a:pt x="1685920" y="909291"/>
                  <a:pt x="1711735" y="970132"/>
                </a:cubicBezTo>
                <a:lnTo>
                  <a:pt x="1771609" y="1140095"/>
                </a:lnTo>
                <a:lnTo>
                  <a:pt x="1637225" y="1140095"/>
                </a:lnTo>
                <a:lnTo>
                  <a:pt x="1594820" y="1019711"/>
                </a:lnTo>
                <a:cubicBezTo>
                  <a:pt x="1571072" y="963753"/>
                  <a:pt x="1543818" y="909282"/>
                  <a:pt x="1513200" y="856627"/>
                </a:cubicBezTo>
                <a:cubicBezTo>
                  <a:pt x="1496379" y="825834"/>
                  <a:pt x="1507704" y="787236"/>
                  <a:pt x="1538499" y="770415"/>
                </a:cubicBezTo>
                <a:cubicBezTo>
                  <a:pt x="1545912" y="766367"/>
                  <a:pt x="1553792" y="763946"/>
                  <a:pt x="1561721" y="763041"/>
                </a:cubicBezTo>
                <a:close/>
                <a:moveTo>
                  <a:pt x="933455" y="161309"/>
                </a:moveTo>
                <a:cubicBezTo>
                  <a:pt x="941693" y="161855"/>
                  <a:pt x="949959" y="164025"/>
                  <a:pt x="957797" y="167970"/>
                </a:cubicBezTo>
                <a:cubicBezTo>
                  <a:pt x="1076184" y="227289"/>
                  <a:pt x="1186759" y="301068"/>
                  <a:pt x="1286982" y="387616"/>
                </a:cubicBezTo>
                <a:cubicBezTo>
                  <a:pt x="1313547" y="410457"/>
                  <a:pt x="1316566" y="450510"/>
                  <a:pt x="1293725" y="477075"/>
                </a:cubicBezTo>
                <a:cubicBezTo>
                  <a:pt x="1281638" y="491137"/>
                  <a:pt x="1263998" y="499204"/>
                  <a:pt x="1245453" y="499154"/>
                </a:cubicBezTo>
                <a:lnTo>
                  <a:pt x="1245167" y="499154"/>
                </a:lnTo>
                <a:cubicBezTo>
                  <a:pt x="1229965" y="499301"/>
                  <a:pt x="1215220" y="493956"/>
                  <a:pt x="1203638" y="484104"/>
                </a:cubicBezTo>
                <a:cubicBezTo>
                  <a:pt x="1111407" y="404300"/>
                  <a:pt x="1009633" y="336248"/>
                  <a:pt x="900647" y="281508"/>
                </a:cubicBezTo>
                <a:cubicBezTo>
                  <a:pt x="869295" y="265726"/>
                  <a:pt x="856672" y="227516"/>
                  <a:pt x="872454" y="196164"/>
                </a:cubicBezTo>
                <a:cubicBezTo>
                  <a:pt x="884290" y="172650"/>
                  <a:pt x="908742" y="159670"/>
                  <a:pt x="933455" y="161309"/>
                </a:cubicBezTo>
                <a:close/>
                <a:moveTo>
                  <a:pt x="256260" y="29"/>
                </a:moveTo>
                <a:cubicBezTo>
                  <a:pt x="322331" y="427"/>
                  <a:pt x="388378" y="4909"/>
                  <a:pt x="454020" y="13474"/>
                </a:cubicBezTo>
                <a:cubicBezTo>
                  <a:pt x="488793" y="17752"/>
                  <a:pt x="513514" y="49409"/>
                  <a:pt x="509236" y="84182"/>
                </a:cubicBezTo>
                <a:cubicBezTo>
                  <a:pt x="505303" y="116151"/>
                  <a:pt x="478038" y="140098"/>
                  <a:pt x="445829" y="139871"/>
                </a:cubicBezTo>
                <a:cubicBezTo>
                  <a:pt x="443027" y="139899"/>
                  <a:pt x="440227" y="139740"/>
                  <a:pt x="437447" y="139395"/>
                </a:cubicBezTo>
                <a:cubicBezTo>
                  <a:pt x="316592" y="123615"/>
                  <a:pt x="194247" y="122878"/>
                  <a:pt x="73211" y="137204"/>
                </a:cubicBezTo>
                <a:cubicBezTo>
                  <a:pt x="38532" y="142545"/>
                  <a:pt x="6090" y="118762"/>
                  <a:pt x="749" y="84082"/>
                </a:cubicBezTo>
                <a:cubicBezTo>
                  <a:pt x="-4591" y="49403"/>
                  <a:pt x="19192" y="16961"/>
                  <a:pt x="53871" y="11621"/>
                </a:cubicBezTo>
                <a:cubicBezTo>
                  <a:pt x="55358" y="11392"/>
                  <a:pt x="56852" y="11216"/>
                  <a:pt x="58352" y="11093"/>
                </a:cubicBezTo>
                <a:cubicBezTo>
                  <a:pt x="124093" y="3319"/>
                  <a:pt x="190189" y="-369"/>
                  <a:pt x="256260" y="29"/>
                </a:cubicBezTo>
                <a:close/>
              </a:path>
            </a:pathLst>
          </a:custGeom>
          <a:solidFill>
            <a:schemeClr val="accent4"/>
          </a:solidFill>
          <a:ln w="9525" cap="flat">
            <a:noFill/>
            <a:prstDash val="solid"/>
            <a:miter/>
          </a:ln>
        </p:spPr>
        <p:txBody>
          <a:bodyPr rtlCol="0" anchor="ctr"/>
          <a:lstStyle/>
          <a:p>
            <a:endParaRPr lang="en-US"/>
          </a:p>
        </p:txBody>
      </p:sp>
      <p:sp>
        <p:nvSpPr>
          <p:cNvPr id="52" name="Freeform: Shape 51">
            <a:extLst>
              <a:ext uri="{FF2B5EF4-FFF2-40B4-BE49-F238E27FC236}">
                <a16:creationId xmlns:a16="http://schemas.microsoft.com/office/drawing/2014/main" id="{6691AC69-A76E-4DAB-B565-468B6B87ACF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132972" y="6258755"/>
            <a:ext cx="1565940" cy="599245"/>
          </a:xfrm>
          <a:custGeom>
            <a:avLst/>
            <a:gdLst>
              <a:gd name="connsiteX0" fmla="*/ 782970 w 1565940"/>
              <a:gd name="connsiteY0" fmla="*/ 0 h 599245"/>
              <a:gd name="connsiteX1" fmla="*/ 1528042 w 1565940"/>
              <a:gd name="connsiteY1" fmla="*/ 480469 h 599245"/>
              <a:gd name="connsiteX2" fmla="*/ 1565940 w 1565940"/>
              <a:gd name="connsiteY2" fmla="*/ 599245 h 599245"/>
              <a:gd name="connsiteX3" fmla="*/ 0 w 1565940"/>
              <a:gd name="connsiteY3" fmla="*/ 599245 h 599245"/>
              <a:gd name="connsiteX4" fmla="*/ 37898 w 1565940"/>
              <a:gd name="connsiteY4" fmla="*/ 480469 h 599245"/>
              <a:gd name="connsiteX5" fmla="*/ 782970 w 1565940"/>
              <a:gd name="connsiteY5" fmla="*/ 0 h 599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65940" h="599245">
                <a:moveTo>
                  <a:pt x="782970" y="0"/>
                </a:moveTo>
                <a:cubicBezTo>
                  <a:pt x="1117910" y="0"/>
                  <a:pt x="1405287" y="198118"/>
                  <a:pt x="1528042" y="480469"/>
                </a:cubicBezTo>
                <a:lnTo>
                  <a:pt x="1565940" y="599245"/>
                </a:lnTo>
                <a:lnTo>
                  <a:pt x="0" y="599245"/>
                </a:lnTo>
                <a:lnTo>
                  <a:pt x="37898" y="480469"/>
                </a:lnTo>
                <a:cubicBezTo>
                  <a:pt x="160653" y="198118"/>
                  <a:pt x="448030" y="0"/>
                  <a:pt x="782970"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pic>
        <p:nvPicPr>
          <p:cNvPr id="24" name="Audio 23">
            <a:hlinkClick r:id="" action="ppaction://media"/>
            <a:extLst>
              <a:ext uri="{FF2B5EF4-FFF2-40B4-BE49-F238E27FC236}">
                <a16:creationId xmlns:a16="http://schemas.microsoft.com/office/drawing/2014/main" id="{AD63F0DB-2C02-BE68-A59A-9DEEBD90F923}"/>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11226800" y="5892800"/>
            <a:ext cx="812800" cy="812800"/>
          </a:xfrm>
          <a:prstGeom prst="rect">
            <a:avLst/>
          </a:prstGeom>
        </p:spPr>
      </p:pic>
    </p:spTree>
    <p:extLst>
      <p:ext uri="{BB962C8B-B14F-4D97-AF65-F5344CB8AC3E}">
        <p14:creationId xmlns:p14="http://schemas.microsoft.com/office/powerpoint/2010/main" val="2227448198"/>
      </p:ext>
    </p:extLst>
  </p:cSld>
  <p:clrMapOvr>
    <a:masterClrMapping/>
  </p:clrMapOvr>
  <mc:AlternateContent xmlns:mc="http://schemas.openxmlformats.org/markup-compatibility/2006" xmlns:p14="http://schemas.microsoft.com/office/powerpoint/2010/main">
    <mc:Choice Requires="p14">
      <p:transition spd="slow" p14:dur="2000" advTm="55178"/>
    </mc:Choice>
    <mc:Fallback xmlns="">
      <p:transition spd="slow" advTm="55178"/>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4"/>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24"/>
                </p:tgtEl>
              </p:cMediaNode>
            </p:audio>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7" name="Rectangle 26">
            <a:extLst>
              <a:ext uri="{FF2B5EF4-FFF2-40B4-BE49-F238E27FC236}">
                <a16:creationId xmlns:a16="http://schemas.microsoft.com/office/drawing/2014/main" id="{4F7EBAE4-9945-4473-9E34-B2C66EA0F0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2" name="Title 1">
            <a:extLst>
              <a:ext uri="{FF2B5EF4-FFF2-40B4-BE49-F238E27FC236}">
                <a16:creationId xmlns:a16="http://schemas.microsoft.com/office/drawing/2014/main" id="{F520342A-24DB-48D7-21A4-03288BE351BB}"/>
              </a:ext>
            </a:extLst>
          </p:cNvPr>
          <p:cNvSpPr>
            <a:spLocks noGrp="1"/>
          </p:cNvSpPr>
          <p:nvPr>
            <p:ph type="title"/>
          </p:nvPr>
        </p:nvSpPr>
        <p:spPr>
          <a:xfrm>
            <a:off x="838200" y="365125"/>
            <a:ext cx="5393361" cy="1325563"/>
          </a:xfrm>
        </p:spPr>
        <p:txBody>
          <a:bodyPr>
            <a:normAutofit/>
          </a:bodyPr>
          <a:lstStyle/>
          <a:p>
            <a:r>
              <a:rPr lang="en-US"/>
              <a:t>Environment Design Recommendations </a:t>
            </a:r>
          </a:p>
        </p:txBody>
      </p:sp>
      <p:sp>
        <p:nvSpPr>
          <p:cNvPr id="3" name="Content Placeholder 2">
            <a:extLst>
              <a:ext uri="{FF2B5EF4-FFF2-40B4-BE49-F238E27FC236}">
                <a16:creationId xmlns:a16="http://schemas.microsoft.com/office/drawing/2014/main" id="{BC84A509-A486-D73D-39A8-E7B3D710FDEC}"/>
              </a:ext>
            </a:extLst>
          </p:cNvPr>
          <p:cNvSpPr>
            <a:spLocks noGrp="1"/>
          </p:cNvSpPr>
          <p:nvPr>
            <p:ph idx="1"/>
          </p:nvPr>
        </p:nvSpPr>
        <p:spPr>
          <a:xfrm>
            <a:off x="838200" y="1825625"/>
            <a:ext cx="5393361" cy="4351338"/>
          </a:xfrm>
        </p:spPr>
        <p:txBody>
          <a:bodyPr>
            <a:normAutofit/>
          </a:bodyPr>
          <a:lstStyle/>
          <a:p>
            <a:pPr marL="0" indent="0">
              <a:buNone/>
            </a:pPr>
            <a:r>
              <a:rPr lang="en-US" sz="2200" b="1" dirty="0"/>
              <a:t>Lights</a:t>
            </a:r>
          </a:p>
          <a:p>
            <a:r>
              <a:rPr lang="en-US" sz="2200" dirty="0"/>
              <a:t>Reduce light brightness</a:t>
            </a:r>
          </a:p>
          <a:p>
            <a:r>
              <a:rPr lang="en-US" sz="2200" dirty="0"/>
              <a:t>Avoid fluorescent lights </a:t>
            </a:r>
          </a:p>
          <a:p>
            <a:r>
              <a:rPr lang="en-US" sz="2200" dirty="0"/>
              <a:t>Have sunglasses available </a:t>
            </a:r>
          </a:p>
          <a:p>
            <a:pPr marL="0" indent="0">
              <a:buNone/>
            </a:pPr>
            <a:endParaRPr lang="en-US" sz="2200" dirty="0"/>
          </a:p>
          <a:p>
            <a:pPr marL="0" indent="0">
              <a:buNone/>
            </a:pPr>
            <a:r>
              <a:rPr lang="en-US" sz="2200" b="1" dirty="0"/>
              <a:t>Noise</a:t>
            </a:r>
          </a:p>
          <a:p>
            <a:r>
              <a:rPr lang="en-US" sz="2200" dirty="0"/>
              <a:t>Reduce volume of background music</a:t>
            </a:r>
          </a:p>
          <a:p>
            <a:r>
              <a:rPr lang="en-US" sz="2200" dirty="0"/>
              <a:t>Provide alternatives to noisy hand dryers </a:t>
            </a:r>
          </a:p>
          <a:p>
            <a:r>
              <a:rPr lang="en-US" sz="2200" dirty="0"/>
              <a:t>Have headphones or ear defenders </a:t>
            </a:r>
          </a:p>
        </p:txBody>
      </p:sp>
      <p:pic>
        <p:nvPicPr>
          <p:cNvPr id="5" name="Picture 4" descr="Person with headphones illustration">
            <a:extLst>
              <a:ext uri="{FF2B5EF4-FFF2-40B4-BE49-F238E27FC236}">
                <a16:creationId xmlns:a16="http://schemas.microsoft.com/office/drawing/2014/main" id="{F48F555A-85E9-9C97-555B-A45721E9FD55}"/>
              </a:ext>
            </a:extLst>
          </p:cNvPr>
          <p:cNvPicPr>
            <a:picLocks noChangeAspect="1"/>
          </p:cNvPicPr>
          <p:nvPr/>
        </p:nvPicPr>
        <p:blipFill rotWithShape="1">
          <a:blip r:embed="rId5"/>
          <a:srcRect l="28500"/>
          <a:stretch/>
        </p:blipFill>
        <p:spPr>
          <a:xfrm>
            <a:off x="6374920" y="758514"/>
            <a:ext cx="5122238" cy="5122238"/>
          </a:xfrm>
          <a:custGeom>
            <a:avLst/>
            <a:gdLst/>
            <a:ahLst/>
            <a:cxnLst/>
            <a:rect l="l" t="t" r="r" b="b"/>
            <a:pathLst>
              <a:path w="2663168" h="2663168">
                <a:moveTo>
                  <a:pt x="1331584" y="0"/>
                </a:moveTo>
                <a:cubicBezTo>
                  <a:pt x="2066998" y="0"/>
                  <a:pt x="2663168" y="596170"/>
                  <a:pt x="2663168" y="1331584"/>
                </a:cubicBezTo>
                <a:cubicBezTo>
                  <a:pt x="2663168" y="2066998"/>
                  <a:pt x="2066998" y="2663168"/>
                  <a:pt x="1331584" y="2663168"/>
                </a:cubicBezTo>
                <a:cubicBezTo>
                  <a:pt x="596170" y="2663168"/>
                  <a:pt x="0" y="2066998"/>
                  <a:pt x="0" y="1331584"/>
                </a:cubicBezTo>
                <a:cubicBezTo>
                  <a:pt x="0" y="596170"/>
                  <a:pt x="596170" y="0"/>
                  <a:pt x="1331584" y="0"/>
                </a:cubicBezTo>
                <a:close/>
              </a:path>
            </a:pathLst>
          </a:custGeom>
        </p:spPr>
      </p:pic>
      <p:sp>
        <p:nvSpPr>
          <p:cNvPr id="29" name="!!Arc">
            <a:extLst>
              <a:ext uri="{FF2B5EF4-FFF2-40B4-BE49-F238E27FC236}">
                <a16:creationId xmlns:a16="http://schemas.microsoft.com/office/drawing/2014/main" id="{70BEB1E7-2F88-40BC-B73D-42E5B6F80BF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1189197" flipV="1">
            <a:off x="6261882" y="687822"/>
            <a:ext cx="5471147" cy="5471147"/>
          </a:xfrm>
          <a:prstGeom prst="arc">
            <a:avLst>
              <a:gd name="adj1" fmla="val 16200000"/>
              <a:gd name="adj2" fmla="val 20093138"/>
            </a:avLst>
          </a:prstGeom>
          <a:ln w="127000" cap="rnd">
            <a:solidFill>
              <a:schemeClr val="accent4">
                <a:alpha val="95000"/>
              </a:schemeClr>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1" name="!!Oval">
            <a:extLst>
              <a:ext uri="{FF2B5EF4-FFF2-40B4-BE49-F238E27FC236}">
                <a16:creationId xmlns:a16="http://schemas.microsoft.com/office/drawing/2014/main" id="{A7B99495-F43F-4D80-A44F-2CB4764EB9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248561" y="921125"/>
            <a:ext cx="791021" cy="769563"/>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pic>
        <p:nvPicPr>
          <p:cNvPr id="23" name="Audio 22">
            <a:hlinkClick r:id="" action="ppaction://media"/>
            <a:extLst>
              <a:ext uri="{FF2B5EF4-FFF2-40B4-BE49-F238E27FC236}">
                <a16:creationId xmlns:a16="http://schemas.microsoft.com/office/drawing/2014/main" id="{F5866492-2ACF-C0D1-FC5A-8946BBEB5CD7}"/>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11226800" y="5892800"/>
            <a:ext cx="812800" cy="812800"/>
          </a:xfrm>
          <a:prstGeom prst="rect">
            <a:avLst/>
          </a:prstGeom>
        </p:spPr>
      </p:pic>
    </p:spTree>
    <p:extLst>
      <p:ext uri="{BB962C8B-B14F-4D97-AF65-F5344CB8AC3E}">
        <p14:creationId xmlns:p14="http://schemas.microsoft.com/office/powerpoint/2010/main" val="2916757652"/>
      </p:ext>
    </p:extLst>
  </p:cSld>
  <p:clrMapOvr>
    <a:masterClrMapping/>
  </p:clrMapOvr>
  <mc:AlternateContent xmlns:mc="http://schemas.openxmlformats.org/markup-compatibility/2006" xmlns:p14="http://schemas.microsoft.com/office/powerpoint/2010/main">
    <mc:Choice Requires="p14">
      <p:transition spd="slow" p14:dur="2000" advTm="154485"/>
    </mc:Choice>
    <mc:Fallback xmlns="">
      <p:transition spd="slow" advTm="154485"/>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3"/>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23"/>
                </p:tgtEl>
              </p:cMediaNode>
            </p:audio>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2" name="Rectangle 35">
            <a:extLst>
              <a:ext uri="{FF2B5EF4-FFF2-40B4-BE49-F238E27FC236}">
                <a16:creationId xmlns:a16="http://schemas.microsoft.com/office/drawing/2014/main" id="{4F7EBAE4-9945-4473-9E34-B2C66EA0F0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2" name="Title 1">
            <a:extLst>
              <a:ext uri="{FF2B5EF4-FFF2-40B4-BE49-F238E27FC236}">
                <a16:creationId xmlns:a16="http://schemas.microsoft.com/office/drawing/2014/main" id="{F520342A-24DB-48D7-21A4-03288BE351BB}"/>
              </a:ext>
            </a:extLst>
          </p:cNvPr>
          <p:cNvSpPr>
            <a:spLocks noGrp="1"/>
          </p:cNvSpPr>
          <p:nvPr>
            <p:ph type="title"/>
          </p:nvPr>
        </p:nvSpPr>
        <p:spPr>
          <a:xfrm>
            <a:off x="838200" y="365125"/>
            <a:ext cx="5393361" cy="1325563"/>
          </a:xfrm>
        </p:spPr>
        <p:txBody>
          <a:bodyPr>
            <a:normAutofit/>
          </a:bodyPr>
          <a:lstStyle/>
          <a:p>
            <a:r>
              <a:rPr lang="en-US"/>
              <a:t>Environment Design Recommendations </a:t>
            </a:r>
          </a:p>
        </p:txBody>
      </p:sp>
      <p:sp>
        <p:nvSpPr>
          <p:cNvPr id="3" name="Content Placeholder 2">
            <a:extLst>
              <a:ext uri="{FF2B5EF4-FFF2-40B4-BE49-F238E27FC236}">
                <a16:creationId xmlns:a16="http://schemas.microsoft.com/office/drawing/2014/main" id="{BC84A509-A486-D73D-39A8-E7B3D710FDEC}"/>
              </a:ext>
            </a:extLst>
          </p:cNvPr>
          <p:cNvSpPr>
            <a:spLocks noGrp="1"/>
          </p:cNvSpPr>
          <p:nvPr>
            <p:ph idx="1"/>
          </p:nvPr>
        </p:nvSpPr>
        <p:spPr>
          <a:xfrm>
            <a:off x="838200" y="1825625"/>
            <a:ext cx="5393361" cy="4351338"/>
          </a:xfrm>
        </p:spPr>
        <p:txBody>
          <a:bodyPr>
            <a:normAutofit/>
          </a:bodyPr>
          <a:lstStyle/>
          <a:p>
            <a:pPr marL="0" indent="0">
              <a:buNone/>
            </a:pPr>
            <a:r>
              <a:rPr lang="en-US" sz="2200" b="1" dirty="0"/>
              <a:t>Scent</a:t>
            </a:r>
          </a:p>
          <a:p>
            <a:r>
              <a:rPr lang="en-US" sz="2200" dirty="0"/>
              <a:t>Adopt scent-free policy</a:t>
            </a:r>
          </a:p>
          <a:p>
            <a:r>
              <a:rPr lang="en-US" sz="2200" dirty="0"/>
              <a:t>Avoid using air fresheners or strong-smelling products</a:t>
            </a:r>
          </a:p>
          <a:p>
            <a:pPr marL="0" indent="0">
              <a:buNone/>
            </a:pPr>
            <a:endParaRPr lang="en-US" sz="2200" dirty="0"/>
          </a:p>
          <a:p>
            <a:pPr marL="0" indent="0">
              <a:buNone/>
            </a:pPr>
            <a:r>
              <a:rPr lang="en-US" sz="2200" b="1" dirty="0"/>
              <a:t>Touch</a:t>
            </a:r>
          </a:p>
          <a:p>
            <a:r>
              <a:rPr lang="en-US" sz="2200" dirty="0"/>
              <a:t>Offer fidget toys</a:t>
            </a:r>
          </a:p>
          <a:p>
            <a:r>
              <a:rPr lang="en-US" sz="2200" dirty="0"/>
              <a:t>Provide verity of seating with different textures</a:t>
            </a:r>
          </a:p>
        </p:txBody>
      </p:sp>
      <p:pic>
        <p:nvPicPr>
          <p:cNvPr id="4" name="Picture 3">
            <a:extLst>
              <a:ext uri="{FF2B5EF4-FFF2-40B4-BE49-F238E27FC236}">
                <a16:creationId xmlns:a16="http://schemas.microsoft.com/office/drawing/2014/main" id="{F9C988D9-769A-A8C6-6BA3-C0490111D4C0}"/>
              </a:ext>
            </a:extLst>
          </p:cNvPr>
          <p:cNvPicPr>
            <a:picLocks noChangeAspect="1"/>
          </p:cNvPicPr>
          <p:nvPr/>
        </p:nvPicPr>
        <p:blipFill>
          <a:blip r:embed="rId5"/>
          <a:srcRect l="16479" r="16769" b="-2"/>
          <a:stretch/>
        </p:blipFill>
        <p:spPr>
          <a:xfrm>
            <a:off x="6374920" y="758514"/>
            <a:ext cx="5122238" cy="5122238"/>
          </a:xfrm>
          <a:custGeom>
            <a:avLst/>
            <a:gdLst/>
            <a:ahLst/>
            <a:cxnLst/>
            <a:rect l="l" t="t" r="r" b="b"/>
            <a:pathLst>
              <a:path w="2663168" h="2663168">
                <a:moveTo>
                  <a:pt x="1331584" y="0"/>
                </a:moveTo>
                <a:cubicBezTo>
                  <a:pt x="2066998" y="0"/>
                  <a:pt x="2663168" y="596170"/>
                  <a:pt x="2663168" y="1331584"/>
                </a:cubicBezTo>
                <a:cubicBezTo>
                  <a:pt x="2663168" y="2066998"/>
                  <a:pt x="2066998" y="2663168"/>
                  <a:pt x="1331584" y="2663168"/>
                </a:cubicBezTo>
                <a:cubicBezTo>
                  <a:pt x="596170" y="2663168"/>
                  <a:pt x="0" y="2066998"/>
                  <a:pt x="0" y="1331584"/>
                </a:cubicBezTo>
                <a:cubicBezTo>
                  <a:pt x="0" y="596170"/>
                  <a:pt x="596170" y="0"/>
                  <a:pt x="1331584" y="0"/>
                </a:cubicBezTo>
                <a:close/>
              </a:path>
            </a:pathLst>
          </a:custGeom>
        </p:spPr>
      </p:pic>
      <p:sp>
        <p:nvSpPr>
          <p:cNvPr id="43" name="!!Arc">
            <a:extLst>
              <a:ext uri="{FF2B5EF4-FFF2-40B4-BE49-F238E27FC236}">
                <a16:creationId xmlns:a16="http://schemas.microsoft.com/office/drawing/2014/main" id="{70BEB1E7-2F88-40BC-B73D-42E5B6F80BF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1189197" flipV="1">
            <a:off x="6261882" y="687822"/>
            <a:ext cx="5471147" cy="5471147"/>
          </a:xfrm>
          <a:prstGeom prst="arc">
            <a:avLst>
              <a:gd name="adj1" fmla="val 16200000"/>
              <a:gd name="adj2" fmla="val 20093138"/>
            </a:avLst>
          </a:prstGeom>
          <a:ln w="127000" cap="rnd">
            <a:solidFill>
              <a:schemeClr val="accent4">
                <a:alpha val="95000"/>
              </a:schemeClr>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44" name="!!Oval">
            <a:extLst>
              <a:ext uri="{FF2B5EF4-FFF2-40B4-BE49-F238E27FC236}">
                <a16:creationId xmlns:a16="http://schemas.microsoft.com/office/drawing/2014/main" id="{A7B99495-F43F-4D80-A44F-2CB4764EB9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248561" y="921125"/>
            <a:ext cx="791021" cy="769563"/>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pic>
        <p:nvPicPr>
          <p:cNvPr id="5" name="Audio 4">
            <a:hlinkClick r:id="" action="ppaction://media"/>
            <a:extLst>
              <a:ext uri="{FF2B5EF4-FFF2-40B4-BE49-F238E27FC236}">
                <a16:creationId xmlns:a16="http://schemas.microsoft.com/office/drawing/2014/main" id="{7E3ABAD0-7550-5F20-5888-B72A9440FE91}"/>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11226800" y="5892800"/>
            <a:ext cx="812800" cy="812800"/>
          </a:xfrm>
          <a:prstGeom prst="rect">
            <a:avLst/>
          </a:prstGeom>
        </p:spPr>
      </p:pic>
    </p:spTree>
    <p:extLst>
      <p:ext uri="{BB962C8B-B14F-4D97-AF65-F5344CB8AC3E}">
        <p14:creationId xmlns:p14="http://schemas.microsoft.com/office/powerpoint/2010/main" val="3718262933"/>
      </p:ext>
    </p:extLst>
  </p:cSld>
  <p:clrMapOvr>
    <a:masterClrMapping/>
  </p:clrMapOvr>
  <mc:AlternateContent xmlns:mc="http://schemas.openxmlformats.org/markup-compatibility/2006" xmlns:p14="http://schemas.microsoft.com/office/powerpoint/2010/main">
    <mc:Choice Requires="p14">
      <p:transition spd="slow" p14:dur="2000" advTm="52789"/>
    </mc:Choice>
    <mc:Fallback xmlns="">
      <p:transition spd="slow" advTm="52789"/>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5"/>
                </p:tgtEl>
              </p:cMediaNode>
            </p:audio>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2" name="Rectangle 35">
            <a:extLst>
              <a:ext uri="{FF2B5EF4-FFF2-40B4-BE49-F238E27FC236}">
                <a16:creationId xmlns:a16="http://schemas.microsoft.com/office/drawing/2014/main" id="{4F7EBAE4-9945-4473-9E34-B2C66EA0F0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2" name="Title 1">
            <a:extLst>
              <a:ext uri="{FF2B5EF4-FFF2-40B4-BE49-F238E27FC236}">
                <a16:creationId xmlns:a16="http://schemas.microsoft.com/office/drawing/2014/main" id="{F520342A-24DB-48D7-21A4-03288BE351BB}"/>
              </a:ext>
            </a:extLst>
          </p:cNvPr>
          <p:cNvSpPr>
            <a:spLocks noGrp="1"/>
          </p:cNvSpPr>
          <p:nvPr>
            <p:ph type="title"/>
          </p:nvPr>
        </p:nvSpPr>
        <p:spPr>
          <a:xfrm>
            <a:off x="838200" y="365125"/>
            <a:ext cx="5393361" cy="1325563"/>
          </a:xfrm>
        </p:spPr>
        <p:txBody>
          <a:bodyPr>
            <a:normAutofit/>
          </a:bodyPr>
          <a:lstStyle/>
          <a:p>
            <a:r>
              <a:rPr lang="en-US"/>
              <a:t>Environment Design Recommendations </a:t>
            </a:r>
          </a:p>
        </p:txBody>
      </p:sp>
      <p:sp>
        <p:nvSpPr>
          <p:cNvPr id="3" name="Content Placeholder 2">
            <a:extLst>
              <a:ext uri="{FF2B5EF4-FFF2-40B4-BE49-F238E27FC236}">
                <a16:creationId xmlns:a16="http://schemas.microsoft.com/office/drawing/2014/main" id="{BC84A509-A486-D73D-39A8-E7B3D710FDEC}"/>
              </a:ext>
            </a:extLst>
          </p:cNvPr>
          <p:cNvSpPr>
            <a:spLocks noGrp="1"/>
          </p:cNvSpPr>
          <p:nvPr>
            <p:ph idx="1"/>
          </p:nvPr>
        </p:nvSpPr>
        <p:spPr>
          <a:xfrm>
            <a:off x="838200" y="1825625"/>
            <a:ext cx="5393361" cy="4351338"/>
          </a:xfrm>
        </p:spPr>
        <p:txBody>
          <a:bodyPr>
            <a:normAutofit/>
          </a:bodyPr>
          <a:lstStyle/>
          <a:p>
            <a:pPr marL="0" indent="0">
              <a:buNone/>
            </a:pPr>
            <a:r>
              <a:rPr lang="en-US" sz="2200" b="1" dirty="0"/>
              <a:t>Crowds and Queues</a:t>
            </a:r>
          </a:p>
          <a:p>
            <a:r>
              <a:rPr lang="en-US" sz="2200" dirty="0"/>
              <a:t>Provide busy hours and quieter times </a:t>
            </a:r>
          </a:p>
          <a:p>
            <a:r>
              <a:rPr lang="en-US" sz="2200" dirty="0"/>
              <a:t>If appropriate, allow people to bypass queues and large crowds</a:t>
            </a:r>
          </a:p>
          <a:p>
            <a:pPr marL="0" indent="0">
              <a:buNone/>
            </a:pPr>
            <a:endParaRPr lang="en-US" sz="2200" dirty="0"/>
          </a:p>
          <a:p>
            <a:pPr marL="0" indent="0">
              <a:buNone/>
            </a:pPr>
            <a:r>
              <a:rPr lang="en-US" sz="2200" b="1" dirty="0"/>
              <a:t>Maps</a:t>
            </a:r>
          </a:p>
          <a:p>
            <a:r>
              <a:rPr lang="en-US" sz="2200" dirty="0"/>
              <a:t>Help individuals prepare in advance</a:t>
            </a:r>
          </a:p>
          <a:p>
            <a:r>
              <a:rPr lang="en-US" sz="2200" dirty="0"/>
              <a:t>Sensory map stating areas that are bright or noisy</a:t>
            </a:r>
          </a:p>
        </p:txBody>
      </p:sp>
      <p:sp>
        <p:nvSpPr>
          <p:cNvPr id="43" name="!!Arc">
            <a:extLst>
              <a:ext uri="{FF2B5EF4-FFF2-40B4-BE49-F238E27FC236}">
                <a16:creationId xmlns:a16="http://schemas.microsoft.com/office/drawing/2014/main" id="{70BEB1E7-2F88-40BC-B73D-42E5B6F80BF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1189197" flipV="1">
            <a:off x="6261882" y="687822"/>
            <a:ext cx="5471147" cy="5471147"/>
          </a:xfrm>
          <a:prstGeom prst="arc">
            <a:avLst>
              <a:gd name="adj1" fmla="val 16200000"/>
              <a:gd name="adj2" fmla="val 20093138"/>
            </a:avLst>
          </a:prstGeom>
          <a:ln w="127000" cap="rnd">
            <a:solidFill>
              <a:schemeClr val="accent4">
                <a:alpha val="95000"/>
              </a:schemeClr>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pic>
        <p:nvPicPr>
          <p:cNvPr id="5" name="Picture 4" descr="A map of a building&#10;&#10;Description automatically generated">
            <a:extLst>
              <a:ext uri="{FF2B5EF4-FFF2-40B4-BE49-F238E27FC236}">
                <a16:creationId xmlns:a16="http://schemas.microsoft.com/office/drawing/2014/main" id="{F952B195-2E38-A08E-F53B-8C755BE8A504}"/>
              </a:ext>
            </a:extLst>
          </p:cNvPr>
          <p:cNvPicPr>
            <a:picLocks noChangeAspect="1"/>
          </p:cNvPicPr>
          <p:nvPr/>
        </p:nvPicPr>
        <p:blipFill rotWithShape="1">
          <a:blip r:embed="rId5"/>
          <a:srcRect t="28104" b="156"/>
          <a:stretch/>
        </p:blipFill>
        <p:spPr>
          <a:xfrm>
            <a:off x="6855058" y="1250995"/>
            <a:ext cx="4184524" cy="4303912"/>
          </a:xfrm>
          <a:custGeom>
            <a:avLst/>
            <a:gdLst/>
            <a:ahLst/>
            <a:cxnLst/>
            <a:rect l="l" t="t" r="r" b="b"/>
            <a:pathLst>
              <a:path w="4221597" h="4303912">
                <a:moveTo>
                  <a:pt x="126986" y="0"/>
                </a:moveTo>
                <a:lnTo>
                  <a:pt x="4094611" y="0"/>
                </a:lnTo>
                <a:cubicBezTo>
                  <a:pt x="4164743" y="0"/>
                  <a:pt x="4221597" y="56854"/>
                  <a:pt x="4221597" y="126986"/>
                </a:cubicBezTo>
                <a:lnTo>
                  <a:pt x="4221597" y="4176926"/>
                </a:lnTo>
                <a:cubicBezTo>
                  <a:pt x="4221597" y="4247058"/>
                  <a:pt x="4164743" y="4303912"/>
                  <a:pt x="4094611" y="4303912"/>
                </a:cubicBezTo>
                <a:lnTo>
                  <a:pt x="126986" y="4303912"/>
                </a:lnTo>
                <a:cubicBezTo>
                  <a:pt x="56854" y="4303912"/>
                  <a:pt x="0" y="4247058"/>
                  <a:pt x="0" y="4176926"/>
                </a:cubicBezTo>
                <a:lnTo>
                  <a:pt x="0" y="126986"/>
                </a:lnTo>
                <a:cubicBezTo>
                  <a:pt x="0" y="56854"/>
                  <a:pt x="56854" y="0"/>
                  <a:pt x="126986" y="0"/>
                </a:cubicBezTo>
                <a:close/>
              </a:path>
            </a:pathLst>
          </a:custGeom>
          <a:ln>
            <a:solidFill>
              <a:schemeClr val="bg2">
                <a:lumMod val="50000"/>
              </a:schemeClr>
            </a:solidFill>
          </a:ln>
        </p:spPr>
      </p:pic>
      <p:sp>
        <p:nvSpPr>
          <p:cNvPr id="44" name="!!Oval">
            <a:extLst>
              <a:ext uri="{FF2B5EF4-FFF2-40B4-BE49-F238E27FC236}">
                <a16:creationId xmlns:a16="http://schemas.microsoft.com/office/drawing/2014/main" id="{A7B99495-F43F-4D80-A44F-2CB4764EB9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248561" y="921125"/>
            <a:ext cx="791021" cy="769563"/>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pic>
        <p:nvPicPr>
          <p:cNvPr id="6" name="Audio 5">
            <a:hlinkClick r:id="" action="ppaction://media"/>
            <a:extLst>
              <a:ext uri="{FF2B5EF4-FFF2-40B4-BE49-F238E27FC236}">
                <a16:creationId xmlns:a16="http://schemas.microsoft.com/office/drawing/2014/main" id="{77D10E95-7197-1F16-EE6C-F0AD48D7E2F3}"/>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11226800" y="5892800"/>
            <a:ext cx="812800" cy="812800"/>
          </a:xfrm>
          <a:prstGeom prst="rect">
            <a:avLst/>
          </a:prstGeom>
        </p:spPr>
      </p:pic>
    </p:spTree>
    <p:extLst>
      <p:ext uri="{BB962C8B-B14F-4D97-AF65-F5344CB8AC3E}">
        <p14:creationId xmlns:p14="http://schemas.microsoft.com/office/powerpoint/2010/main" val="2508240975"/>
      </p:ext>
    </p:extLst>
  </p:cSld>
  <p:clrMapOvr>
    <a:masterClrMapping/>
  </p:clrMapOvr>
  <mc:AlternateContent xmlns:mc="http://schemas.openxmlformats.org/markup-compatibility/2006" xmlns:p14="http://schemas.microsoft.com/office/powerpoint/2010/main">
    <mc:Choice Requires="p14">
      <p:transition spd="slow" p14:dur="2000" advTm="82976"/>
    </mc:Choice>
    <mc:Fallback xmlns="">
      <p:transition spd="slow" advTm="82976"/>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6"/>
                </p:tgtEl>
              </p:cMediaNode>
            </p:audio>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2" name="Rectangle 65">
            <a:extLst>
              <a:ext uri="{FF2B5EF4-FFF2-40B4-BE49-F238E27FC236}">
                <a16:creationId xmlns:a16="http://schemas.microsoft.com/office/drawing/2014/main" id="{4F7EBAE4-9945-4473-9E34-B2C66EA0F0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2" name="Title 1">
            <a:extLst>
              <a:ext uri="{FF2B5EF4-FFF2-40B4-BE49-F238E27FC236}">
                <a16:creationId xmlns:a16="http://schemas.microsoft.com/office/drawing/2014/main" id="{F520342A-24DB-48D7-21A4-03288BE351BB}"/>
              </a:ext>
            </a:extLst>
          </p:cNvPr>
          <p:cNvSpPr>
            <a:spLocks noGrp="1"/>
          </p:cNvSpPr>
          <p:nvPr>
            <p:ph type="title"/>
          </p:nvPr>
        </p:nvSpPr>
        <p:spPr>
          <a:xfrm>
            <a:off x="838200" y="365125"/>
            <a:ext cx="5393361" cy="1325563"/>
          </a:xfrm>
        </p:spPr>
        <p:txBody>
          <a:bodyPr>
            <a:normAutofit/>
          </a:bodyPr>
          <a:lstStyle/>
          <a:p>
            <a:r>
              <a:rPr lang="en-US"/>
              <a:t>Environment Design Recommendations </a:t>
            </a:r>
          </a:p>
        </p:txBody>
      </p:sp>
      <p:sp>
        <p:nvSpPr>
          <p:cNvPr id="3" name="Content Placeholder 2">
            <a:extLst>
              <a:ext uri="{FF2B5EF4-FFF2-40B4-BE49-F238E27FC236}">
                <a16:creationId xmlns:a16="http://schemas.microsoft.com/office/drawing/2014/main" id="{BC84A509-A486-D73D-39A8-E7B3D710FDEC}"/>
              </a:ext>
            </a:extLst>
          </p:cNvPr>
          <p:cNvSpPr>
            <a:spLocks noGrp="1"/>
          </p:cNvSpPr>
          <p:nvPr>
            <p:ph idx="1"/>
          </p:nvPr>
        </p:nvSpPr>
        <p:spPr>
          <a:xfrm>
            <a:off x="838200" y="1825625"/>
            <a:ext cx="5393361" cy="4351338"/>
          </a:xfrm>
        </p:spPr>
        <p:txBody>
          <a:bodyPr>
            <a:normAutofit/>
          </a:bodyPr>
          <a:lstStyle/>
          <a:p>
            <a:pPr marL="0" indent="0">
              <a:buNone/>
            </a:pPr>
            <a:r>
              <a:rPr lang="en-US" sz="2200" b="1" dirty="0"/>
              <a:t>Designate quite space</a:t>
            </a:r>
          </a:p>
          <a:p>
            <a:r>
              <a:rPr lang="en-US" sz="2200" dirty="0"/>
              <a:t>Quiet space away from main crowds with reduced noise and lightning</a:t>
            </a:r>
          </a:p>
          <a:p>
            <a:r>
              <a:rPr lang="en-US" sz="2200" dirty="0"/>
              <a:t>Such space could also feature soft seating and sensory toys, stress balls and games.  </a:t>
            </a:r>
          </a:p>
          <a:p>
            <a:endParaRPr lang="en-US" sz="2200" dirty="0"/>
          </a:p>
          <a:p>
            <a:pPr marL="0" indent="0">
              <a:buNone/>
            </a:pPr>
            <a:r>
              <a:rPr lang="en-US" sz="2200" b="1" dirty="0"/>
              <a:t>Dedicated hour </a:t>
            </a:r>
          </a:p>
          <a:p>
            <a:r>
              <a:rPr lang="en-US" sz="2200" dirty="0"/>
              <a:t>Organize a special hour during a less busy period just for autistic people where lightning is dimmed, and noise is reduced.</a:t>
            </a:r>
          </a:p>
        </p:txBody>
      </p:sp>
      <p:pic>
        <p:nvPicPr>
          <p:cNvPr id="17" name="Picture 16" descr="A group of people in a lego store&#10;&#10;Description automatically generated">
            <a:extLst>
              <a:ext uri="{FF2B5EF4-FFF2-40B4-BE49-F238E27FC236}">
                <a16:creationId xmlns:a16="http://schemas.microsoft.com/office/drawing/2014/main" id="{42FC009C-1881-762D-77C2-A139513A54F6}"/>
              </a:ext>
            </a:extLst>
          </p:cNvPr>
          <p:cNvPicPr>
            <a:picLocks noChangeAspect="1"/>
          </p:cNvPicPr>
          <p:nvPr/>
        </p:nvPicPr>
        <p:blipFill>
          <a:blip r:embed="rId5"/>
          <a:srcRect l="19989" r="13259" b="-2"/>
          <a:stretch/>
        </p:blipFill>
        <p:spPr>
          <a:xfrm>
            <a:off x="6374920" y="758514"/>
            <a:ext cx="5122238" cy="5122238"/>
          </a:xfrm>
          <a:custGeom>
            <a:avLst/>
            <a:gdLst/>
            <a:ahLst/>
            <a:cxnLst/>
            <a:rect l="l" t="t" r="r" b="b"/>
            <a:pathLst>
              <a:path w="2663168" h="2663168">
                <a:moveTo>
                  <a:pt x="1331584" y="0"/>
                </a:moveTo>
                <a:cubicBezTo>
                  <a:pt x="2066998" y="0"/>
                  <a:pt x="2663168" y="596170"/>
                  <a:pt x="2663168" y="1331584"/>
                </a:cubicBezTo>
                <a:cubicBezTo>
                  <a:pt x="2663168" y="2066998"/>
                  <a:pt x="2066998" y="2663168"/>
                  <a:pt x="1331584" y="2663168"/>
                </a:cubicBezTo>
                <a:cubicBezTo>
                  <a:pt x="596170" y="2663168"/>
                  <a:pt x="0" y="2066998"/>
                  <a:pt x="0" y="1331584"/>
                </a:cubicBezTo>
                <a:cubicBezTo>
                  <a:pt x="0" y="596170"/>
                  <a:pt x="596170" y="0"/>
                  <a:pt x="1331584" y="0"/>
                </a:cubicBezTo>
                <a:close/>
              </a:path>
            </a:pathLst>
          </a:custGeom>
        </p:spPr>
      </p:pic>
      <p:sp>
        <p:nvSpPr>
          <p:cNvPr id="73" name="!!Arc">
            <a:extLst>
              <a:ext uri="{FF2B5EF4-FFF2-40B4-BE49-F238E27FC236}">
                <a16:creationId xmlns:a16="http://schemas.microsoft.com/office/drawing/2014/main" id="{70BEB1E7-2F88-40BC-B73D-42E5B6F80BF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1189197" flipV="1">
            <a:off x="6261882" y="687822"/>
            <a:ext cx="5471147" cy="5471147"/>
          </a:xfrm>
          <a:prstGeom prst="arc">
            <a:avLst>
              <a:gd name="adj1" fmla="val 16200000"/>
              <a:gd name="adj2" fmla="val 20093138"/>
            </a:avLst>
          </a:prstGeom>
          <a:ln w="127000" cap="rnd">
            <a:solidFill>
              <a:schemeClr val="accent4">
                <a:alpha val="95000"/>
              </a:schemeClr>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74" name="!!Oval">
            <a:extLst>
              <a:ext uri="{FF2B5EF4-FFF2-40B4-BE49-F238E27FC236}">
                <a16:creationId xmlns:a16="http://schemas.microsoft.com/office/drawing/2014/main" id="{A7B99495-F43F-4D80-A44F-2CB4764EB9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248561" y="921125"/>
            <a:ext cx="791021" cy="769563"/>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pic>
        <p:nvPicPr>
          <p:cNvPr id="23" name="Audio 22">
            <a:hlinkClick r:id="" action="ppaction://media"/>
            <a:extLst>
              <a:ext uri="{FF2B5EF4-FFF2-40B4-BE49-F238E27FC236}">
                <a16:creationId xmlns:a16="http://schemas.microsoft.com/office/drawing/2014/main" id="{0E180FBB-B529-5ED9-661B-5CFB2E16285D}"/>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11226800" y="5892800"/>
            <a:ext cx="812800" cy="812800"/>
          </a:xfrm>
          <a:prstGeom prst="rect">
            <a:avLst/>
          </a:prstGeom>
        </p:spPr>
      </p:pic>
    </p:spTree>
    <p:extLst>
      <p:ext uri="{BB962C8B-B14F-4D97-AF65-F5344CB8AC3E}">
        <p14:creationId xmlns:p14="http://schemas.microsoft.com/office/powerpoint/2010/main" val="1698943327"/>
      </p:ext>
    </p:extLst>
  </p:cSld>
  <p:clrMapOvr>
    <a:masterClrMapping/>
  </p:clrMapOvr>
  <mc:AlternateContent xmlns:mc="http://schemas.openxmlformats.org/markup-compatibility/2006" xmlns:p14="http://schemas.microsoft.com/office/powerpoint/2010/main">
    <mc:Choice Requires="p14">
      <p:transition spd="slow" p14:dur="2000" advTm="99594"/>
    </mc:Choice>
    <mc:Fallback xmlns="">
      <p:transition spd="slow" advTm="99594"/>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3"/>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23"/>
                </p:tgtEl>
              </p:cMediaNode>
            </p:audio>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7">
            <a:extLst>
              <a:ext uri="{FF2B5EF4-FFF2-40B4-BE49-F238E27FC236}">
                <a16:creationId xmlns:a16="http://schemas.microsoft.com/office/drawing/2014/main" id="{C2554CA6-288E-4202-BC52-2E5A8F0C0A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9">
            <a:extLst>
              <a:ext uri="{FF2B5EF4-FFF2-40B4-BE49-F238E27FC236}">
                <a16:creationId xmlns:a16="http://schemas.microsoft.com/office/drawing/2014/main" id="{B10BB131-AC8E-4A8E-A5D1-36260F720C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9189" y="1119031"/>
            <a:ext cx="4619938" cy="4619938"/>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520342A-24DB-48D7-21A4-03288BE351BB}"/>
              </a:ext>
            </a:extLst>
          </p:cNvPr>
          <p:cNvSpPr>
            <a:spLocks noGrp="1"/>
          </p:cNvSpPr>
          <p:nvPr>
            <p:ph type="title"/>
          </p:nvPr>
        </p:nvSpPr>
        <p:spPr>
          <a:xfrm>
            <a:off x="1171074" y="1396686"/>
            <a:ext cx="3240506" cy="4064628"/>
          </a:xfrm>
        </p:spPr>
        <p:txBody>
          <a:bodyPr>
            <a:normAutofit/>
          </a:bodyPr>
          <a:lstStyle/>
          <a:p>
            <a:r>
              <a:rPr lang="en-US">
                <a:solidFill>
                  <a:srgbClr val="FFFFFF"/>
                </a:solidFill>
              </a:rPr>
              <a:t>PAS 6463 – Design Guide</a:t>
            </a:r>
          </a:p>
        </p:txBody>
      </p:sp>
      <p:sp>
        <p:nvSpPr>
          <p:cNvPr id="17" name="Arc 11" hidden="1">
            <a:extLst>
              <a:ext uri="{FF2B5EF4-FFF2-40B4-BE49-F238E27FC236}">
                <a16:creationId xmlns:a16="http://schemas.microsoft.com/office/drawing/2014/main" id="{5B7778FC-632E-4DCA-A7CB-0D7731CCF97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9809111">
            <a:off x="8683720" y="941148"/>
            <a:ext cx="2987899" cy="2987899"/>
          </a:xfrm>
          <a:prstGeom prst="arc">
            <a:avLst>
              <a:gd name="adj1" fmla="val 15817365"/>
              <a:gd name="adj2" fmla="val 178138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4" name="Oval 13">
            <a:extLst>
              <a:ext uri="{FF2B5EF4-FFF2-40B4-BE49-F238E27FC236}">
                <a16:creationId xmlns:a16="http://schemas.microsoft.com/office/drawing/2014/main" id="{FA23A907-97FB-4A8F-880A-DD77401C42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10048" y="4780992"/>
            <a:ext cx="546100" cy="546100"/>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3" name="Content Placeholder 2">
            <a:extLst>
              <a:ext uri="{FF2B5EF4-FFF2-40B4-BE49-F238E27FC236}">
                <a16:creationId xmlns:a16="http://schemas.microsoft.com/office/drawing/2014/main" id="{BC84A509-A486-D73D-39A8-E7B3D710FDEC}"/>
              </a:ext>
            </a:extLst>
          </p:cNvPr>
          <p:cNvSpPr>
            <a:spLocks noGrp="1"/>
          </p:cNvSpPr>
          <p:nvPr>
            <p:ph idx="1"/>
          </p:nvPr>
        </p:nvSpPr>
        <p:spPr>
          <a:xfrm>
            <a:off x="5370153" y="1119031"/>
            <a:ext cx="5911799" cy="5026940"/>
          </a:xfrm>
        </p:spPr>
        <p:txBody>
          <a:bodyPr>
            <a:normAutofit/>
          </a:bodyPr>
          <a:lstStyle/>
          <a:p>
            <a:pPr marL="0" indent="0">
              <a:buNone/>
            </a:pPr>
            <a:r>
              <a:rPr lang="en-US" sz="2000" b="1" dirty="0"/>
              <a:t>PAS 6463: Design for the Mind – Neurodiversity and the Built Environment – Guide </a:t>
            </a:r>
          </a:p>
          <a:p>
            <a:r>
              <a:rPr lang="en-US" sz="1600" dirty="0"/>
              <a:t>Provides best practices for designing spaces that accommodate neurodivergent individuals, particularly those with sensory processing differences.</a:t>
            </a:r>
          </a:p>
          <a:p>
            <a:r>
              <a:rPr lang="en-US" sz="1600" dirty="0"/>
              <a:t>Published by the British Standards Institution (IBS)</a:t>
            </a:r>
          </a:p>
          <a:p>
            <a:r>
              <a:rPr lang="en-US" sz="1600" dirty="0"/>
              <a:t>Key areas covered</a:t>
            </a:r>
          </a:p>
          <a:p>
            <a:pPr lvl="1"/>
            <a:r>
              <a:rPr lang="en-US" sz="1600" dirty="0"/>
              <a:t>Site and building layout</a:t>
            </a:r>
          </a:p>
          <a:p>
            <a:pPr lvl="1"/>
            <a:r>
              <a:rPr lang="en-US" sz="1600" dirty="0"/>
              <a:t>Wayfinding</a:t>
            </a:r>
          </a:p>
          <a:p>
            <a:pPr lvl="1"/>
            <a:r>
              <a:rPr lang="en-US" sz="1600" dirty="0"/>
              <a:t>External spaces and access to nature</a:t>
            </a:r>
          </a:p>
          <a:p>
            <a:pPr lvl="1"/>
            <a:r>
              <a:rPr lang="en-US" sz="1600" dirty="0"/>
              <a:t>Internal layout </a:t>
            </a:r>
          </a:p>
          <a:p>
            <a:pPr lvl="1"/>
            <a:r>
              <a:rPr lang="en-US" sz="1600" dirty="0"/>
              <a:t>Mechanical, electrical, and power</a:t>
            </a:r>
          </a:p>
          <a:p>
            <a:pPr lvl="1"/>
            <a:r>
              <a:rPr lang="en-US" sz="1600" dirty="0"/>
              <a:t>Acoustics</a:t>
            </a:r>
          </a:p>
          <a:p>
            <a:pPr lvl="1"/>
            <a:r>
              <a:rPr lang="en-US" sz="1600" dirty="0"/>
              <a:t>Lightning</a:t>
            </a:r>
          </a:p>
          <a:p>
            <a:pPr lvl="1"/>
            <a:r>
              <a:rPr lang="en-US" sz="1600" dirty="0"/>
              <a:t>Surface finishes</a:t>
            </a:r>
          </a:p>
          <a:p>
            <a:pPr lvl="1"/>
            <a:r>
              <a:rPr lang="en-US" sz="1600" dirty="0"/>
              <a:t>Fixtures, fittings and furniture</a:t>
            </a:r>
          </a:p>
          <a:p>
            <a:pPr lvl="1"/>
            <a:r>
              <a:rPr lang="en-US" sz="1600" dirty="0"/>
              <a:t>Safety and recovery</a:t>
            </a:r>
          </a:p>
        </p:txBody>
      </p:sp>
      <p:pic>
        <p:nvPicPr>
          <p:cNvPr id="4" name="Audio 3">
            <a:hlinkClick r:id="" action="ppaction://media"/>
            <a:extLst>
              <a:ext uri="{FF2B5EF4-FFF2-40B4-BE49-F238E27FC236}">
                <a16:creationId xmlns:a16="http://schemas.microsoft.com/office/drawing/2014/main" id="{B3C1FFB9-8514-E095-0101-F0DE10323C41}"/>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11226800" y="5892800"/>
            <a:ext cx="812800" cy="812800"/>
          </a:xfrm>
          <a:prstGeom prst="rect">
            <a:avLst/>
          </a:prstGeom>
        </p:spPr>
      </p:pic>
    </p:spTree>
    <p:extLst>
      <p:ext uri="{BB962C8B-B14F-4D97-AF65-F5344CB8AC3E}">
        <p14:creationId xmlns:p14="http://schemas.microsoft.com/office/powerpoint/2010/main" val="3346059859"/>
      </p:ext>
    </p:extLst>
  </p:cSld>
  <p:clrMapOvr>
    <a:masterClrMapping/>
  </p:clrMapOvr>
  <mc:AlternateContent xmlns:mc="http://schemas.openxmlformats.org/markup-compatibility/2006" xmlns:p14="http://schemas.microsoft.com/office/powerpoint/2010/main">
    <mc:Choice Requires="p14">
      <p:transition spd="slow" p14:dur="2000" advTm="138485"/>
    </mc:Choice>
    <mc:Fallback xmlns="">
      <p:transition spd="slow" advTm="138485"/>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4"/>
                </p:tgtEl>
              </p:cMediaNode>
            </p:audio>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Slide Background">
            <a:extLst>
              <a:ext uri="{FF2B5EF4-FFF2-40B4-BE49-F238E27FC236}">
                <a16:creationId xmlns:a16="http://schemas.microsoft.com/office/drawing/2014/main" id="{3ECBE1F1-D69B-4AFA-ABD5-8E41720EF6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A bunch of yellow smileys&#10;&#10;Description automatically generated">
            <a:extLst>
              <a:ext uri="{FF2B5EF4-FFF2-40B4-BE49-F238E27FC236}">
                <a16:creationId xmlns:a16="http://schemas.microsoft.com/office/drawing/2014/main" id="{FD4FACF1-316F-FD14-9555-5407F82AA036}"/>
              </a:ext>
            </a:extLst>
          </p:cNvPr>
          <p:cNvPicPr>
            <a:picLocks noChangeAspect="1"/>
          </p:cNvPicPr>
          <p:nvPr/>
        </p:nvPicPr>
        <p:blipFill>
          <a:blip r:embed="rId4"/>
          <a:srcRect l="3783" r="51842"/>
          <a:stretch/>
        </p:blipFill>
        <p:spPr>
          <a:xfrm>
            <a:off x="-1" y="-2"/>
            <a:ext cx="5410198" cy="6858002"/>
          </a:xfrm>
          <a:prstGeom prst="rect">
            <a:avLst/>
          </a:prstGeom>
        </p:spPr>
      </p:pic>
      <p:sp useBgFill="1">
        <p:nvSpPr>
          <p:cNvPr id="11" name="Rectangle 10" hidden="1">
            <a:extLst>
              <a:ext uri="{FF2B5EF4-FFF2-40B4-BE49-F238E27FC236}">
                <a16:creationId xmlns:a16="http://schemas.microsoft.com/office/drawing/2014/main" id="{603A6265-E10C-4B85-9C20-E75FCAF9CC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410197" y="-1"/>
            <a:ext cx="6781802" cy="2286000"/>
          </a:xfrm>
          <a:prstGeom prst="rect">
            <a:avLst/>
          </a:prstGeom>
          <a:ln>
            <a:noFill/>
          </a:ln>
          <a:effectLst>
            <a:outerShdw blurRad="355600" dist="152400" sx="95000" sy="95000" algn="t" rotWithShape="0">
              <a:srgbClr val="000000">
                <a:alpha val="29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520342A-24DB-48D7-21A4-03288BE351BB}"/>
              </a:ext>
            </a:extLst>
          </p:cNvPr>
          <p:cNvSpPr>
            <a:spLocks noGrp="1"/>
          </p:cNvSpPr>
          <p:nvPr>
            <p:ph type="title"/>
          </p:nvPr>
        </p:nvSpPr>
        <p:spPr>
          <a:xfrm>
            <a:off x="6115317" y="405685"/>
            <a:ext cx="5464968" cy="1559301"/>
          </a:xfrm>
        </p:spPr>
        <p:txBody>
          <a:bodyPr>
            <a:normAutofit/>
          </a:bodyPr>
          <a:lstStyle/>
          <a:p>
            <a:r>
              <a:rPr lang="en-US" sz="4000"/>
              <a:t>Thank you!</a:t>
            </a:r>
          </a:p>
        </p:txBody>
      </p:sp>
      <p:sp>
        <p:nvSpPr>
          <p:cNvPr id="3" name="Content Placeholder 2">
            <a:extLst>
              <a:ext uri="{FF2B5EF4-FFF2-40B4-BE49-F238E27FC236}">
                <a16:creationId xmlns:a16="http://schemas.microsoft.com/office/drawing/2014/main" id="{BC84A509-A486-D73D-39A8-E7B3D710FDEC}"/>
              </a:ext>
            </a:extLst>
          </p:cNvPr>
          <p:cNvSpPr>
            <a:spLocks noGrp="1"/>
          </p:cNvSpPr>
          <p:nvPr>
            <p:ph idx="1"/>
          </p:nvPr>
        </p:nvSpPr>
        <p:spPr>
          <a:xfrm>
            <a:off x="6096000" y="1964986"/>
            <a:ext cx="5247340" cy="3496878"/>
          </a:xfrm>
        </p:spPr>
        <p:txBody>
          <a:bodyPr anchor="ctr">
            <a:normAutofit/>
          </a:bodyPr>
          <a:lstStyle/>
          <a:p>
            <a:pPr marL="0" indent="0">
              <a:buNone/>
            </a:pPr>
            <a:r>
              <a:rPr lang="en-US" sz="2000" dirty="0"/>
              <a:t>Thank you very much for your time! If you have any questions, please contact me via - </a:t>
            </a:r>
            <a:r>
              <a:rPr lang="en-US" sz="2000" dirty="0">
                <a:hlinkClick r:id="rId5"/>
              </a:rPr>
              <a:t>cast4317@vandals.uidaho.edu</a:t>
            </a:r>
            <a:endParaRPr lang="en-US" sz="2000" dirty="0"/>
          </a:p>
          <a:p>
            <a:pPr marL="0" indent="0">
              <a:buNone/>
            </a:pPr>
            <a:endParaRPr lang="en-US" sz="2000" dirty="0"/>
          </a:p>
        </p:txBody>
      </p:sp>
      <p:pic>
        <p:nvPicPr>
          <p:cNvPr id="7" name="Audio 6">
            <a:hlinkClick r:id="" action="ppaction://media"/>
            <a:extLst>
              <a:ext uri="{FF2B5EF4-FFF2-40B4-BE49-F238E27FC236}">
                <a16:creationId xmlns:a16="http://schemas.microsoft.com/office/drawing/2014/main" id="{E49AE389-D45D-E4E8-B952-329DA4410AAC}"/>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11226800" y="5892800"/>
            <a:ext cx="812800" cy="812800"/>
          </a:xfrm>
          <a:prstGeom prst="rect">
            <a:avLst/>
          </a:prstGeom>
        </p:spPr>
      </p:pic>
    </p:spTree>
    <p:extLst>
      <p:ext uri="{BB962C8B-B14F-4D97-AF65-F5344CB8AC3E}">
        <p14:creationId xmlns:p14="http://schemas.microsoft.com/office/powerpoint/2010/main" val="3555452521"/>
      </p:ext>
    </p:extLst>
  </p:cSld>
  <p:clrMapOvr>
    <a:masterClrMapping/>
  </p:clrMapOvr>
  <mc:AlternateContent xmlns:mc="http://schemas.openxmlformats.org/markup-compatibility/2006" xmlns:p14="http://schemas.microsoft.com/office/powerpoint/2010/main">
    <mc:Choice Requires="p14">
      <p:transition spd="slow" p14:dur="2000" advTm="19477"/>
    </mc:Choice>
    <mc:Fallback xmlns="">
      <p:transition spd="slow" advTm="19477"/>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7"/>
                </p:tgtEl>
              </p:cMediaNode>
            </p:audio>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Slide Background">
            <a:extLst>
              <a:ext uri="{FF2B5EF4-FFF2-40B4-BE49-F238E27FC236}">
                <a16:creationId xmlns:a16="http://schemas.microsoft.com/office/drawing/2014/main" id="{3ECBE1F1-D69B-4AFA-ABD5-8E41720EF6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1" name="Rectangle 10" hidden="1">
            <a:extLst>
              <a:ext uri="{FF2B5EF4-FFF2-40B4-BE49-F238E27FC236}">
                <a16:creationId xmlns:a16="http://schemas.microsoft.com/office/drawing/2014/main" id="{603A6265-E10C-4B85-9C20-E75FCAF9CC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410197" y="-1"/>
            <a:ext cx="6781802" cy="2286000"/>
          </a:xfrm>
          <a:prstGeom prst="rect">
            <a:avLst/>
          </a:prstGeom>
          <a:ln>
            <a:noFill/>
          </a:ln>
          <a:effectLst>
            <a:outerShdw blurRad="355600" dist="152400" sx="95000" sy="95000" algn="t" rotWithShape="0">
              <a:srgbClr val="000000">
                <a:alpha val="29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520342A-24DB-48D7-21A4-03288BE351BB}"/>
              </a:ext>
            </a:extLst>
          </p:cNvPr>
          <p:cNvSpPr>
            <a:spLocks noGrp="1"/>
          </p:cNvSpPr>
          <p:nvPr>
            <p:ph type="title"/>
          </p:nvPr>
        </p:nvSpPr>
        <p:spPr>
          <a:xfrm>
            <a:off x="631032" y="405686"/>
            <a:ext cx="10595768" cy="1153616"/>
          </a:xfrm>
        </p:spPr>
        <p:txBody>
          <a:bodyPr>
            <a:normAutofit/>
          </a:bodyPr>
          <a:lstStyle/>
          <a:p>
            <a:r>
              <a:rPr lang="en-US" sz="4000" dirty="0"/>
              <a:t>References</a:t>
            </a:r>
          </a:p>
        </p:txBody>
      </p:sp>
      <p:sp>
        <p:nvSpPr>
          <p:cNvPr id="3" name="Content Placeholder 2">
            <a:extLst>
              <a:ext uri="{FF2B5EF4-FFF2-40B4-BE49-F238E27FC236}">
                <a16:creationId xmlns:a16="http://schemas.microsoft.com/office/drawing/2014/main" id="{BC84A509-A486-D73D-39A8-E7B3D710FDEC}"/>
              </a:ext>
            </a:extLst>
          </p:cNvPr>
          <p:cNvSpPr>
            <a:spLocks noGrp="1"/>
          </p:cNvSpPr>
          <p:nvPr>
            <p:ph idx="1"/>
          </p:nvPr>
        </p:nvSpPr>
        <p:spPr>
          <a:xfrm>
            <a:off x="730187" y="1559302"/>
            <a:ext cx="10731625" cy="4893013"/>
          </a:xfrm>
        </p:spPr>
        <p:txBody>
          <a:bodyPr anchor="ctr">
            <a:normAutofit fontScale="92500" lnSpcReduction="10000"/>
          </a:bodyPr>
          <a:lstStyle/>
          <a:p>
            <a:r>
              <a:rPr lang="en-US" sz="2000" dirty="0"/>
              <a:t>Accessible Environments. National Autistic Society. (n.d.). </a:t>
            </a:r>
            <a:r>
              <a:rPr lang="en-US" sz="2000" dirty="0">
                <a:hlinkClick r:id="rId2"/>
              </a:rPr>
              <a:t>https://www.autism.org.uk/what-we-do/autism-know-how/autism-accreditation/autism-friendly-award/guides-and-resources/accessible-environments</a:t>
            </a:r>
            <a:endParaRPr lang="en-US" sz="2000" dirty="0"/>
          </a:p>
          <a:p>
            <a:r>
              <a:rPr lang="en-US" sz="2000" dirty="0"/>
              <a:t>Sensory Issues. Autism Speaks. (n.d.). </a:t>
            </a:r>
            <a:r>
              <a:rPr lang="en-US" sz="2000" dirty="0">
                <a:hlinkClick r:id="rId3"/>
              </a:rPr>
              <a:t>https://www.autismspeaks.org/sensory-issues</a:t>
            </a:r>
            <a:endParaRPr lang="en-US" sz="2000" dirty="0"/>
          </a:p>
          <a:p>
            <a:r>
              <a:rPr lang="en-US" sz="2000" dirty="0" err="1"/>
              <a:t>GriffinOT</a:t>
            </a:r>
            <a:r>
              <a:rPr lang="en-US" sz="2000" dirty="0"/>
              <a:t>. (2023, November 19). What is sensory overload and how can I support individual’s sensory needs. </a:t>
            </a:r>
            <a:r>
              <a:rPr lang="en-US" sz="2000" dirty="0">
                <a:hlinkClick r:id="rId4"/>
              </a:rPr>
              <a:t>https://www.griffinot.com/what-is-sensory-overload/#:~:text=Running%20away%20(flight),get%20out%20of%20the%20space</a:t>
            </a:r>
            <a:endParaRPr lang="en-US" sz="2000" dirty="0"/>
          </a:p>
          <a:p>
            <a:r>
              <a:rPr lang="en-US" sz="2000" dirty="0"/>
              <a:t> </a:t>
            </a:r>
            <a:r>
              <a:rPr lang="en-US" sz="2000" dirty="0" err="1"/>
              <a:t>Seeberger</a:t>
            </a:r>
            <a:r>
              <a:rPr lang="en-US" sz="2000" dirty="0"/>
              <a:t>, C. (2024, November 27). What does it mean to be sensory sensitive?. Sensory Friendly Solutions. </a:t>
            </a:r>
            <a:r>
              <a:rPr lang="en-US" sz="2000" dirty="0">
                <a:hlinkClick r:id="rId5"/>
              </a:rPr>
              <a:t>https://www.sensoryfriendly.net/what-does-it-mean-to-be-sensory-sensitive/#:~:text=Sensory%20sensitivity%20can%20be%20experienced,be%20present%20in%20various%20conditions</a:t>
            </a:r>
            <a:endParaRPr lang="en-US" sz="2000" dirty="0"/>
          </a:p>
          <a:p>
            <a:r>
              <a:rPr lang="en-US" sz="2000" dirty="0"/>
              <a:t>National Autistic Society. (2019, May 16). Can you make it to the end?. YouTube. </a:t>
            </a:r>
            <a:r>
              <a:rPr lang="en-US" sz="2000" dirty="0">
                <a:hlinkClick r:id="rId6"/>
              </a:rPr>
              <a:t>https://www.youtube.com/watch?v=aPknwW8mPAM&amp;t=84s</a:t>
            </a:r>
            <a:endParaRPr lang="en-US" sz="2000" dirty="0"/>
          </a:p>
          <a:p>
            <a:r>
              <a:rPr lang="en-US" sz="2000" dirty="0"/>
              <a:t>LEGOLAND Accessibility Information: </a:t>
            </a:r>
            <a:r>
              <a:rPr lang="en-US" sz="2000" dirty="0">
                <a:hlinkClick r:id="rId7"/>
              </a:rPr>
              <a:t>https://www.legoland.com/california/plan-your-visit/know-before-you-go/accessibility-information/</a:t>
            </a:r>
            <a:endParaRPr lang="en-US" sz="2000" dirty="0"/>
          </a:p>
          <a:p>
            <a:r>
              <a:rPr lang="en-US" sz="2000" dirty="0"/>
              <a:t>PAS 6463 Guide: </a:t>
            </a:r>
            <a:r>
              <a:rPr lang="en-US" sz="2000" dirty="0">
                <a:hlinkClick r:id="rId8"/>
              </a:rPr>
              <a:t>https://www.cibse.org/media/sgmfhexo/b_559_21_0089-design-for-the-mind.pdf</a:t>
            </a:r>
            <a:endParaRPr lang="en-US" sz="2000" dirty="0"/>
          </a:p>
        </p:txBody>
      </p:sp>
    </p:spTree>
    <p:extLst>
      <p:ext uri="{BB962C8B-B14F-4D97-AF65-F5344CB8AC3E}">
        <p14:creationId xmlns:p14="http://schemas.microsoft.com/office/powerpoint/2010/main" val="143838018"/>
      </p:ext>
    </p:extLst>
  </p:cSld>
  <p:clrMapOvr>
    <a:masterClrMapping/>
  </p:clrMapOvr>
  <mc:AlternateContent xmlns:mc="http://schemas.openxmlformats.org/markup-compatibility/2006" xmlns:p14="http://schemas.microsoft.com/office/powerpoint/2010/main">
    <mc:Choice Requires="p14">
      <p:transition spd="slow" p14:dur="2000" advTm="19477"/>
    </mc:Choice>
    <mc:Fallback xmlns="">
      <p:transition spd="slow" advTm="19477"/>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4101</TotalTime>
  <Words>2506</Words>
  <Application>Microsoft Macintosh PowerPoint</Application>
  <PresentationFormat>Widescreen</PresentationFormat>
  <Paragraphs>275</Paragraphs>
  <Slides>18</Slides>
  <Notes>16</Notes>
  <HiddenSlides>0</HiddenSlides>
  <MMClips>17</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18</vt:i4>
      </vt:variant>
    </vt:vector>
  </HeadingPairs>
  <TitlesOfParts>
    <vt:vector size="28" baseType="lpstr">
      <vt:lpstr>-webkit-standard</vt:lpstr>
      <vt:lpstr>Arial</vt:lpstr>
      <vt:lpstr>Calibri</vt:lpstr>
      <vt:lpstr>Calibri Light</vt:lpstr>
      <vt:lpstr>CeraPro</vt:lpstr>
      <vt:lpstr>font-regular</vt:lpstr>
      <vt:lpstr>hero-new</vt:lpstr>
      <vt:lpstr>open-sans</vt:lpstr>
      <vt:lpstr>Source Sans Pro</vt:lpstr>
      <vt:lpstr>Office Theme</vt:lpstr>
      <vt:lpstr>Designing for Neurodiversity: Sensory-Inclusive Environments</vt:lpstr>
      <vt:lpstr>LEGOLAND Certified Autism Center</vt:lpstr>
      <vt:lpstr>LEGOLAND Sensory Guide</vt:lpstr>
      <vt:lpstr>Sensory Sensitive</vt:lpstr>
      <vt:lpstr>Sensory Processing Difference</vt:lpstr>
      <vt:lpstr>Hypersensitivity</vt:lpstr>
      <vt:lpstr>Hyposensitivity</vt:lpstr>
      <vt:lpstr>Sensory Overload</vt:lpstr>
      <vt:lpstr>Sensory Overload – National Autistic Society </vt:lpstr>
      <vt:lpstr>Sensory Overload – National Autistic Society </vt:lpstr>
      <vt:lpstr>Environmental Triggers</vt:lpstr>
      <vt:lpstr>Environment Design Recommendations </vt:lpstr>
      <vt:lpstr>Environment Design Recommendations </vt:lpstr>
      <vt:lpstr>Environment Design Recommendations </vt:lpstr>
      <vt:lpstr>Environment Design Recommendations </vt:lpstr>
      <vt:lpstr>PAS 6463 – Design Guide</vt:lpstr>
      <vt:lpstr>Thank you!</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Castillo Perez, Miguel (cast4317@vandals.uidaho.edu)</dc:creator>
  <cp:lastModifiedBy>Castillo Perez, Miguel (cast4317@vandals.uidaho.edu)</cp:lastModifiedBy>
  <cp:revision>26</cp:revision>
  <dcterms:created xsi:type="dcterms:W3CDTF">2025-02-23T22:57:49Z</dcterms:created>
  <dcterms:modified xsi:type="dcterms:W3CDTF">2025-02-26T19:21:22Z</dcterms:modified>
</cp:coreProperties>
</file>