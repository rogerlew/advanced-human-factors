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4"/>
  </p:notesMasterIdLst>
  <p:sldIdLst>
    <p:sldId id="256" r:id="rId2"/>
    <p:sldId id="290" r:id="rId3"/>
    <p:sldId id="291" r:id="rId4"/>
    <p:sldId id="284" r:id="rId5"/>
    <p:sldId id="286" r:id="rId6"/>
    <p:sldId id="287" r:id="rId7"/>
    <p:sldId id="288" r:id="rId8"/>
    <p:sldId id="294" r:id="rId9"/>
    <p:sldId id="292" r:id="rId10"/>
    <p:sldId id="293" r:id="rId11"/>
    <p:sldId id="283" r:id="rId12"/>
    <p:sldId id="295"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935"/>
    <p:restoredTop sz="79836"/>
  </p:normalViewPr>
  <p:slideViewPr>
    <p:cSldViewPr snapToGrid="0">
      <p:cViewPr varScale="1">
        <p:scale>
          <a:sx n="83" d="100"/>
          <a:sy n="83" d="100"/>
        </p:scale>
        <p:origin x="208" y="13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00EDD0-64CC-DC49-8927-99710C1F113C}" type="datetimeFigureOut">
              <a:rPr lang="en-US" smtClean="0"/>
              <a:t>4/9/25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B32844-14E9-B14A-BD2F-8C42748E04A1}" type="slidenum">
              <a:rPr lang="en-US" smtClean="0"/>
              <a:t>‹#›</a:t>
            </a:fld>
            <a:endParaRPr lang="en-US"/>
          </a:p>
        </p:txBody>
      </p:sp>
    </p:spTree>
    <p:extLst>
      <p:ext uri="{BB962C8B-B14F-4D97-AF65-F5344CB8AC3E}">
        <p14:creationId xmlns:p14="http://schemas.microsoft.com/office/powerpoint/2010/main" val="36434220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interaction-design.org/literature/topics/game-mechanics" TargetMode="External"/><Relationship Id="rId2" Type="http://schemas.openxmlformats.org/officeDocument/2006/relationships/slide" Target="../slides/slide3.xml"/><Relationship Id="rId1" Type="http://schemas.openxmlformats.org/officeDocument/2006/relationships/notesMaster" Target="../notesMasters/notesMaster1.xml"/><Relationship Id="rId4" Type="http://schemas.openxmlformats.org/officeDocument/2006/relationships/hyperlink" Target="https://www.interaction-design.org/literature/topics/ui-design"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www.interaction-design.org/literature/topics/marketing"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u="none" strike="noStrike" dirty="0">
                <a:solidFill>
                  <a:srgbClr val="000000"/>
                </a:solidFill>
                <a:effectLst/>
              </a:rPr>
              <a:t>In the last couple of presentations, I’ve explored methods and mindsets for understanding user problems and uncovering opportunities to design solutions that help them complete their tasks. Whether it’s through contextual design, participatory design, or by understanding how to design for neurodivergent users, the focus has been on addressing challenges by creating solutions that are usable, efficient, and accessible. </a:t>
            </a:r>
          </a:p>
          <a:p>
            <a:pPr algn="l"/>
            <a:endParaRPr lang="en-US" b="0" i="0" u="none" strike="noStrike" dirty="0">
              <a:solidFill>
                <a:srgbClr val="000000"/>
              </a:solidFill>
              <a:effectLst/>
            </a:endParaRPr>
          </a:p>
          <a:p>
            <a:pPr algn="l"/>
            <a:r>
              <a:rPr lang="en-US" b="0" i="0" u="none" strike="noStrike" dirty="0">
                <a:solidFill>
                  <a:srgbClr val="000000"/>
                </a:solidFill>
                <a:effectLst/>
              </a:rPr>
              <a:t>But what happens when the goal isn’t to increase efficiency, but to create fun experiences? When success isn’t about ease of use, but about engagement, emotional impact, and enjoyment?</a:t>
            </a:r>
          </a:p>
          <a:p>
            <a:pPr algn="l"/>
            <a:endParaRPr lang="en-US" b="0" i="0" u="none" strike="noStrike" dirty="0">
              <a:solidFill>
                <a:srgbClr val="000000"/>
              </a:solidFill>
              <a:effectLst/>
            </a:endParaRPr>
          </a:p>
          <a:p>
            <a:pPr algn="l"/>
            <a:r>
              <a:rPr lang="en-US" b="0" i="0" u="none" strike="noStrike" dirty="0">
                <a:solidFill>
                  <a:srgbClr val="000000"/>
                </a:solidFill>
                <a:effectLst/>
              </a:rPr>
              <a:t>That’s what differentiate games user research. While many of the same research methods still apply, the purpose and what researchers optimize for is different. Today, I’ll be diving into what it means to research for games and how researchers help make better games.</a:t>
            </a:r>
          </a:p>
        </p:txBody>
      </p:sp>
      <p:sp>
        <p:nvSpPr>
          <p:cNvPr id="4" name="Slide Number Placeholder 3"/>
          <p:cNvSpPr>
            <a:spLocks noGrp="1"/>
          </p:cNvSpPr>
          <p:nvPr>
            <p:ph type="sldNum" sz="quarter" idx="5"/>
          </p:nvPr>
        </p:nvSpPr>
        <p:spPr/>
        <p:txBody>
          <a:bodyPr/>
          <a:lstStyle/>
          <a:p>
            <a:fld id="{29B32844-14E9-B14A-BD2F-8C42748E04A1}" type="slidenum">
              <a:rPr lang="en-US" smtClean="0"/>
              <a:t>1</a:t>
            </a:fld>
            <a:endParaRPr lang="en-US"/>
          </a:p>
        </p:txBody>
      </p:sp>
    </p:spTree>
    <p:extLst>
      <p:ext uri="{BB962C8B-B14F-4D97-AF65-F5344CB8AC3E}">
        <p14:creationId xmlns:p14="http://schemas.microsoft.com/office/powerpoint/2010/main" val="10877894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the last presentations we’ve heard about User Centered Design.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UCD </a:t>
            </a:r>
          </a:p>
          <a:p>
            <a:pPr lvl="1"/>
            <a:r>
              <a:rPr lang="en-US" dirty="0"/>
              <a:t>An iterative design process in which designers focus on the users and their needs in each phase of the design process. In UCD, design teams involve users throughout the design process via a variety of research and design techniques, to create highly usable and accessible products for them. </a:t>
            </a:r>
          </a:p>
          <a:p>
            <a:endParaRPr lang="en-US" dirty="0"/>
          </a:p>
          <a:p>
            <a:pPr algn="l"/>
            <a:endParaRPr lang="en-US" b="0" i="0" u="none" strike="noStrike" dirty="0">
              <a:solidFill>
                <a:srgbClr val="000000"/>
              </a:solidFill>
              <a:effectLst/>
            </a:endParaRPr>
          </a:p>
          <a:p>
            <a:pPr algn="l"/>
            <a:r>
              <a:rPr lang="en-US" b="0" i="0" u="none" strike="noStrike" dirty="0">
                <a:solidFill>
                  <a:srgbClr val="000000"/>
                </a:solidFill>
                <a:effectLst/>
              </a:rPr>
              <a:t>To create user-centered solutions, designers need to understand their users and validate their designs—and the way to do that is through research. User research is a systematic process of gathering and analyzing information about the people who will use a product, service, or system. It helps researchers understand their behaviors, needs, and motivations in order to inform design decisions and ultimately improve the user experience.</a:t>
            </a:r>
          </a:p>
          <a:p>
            <a:pPr algn="l"/>
            <a:endParaRPr lang="en-US" b="0" i="0" u="none" strike="noStrike" dirty="0">
              <a:solidFill>
                <a:srgbClr val="000000"/>
              </a:solidFill>
              <a:effectLst/>
            </a:endParaRPr>
          </a:p>
          <a:p>
            <a:pPr algn="l"/>
            <a:r>
              <a:rPr lang="en-US" b="0" i="0" u="none" strike="noStrike" dirty="0">
                <a:solidFill>
                  <a:srgbClr val="000000"/>
                </a:solidFill>
                <a:effectLst/>
              </a:rPr>
              <a:t>contextual design or participatory design</a:t>
            </a:r>
          </a:p>
          <a:p>
            <a:pPr algn="l"/>
            <a:endParaRPr lang="en-US" b="0" i="0" u="none" strike="noStrike" dirty="0">
              <a:solidFill>
                <a:srgbClr val="000000"/>
              </a:solidFill>
              <a:effectLst/>
            </a:endParaRPr>
          </a:p>
          <a:p>
            <a:pPr algn="l"/>
            <a:r>
              <a:rPr lang="en-US" b="0" i="0" u="none" strike="noStrike" dirty="0">
                <a:solidFill>
                  <a:srgbClr val="000000"/>
                </a:solidFill>
                <a:effectLst/>
              </a:rPr>
              <a:t>In mainstream UX, the focus is typically on goals like:</a:t>
            </a:r>
          </a:p>
          <a:p>
            <a:pPr algn="l">
              <a:buFont typeface="Arial" panose="020B0604020202020204" pitchFamily="34" charset="0"/>
              <a:buChar char="•"/>
            </a:pPr>
            <a:r>
              <a:rPr lang="en-US" b="1" i="0" u="none" strike="noStrike" dirty="0">
                <a:solidFill>
                  <a:srgbClr val="000000"/>
                </a:solidFill>
                <a:effectLst/>
              </a:rPr>
              <a:t>Efficiency</a:t>
            </a:r>
            <a:endParaRPr lang="en-US" b="0" i="0" u="none" strike="noStrike" dirty="0">
              <a:solidFill>
                <a:srgbClr val="000000"/>
              </a:solidFill>
              <a:effectLst/>
            </a:endParaRPr>
          </a:p>
          <a:p>
            <a:pPr algn="l">
              <a:buFont typeface="Arial" panose="020B0604020202020204" pitchFamily="34" charset="0"/>
              <a:buChar char="•"/>
            </a:pPr>
            <a:r>
              <a:rPr lang="en-US" b="1" i="0" u="none" strike="noStrike" dirty="0">
                <a:solidFill>
                  <a:srgbClr val="000000"/>
                </a:solidFill>
                <a:effectLst/>
              </a:rPr>
              <a:t>Ease of use</a:t>
            </a:r>
            <a:endParaRPr lang="en-US" b="0" i="0" u="none" strike="noStrike" dirty="0">
              <a:solidFill>
                <a:srgbClr val="000000"/>
              </a:solidFill>
              <a:effectLst/>
            </a:endParaRPr>
          </a:p>
          <a:p>
            <a:pPr algn="l">
              <a:buFont typeface="Arial" panose="020B0604020202020204" pitchFamily="34" charset="0"/>
              <a:buChar char="•"/>
            </a:pPr>
            <a:r>
              <a:rPr lang="en-US" b="1" i="0" u="none" strike="noStrike" dirty="0">
                <a:solidFill>
                  <a:srgbClr val="000000"/>
                </a:solidFill>
                <a:effectLst/>
              </a:rPr>
              <a:t>Task or goal completion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1" i="0" u="none" strike="noStrike" dirty="0">
              <a:solidFill>
                <a:srgbClr val="000000"/>
              </a:solidFill>
              <a:effectLst/>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i="0" u="none" strike="noStrike" dirty="0">
                <a:solidFill>
                  <a:srgbClr val="000000"/>
                </a:solidFill>
                <a:effectLst/>
              </a:rPr>
              <a:t>Example:</a:t>
            </a:r>
            <a:r>
              <a:rPr lang="en-US" b="0" i="0" u="none" strike="noStrike" dirty="0">
                <a:solidFill>
                  <a:srgbClr val="000000"/>
                </a:solidFill>
                <a:effectLst/>
              </a:rPr>
              <a:t> Think about ordering an Uber. The user’s goal is clear: find a ride at the best price, as quickly and easily as possible. The experience should be seamless, efficient, and intuitive—focused on reducing friction.</a:t>
            </a:r>
          </a:p>
          <a:p>
            <a:pPr algn="l">
              <a:buFont typeface="Arial" panose="020B0604020202020204" pitchFamily="34" charset="0"/>
              <a:buChar char="•"/>
            </a:pPr>
            <a:endParaRPr lang="en-US" b="1" i="0" u="none" strike="noStrike" dirty="0">
              <a:solidFill>
                <a:srgbClr val="000000"/>
              </a:solidFill>
              <a:effectLst/>
            </a:endParaRPr>
          </a:p>
          <a:p>
            <a:pPr algn="l">
              <a:buFont typeface="Arial" panose="020B0604020202020204" pitchFamily="34" charset="0"/>
              <a:buChar char="•"/>
            </a:pPr>
            <a:endParaRPr lang="en-US" b="0" i="0" u="none" strike="noStrike" dirty="0">
              <a:solidFill>
                <a:srgbClr val="000000"/>
              </a:solidFill>
              <a:effectLst/>
            </a:endParaRPr>
          </a:p>
          <a:p>
            <a:pPr algn="l"/>
            <a:r>
              <a:rPr lang="en-US" b="0" i="0" u="none" strike="noStrike" dirty="0">
                <a:solidFill>
                  <a:srgbClr val="000000"/>
                </a:solidFill>
                <a:effectLst/>
              </a:rPr>
              <a:t>User research can be applied at any stage of the design process. Each stage brings different questions, which influence the type of research needed. Early on, research is often </a:t>
            </a:r>
            <a:r>
              <a:rPr lang="en-US" b="1" i="0" u="none" strike="noStrike" dirty="0">
                <a:solidFill>
                  <a:srgbClr val="000000"/>
                </a:solidFill>
                <a:effectLst/>
              </a:rPr>
              <a:t>exploratory</a:t>
            </a:r>
            <a:r>
              <a:rPr lang="en-US" b="0" i="0" u="none" strike="noStrike" dirty="0">
                <a:solidFill>
                  <a:srgbClr val="000000"/>
                </a:solidFill>
                <a:effectLst/>
              </a:rPr>
              <a:t>—focused on understanding the problem space. Later, it becomes more </a:t>
            </a:r>
            <a:r>
              <a:rPr lang="en-US" b="1" i="0" u="none" strike="noStrike" dirty="0">
                <a:solidFill>
                  <a:srgbClr val="000000"/>
                </a:solidFill>
                <a:effectLst/>
              </a:rPr>
              <a:t>evaluative</a:t>
            </a:r>
            <a:r>
              <a:rPr lang="en-US" b="0" i="0" u="none" strike="noStrike" dirty="0">
                <a:solidFill>
                  <a:srgbClr val="000000"/>
                </a:solidFill>
                <a:effectLst/>
              </a:rPr>
              <a:t>—testing how well a design works with users. </a:t>
            </a:r>
          </a:p>
          <a:p>
            <a:pPr algn="l"/>
            <a:endParaRPr lang="en-US" b="0" i="0" u="none" strike="noStrike" dirty="0">
              <a:solidFill>
                <a:srgbClr val="000000"/>
              </a:solidFill>
              <a:effectLst/>
            </a:endParaRPr>
          </a:p>
          <a:p>
            <a:pPr algn="l"/>
            <a:r>
              <a:rPr lang="en-US" b="0" i="0" u="none" strike="noStrike" dirty="0">
                <a:solidFill>
                  <a:srgbClr val="000000"/>
                </a:solidFill>
                <a:effectLst/>
              </a:rPr>
              <a:t>Researchers often start with </a:t>
            </a:r>
            <a:r>
              <a:rPr lang="en-US" b="1" i="0" u="none" strike="noStrike" dirty="0">
                <a:solidFill>
                  <a:srgbClr val="000000"/>
                </a:solidFill>
                <a:effectLst/>
              </a:rPr>
              <a:t>qualitative methods</a:t>
            </a:r>
            <a:r>
              <a:rPr lang="en-US" b="0" i="0" u="none" strike="noStrike" dirty="0">
                <a:solidFill>
                  <a:srgbClr val="000000"/>
                </a:solidFill>
                <a:effectLst/>
              </a:rPr>
              <a:t> to explore user needs, behaviors, and motivations.  These insights may then be validated through </a:t>
            </a:r>
            <a:r>
              <a:rPr lang="en-US" b="1" i="0" u="none" strike="noStrike" dirty="0">
                <a:solidFill>
                  <a:srgbClr val="000000"/>
                </a:solidFill>
                <a:effectLst/>
              </a:rPr>
              <a:t>quantitative methods</a:t>
            </a:r>
            <a:r>
              <a:rPr lang="en-US" b="0" i="0" u="none" strike="noStrike" dirty="0">
                <a:solidFill>
                  <a:srgbClr val="000000"/>
                </a:solidFill>
                <a:effectLst/>
              </a:rPr>
              <a:t> to identify patterns or measure impact at scale.</a:t>
            </a:r>
          </a:p>
          <a:p>
            <a:pPr algn="l"/>
            <a:endParaRPr lang="en-US" b="0" i="0" u="none" strike="noStrike" dirty="0">
              <a:solidFill>
                <a:srgbClr val="000000"/>
              </a:solidFill>
              <a:effectLst/>
            </a:endParaRPr>
          </a:p>
          <a:p>
            <a:pPr algn="l"/>
            <a:r>
              <a:rPr lang="en-US" b="0" i="0" u="none" strike="noStrike" dirty="0">
                <a:solidFill>
                  <a:srgbClr val="000000"/>
                </a:solidFill>
                <a:effectLst/>
              </a:rPr>
              <a:t>Research approaches typically fall into two categories:</a:t>
            </a:r>
          </a:p>
          <a:p>
            <a:pPr algn="l">
              <a:buFont typeface="Arial" panose="020B0604020202020204" pitchFamily="34" charset="0"/>
              <a:buChar char="•"/>
            </a:pPr>
            <a:r>
              <a:rPr lang="en-US" b="1" i="0" u="none" strike="noStrike" dirty="0">
                <a:solidFill>
                  <a:srgbClr val="000000"/>
                </a:solidFill>
                <a:effectLst/>
              </a:rPr>
              <a:t>Attitudinal</a:t>
            </a:r>
            <a:r>
              <a:rPr lang="en-US" b="0" i="0" u="none" strike="noStrike" dirty="0">
                <a:solidFill>
                  <a:srgbClr val="000000"/>
                </a:solidFill>
                <a:effectLst/>
              </a:rPr>
              <a:t> – Listening to what users </a:t>
            </a:r>
            <a:r>
              <a:rPr lang="en-US" b="0" i="1" u="none" strike="noStrike" dirty="0">
                <a:solidFill>
                  <a:srgbClr val="000000"/>
                </a:solidFill>
                <a:effectLst/>
              </a:rPr>
              <a:t>say</a:t>
            </a:r>
            <a:endParaRPr lang="en-US" b="0" i="0" u="none" strike="noStrike" dirty="0">
              <a:solidFill>
                <a:srgbClr val="000000"/>
              </a:solidFill>
              <a:effectLst/>
            </a:endParaRPr>
          </a:p>
          <a:p>
            <a:pPr algn="l">
              <a:buFont typeface="Arial" panose="020B0604020202020204" pitchFamily="34" charset="0"/>
              <a:buChar char="•"/>
            </a:pPr>
            <a:r>
              <a:rPr lang="en-US" b="1" i="0" u="none" strike="noStrike" dirty="0">
                <a:solidFill>
                  <a:srgbClr val="000000"/>
                </a:solidFill>
                <a:effectLst/>
              </a:rPr>
              <a:t>Behavioral</a:t>
            </a:r>
            <a:r>
              <a:rPr lang="en-US" b="0" i="0" u="none" strike="noStrike" dirty="0">
                <a:solidFill>
                  <a:srgbClr val="000000"/>
                </a:solidFill>
                <a:effectLst/>
              </a:rPr>
              <a:t> – Observing what users </a:t>
            </a:r>
            <a:r>
              <a:rPr lang="en-US" b="0" i="1" u="none" strike="noStrike" dirty="0">
                <a:solidFill>
                  <a:srgbClr val="000000"/>
                </a:solidFill>
                <a:effectLst/>
              </a:rPr>
              <a:t>do</a:t>
            </a:r>
            <a:endParaRPr lang="en-US" b="0" i="0" u="none" strike="noStrike" dirty="0">
              <a:solidFill>
                <a:srgbClr val="000000"/>
              </a:solidFill>
              <a:effectLst/>
            </a:endParaRPr>
          </a:p>
          <a:p>
            <a:pPr algn="l"/>
            <a:endParaRPr lang="en-US" b="0" i="0" u="none" strike="noStrike" dirty="0">
              <a:solidFill>
                <a:srgbClr val="000000"/>
              </a:solidFill>
              <a:effectLst/>
            </a:endParaRPr>
          </a:p>
          <a:p>
            <a:pPr algn="l"/>
            <a:r>
              <a:rPr lang="en-US" b="0" i="0" u="none" strike="noStrike" dirty="0">
                <a:solidFill>
                  <a:srgbClr val="000000"/>
                </a:solidFill>
                <a:effectLst/>
              </a:rPr>
              <a:t>Now, this still applies in video games—usability matters—but the product </a:t>
            </a:r>
            <a:r>
              <a:rPr lang="en-US" b="1" i="0" u="none" strike="noStrike" dirty="0">
                <a:solidFill>
                  <a:srgbClr val="000000"/>
                </a:solidFill>
                <a:effectLst/>
              </a:rPr>
              <a:t>goals are different</a:t>
            </a:r>
            <a:r>
              <a:rPr lang="en-US" b="0" i="0" u="none" strike="noStrike" dirty="0">
                <a:solidFill>
                  <a:srgbClr val="000000"/>
                </a:solidFill>
                <a:effectLst/>
              </a:rPr>
              <a:t>.</a:t>
            </a:r>
            <a:r>
              <a:rPr lang="en-US" b="0" i="0" u="none" strike="noStrike" dirty="0">
                <a:solidFill>
                  <a:srgbClr val="000000"/>
                </a:solidFill>
                <a:effectLst/>
                <a:latin typeface="-webkit-standard"/>
              </a:rPr>
              <a:t> </a:t>
            </a:r>
            <a:endParaRPr lang="en-US" b="0" i="0" u="none" strike="noStrike" dirty="0">
              <a:solidFill>
                <a:srgbClr val="000000"/>
              </a:solidFill>
              <a:effectLst/>
            </a:endParaRPr>
          </a:p>
        </p:txBody>
      </p:sp>
      <p:sp>
        <p:nvSpPr>
          <p:cNvPr id="4" name="Slide Number Placeholder 3"/>
          <p:cNvSpPr>
            <a:spLocks noGrp="1"/>
          </p:cNvSpPr>
          <p:nvPr>
            <p:ph type="sldNum" sz="quarter" idx="5"/>
          </p:nvPr>
        </p:nvSpPr>
        <p:spPr/>
        <p:txBody>
          <a:bodyPr/>
          <a:lstStyle/>
          <a:p>
            <a:fld id="{29B32844-14E9-B14A-BD2F-8C42748E04A1}" type="slidenum">
              <a:rPr lang="en-US" smtClean="0"/>
              <a:t>2</a:t>
            </a:fld>
            <a:endParaRPr lang="en-US"/>
          </a:p>
        </p:txBody>
      </p:sp>
    </p:spTree>
    <p:extLst>
      <p:ext uri="{BB962C8B-B14F-4D97-AF65-F5344CB8AC3E}">
        <p14:creationId xmlns:p14="http://schemas.microsoft.com/office/powerpoint/2010/main" val="29803883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dirty="0">
                <a:solidFill>
                  <a:srgbClr val="000000"/>
                </a:solidFill>
                <a:effectLst/>
                <a:latin typeface="-webkit-standard"/>
              </a:rPr>
              <a:t>When playing a video game, the goal is not usually to complete it as quickly or easily as possible, but to </a:t>
            </a:r>
            <a:r>
              <a:rPr lang="en-US" b="0" i="1" u="none" strike="noStrike" dirty="0">
                <a:solidFill>
                  <a:srgbClr val="000000"/>
                </a:solidFill>
                <a:effectLst/>
              </a:rPr>
              <a:t>enjoy the challenge</a:t>
            </a:r>
            <a:r>
              <a:rPr lang="en-US" b="0" i="0" u="none" strike="noStrike" dirty="0">
                <a:solidFill>
                  <a:srgbClr val="000000"/>
                </a:solidFill>
                <a:effectLst/>
                <a:latin typeface="-webkit-standard"/>
              </a:rPr>
              <a:t>, </a:t>
            </a:r>
            <a:r>
              <a:rPr lang="en-US" b="0" i="1" u="none" strike="noStrike" dirty="0">
                <a:solidFill>
                  <a:srgbClr val="000000"/>
                </a:solidFill>
                <a:effectLst/>
              </a:rPr>
              <a:t>explore the world</a:t>
            </a:r>
            <a:r>
              <a:rPr lang="en-US" b="0" i="0" u="none" strike="noStrike" dirty="0">
                <a:solidFill>
                  <a:srgbClr val="000000"/>
                </a:solidFill>
                <a:effectLst/>
                <a:latin typeface="-webkit-standard"/>
              </a:rPr>
              <a:t>, or </a:t>
            </a:r>
            <a:r>
              <a:rPr lang="en-US" b="0" i="1" u="none" strike="noStrike" dirty="0">
                <a:solidFill>
                  <a:srgbClr val="000000"/>
                </a:solidFill>
                <a:effectLst/>
              </a:rPr>
              <a:t>get immersed in the story</a:t>
            </a:r>
            <a:r>
              <a:rPr lang="en-US" b="0" i="0" u="none" strike="noStrike" dirty="0">
                <a:solidFill>
                  <a:srgbClr val="000000"/>
                </a:solidFill>
                <a:effectLst/>
                <a:latin typeface="-webkit-standard"/>
              </a:rPr>
              <a:t>—and that often includes intentional friction.</a:t>
            </a:r>
          </a:p>
          <a:p>
            <a:endParaRPr lang="en-US" b="0" i="0" u="none" strike="noStrike" dirty="0">
              <a:solidFill>
                <a:srgbClr val="000000"/>
              </a:solidFill>
              <a:effectLst/>
              <a:latin typeface="-webkit-standard"/>
            </a:endParaRPr>
          </a:p>
          <a:p>
            <a:pPr algn="l"/>
            <a:r>
              <a:rPr lang="en-US" b="0" i="0" u="none" strike="noStrike" dirty="0">
                <a:solidFill>
                  <a:srgbClr val="2B2B2B"/>
                </a:solidFill>
                <a:effectLst/>
                <a:latin typeface="Merriweather" pitchFamily="2" charset="77"/>
              </a:rPr>
              <a:t>Games are a form of entertainment, like movies. Game designers create video games with the intention of creating an emotional response. Therefore, in games, user researchers approach their work from the designer’s point of view. Unlike other products where designers rely on user research to decide what to create, game designers begin with a vision, and researchers </a:t>
            </a:r>
            <a:r>
              <a:rPr lang="en-US" b="1" i="0" u="none" strike="noStrike" dirty="0">
                <a:solidFill>
                  <a:srgbClr val="2B2B2B"/>
                </a:solidFill>
                <a:effectLst/>
                <a:latin typeface="Merriweather" pitchFamily="2" charset="77"/>
              </a:rPr>
              <a:t>evaluate if users' experience matches the designers’ vision</a:t>
            </a:r>
            <a:r>
              <a:rPr lang="en-US" b="0" i="0" u="none" strike="noStrike" dirty="0">
                <a:solidFill>
                  <a:srgbClr val="2B2B2B"/>
                </a:solidFill>
                <a:effectLst/>
                <a:latin typeface="Merriweather" pitchFamily="2" charset="77"/>
              </a:rPr>
              <a:t>. </a:t>
            </a:r>
          </a:p>
          <a:p>
            <a:pPr algn="l"/>
            <a:endParaRPr lang="en-US" b="0" i="0" u="none" strike="noStrike" dirty="0">
              <a:solidFill>
                <a:srgbClr val="2B2B2B"/>
              </a:solidFill>
              <a:effectLst/>
              <a:latin typeface="Merriweather" pitchFamily="2" charset="77"/>
            </a:endParaRPr>
          </a:p>
          <a:p>
            <a:r>
              <a:rPr lang="en-US" dirty="0"/>
              <a:t>Games User Research</a:t>
            </a:r>
          </a:p>
          <a:p>
            <a:pPr lvl="1"/>
            <a:r>
              <a:rPr lang="en-US" dirty="0"/>
              <a:t>Focuses on understanding players’ behavior, interactions, and experiences in videos games. Researchers use methodologies like observations, interviews, and surveys to gather valuable data. This data helps improve games, remove bugs, and increases player experience. </a:t>
            </a:r>
          </a:p>
          <a:p>
            <a:pPr lvl="2"/>
            <a:r>
              <a:rPr lang="en-US" dirty="0"/>
              <a:t>Goals</a:t>
            </a:r>
          </a:p>
          <a:p>
            <a:pPr lvl="3"/>
            <a:r>
              <a:rPr lang="en-US" dirty="0"/>
              <a:t>Fun </a:t>
            </a:r>
          </a:p>
          <a:p>
            <a:pPr lvl="3"/>
            <a:r>
              <a:rPr lang="en-US" dirty="0"/>
              <a:t>Enjoyment </a:t>
            </a:r>
          </a:p>
          <a:p>
            <a:pPr lvl="3"/>
            <a:r>
              <a:rPr lang="en-US" dirty="0"/>
              <a:t>Immersion</a:t>
            </a:r>
          </a:p>
          <a:p>
            <a:pPr lvl="0"/>
            <a:endParaRPr lang="en-US" dirty="0"/>
          </a:p>
          <a:p>
            <a:pPr lvl="0"/>
            <a:r>
              <a:rPr lang="en-US" dirty="0"/>
              <a:t>User research help </a:t>
            </a:r>
            <a:r>
              <a:rPr lang="en-US" b="0" i="0" u="none" strike="noStrike" dirty="0">
                <a:solidFill>
                  <a:srgbClr val="2B2B2B"/>
                </a:solidFill>
                <a:effectLst/>
                <a:latin typeface="Merriweather" pitchFamily="2" charset="77"/>
              </a:rPr>
              <a:t>uncover potential issues in the </a:t>
            </a:r>
            <a:r>
              <a:rPr lang="en-US" b="0" i="0" u="sng" dirty="0">
                <a:effectLst/>
                <a:latin typeface="Merriweather" pitchFamily="2" charset="77"/>
                <a:hlinkClick r:id="rId3" tooltip="What are Game Mechanics?"/>
              </a:rPr>
              <a:t>game mechanics</a:t>
            </a:r>
            <a:r>
              <a:rPr lang="en-US" b="0" i="0" u="none" strike="noStrike" dirty="0">
                <a:solidFill>
                  <a:srgbClr val="2B2B2B"/>
                </a:solidFill>
                <a:effectLst/>
                <a:latin typeface="Merriweather" pitchFamily="2" charset="77"/>
              </a:rPr>
              <a:t>, </a:t>
            </a:r>
            <a:r>
              <a:rPr lang="en-US" b="1" i="0" u="sng" strike="noStrike" dirty="0">
                <a:solidFill>
                  <a:srgbClr val="2B2B2B"/>
                </a:solidFill>
                <a:effectLst/>
                <a:latin typeface="Merriweather" pitchFamily="2" charset="77"/>
                <a:hlinkClick r:id="rId4"/>
              </a:rPr>
              <a:t>user interface</a:t>
            </a:r>
            <a:r>
              <a:rPr lang="en-US" b="0" i="0" u="none" strike="noStrike" dirty="0">
                <a:solidFill>
                  <a:srgbClr val="2B2B2B"/>
                </a:solidFill>
                <a:effectLst/>
                <a:latin typeface="Merriweather" pitchFamily="2" charset="77"/>
              </a:rPr>
              <a:t>, or any other aspect that could negatively affect the player's experience.</a:t>
            </a:r>
            <a:endParaRPr lang="en-US" dirty="0"/>
          </a:p>
          <a:p>
            <a:pPr algn="l"/>
            <a:endParaRPr lang="en-US" b="0" i="0" u="none" strike="noStrike" dirty="0">
              <a:solidFill>
                <a:srgbClr val="2B2B2B"/>
              </a:solidFill>
              <a:effectLst/>
              <a:latin typeface="Merriweather" pitchFamily="2" charset="77"/>
            </a:endParaRPr>
          </a:p>
          <a:p>
            <a:pPr algn="l"/>
            <a:r>
              <a:rPr lang="en-US" b="0" i="0" u="none" strike="noStrike" dirty="0">
                <a:solidFill>
                  <a:srgbClr val="2B2B2B"/>
                </a:solidFill>
                <a:effectLst/>
                <a:latin typeface="Merriweather" pitchFamily="2" charset="77"/>
              </a:rPr>
              <a:t>For example, if the purpose of a horror game is to make players feel scared and nervous, the research team’s goal is to find out how the players are feeling. If the players are not “scared enough,” the designer can use research insights to reach their vision.</a:t>
            </a:r>
          </a:p>
          <a:p>
            <a:pPr algn="l"/>
            <a:endParaRPr lang="en-US" b="0" i="0" u="none" strike="noStrike" dirty="0">
              <a:solidFill>
                <a:srgbClr val="2B2B2B"/>
              </a:solidFill>
              <a:effectLst/>
              <a:latin typeface="Merriweather" pitchFamily="2" charset="77"/>
            </a:endParaRPr>
          </a:p>
          <a:p>
            <a:pPr algn="l"/>
            <a:endParaRPr lang="en-US" b="0" i="0" u="none" strike="noStrike" dirty="0">
              <a:solidFill>
                <a:srgbClr val="000000"/>
              </a:solidFill>
              <a:effectLst/>
            </a:endParaRPr>
          </a:p>
          <a:p>
            <a:pPr algn="l"/>
            <a:endParaRPr lang="en-US" b="0" i="0" u="none" strike="noStrike" dirty="0">
              <a:solidFill>
                <a:srgbClr val="000000"/>
              </a:solidFill>
              <a:effectLst/>
            </a:endParaRPr>
          </a:p>
          <a:p>
            <a:pPr algn="l"/>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29B32844-14E9-B14A-BD2F-8C42748E04A1}" type="slidenum">
              <a:rPr lang="en-US" smtClean="0"/>
              <a:t>3</a:t>
            </a:fld>
            <a:endParaRPr lang="en-US"/>
          </a:p>
        </p:txBody>
      </p:sp>
    </p:spTree>
    <p:extLst>
      <p:ext uri="{BB962C8B-B14F-4D97-AF65-F5344CB8AC3E}">
        <p14:creationId xmlns:p14="http://schemas.microsoft.com/office/powerpoint/2010/main" val="4647965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000000"/>
                </a:solidFill>
                <a:effectLst/>
              </a:rPr>
              <a:t>User research can be applied at any stage of the design process. Each stage brings different questions, which influence the type of research needed. Early on, research is often </a:t>
            </a:r>
            <a:r>
              <a:rPr lang="en-US" b="1" i="0" u="none" strike="noStrike" dirty="0">
                <a:solidFill>
                  <a:srgbClr val="000000"/>
                </a:solidFill>
                <a:effectLst/>
              </a:rPr>
              <a:t>exploratory</a:t>
            </a:r>
            <a:r>
              <a:rPr lang="en-US" b="0" i="0" u="none" strike="noStrike" dirty="0">
                <a:solidFill>
                  <a:srgbClr val="000000"/>
                </a:solidFill>
                <a:effectLst/>
              </a:rPr>
              <a:t>—focused on understanding the problem space. Later, it becomes more </a:t>
            </a:r>
            <a:r>
              <a:rPr lang="en-US" b="1" i="0" u="none" strike="noStrike" dirty="0">
                <a:solidFill>
                  <a:srgbClr val="000000"/>
                </a:solidFill>
                <a:effectLst/>
              </a:rPr>
              <a:t>evaluative</a:t>
            </a:r>
            <a:r>
              <a:rPr lang="en-US" b="0" i="0" u="none" strike="noStrike" dirty="0">
                <a:solidFill>
                  <a:srgbClr val="000000"/>
                </a:solidFill>
                <a:effectLst/>
              </a:rPr>
              <a:t>—testing how well a design works with users.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u="none" strike="noStrike" dirty="0">
              <a:solidFill>
                <a:srgbClr val="000000"/>
              </a:solidFill>
              <a:effectLst/>
            </a:endParaRPr>
          </a:p>
        </p:txBody>
      </p:sp>
      <p:sp>
        <p:nvSpPr>
          <p:cNvPr id="4" name="Slide Number Placeholder 3"/>
          <p:cNvSpPr>
            <a:spLocks noGrp="1"/>
          </p:cNvSpPr>
          <p:nvPr>
            <p:ph type="sldNum" sz="quarter" idx="5"/>
          </p:nvPr>
        </p:nvSpPr>
        <p:spPr/>
        <p:txBody>
          <a:bodyPr/>
          <a:lstStyle/>
          <a:p>
            <a:fld id="{29B32844-14E9-B14A-BD2F-8C42748E04A1}" type="slidenum">
              <a:rPr lang="en-US" smtClean="0"/>
              <a:t>4</a:t>
            </a:fld>
            <a:endParaRPr lang="en-US"/>
          </a:p>
        </p:txBody>
      </p:sp>
    </p:spTree>
    <p:extLst>
      <p:ext uri="{BB962C8B-B14F-4D97-AF65-F5344CB8AC3E}">
        <p14:creationId xmlns:p14="http://schemas.microsoft.com/office/powerpoint/2010/main" val="37320243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u="none" strike="noStrike" dirty="0">
                <a:solidFill>
                  <a:srgbClr val="000000"/>
                </a:solidFill>
                <a:effectLst/>
              </a:rPr>
              <a:t>Unlike other products, games are designed to be fun — and that often comes from friction.</a:t>
            </a:r>
            <a:br>
              <a:rPr lang="en-US" b="0" i="0" u="none" strike="noStrike" dirty="0">
                <a:solidFill>
                  <a:srgbClr val="000000"/>
                </a:solidFill>
                <a:effectLst/>
              </a:rPr>
            </a:br>
            <a:endParaRPr lang="en-US" b="0" i="0" u="none" strike="noStrike" dirty="0">
              <a:solidFill>
                <a:srgbClr val="000000"/>
              </a:solidFill>
              <a:effectLst/>
            </a:endParaRPr>
          </a:p>
          <a:p>
            <a:pPr algn="l"/>
            <a:r>
              <a:rPr lang="en-US" b="0" i="0" u="none" strike="noStrike" dirty="0">
                <a:solidFill>
                  <a:srgbClr val="000000"/>
                </a:solidFill>
                <a:effectLst/>
              </a:rPr>
              <a:t>In games, </a:t>
            </a:r>
            <a:r>
              <a:rPr lang="en-US" b="1" i="0" u="none" strike="noStrike" dirty="0">
                <a:solidFill>
                  <a:srgbClr val="000000"/>
                </a:solidFill>
                <a:effectLst/>
              </a:rPr>
              <a:t>difficulty enhances the experience</a:t>
            </a:r>
            <a:r>
              <a:rPr lang="en-US" b="0" i="0" u="none" strike="noStrike" dirty="0">
                <a:solidFill>
                  <a:srgbClr val="000000"/>
                </a:solidFill>
                <a:effectLst/>
              </a:rPr>
              <a:t>, keeping players engaged and helping them build skills. The explicit goal might be “defeat the boss,” but the real goal is to </a:t>
            </a:r>
            <a:r>
              <a:rPr lang="en-US" b="1" i="0" u="none" strike="noStrike" dirty="0">
                <a:solidFill>
                  <a:srgbClr val="000000"/>
                </a:solidFill>
                <a:effectLst/>
              </a:rPr>
              <a:t>have fun overcoming challenges</a:t>
            </a:r>
            <a:r>
              <a:rPr lang="en-US" b="0" i="0" u="none" strike="noStrike" dirty="0">
                <a:solidFill>
                  <a:srgbClr val="000000"/>
                </a:solidFill>
                <a:effectLst/>
              </a:rPr>
              <a:t>.</a:t>
            </a:r>
          </a:p>
          <a:p>
            <a:pPr algn="l"/>
            <a:endParaRPr lang="en-US" b="0" i="0" u="none" strike="noStrike" dirty="0">
              <a:solidFill>
                <a:srgbClr val="000000"/>
              </a:solidFill>
              <a:effectLst/>
            </a:endParaRPr>
          </a:p>
          <a:p>
            <a:pPr algn="l"/>
            <a:r>
              <a:rPr lang="en-US" b="0" i="0" u="none" strike="noStrike" dirty="0">
                <a:solidFill>
                  <a:srgbClr val="000000"/>
                </a:solidFill>
                <a:effectLst/>
                <a:latin typeface="-webkit-standard"/>
              </a:rPr>
              <a:t>Designed on purpose to create challenge, tension, or emotional impact.</a:t>
            </a:r>
          </a:p>
          <a:p>
            <a:pPr algn="l"/>
            <a:r>
              <a:rPr lang="en-US" b="1" i="0" u="none" strike="noStrike" dirty="0">
                <a:solidFill>
                  <a:srgbClr val="000000"/>
                </a:solidFill>
                <a:effectLst/>
              </a:rPr>
              <a:t>Examples:</a:t>
            </a:r>
            <a:endParaRPr lang="en-US" b="0" i="0" u="none" strike="noStrike" dirty="0">
              <a:solidFill>
                <a:srgbClr val="000000"/>
              </a:solidFill>
              <a:effectLst/>
            </a:endParaRPr>
          </a:p>
          <a:p>
            <a:pPr algn="l">
              <a:buFont typeface="Arial" panose="020B0604020202020204" pitchFamily="34" charset="0"/>
              <a:buChar char="•"/>
            </a:pPr>
            <a:r>
              <a:rPr lang="en-US" b="0" i="0" u="none" strike="noStrike" dirty="0">
                <a:solidFill>
                  <a:srgbClr val="000000"/>
                </a:solidFill>
                <a:effectLst/>
              </a:rPr>
              <a:t>Limited stamina in </a:t>
            </a:r>
            <a:r>
              <a:rPr lang="en-US" b="0" i="1" u="none" strike="noStrike" dirty="0">
                <a:solidFill>
                  <a:srgbClr val="000000"/>
                </a:solidFill>
                <a:effectLst/>
              </a:rPr>
              <a:t>Zelda: Breath of the Wild</a:t>
            </a:r>
            <a:r>
              <a:rPr lang="en-US" b="0" i="0" u="none" strike="noStrike" dirty="0">
                <a:solidFill>
                  <a:srgbClr val="000000"/>
                </a:solidFill>
                <a:effectLst/>
              </a:rPr>
              <a:t> to encourage strategy</a:t>
            </a:r>
          </a:p>
          <a:p>
            <a:pPr algn="l">
              <a:buFont typeface="Arial" panose="020B0604020202020204" pitchFamily="34" charset="0"/>
              <a:buChar char="•"/>
            </a:pPr>
            <a:r>
              <a:rPr lang="en-US" b="0" i="0" u="none" strike="noStrike" dirty="0">
                <a:solidFill>
                  <a:srgbClr val="000000"/>
                </a:solidFill>
                <a:effectLst/>
              </a:rPr>
              <a:t>Slow reload times in survival horror games to increase tension</a:t>
            </a:r>
          </a:p>
          <a:p>
            <a:pPr algn="l">
              <a:buFont typeface="Arial" panose="020B0604020202020204" pitchFamily="34" charset="0"/>
              <a:buChar char="•"/>
            </a:pPr>
            <a:r>
              <a:rPr lang="en-US" b="0" i="0" u="none" strike="noStrike" dirty="0">
                <a:solidFill>
                  <a:srgbClr val="000000"/>
                </a:solidFill>
                <a:effectLst/>
              </a:rPr>
              <a:t>Complex puzzles that challenge problem-solving skills</a:t>
            </a:r>
          </a:p>
          <a:p>
            <a:pPr algn="l">
              <a:buFont typeface="Arial" panose="020B0604020202020204" pitchFamily="34" charset="0"/>
              <a:buChar char="•"/>
            </a:pPr>
            <a:r>
              <a:rPr lang="en-US" b="0" i="0" u="none" strike="noStrike" dirty="0">
                <a:solidFill>
                  <a:srgbClr val="000000"/>
                </a:solidFill>
                <a:effectLst/>
              </a:rPr>
              <a:t>Restricted fast travel to encourage exploration</a:t>
            </a:r>
          </a:p>
          <a:p>
            <a:pPr algn="l"/>
            <a:endParaRPr lang="en-US" b="0" i="0" u="none" strike="noStrike" dirty="0">
              <a:solidFill>
                <a:srgbClr val="000000"/>
              </a:solidFill>
              <a:effectLst/>
              <a:latin typeface="-webkit-standard"/>
            </a:endParaRPr>
          </a:p>
          <a:p>
            <a:pPr algn="l"/>
            <a:r>
              <a:rPr lang="en-US" b="0" i="0" u="none" strike="noStrike" dirty="0">
                <a:solidFill>
                  <a:srgbClr val="000000"/>
                </a:solidFill>
                <a:effectLst/>
                <a:latin typeface="-webkit-standard"/>
              </a:rPr>
              <a:t>Not designed deliberately—usually a byproduct of poor design, oversight, or technical limitations.</a:t>
            </a:r>
          </a:p>
          <a:p>
            <a:r>
              <a:rPr lang="en-US" dirty="0"/>
              <a:t>- Confusing UI that makes it hard to find inventory</a:t>
            </a:r>
          </a:p>
          <a:p>
            <a:r>
              <a:rPr lang="en-US" dirty="0"/>
              <a:t>- Bugs or glitches that interrupt gameplay</a:t>
            </a:r>
          </a:p>
          <a:p>
            <a:r>
              <a:rPr lang="en-US" dirty="0"/>
              <a:t>- Poorly explained mechanics that leave players lost</a:t>
            </a:r>
          </a:p>
          <a:p>
            <a:r>
              <a:rPr lang="en-US" dirty="0"/>
              <a:t>- Menus that are hard to navigate with a controller</a:t>
            </a:r>
          </a:p>
          <a:p>
            <a:pPr algn="l"/>
            <a:endParaRPr lang="en-US" b="0" i="0" u="none" strike="noStrike" dirty="0">
              <a:solidFill>
                <a:srgbClr val="000000"/>
              </a:solidFill>
              <a:effectLst/>
            </a:endParaRPr>
          </a:p>
          <a:p>
            <a:pPr algn="l"/>
            <a:endParaRPr lang="en-US" b="0" i="0" u="none" strike="noStrike" dirty="0">
              <a:solidFill>
                <a:srgbClr val="000000"/>
              </a:solidFill>
              <a:effectLst/>
            </a:endParaRPr>
          </a:p>
          <a:p>
            <a:pPr algn="l"/>
            <a:r>
              <a:rPr lang="en-US" b="0" i="0" u="none" strike="noStrike" dirty="0">
                <a:solidFill>
                  <a:srgbClr val="000000"/>
                </a:solidFill>
                <a:effectLst/>
              </a:rPr>
              <a:t>While the </a:t>
            </a:r>
            <a:r>
              <a:rPr lang="en-US" b="1" i="0" u="none" strike="noStrike" dirty="0">
                <a:solidFill>
                  <a:srgbClr val="000000"/>
                </a:solidFill>
                <a:effectLst/>
              </a:rPr>
              <a:t>research process is similar</a:t>
            </a:r>
            <a:r>
              <a:rPr lang="en-US" b="0" i="0" u="none" strike="noStrike" dirty="0">
                <a:solidFill>
                  <a:srgbClr val="000000"/>
                </a:solidFill>
                <a:effectLst/>
              </a:rPr>
              <a:t> to traditional UX — using methods like interviews, observations, and surveys — the </a:t>
            </a:r>
            <a:r>
              <a:rPr lang="en-US" b="1" i="0" u="none" strike="noStrike" dirty="0">
                <a:solidFill>
                  <a:srgbClr val="000000"/>
                </a:solidFill>
                <a:effectLst/>
              </a:rPr>
              <a:t>questions and goals differ</a:t>
            </a:r>
            <a:r>
              <a:rPr lang="en-US" b="0" i="0" u="none" strike="noStrike" dirty="0">
                <a:solidFill>
                  <a:srgbClr val="000000"/>
                </a:solidFill>
                <a:effectLst/>
              </a:rPr>
              <a:t>. Games user research (GUR) often involves specialized methods, such as:</a:t>
            </a:r>
          </a:p>
          <a:p>
            <a:pPr algn="l"/>
            <a:endParaRPr lang="en-US" b="0" i="0" u="none" strike="noStrike" dirty="0">
              <a:solidFill>
                <a:srgbClr val="000000"/>
              </a:solidFill>
              <a:effectLst/>
            </a:endParaRPr>
          </a:p>
          <a:p>
            <a:pPr algn="l">
              <a:buFont typeface="Arial" panose="020B0604020202020204" pitchFamily="34" charset="0"/>
              <a:buChar char="•"/>
            </a:pPr>
            <a:r>
              <a:rPr lang="en-US" b="1" i="0" u="none" strike="noStrike" dirty="0">
                <a:solidFill>
                  <a:srgbClr val="000000"/>
                </a:solidFill>
                <a:effectLst/>
              </a:rPr>
              <a:t>Playtesting:</a:t>
            </a:r>
            <a:r>
              <a:rPr lang="en-US" b="0" i="0" u="none" strike="noStrike" dirty="0">
                <a:solidFill>
                  <a:srgbClr val="000000"/>
                </a:solidFill>
                <a:effectLst/>
              </a:rPr>
              <a:t> Watching players interact with a game build; used throughout development. </a:t>
            </a:r>
          </a:p>
          <a:p>
            <a:pPr algn="l">
              <a:buFont typeface="Arial" panose="020B0604020202020204" pitchFamily="34" charset="0"/>
              <a:buChar char="•"/>
            </a:pPr>
            <a:r>
              <a:rPr lang="en-US" b="1" i="0" u="none" strike="noStrike" dirty="0">
                <a:solidFill>
                  <a:srgbClr val="000000"/>
                </a:solidFill>
                <a:effectLst/>
              </a:rPr>
              <a:t>Biometrics / Psychophysiology:</a:t>
            </a:r>
            <a:r>
              <a:rPr lang="en-US" b="0" i="0" u="none" strike="noStrike" dirty="0">
                <a:solidFill>
                  <a:srgbClr val="000000"/>
                </a:solidFill>
                <a:effectLst/>
              </a:rPr>
              <a:t> Using tools like eye tracking, heart rate, or skin response to measure real-time emotional reactions.</a:t>
            </a:r>
          </a:p>
          <a:p>
            <a:pPr algn="l">
              <a:buFont typeface="Arial" panose="020B0604020202020204" pitchFamily="34" charset="0"/>
              <a:buChar char="•"/>
            </a:pPr>
            <a:r>
              <a:rPr lang="en-US" b="1" i="0" u="none" strike="noStrike" dirty="0">
                <a:solidFill>
                  <a:srgbClr val="000000"/>
                </a:solidFill>
                <a:effectLst/>
              </a:rPr>
              <a:t>Telemetry (Game Analytics):</a:t>
            </a:r>
            <a:r>
              <a:rPr lang="en-US" b="0" i="0" u="none" strike="noStrike" dirty="0">
                <a:solidFill>
                  <a:srgbClr val="000000"/>
                </a:solidFill>
                <a:effectLst/>
              </a:rPr>
              <a:t> Analyzing large-scale behavioral data — e.g., where players fail, quit, or succeed.</a:t>
            </a:r>
          </a:p>
          <a:p>
            <a:pPr algn="l">
              <a:buFont typeface="Arial" panose="020B0604020202020204" pitchFamily="34" charset="0"/>
              <a:buChar char="•"/>
            </a:pPr>
            <a:endParaRPr lang="en-US" b="0" i="0" u="none" strike="noStrike" dirty="0">
              <a:solidFill>
                <a:srgbClr val="000000"/>
              </a:solidFill>
              <a:effectLst/>
            </a:endParaRPr>
          </a:p>
          <a:p>
            <a:pPr algn="l">
              <a:buFont typeface="Arial" panose="020B0604020202020204" pitchFamily="34" charset="0"/>
              <a:buNone/>
            </a:pPr>
            <a:r>
              <a:rPr lang="en-US" b="0" i="0" u="none" strike="noStrike" dirty="0">
                <a:solidFill>
                  <a:srgbClr val="000000"/>
                </a:solidFill>
                <a:effectLst/>
                <a:latin typeface="+mn-lt"/>
              </a:rPr>
              <a:t>An example is the </a:t>
            </a:r>
            <a:r>
              <a:rPr lang="en-US" b="0" i="0" u="none" strike="noStrike" dirty="0">
                <a:solidFill>
                  <a:srgbClr val="000000"/>
                </a:solidFill>
                <a:effectLst/>
                <a:latin typeface="Source Serif Pro Variable"/>
              </a:rPr>
              <a:t>kill/death ratio: if designers made the game interface too good at killing bosses, that would be </a:t>
            </a:r>
            <a:r>
              <a:rPr lang="en-US" b="0" i="1" u="none" strike="noStrike" dirty="0">
                <a:solidFill>
                  <a:srgbClr val="000000"/>
                </a:solidFill>
                <a:effectLst/>
                <a:latin typeface="Source Serif Pro Variable"/>
              </a:rPr>
              <a:t>efficient</a:t>
            </a:r>
            <a:r>
              <a:rPr lang="en-US" b="0" i="0" u="none" strike="noStrike" dirty="0">
                <a:solidFill>
                  <a:srgbClr val="000000"/>
                </a:solidFill>
                <a:effectLst/>
                <a:latin typeface="Source Serif Pro Variable"/>
              </a:rPr>
              <a:t>, but not </a:t>
            </a:r>
            <a:r>
              <a:rPr lang="en-US" b="0" i="1" u="none" strike="noStrike" dirty="0">
                <a:solidFill>
                  <a:srgbClr val="000000"/>
                </a:solidFill>
                <a:effectLst/>
                <a:latin typeface="Source Serif Pro Variable"/>
              </a:rPr>
              <a:t>fun</a:t>
            </a:r>
            <a:r>
              <a:rPr lang="en-US" b="0" i="0" u="none" strike="noStrike" dirty="0">
                <a:solidFill>
                  <a:srgbClr val="000000"/>
                </a:solidFill>
                <a:effectLst/>
                <a:latin typeface="Source Serif Pro Variable"/>
              </a:rPr>
              <a:t>. Gamers need just the right level of challenge. </a:t>
            </a:r>
            <a:endParaRPr lang="en-US" b="0" i="0" u="none" strike="noStrike" dirty="0">
              <a:solidFill>
                <a:srgbClr val="000000"/>
              </a:solidFill>
              <a:effectLst/>
            </a:endParaRPr>
          </a:p>
        </p:txBody>
      </p:sp>
      <p:sp>
        <p:nvSpPr>
          <p:cNvPr id="4" name="Slide Number Placeholder 3"/>
          <p:cNvSpPr>
            <a:spLocks noGrp="1"/>
          </p:cNvSpPr>
          <p:nvPr>
            <p:ph type="sldNum" sz="quarter" idx="5"/>
          </p:nvPr>
        </p:nvSpPr>
        <p:spPr/>
        <p:txBody>
          <a:bodyPr/>
          <a:lstStyle/>
          <a:p>
            <a:fld id="{29B32844-14E9-B14A-BD2F-8C42748E04A1}" type="slidenum">
              <a:rPr lang="en-US" smtClean="0"/>
              <a:t>5</a:t>
            </a:fld>
            <a:endParaRPr lang="en-US"/>
          </a:p>
        </p:txBody>
      </p:sp>
    </p:spTree>
    <p:extLst>
      <p:ext uri="{BB962C8B-B14F-4D97-AF65-F5344CB8AC3E}">
        <p14:creationId xmlns:p14="http://schemas.microsoft.com/office/powerpoint/2010/main" val="1828130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u="none" strike="noStrike" dirty="0">
                <a:solidFill>
                  <a:srgbClr val="000000"/>
                </a:solidFill>
                <a:effectLst/>
              </a:rPr>
              <a:t>Let’s come back to </a:t>
            </a:r>
            <a:r>
              <a:rPr lang="en-US" b="1" i="0" u="none" strike="noStrike" dirty="0">
                <a:solidFill>
                  <a:srgbClr val="000000"/>
                </a:solidFill>
                <a:effectLst/>
              </a:rPr>
              <a:t>playtesting</a:t>
            </a:r>
            <a:r>
              <a:rPr lang="en-US" b="0" i="0" u="none" strike="noStrike" dirty="0">
                <a:solidFill>
                  <a:srgbClr val="000000"/>
                </a:solidFill>
                <a:effectLst/>
              </a:rPr>
              <a:t>.</a:t>
            </a:r>
          </a:p>
          <a:p>
            <a:pPr algn="l"/>
            <a:endParaRPr lang="en-US" b="0" i="0" u="none" strike="noStrike" dirty="0">
              <a:solidFill>
                <a:srgbClr val="000000"/>
              </a:solidFill>
              <a:effectLst/>
            </a:endParaRPr>
          </a:p>
          <a:p>
            <a:pPr algn="l"/>
            <a:r>
              <a:rPr lang="en-US" b="0" i="0" u="none" strike="noStrike" dirty="0">
                <a:solidFill>
                  <a:srgbClr val="000000"/>
                </a:solidFill>
                <a:effectLst/>
              </a:rPr>
              <a:t>While playtesting is a common practice among game developers and designers — often just putting people in front of the game — it’s important to note that </a:t>
            </a:r>
            <a:r>
              <a:rPr lang="en-US" b="1" i="0" u="none" strike="noStrike" dirty="0">
                <a:solidFill>
                  <a:srgbClr val="000000"/>
                </a:solidFill>
                <a:effectLst/>
              </a:rPr>
              <a:t>developers are not always trained researchers</a:t>
            </a:r>
            <a:r>
              <a:rPr lang="en-US" b="0" i="0" u="none" strike="noStrike" dirty="0">
                <a:solidFill>
                  <a:srgbClr val="000000"/>
                </a:solidFill>
                <a:effectLst/>
              </a:rPr>
              <a:t>. As a result, their playtests can run into several pitfalls, such as:</a:t>
            </a:r>
          </a:p>
          <a:p>
            <a:pPr algn="l"/>
            <a:endParaRPr lang="en-US" b="0" i="0" u="none" strike="noStrike" dirty="0">
              <a:solidFill>
                <a:srgbClr val="000000"/>
              </a:solidFill>
              <a:effectLst/>
            </a:endParaRPr>
          </a:p>
          <a:p>
            <a:pPr algn="l">
              <a:buFont typeface="Arial" panose="020B0604020202020204" pitchFamily="34" charset="0"/>
              <a:buChar char="•"/>
            </a:pPr>
            <a:r>
              <a:rPr lang="en-US" b="0" i="0" u="none" strike="noStrike" dirty="0">
                <a:solidFill>
                  <a:srgbClr val="000000"/>
                </a:solidFill>
                <a:effectLst/>
              </a:rPr>
              <a:t>Testing with the </a:t>
            </a:r>
            <a:r>
              <a:rPr lang="en-US" b="1" i="0" u="none" strike="noStrike" dirty="0">
                <a:solidFill>
                  <a:srgbClr val="000000"/>
                </a:solidFill>
                <a:effectLst/>
              </a:rPr>
              <a:t>wrong participants</a:t>
            </a:r>
            <a:r>
              <a:rPr lang="en-US" b="0" i="0" u="none" strike="noStrike" dirty="0">
                <a:solidFill>
                  <a:srgbClr val="000000"/>
                </a:solidFill>
                <a:effectLst/>
              </a:rPr>
              <a:t> (e.g., themselves, coworkers, or overly familiar players)</a:t>
            </a:r>
          </a:p>
          <a:p>
            <a:pPr algn="l">
              <a:buFont typeface="Arial" panose="020B0604020202020204" pitchFamily="34" charset="0"/>
              <a:buChar char="•"/>
            </a:pPr>
            <a:r>
              <a:rPr lang="en-US" b="0" i="0" u="none" strike="noStrike" dirty="0">
                <a:solidFill>
                  <a:srgbClr val="000000"/>
                </a:solidFill>
                <a:effectLst/>
              </a:rPr>
              <a:t>Conducting playtests </a:t>
            </a:r>
            <a:r>
              <a:rPr lang="en-US" b="1" i="0" u="none" strike="noStrike" dirty="0">
                <a:solidFill>
                  <a:srgbClr val="000000"/>
                </a:solidFill>
                <a:effectLst/>
              </a:rPr>
              <a:t>too late</a:t>
            </a:r>
            <a:r>
              <a:rPr lang="en-US" b="0" i="0" u="none" strike="noStrike" dirty="0">
                <a:solidFill>
                  <a:srgbClr val="000000"/>
                </a:solidFill>
                <a:effectLst/>
              </a:rPr>
              <a:t> in development</a:t>
            </a:r>
          </a:p>
          <a:p>
            <a:pPr algn="l">
              <a:buFont typeface="Arial" panose="020B0604020202020204" pitchFamily="34" charset="0"/>
              <a:buChar char="•"/>
            </a:pPr>
            <a:r>
              <a:rPr lang="en-US" b="0" i="0" u="none" strike="noStrike" dirty="0">
                <a:solidFill>
                  <a:srgbClr val="000000"/>
                </a:solidFill>
                <a:effectLst/>
              </a:rPr>
              <a:t>Using </a:t>
            </a:r>
            <a:r>
              <a:rPr lang="en-US" b="1" i="0" u="none" strike="noStrike" dirty="0">
                <a:solidFill>
                  <a:srgbClr val="000000"/>
                </a:solidFill>
                <a:effectLst/>
              </a:rPr>
              <a:t>inappropriate or inconsistent research methods</a:t>
            </a:r>
            <a:endParaRPr lang="en-US" b="0" i="0" u="none" strike="noStrike" dirty="0">
              <a:solidFill>
                <a:srgbClr val="000000"/>
              </a:solidFill>
              <a:effectLst/>
            </a:endParaRPr>
          </a:p>
          <a:p>
            <a:pPr algn="l">
              <a:buFont typeface="Arial" panose="020B0604020202020204" pitchFamily="34" charset="0"/>
              <a:buChar char="•"/>
            </a:pPr>
            <a:r>
              <a:rPr lang="en-US" b="0" i="0" u="none" strike="noStrike" dirty="0">
                <a:solidFill>
                  <a:srgbClr val="000000"/>
                </a:solidFill>
                <a:effectLst/>
              </a:rPr>
              <a:t>Designing </a:t>
            </a:r>
            <a:r>
              <a:rPr lang="en-US" b="1" i="0" u="none" strike="noStrike" dirty="0">
                <a:solidFill>
                  <a:srgbClr val="000000"/>
                </a:solidFill>
                <a:effectLst/>
              </a:rPr>
              <a:t>biased questions</a:t>
            </a:r>
            <a:r>
              <a:rPr lang="en-US" b="0" i="0" u="none" strike="noStrike" dirty="0">
                <a:solidFill>
                  <a:srgbClr val="000000"/>
                </a:solidFill>
                <a:effectLst/>
              </a:rPr>
              <a:t> or misinterpreting data</a:t>
            </a:r>
          </a:p>
          <a:p>
            <a:pPr algn="l">
              <a:buFont typeface="Arial" panose="020B0604020202020204" pitchFamily="34" charset="0"/>
              <a:buChar char="•"/>
            </a:pPr>
            <a:r>
              <a:rPr lang="en-US" b="0" i="0" u="none" strike="noStrike" dirty="0">
                <a:solidFill>
                  <a:srgbClr val="000000"/>
                </a:solidFill>
                <a:effectLst/>
              </a:rPr>
              <a:t>Focusing only on </a:t>
            </a:r>
            <a:r>
              <a:rPr lang="en-US" b="1" i="0" u="none" strike="noStrike" dirty="0">
                <a:solidFill>
                  <a:srgbClr val="000000"/>
                </a:solidFill>
                <a:effectLst/>
              </a:rPr>
              <a:t>bug finding</a:t>
            </a:r>
            <a:r>
              <a:rPr lang="en-US" b="0" i="0" u="none" strike="noStrike" dirty="0">
                <a:solidFill>
                  <a:srgbClr val="000000"/>
                </a:solidFill>
                <a:effectLst/>
              </a:rPr>
              <a:t>, rather than the overall player experience</a:t>
            </a:r>
          </a:p>
          <a:p>
            <a:pPr algn="l">
              <a:buFont typeface="Arial" panose="020B0604020202020204" pitchFamily="34" charset="0"/>
              <a:buChar char="•"/>
            </a:pPr>
            <a:endParaRPr lang="en-US" b="0" i="0" u="none" strike="noStrike" dirty="0">
              <a:solidFill>
                <a:srgbClr val="000000"/>
              </a:solidFill>
              <a:effectLst/>
            </a:endParaRPr>
          </a:p>
          <a:p>
            <a:pPr algn="l">
              <a:buFont typeface="Arial" panose="020B0604020202020204" pitchFamily="34" charset="0"/>
              <a:buNone/>
            </a:pPr>
            <a:r>
              <a:rPr lang="en-US" b="0" i="0" u="none" strike="noStrike" dirty="0">
                <a:solidFill>
                  <a:srgbClr val="000000"/>
                </a:solidFill>
                <a:effectLst/>
                <a:latin typeface="-webkit-standard"/>
              </a:rPr>
              <a:t>In addition, playtesting is often confused with Quality Assurance; however, they are different. </a:t>
            </a:r>
            <a:r>
              <a:rPr lang="en-US" b="1" i="0" u="none" strike="noStrike" dirty="0">
                <a:solidFill>
                  <a:srgbClr val="000000"/>
                </a:solidFill>
                <a:effectLst/>
              </a:rPr>
              <a:t>Playtesting focuses on the player experience</a:t>
            </a:r>
            <a:r>
              <a:rPr lang="en-US" b="0" i="0" u="none" strike="noStrike" dirty="0">
                <a:solidFill>
                  <a:srgbClr val="000000"/>
                </a:solidFill>
                <a:effectLst/>
                <a:latin typeface="-webkit-standard"/>
              </a:rPr>
              <a:t> — how fun, engaging, and intuitive the game is — while </a:t>
            </a:r>
            <a:r>
              <a:rPr lang="en-US" b="1" i="0" u="none" strike="noStrike" dirty="0">
                <a:solidFill>
                  <a:srgbClr val="000000"/>
                </a:solidFill>
                <a:effectLst/>
              </a:rPr>
              <a:t>QA (Quality Assurance) is concerned with the technical performance of the game</a:t>
            </a:r>
            <a:r>
              <a:rPr lang="en-US" b="0" i="0" u="none" strike="noStrike" dirty="0">
                <a:solidFill>
                  <a:srgbClr val="000000"/>
                </a:solidFill>
                <a:effectLst/>
                <a:latin typeface="-webkit-standard"/>
              </a:rPr>
              <a:t>. QA testers look for bugs, glitches, crashes, and other issues that could break gameplay. Their goal is to ensure the game runs smoothly, follows requirements, and is free of defects before release.</a:t>
            </a:r>
            <a:endParaRPr lang="en-US" b="0" i="0" u="none" strike="noStrike" dirty="0">
              <a:solidFill>
                <a:srgbClr val="0000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u="none" strike="noStrike" dirty="0">
              <a:solidFill>
                <a:srgbClr val="000000"/>
              </a:solidFill>
              <a:effectLst/>
            </a:endParaRPr>
          </a:p>
          <a:p>
            <a:endParaRPr lang="en-US" dirty="0"/>
          </a:p>
        </p:txBody>
      </p:sp>
      <p:sp>
        <p:nvSpPr>
          <p:cNvPr id="4" name="Slide Number Placeholder 3"/>
          <p:cNvSpPr>
            <a:spLocks noGrp="1"/>
          </p:cNvSpPr>
          <p:nvPr>
            <p:ph type="sldNum" sz="quarter" idx="5"/>
          </p:nvPr>
        </p:nvSpPr>
        <p:spPr/>
        <p:txBody>
          <a:bodyPr/>
          <a:lstStyle/>
          <a:p>
            <a:fld id="{29B32844-14E9-B14A-BD2F-8C42748E04A1}" type="slidenum">
              <a:rPr lang="en-US" smtClean="0"/>
              <a:t>6</a:t>
            </a:fld>
            <a:endParaRPr lang="en-US"/>
          </a:p>
        </p:txBody>
      </p:sp>
    </p:spTree>
    <p:extLst>
      <p:ext uri="{BB962C8B-B14F-4D97-AF65-F5344CB8AC3E}">
        <p14:creationId xmlns:p14="http://schemas.microsoft.com/office/powerpoint/2010/main" val="34943060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process is very similar to that of mainstream ux. </a:t>
            </a:r>
          </a:p>
        </p:txBody>
      </p:sp>
      <p:sp>
        <p:nvSpPr>
          <p:cNvPr id="4" name="Slide Number Placeholder 3"/>
          <p:cNvSpPr>
            <a:spLocks noGrp="1"/>
          </p:cNvSpPr>
          <p:nvPr>
            <p:ph type="sldNum" sz="quarter" idx="5"/>
          </p:nvPr>
        </p:nvSpPr>
        <p:spPr/>
        <p:txBody>
          <a:bodyPr/>
          <a:lstStyle/>
          <a:p>
            <a:fld id="{29B32844-14E9-B14A-BD2F-8C42748E04A1}" type="slidenum">
              <a:rPr lang="en-US" smtClean="0"/>
              <a:t>7</a:t>
            </a:fld>
            <a:endParaRPr lang="en-US"/>
          </a:p>
        </p:txBody>
      </p:sp>
    </p:spTree>
    <p:extLst>
      <p:ext uri="{BB962C8B-B14F-4D97-AF65-F5344CB8AC3E}">
        <p14:creationId xmlns:p14="http://schemas.microsoft.com/office/powerpoint/2010/main" val="13697002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dirty="0">
                <a:solidFill>
                  <a:srgbClr val="000000"/>
                </a:solidFill>
                <a:effectLst/>
                <a:latin typeface="-webkit-standard"/>
              </a:rPr>
              <a:t>This video is a great example of how thoughtful design  that aligns with how players expect to interact with a game can enhance the overall experience—even if it’s not explicitly about user research, it shows how good UX can significantly increase enjoyment and immersion. Again, this comes from running research through the game development process. </a:t>
            </a:r>
          </a:p>
          <a:p>
            <a:endParaRPr lang="en-US" b="0" i="0" u="none" strike="noStrike" dirty="0">
              <a:solidFill>
                <a:srgbClr val="000000"/>
              </a:solidFill>
              <a:effectLst/>
              <a:latin typeface="-webkit-standard"/>
            </a:endParaRPr>
          </a:p>
          <a:p>
            <a:endParaRPr lang="en-US" dirty="0"/>
          </a:p>
        </p:txBody>
      </p:sp>
      <p:sp>
        <p:nvSpPr>
          <p:cNvPr id="4" name="Slide Number Placeholder 3"/>
          <p:cNvSpPr>
            <a:spLocks noGrp="1"/>
          </p:cNvSpPr>
          <p:nvPr>
            <p:ph type="sldNum" sz="quarter" idx="5"/>
          </p:nvPr>
        </p:nvSpPr>
        <p:spPr/>
        <p:txBody>
          <a:bodyPr/>
          <a:lstStyle/>
          <a:p>
            <a:fld id="{29B32844-14E9-B14A-BD2F-8C42748E04A1}" type="slidenum">
              <a:rPr lang="en-US" smtClean="0"/>
              <a:t>8</a:t>
            </a:fld>
            <a:endParaRPr lang="en-US"/>
          </a:p>
        </p:txBody>
      </p:sp>
    </p:spTree>
    <p:extLst>
      <p:ext uri="{BB962C8B-B14F-4D97-AF65-F5344CB8AC3E}">
        <p14:creationId xmlns:p14="http://schemas.microsoft.com/office/powerpoint/2010/main" val="5408582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0" u="none" strike="noStrike" dirty="0">
              <a:solidFill>
                <a:srgbClr val="000000"/>
              </a:solidFill>
              <a:effectLst/>
              <a:latin typeface="-webkit-standard"/>
            </a:endParaRPr>
          </a:p>
          <a:p>
            <a:endParaRPr lang="en-US" dirty="0"/>
          </a:p>
        </p:txBody>
      </p:sp>
      <p:sp>
        <p:nvSpPr>
          <p:cNvPr id="4" name="Slide Number Placeholder 3"/>
          <p:cNvSpPr>
            <a:spLocks noGrp="1"/>
          </p:cNvSpPr>
          <p:nvPr>
            <p:ph type="sldNum" sz="quarter" idx="5"/>
          </p:nvPr>
        </p:nvSpPr>
        <p:spPr/>
        <p:txBody>
          <a:bodyPr/>
          <a:lstStyle/>
          <a:p>
            <a:fld id="{29B32844-14E9-B14A-BD2F-8C42748E04A1}" type="slidenum">
              <a:rPr lang="en-US" smtClean="0"/>
              <a:t>9</a:t>
            </a:fld>
            <a:endParaRPr lang="en-US"/>
          </a:p>
        </p:txBody>
      </p:sp>
    </p:spTree>
    <p:extLst>
      <p:ext uri="{BB962C8B-B14F-4D97-AF65-F5344CB8AC3E}">
        <p14:creationId xmlns:p14="http://schemas.microsoft.com/office/powerpoint/2010/main" val="31304639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u="none" strike="noStrike" dirty="0">
                <a:solidFill>
                  <a:srgbClr val="000000"/>
                </a:solidFill>
                <a:effectLst/>
                <a:latin typeface="-webkit-standard"/>
              </a:rPr>
              <a:t>As you can see, involving the right users in the development process can be very impactful. When only game studio employees play the game during development, their familiarity with the design introduces bias—they’re more likely to overlook issues because they already understand how everything works. While this approach may seem efficient, saving time and money in the short term and helping the game launch sooner, it can backfire. Once released, real players might struggle with the story, game mechanics, or UI. They may find the game boring, confusing, or too difficult to understand. As a result, the game may receive poor reviews, sell fewer copies, and ultimately be considered a failure by the industry.</a:t>
            </a:r>
            <a:endParaRPr lang="en-US" b="0" i="0" u="none" strike="noStrike" dirty="0">
              <a:solidFill>
                <a:srgbClr val="2B2B2B"/>
              </a:solidFill>
              <a:effectLst/>
              <a:latin typeface="Merriweather" pitchFamily="2" charset="77"/>
            </a:endParaRPr>
          </a:p>
          <a:p>
            <a:endParaRPr lang="en-US" b="0" i="0" u="none" strike="noStrike" dirty="0">
              <a:solidFill>
                <a:srgbClr val="2B2B2B"/>
              </a:solidFill>
              <a:effectLst/>
              <a:latin typeface="Merriweather" pitchFamily="2" charset="77"/>
              <a:hlinkClick r:id="rId3" tooltip="What is Marketing in UX/UI Design?"/>
            </a:endParaRPr>
          </a:p>
          <a:p>
            <a:pPr algn="l"/>
            <a:r>
              <a:rPr lang="en-US" b="0" i="0" u="none" strike="noStrike" dirty="0">
                <a:solidFill>
                  <a:srgbClr val="000000"/>
                </a:solidFill>
                <a:effectLst/>
                <a:latin typeface="-webkit-standard"/>
              </a:rPr>
              <a:t>Just like in mainstream UX, time constraints and budget limitations can present major challenges for Games User Research. Without enough time or resources, teams may struggle to recruit the right participants or conduct meaningful testing. As a result, research can be rushed—or skipped altogether</a:t>
            </a:r>
          </a:p>
          <a:p>
            <a:pPr algn="l"/>
            <a:endParaRPr lang="en-US" b="0" i="0" u="none" strike="noStrike" dirty="0">
              <a:solidFill>
                <a:srgbClr val="000000"/>
              </a:solidFill>
              <a:effectLst/>
            </a:endParaRPr>
          </a:p>
          <a:p>
            <a:pPr algn="l"/>
            <a:r>
              <a:rPr lang="en-US" b="0" i="0" u="none" strike="noStrike" dirty="0">
                <a:solidFill>
                  <a:srgbClr val="000000"/>
                </a:solidFill>
                <a:effectLst/>
                <a:latin typeface="-webkit-standard"/>
              </a:rPr>
              <a:t>In addition to these challenges, secrecy plays a much larger role in games than in many other industries. While mainstream UX often involves confidentiality around specific features, in games, the entire product is typically kept under wraps until launch.</a:t>
            </a:r>
          </a:p>
          <a:p>
            <a:pPr algn="l"/>
            <a:endParaRPr lang="en-US" b="0" i="0" u="none" strike="noStrike" dirty="0">
              <a:solidFill>
                <a:srgbClr val="000000"/>
              </a:solidFill>
              <a:effectLst/>
            </a:endParaRPr>
          </a:p>
          <a:p>
            <a:pPr algn="l"/>
            <a:r>
              <a:rPr lang="en-US" b="0" i="0" u="none" strike="noStrike" dirty="0">
                <a:solidFill>
                  <a:srgbClr val="000000"/>
                </a:solidFill>
                <a:effectLst/>
              </a:rPr>
              <a:t>Marketing and advertising are critical to a game’s commercial success, so studios go to great lengths to prevent leaks that could undermine planned campaigns. </a:t>
            </a:r>
            <a:r>
              <a:rPr lang="en-US" b="0" i="0" u="none" strike="noStrike" dirty="0">
                <a:solidFill>
                  <a:srgbClr val="000000"/>
                </a:solidFill>
                <a:effectLst/>
                <a:latin typeface="-webkit-standard"/>
              </a:rPr>
              <a:t>Because of this, Games User Research often uses different approaches than traditional UX. Researchers might rely on internal playtests, trusted user panels under NDA, or lab-based studies with strict confidentiality controls. While the methods may vary, the goal remains the same: ensuring the game delivers the intended experience for players.</a:t>
            </a:r>
            <a:endParaRPr lang="en-US" b="0" i="0" u="none" strike="noStrike" dirty="0">
              <a:solidFill>
                <a:srgbClr val="2B2B2B"/>
              </a:solidFill>
              <a:effectLst/>
              <a:latin typeface="Merriweather" pitchFamily="2" charset="77"/>
            </a:endParaRPr>
          </a:p>
        </p:txBody>
      </p:sp>
      <p:sp>
        <p:nvSpPr>
          <p:cNvPr id="4" name="Slide Number Placeholder 3"/>
          <p:cNvSpPr>
            <a:spLocks noGrp="1"/>
          </p:cNvSpPr>
          <p:nvPr>
            <p:ph type="sldNum" sz="quarter" idx="5"/>
          </p:nvPr>
        </p:nvSpPr>
        <p:spPr/>
        <p:txBody>
          <a:bodyPr/>
          <a:lstStyle/>
          <a:p>
            <a:fld id="{29B32844-14E9-B14A-BD2F-8C42748E04A1}" type="slidenum">
              <a:rPr lang="en-US" smtClean="0"/>
              <a:t>10</a:t>
            </a:fld>
            <a:endParaRPr lang="en-US"/>
          </a:p>
        </p:txBody>
      </p:sp>
    </p:spTree>
    <p:extLst>
      <p:ext uri="{BB962C8B-B14F-4D97-AF65-F5344CB8AC3E}">
        <p14:creationId xmlns:p14="http://schemas.microsoft.com/office/powerpoint/2010/main" val="41814896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B32844-14E9-B14A-BD2F-8C42748E04A1}" type="slidenum">
              <a:rPr lang="en-US" smtClean="0"/>
              <a:t>11</a:t>
            </a:fld>
            <a:endParaRPr lang="en-US"/>
          </a:p>
        </p:txBody>
      </p:sp>
    </p:spTree>
    <p:extLst>
      <p:ext uri="{BB962C8B-B14F-4D97-AF65-F5344CB8AC3E}">
        <p14:creationId xmlns:p14="http://schemas.microsoft.com/office/powerpoint/2010/main" val="18028262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CBC10B3-7F53-B24B-81CB-8FD7B4245951}" type="datetimeFigureOut">
              <a:rPr lang="en-US" smtClean="0"/>
              <a:t>4/9/25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E2874C-46A3-EA4B-BC32-DF0016BF3371}" type="slidenum">
              <a:rPr lang="en-US" smtClean="0"/>
              <a:t>‹#›</a:t>
            </a:fld>
            <a:endParaRPr lang="en-US"/>
          </a:p>
        </p:txBody>
      </p:sp>
    </p:spTree>
    <p:extLst>
      <p:ext uri="{BB962C8B-B14F-4D97-AF65-F5344CB8AC3E}">
        <p14:creationId xmlns:p14="http://schemas.microsoft.com/office/powerpoint/2010/main" val="35354670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BC10B3-7F53-B24B-81CB-8FD7B4245951}" type="datetimeFigureOut">
              <a:rPr lang="en-US" smtClean="0"/>
              <a:t>4/9/25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E2874C-46A3-EA4B-BC32-DF0016BF3371}" type="slidenum">
              <a:rPr lang="en-US" smtClean="0"/>
              <a:t>‹#›</a:t>
            </a:fld>
            <a:endParaRPr lang="en-US"/>
          </a:p>
        </p:txBody>
      </p:sp>
    </p:spTree>
    <p:extLst>
      <p:ext uri="{BB962C8B-B14F-4D97-AF65-F5344CB8AC3E}">
        <p14:creationId xmlns:p14="http://schemas.microsoft.com/office/powerpoint/2010/main" val="11851406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CBC10B3-7F53-B24B-81CB-8FD7B4245951}" type="datetimeFigureOut">
              <a:rPr lang="en-US" smtClean="0"/>
              <a:t>4/9/25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E2874C-46A3-EA4B-BC32-DF0016BF3371}" type="slidenum">
              <a:rPr lang="en-US" smtClean="0"/>
              <a:t>‹#›</a:t>
            </a:fld>
            <a:endParaRPr lang="en-US"/>
          </a:p>
        </p:txBody>
      </p:sp>
    </p:spTree>
    <p:extLst>
      <p:ext uri="{BB962C8B-B14F-4D97-AF65-F5344CB8AC3E}">
        <p14:creationId xmlns:p14="http://schemas.microsoft.com/office/powerpoint/2010/main" val="3729338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CBC10B3-7F53-B24B-81CB-8FD7B4245951}" type="datetimeFigureOut">
              <a:rPr lang="en-US" smtClean="0"/>
              <a:t>4/9/25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E2874C-46A3-EA4B-BC32-DF0016BF3371}" type="slidenum">
              <a:rPr lang="en-US" smtClean="0"/>
              <a:t>‹#›</a:t>
            </a:fld>
            <a:endParaRPr lang="en-US"/>
          </a:p>
        </p:txBody>
      </p:sp>
    </p:spTree>
    <p:extLst>
      <p:ext uri="{BB962C8B-B14F-4D97-AF65-F5344CB8AC3E}">
        <p14:creationId xmlns:p14="http://schemas.microsoft.com/office/powerpoint/2010/main" val="36157580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CBC10B3-7F53-B24B-81CB-8FD7B4245951}" type="datetimeFigureOut">
              <a:rPr lang="en-US" smtClean="0"/>
              <a:t>4/9/25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FE2874C-46A3-EA4B-BC32-DF0016BF3371}" type="slidenum">
              <a:rPr lang="en-US" smtClean="0"/>
              <a:t>‹#›</a:t>
            </a:fld>
            <a:endParaRPr lang="en-US"/>
          </a:p>
        </p:txBody>
      </p:sp>
    </p:spTree>
    <p:extLst>
      <p:ext uri="{BB962C8B-B14F-4D97-AF65-F5344CB8AC3E}">
        <p14:creationId xmlns:p14="http://schemas.microsoft.com/office/powerpoint/2010/main" val="315714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CBC10B3-7F53-B24B-81CB-8FD7B4245951}" type="datetimeFigureOut">
              <a:rPr lang="en-US" smtClean="0"/>
              <a:t>4/9/25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FE2874C-46A3-EA4B-BC32-DF0016BF3371}" type="slidenum">
              <a:rPr lang="en-US" smtClean="0"/>
              <a:t>‹#›</a:t>
            </a:fld>
            <a:endParaRPr lang="en-US"/>
          </a:p>
        </p:txBody>
      </p:sp>
    </p:spTree>
    <p:extLst>
      <p:ext uri="{BB962C8B-B14F-4D97-AF65-F5344CB8AC3E}">
        <p14:creationId xmlns:p14="http://schemas.microsoft.com/office/powerpoint/2010/main" val="2013798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BC10B3-7F53-B24B-81CB-8FD7B4245951}" type="datetimeFigureOut">
              <a:rPr lang="en-US" smtClean="0"/>
              <a:t>4/9/25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FE2874C-46A3-EA4B-BC32-DF0016BF3371}" type="slidenum">
              <a:rPr lang="en-US" smtClean="0"/>
              <a:t>‹#›</a:t>
            </a:fld>
            <a:endParaRPr lang="en-US"/>
          </a:p>
        </p:txBody>
      </p:sp>
    </p:spTree>
    <p:extLst>
      <p:ext uri="{BB962C8B-B14F-4D97-AF65-F5344CB8AC3E}">
        <p14:creationId xmlns:p14="http://schemas.microsoft.com/office/powerpoint/2010/main" val="34796811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CBC10B3-7F53-B24B-81CB-8FD7B4245951}" type="datetimeFigureOut">
              <a:rPr lang="en-US" smtClean="0"/>
              <a:t>4/9/25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E2874C-46A3-EA4B-BC32-DF0016BF3371}" type="slidenum">
              <a:rPr lang="en-US" smtClean="0"/>
              <a:t>‹#›</a:t>
            </a:fld>
            <a:endParaRPr lang="en-US"/>
          </a:p>
        </p:txBody>
      </p:sp>
    </p:spTree>
    <p:extLst>
      <p:ext uri="{BB962C8B-B14F-4D97-AF65-F5344CB8AC3E}">
        <p14:creationId xmlns:p14="http://schemas.microsoft.com/office/powerpoint/2010/main" val="680653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CBC10B3-7F53-B24B-81CB-8FD7B4245951}" type="datetimeFigureOut">
              <a:rPr lang="en-US" smtClean="0"/>
              <a:t>4/9/25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E2874C-46A3-EA4B-BC32-DF0016BF3371}" type="slidenum">
              <a:rPr lang="en-US" smtClean="0"/>
              <a:t>‹#›</a:t>
            </a:fld>
            <a:endParaRPr lang="en-US"/>
          </a:p>
        </p:txBody>
      </p:sp>
    </p:spTree>
    <p:extLst>
      <p:ext uri="{BB962C8B-B14F-4D97-AF65-F5344CB8AC3E}">
        <p14:creationId xmlns:p14="http://schemas.microsoft.com/office/powerpoint/2010/main" val="42221260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BC10B3-7F53-B24B-81CB-8FD7B4245951}" type="datetimeFigureOut">
              <a:rPr lang="en-US" smtClean="0"/>
              <a:t>4/9/25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E2874C-46A3-EA4B-BC32-DF0016BF3371}" type="slidenum">
              <a:rPr lang="en-US" smtClean="0"/>
              <a:t>‹#›</a:t>
            </a:fld>
            <a:endParaRPr lang="en-US"/>
          </a:p>
        </p:txBody>
      </p:sp>
    </p:spTree>
    <p:extLst>
      <p:ext uri="{BB962C8B-B14F-4D97-AF65-F5344CB8AC3E}">
        <p14:creationId xmlns:p14="http://schemas.microsoft.com/office/powerpoint/2010/main" val="12512655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BC10B3-7F53-B24B-81CB-8FD7B4245951}" type="datetimeFigureOut">
              <a:rPr lang="en-US" smtClean="0"/>
              <a:t>4/9/25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E2874C-46A3-EA4B-BC32-DF0016BF3371}" type="slidenum">
              <a:rPr lang="en-US" smtClean="0"/>
              <a:t>‹#›</a:t>
            </a:fld>
            <a:endParaRPr lang="en-US"/>
          </a:p>
        </p:txBody>
      </p:sp>
    </p:spTree>
    <p:extLst>
      <p:ext uri="{BB962C8B-B14F-4D97-AF65-F5344CB8AC3E}">
        <p14:creationId xmlns:p14="http://schemas.microsoft.com/office/powerpoint/2010/main" val="20949889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BC10B3-7F53-B24B-81CB-8FD7B4245951}" type="datetimeFigureOut">
              <a:rPr lang="en-US" smtClean="0"/>
              <a:t>4/9/25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E2874C-46A3-EA4B-BC32-DF0016BF3371}" type="slidenum">
              <a:rPr lang="en-US" smtClean="0"/>
              <a:t>‹#›</a:t>
            </a:fld>
            <a:endParaRPr lang="en-US"/>
          </a:p>
        </p:txBody>
      </p:sp>
    </p:spTree>
    <p:extLst>
      <p:ext uri="{BB962C8B-B14F-4D97-AF65-F5344CB8AC3E}">
        <p14:creationId xmlns:p14="http://schemas.microsoft.com/office/powerpoint/2010/main" val="226802761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png"/><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hyperlink" Target="https://usabilityhub.com/blog/user-experience-research-vs-user-experience-design" TargetMode="External"/><Relationship Id="rId5" Type="http://schemas.openxmlformats.org/officeDocument/2006/relationships/image" Target="../media/image3.jpe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png"/><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hyperlink" Target="https://www.protopie.io/blog/game-ux-design" TargetMode="External"/><Relationship Id="rId5" Type="http://schemas.openxmlformats.org/officeDocument/2006/relationships/image" Target="../media/image4.jpe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image" Target="../media/image2.png"/><Relationship Id="rId5" Type="http://schemas.openxmlformats.org/officeDocument/2006/relationships/image" Target="../media/image5.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png"/><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hyperlink" Target="https://www.protopie.io/blog/game-ux-design" TargetMode="External"/><Relationship Id="rId5" Type="http://schemas.openxmlformats.org/officeDocument/2006/relationships/image" Target="../media/image4.jpe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png"/><Relationship Id="rId2" Type="http://schemas.openxmlformats.org/officeDocument/2006/relationships/audio" Target="../media/media6.m4a"/><Relationship Id="rId1" Type="http://schemas.microsoft.com/office/2007/relationships/media" Target="../media/media6.m4a"/><Relationship Id="rId6" Type="http://schemas.openxmlformats.org/officeDocument/2006/relationships/hyperlink" Target="https://bostoninstituteofanalytics.org/blog/the-importance-of-playtesting-how-to-get-valuable-feedback-on-your-game/" TargetMode="External"/><Relationship Id="rId5" Type="http://schemas.openxmlformats.org/officeDocument/2006/relationships/image" Target="../media/image6.jpe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7.m4a"/><Relationship Id="rId1" Type="http://schemas.microsoft.com/office/2007/relationships/media" Target="../media/media7.m4a"/><Relationship Id="rId6" Type="http://schemas.openxmlformats.org/officeDocument/2006/relationships/image" Target="../media/image2.png"/><Relationship Id="rId5" Type="http://schemas.openxmlformats.org/officeDocument/2006/relationships/image" Target="../media/image7.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8.m4a"/><Relationship Id="rId1" Type="http://schemas.microsoft.com/office/2007/relationships/media" Target="../media/media8.m4a"/><Relationship Id="rId6" Type="http://schemas.openxmlformats.org/officeDocument/2006/relationships/image" Target="../media/image2.png"/><Relationship Id="rId5" Type="http://schemas.openxmlformats.org/officeDocument/2006/relationships/image" Target="../media/image8.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video" Target="https://www.youtube.com/embed/4DE_4HUX94E?start=390&amp;feature=oembed" TargetMode="External"/><Relationship Id="rId4" Type="http://schemas.openxmlformats.org/officeDocument/2006/relationships/image" Target="../media/image9.jpe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png"/><Relationship Id="rId2" Type="http://schemas.openxmlformats.org/officeDocument/2006/relationships/audio" Target="../media/media9.m4a"/><Relationship Id="rId1" Type="http://schemas.microsoft.com/office/2007/relationships/media" Target="../media/media9.m4a"/><Relationship Id="rId6" Type="http://schemas.openxmlformats.org/officeDocument/2006/relationships/hyperlink" Target="https://www.eviemagazine.com/post/the-5-things-you-need-to-know-about-social-media-censorship-in-2020" TargetMode="External"/><Relationship Id="rId5" Type="http://schemas.openxmlformats.org/officeDocument/2006/relationships/image" Target="../media/image10.jpe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png"/><Relationship Id="rId2" Type="http://schemas.openxmlformats.org/officeDocument/2006/relationships/audio" Target="../media/media10.m4a"/><Relationship Id="rId1" Type="http://schemas.microsoft.com/office/2007/relationships/media" Target="../media/media10.m4a"/><Relationship Id="rId6" Type="http://schemas.openxmlformats.org/officeDocument/2006/relationships/hyperlink" Target="mailto:cast4317@vandals.uidaho.edu" TargetMode="External"/><Relationship Id="rId5" Type="http://schemas.openxmlformats.org/officeDocument/2006/relationships/image" Target="../media/image11.jpe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hyperlink" Target="https://www.nngroup.com/articles/game-user-research/" TargetMode="External"/><Relationship Id="rId2" Type="http://schemas.openxmlformats.org/officeDocument/2006/relationships/hyperlink" Target="https://www.interaction-design.org/literature/topics/games-user-research" TargetMode="External"/><Relationship Id="rId1" Type="http://schemas.openxmlformats.org/officeDocument/2006/relationships/slideLayout" Target="../slideLayouts/slideLayout2.xml"/><Relationship Id="rId4" Type="http://schemas.openxmlformats.org/officeDocument/2006/relationships/hyperlink" Target="https://youtu.be/4DE_4HUX94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Gadgets on a desk">
            <a:extLst>
              <a:ext uri="{FF2B5EF4-FFF2-40B4-BE49-F238E27FC236}">
                <a16:creationId xmlns:a16="http://schemas.microsoft.com/office/drawing/2014/main" id="{E3FF11D4-FFC8-5B0A-932C-31AEC47CDF1E}"/>
              </a:ext>
            </a:extLst>
          </p:cNvPr>
          <p:cNvPicPr>
            <a:picLocks noChangeAspect="1"/>
          </p:cNvPicPr>
          <p:nvPr/>
        </p:nvPicPr>
        <p:blipFill>
          <a:blip r:embed="rId5">
            <a:alphaModFix amt="40000"/>
          </a:blip>
          <a:srcRect t="8178" b="16822"/>
          <a:stretch/>
        </p:blipFill>
        <p:spPr>
          <a:xfrm>
            <a:off x="20" y="10"/>
            <a:ext cx="12191980" cy="6857990"/>
          </a:xfrm>
          <a:prstGeom prst="rect">
            <a:avLst/>
          </a:prstGeom>
        </p:spPr>
      </p:pic>
      <p:sp>
        <p:nvSpPr>
          <p:cNvPr id="2" name="Title 1">
            <a:extLst>
              <a:ext uri="{FF2B5EF4-FFF2-40B4-BE49-F238E27FC236}">
                <a16:creationId xmlns:a16="http://schemas.microsoft.com/office/drawing/2014/main" id="{38EB39DB-C527-3C62-2AE8-761151E5D98C}"/>
              </a:ext>
            </a:extLst>
          </p:cNvPr>
          <p:cNvSpPr>
            <a:spLocks noGrp="1"/>
          </p:cNvSpPr>
          <p:nvPr>
            <p:ph type="ctrTitle"/>
          </p:nvPr>
        </p:nvSpPr>
        <p:spPr>
          <a:xfrm>
            <a:off x="965200" y="965200"/>
            <a:ext cx="10261600" cy="3564869"/>
          </a:xfrm>
        </p:spPr>
        <p:txBody>
          <a:bodyPr>
            <a:normAutofit/>
          </a:bodyPr>
          <a:lstStyle/>
          <a:p>
            <a:pPr algn="l"/>
            <a:r>
              <a:rPr lang="en-US" sz="11500" dirty="0">
                <a:ln w="22225">
                  <a:solidFill>
                    <a:schemeClr val="tx1"/>
                  </a:solidFill>
                  <a:miter lim="800000"/>
                </a:ln>
                <a:noFill/>
              </a:rPr>
              <a:t>Video Games UX Research</a:t>
            </a:r>
          </a:p>
        </p:txBody>
      </p:sp>
      <p:sp>
        <p:nvSpPr>
          <p:cNvPr id="3" name="Subtitle 2">
            <a:extLst>
              <a:ext uri="{FF2B5EF4-FFF2-40B4-BE49-F238E27FC236}">
                <a16:creationId xmlns:a16="http://schemas.microsoft.com/office/drawing/2014/main" id="{5E77BC3F-63A2-A154-02AA-D33082A3BCCF}"/>
              </a:ext>
            </a:extLst>
          </p:cNvPr>
          <p:cNvSpPr>
            <a:spLocks noGrp="1"/>
          </p:cNvSpPr>
          <p:nvPr>
            <p:ph type="subTitle" idx="1"/>
          </p:nvPr>
        </p:nvSpPr>
        <p:spPr>
          <a:xfrm>
            <a:off x="965200" y="4572002"/>
            <a:ext cx="10261600" cy="1202995"/>
          </a:xfrm>
        </p:spPr>
        <p:txBody>
          <a:bodyPr>
            <a:normAutofit/>
          </a:bodyPr>
          <a:lstStyle/>
          <a:p>
            <a:pPr algn="l"/>
            <a:r>
              <a:rPr lang="en-US" sz="3200"/>
              <a:t>Miguel Castillo</a:t>
            </a:r>
          </a:p>
        </p:txBody>
      </p:sp>
      <p:pic>
        <p:nvPicPr>
          <p:cNvPr id="17" name="Audio 16">
            <a:hlinkClick r:id="" action="ppaction://media"/>
            <a:extLst>
              <a:ext uri="{FF2B5EF4-FFF2-40B4-BE49-F238E27FC236}">
                <a16:creationId xmlns:a16="http://schemas.microsoft.com/office/drawing/2014/main" id="{128D0289-0E0E-6524-11E9-0A40FAD3867E}"/>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57995939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62528"/>
    </mc:Choice>
    <mc:Fallback xmlns="">
      <p:transition spd="slow" advTm="6252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7"/>
                                        </p:tgtEl>
                                      </p:cBhvr>
                                    </p:cmd>
                                  </p:childTnLst>
                                </p:cTn>
                              </p:par>
                              <p:par>
                                <p:cTn id="7" presetID="10" presetClass="entr" presetSubtype="0" fill="hold" grpId="0" nodeType="withEffect">
                                  <p:stCondLst>
                                    <p:cond delay="1000"/>
                                  </p:stCondLst>
                                  <p:iterate>
                                    <p:tmPct val="10000"/>
                                  </p:iterate>
                                  <p:childTnLst>
                                    <p:set>
                                      <p:cBhvr>
                                        <p:cTn id="8" dur="1" fill="hold">
                                          <p:stCondLst>
                                            <p:cond delay="0"/>
                                          </p:stCondLst>
                                        </p:cTn>
                                        <p:tgtEl>
                                          <p:spTgt spid="2"/>
                                        </p:tgtEl>
                                        <p:attrNameLst>
                                          <p:attrName>style.visibility</p:attrName>
                                        </p:attrNameLst>
                                      </p:cBhvr>
                                      <p:to>
                                        <p:strVal val="visible"/>
                                      </p:to>
                                    </p:set>
                                    <p:animEffect transition="in" filter="fade">
                                      <p:cBhvr>
                                        <p:cTn id="9"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0" fill="hold" display="0">
                  <p:stCondLst>
                    <p:cond delay="indefinite"/>
                  </p:stCondLst>
                  <p:endCondLst>
                    <p:cond evt="onStopAudio" delay="0">
                      <p:tgtEl>
                        <p:sldTgt/>
                      </p:tgtEl>
                    </p:cond>
                  </p:endCondLst>
                </p:cTn>
                <p:tgtEl>
                  <p:spTgt spid="17"/>
                </p:tgtEl>
              </p:cMediaNode>
            </p:audio>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person and person sitting on a computer&#10;&#10;Description automatically generated">
            <a:extLst>
              <a:ext uri="{FF2B5EF4-FFF2-40B4-BE49-F238E27FC236}">
                <a16:creationId xmlns:a16="http://schemas.microsoft.com/office/drawing/2014/main" id="{EB3DC01D-9385-D1DF-82D0-BDE2403C3964}"/>
              </a:ext>
            </a:extLst>
          </p:cNvPr>
          <p:cNvPicPr>
            <a:picLocks noChangeAspect="1"/>
          </p:cNvPicPr>
          <p:nvPr/>
        </p:nvPicPr>
        <p:blipFill>
          <a:blip r:embed="rId5">
            <a:alphaModFix amt="35000"/>
            <a:extLst>
              <a:ext uri="{837473B0-CC2E-450A-ABE3-18F120FF3D39}">
                <a1611:picAttrSrcUrl xmlns:a1611="http://schemas.microsoft.com/office/drawing/2016/11/main" r:id="rId6"/>
              </a:ext>
            </a:extLst>
          </a:blip>
          <a:src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2C81931B-F256-FAC8-3C7B-7C412E1122BD}"/>
              </a:ext>
            </a:extLst>
          </p:cNvPr>
          <p:cNvSpPr>
            <a:spLocks noGrp="1"/>
          </p:cNvSpPr>
          <p:nvPr>
            <p:ph type="title"/>
          </p:nvPr>
        </p:nvSpPr>
        <p:spPr/>
        <p:txBody>
          <a:bodyPr>
            <a:normAutofit/>
          </a:bodyPr>
          <a:lstStyle/>
          <a:p>
            <a:r>
              <a:rPr lang="en-US">
                <a:solidFill>
                  <a:srgbClr val="FFFFFF"/>
                </a:solidFill>
              </a:rPr>
              <a:t>What’s UX Research?</a:t>
            </a:r>
          </a:p>
        </p:txBody>
      </p:sp>
      <p:sp>
        <p:nvSpPr>
          <p:cNvPr id="3" name="Content Placeholder 2">
            <a:extLst>
              <a:ext uri="{FF2B5EF4-FFF2-40B4-BE49-F238E27FC236}">
                <a16:creationId xmlns:a16="http://schemas.microsoft.com/office/drawing/2014/main" id="{C68C5B27-4FCA-BD10-E356-7DE5F407F610}"/>
              </a:ext>
            </a:extLst>
          </p:cNvPr>
          <p:cNvSpPr>
            <a:spLocks noGrp="1"/>
          </p:cNvSpPr>
          <p:nvPr>
            <p:ph idx="1"/>
          </p:nvPr>
        </p:nvSpPr>
        <p:spPr/>
        <p:txBody>
          <a:bodyPr>
            <a:normAutofit fontScale="92500" lnSpcReduction="20000"/>
          </a:bodyPr>
          <a:lstStyle/>
          <a:p>
            <a:r>
              <a:rPr lang="en-US" sz="1800" b="1" dirty="0">
                <a:solidFill>
                  <a:srgbClr val="FFFFFF"/>
                </a:solidFill>
              </a:rPr>
              <a:t>UX Research</a:t>
            </a:r>
          </a:p>
          <a:p>
            <a:pPr lvl="1"/>
            <a:r>
              <a:rPr lang="en-US" sz="1800" b="1" dirty="0">
                <a:solidFill>
                  <a:srgbClr val="FFFFFF"/>
                </a:solidFill>
              </a:rPr>
              <a:t>A systematic process of gathering and analyzing information about the target audience or users of a product, service or system to understand their behaviors, needs, and motivations in order to inform design decisions.</a:t>
            </a:r>
          </a:p>
          <a:p>
            <a:pPr lvl="2"/>
            <a:r>
              <a:rPr lang="en-US" sz="1800" b="1" dirty="0">
                <a:solidFill>
                  <a:srgbClr val="FFFFFF"/>
                </a:solidFill>
              </a:rPr>
              <a:t>Goals </a:t>
            </a:r>
          </a:p>
          <a:p>
            <a:pPr lvl="3"/>
            <a:r>
              <a:rPr lang="en-US" b="1" dirty="0">
                <a:solidFill>
                  <a:srgbClr val="FFFFFF"/>
                </a:solidFill>
              </a:rPr>
              <a:t>Efficiency </a:t>
            </a:r>
          </a:p>
          <a:p>
            <a:pPr lvl="3"/>
            <a:r>
              <a:rPr lang="en-US" b="1" dirty="0">
                <a:solidFill>
                  <a:srgbClr val="FFFFFF"/>
                </a:solidFill>
              </a:rPr>
              <a:t>Ease of use </a:t>
            </a:r>
          </a:p>
          <a:p>
            <a:pPr lvl="3"/>
            <a:r>
              <a:rPr lang="en-US" b="1" dirty="0">
                <a:solidFill>
                  <a:srgbClr val="FFFFFF"/>
                </a:solidFill>
              </a:rPr>
              <a:t>Goal completion </a:t>
            </a:r>
          </a:p>
          <a:p>
            <a:pPr lvl="1"/>
            <a:r>
              <a:rPr lang="en-US" sz="1800" b="1" dirty="0">
                <a:solidFill>
                  <a:srgbClr val="FFFFFF"/>
                </a:solidFill>
              </a:rPr>
              <a:t>Exploratory and evaluative research </a:t>
            </a:r>
          </a:p>
          <a:p>
            <a:pPr lvl="2"/>
            <a:r>
              <a:rPr lang="en-US" sz="1800" b="1" dirty="0">
                <a:solidFill>
                  <a:srgbClr val="FFFFFF"/>
                </a:solidFill>
              </a:rPr>
              <a:t>Exploratory = understand problem </a:t>
            </a:r>
          </a:p>
          <a:p>
            <a:pPr lvl="2"/>
            <a:r>
              <a:rPr lang="en-US" sz="1800" b="1" dirty="0">
                <a:solidFill>
                  <a:srgbClr val="FFFFFF"/>
                </a:solidFill>
              </a:rPr>
              <a:t>Evaluative = evaluate approach </a:t>
            </a:r>
          </a:p>
          <a:p>
            <a:pPr lvl="1"/>
            <a:r>
              <a:rPr lang="en-US" sz="1800" b="1" dirty="0">
                <a:solidFill>
                  <a:srgbClr val="FFFFFF"/>
                </a:solidFill>
              </a:rPr>
              <a:t>Qualitative and quantitative methods  </a:t>
            </a:r>
          </a:p>
          <a:p>
            <a:pPr lvl="2"/>
            <a:r>
              <a:rPr lang="en-US" sz="1800" b="1" dirty="0">
                <a:solidFill>
                  <a:srgbClr val="FFFFFF"/>
                </a:solidFill>
              </a:rPr>
              <a:t>Qualitative = why </a:t>
            </a:r>
          </a:p>
          <a:p>
            <a:pPr lvl="2"/>
            <a:r>
              <a:rPr lang="en-US" sz="1800" b="1" dirty="0">
                <a:solidFill>
                  <a:srgbClr val="FFFFFF"/>
                </a:solidFill>
              </a:rPr>
              <a:t>Quantitative = what </a:t>
            </a:r>
          </a:p>
          <a:p>
            <a:pPr lvl="1"/>
            <a:r>
              <a:rPr lang="en-US" sz="1800" b="1" dirty="0">
                <a:solidFill>
                  <a:srgbClr val="FFFFFF"/>
                </a:solidFill>
              </a:rPr>
              <a:t>Attitudinal and/or Behavioral </a:t>
            </a:r>
          </a:p>
          <a:p>
            <a:pPr lvl="2"/>
            <a:r>
              <a:rPr lang="en-US" sz="1800" b="1" dirty="0">
                <a:solidFill>
                  <a:srgbClr val="FFFFFF"/>
                </a:solidFill>
              </a:rPr>
              <a:t>Attitudinal = listen to what users say </a:t>
            </a:r>
          </a:p>
          <a:p>
            <a:pPr lvl="2"/>
            <a:r>
              <a:rPr lang="en-US" sz="1800" b="1" dirty="0">
                <a:solidFill>
                  <a:srgbClr val="FFFFFF"/>
                </a:solidFill>
              </a:rPr>
              <a:t>Behavioral = observe what users do</a:t>
            </a:r>
          </a:p>
        </p:txBody>
      </p:sp>
      <p:pic>
        <p:nvPicPr>
          <p:cNvPr id="13" name="Audio 12">
            <a:hlinkClick r:id="" action="ppaction://media"/>
            <a:extLst>
              <a:ext uri="{FF2B5EF4-FFF2-40B4-BE49-F238E27FC236}">
                <a16:creationId xmlns:a16="http://schemas.microsoft.com/office/drawing/2014/main" id="{CA7E0160-B8FB-541D-0148-517B75421E48}"/>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25873846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188320"/>
    </mc:Choice>
    <mc:Fallback xmlns="">
      <p:transition spd="slow" advTm="1883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3"/>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hand touching a video game controller&#10;&#10;Description automatically generated">
            <a:extLst>
              <a:ext uri="{FF2B5EF4-FFF2-40B4-BE49-F238E27FC236}">
                <a16:creationId xmlns:a16="http://schemas.microsoft.com/office/drawing/2014/main" id="{91A11BA5-EC17-3A21-F913-9082FBA819DA}"/>
              </a:ext>
            </a:extLst>
          </p:cNvPr>
          <p:cNvPicPr>
            <a:picLocks noChangeAspect="1"/>
          </p:cNvPicPr>
          <p:nvPr/>
        </p:nvPicPr>
        <p:blipFill>
          <a:blip r:embed="rId5">
            <a:alphaModFix amt="35000"/>
            <a:extLst>
              <a:ext uri="{837473B0-CC2E-450A-ABE3-18F120FF3D39}">
                <a1611:picAttrSrcUrl xmlns:a1611="http://schemas.microsoft.com/office/drawing/2016/11/main" r:id="rId6"/>
              </a:ext>
            </a:extLst>
          </a:blip>
          <a:src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2C81931B-F256-FAC8-3C7B-7C412E1122BD}"/>
              </a:ext>
            </a:extLst>
          </p:cNvPr>
          <p:cNvSpPr>
            <a:spLocks noGrp="1"/>
          </p:cNvSpPr>
          <p:nvPr>
            <p:ph type="title"/>
          </p:nvPr>
        </p:nvSpPr>
        <p:spPr/>
        <p:txBody>
          <a:bodyPr>
            <a:normAutofit/>
          </a:bodyPr>
          <a:lstStyle/>
          <a:p>
            <a:r>
              <a:rPr lang="en-US" dirty="0">
                <a:solidFill>
                  <a:srgbClr val="FFFFFF"/>
                </a:solidFill>
              </a:rPr>
              <a:t>What’s Video Games UX Research?</a:t>
            </a:r>
          </a:p>
        </p:txBody>
      </p:sp>
      <p:sp>
        <p:nvSpPr>
          <p:cNvPr id="3" name="Content Placeholder 2">
            <a:extLst>
              <a:ext uri="{FF2B5EF4-FFF2-40B4-BE49-F238E27FC236}">
                <a16:creationId xmlns:a16="http://schemas.microsoft.com/office/drawing/2014/main" id="{C68C5B27-4FCA-BD10-E356-7DE5F407F610}"/>
              </a:ext>
            </a:extLst>
          </p:cNvPr>
          <p:cNvSpPr>
            <a:spLocks noGrp="1"/>
          </p:cNvSpPr>
          <p:nvPr>
            <p:ph idx="1"/>
          </p:nvPr>
        </p:nvSpPr>
        <p:spPr/>
        <p:txBody>
          <a:bodyPr>
            <a:normAutofit/>
          </a:bodyPr>
          <a:lstStyle/>
          <a:p>
            <a:r>
              <a:rPr lang="en-US" b="1" dirty="0">
                <a:solidFill>
                  <a:srgbClr val="FFFFFF"/>
                </a:solidFill>
              </a:rPr>
              <a:t>Games UX Research</a:t>
            </a:r>
          </a:p>
          <a:p>
            <a:pPr lvl="1"/>
            <a:r>
              <a:rPr lang="en-US" b="1" dirty="0">
                <a:solidFill>
                  <a:srgbClr val="FFFFFF"/>
                </a:solidFill>
              </a:rPr>
              <a:t>Focuses on understanding players’ behavior, interactions, and experiences in videos games. Researchers use methodologies like observations, interviews, and surveys to gather valuable data. This data helps improve games, remove bugs, and increases player experience. </a:t>
            </a:r>
          </a:p>
          <a:p>
            <a:pPr lvl="2"/>
            <a:r>
              <a:rPr lang="en-US" b="1" dirty="0">
                <a:solidFill>
                  <a:srgbClr val="FFFFFF"/>
                </a:solidFill>
              </a:rPr>
              <a:t>Goals</a:t>
            </a:r>
          </a:p>
          <a:p>
            <a:pPr lvl="3"/>
            <a:r>
              <a:rPr lang="en-US" b="1" dirty="0">
                <a:solidFill>
                  <a:srgbClr val="FFFFFF"/>
                </a:solidFill>
              </a:rPr>
              <a:t>Fun </a:t>
            </a:r>
          </a:p>
          <a:p>
            <a:pPr lvl="3"/>
            <a:r>
              <a:rPr lang="en-US" b="1" dirty="0">
                <a:solidFill>
                  <a:srgbClr val="FFFFFF"/>
                </a:solidFill>
              </a:rPr>
              <a:t>Enjoyment </a:t>
            </a:r>
          </a:p>
          <a:p>
            <a:pPr lvl="3"/>
            <a:r>
              <a:rPr lang="en-US" b="1" dirty="0">
                <a:solidFill>
                  <a:srgbClr val="FFFFFF"/>
                </a:solidFill>
              </a:rPr>
              <a:t>Immersion </a:t>
            </a:r>
          </a:p>
          <a:p>
            <a:pPr lvl="1"/>
            <a:r>
              <a:rPr lang="en-US" b="1" dirty="0">
                <a:solidFill>
                  <a:srgbClr val="FFFFFF"/>
                </a:solidFill>
              </a:rPr>
              <a:t>Designers vision = Users expectations?</a:t>
            </a:r>
          </a:p>
        </p:txBody>
      </p:sp>
      <p:pic>
        <p:nvPicPr>
          <p:cNvPr id="7" name="Audio 6">
            <a:hlinkClick r:id="" action="ppaction://media"/>
            <a:extLst>
              <a:ext uri="{FF2B5EF4-FFF2-40B4-BE49-F238E27FC236}">
                <a16:creationId xmlns:a16="http://schemas.microsoft.com/office/drawing/2014/main" id="{357FACEE-1980-48EE-B9FE-44C3D1533B63}"/>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51171213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156426"/>
    </mc:Choice>
    <mc:Fallback xmlns="">
      <p:transition spd="slow" advTm="15642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A screenshot of a computer screen&#10;&#10;Description automatically generated">
            <a:extLst>
              <a:ext uri="{FF2B5EF4-FFF2-40B4-BE49-F238E27FC236}">
                <a16:creationId xmlns:a16="http://schemas.microsoft.com/office/drawing/2014/main" id="{9292ABF7-1294-F4AB-E106-6786E1A0A911}"/>
              </a:ext>
            </a:extLst>
          </p:cNvPr>
          <p:cNvPicPr>
            <a:picLocks noChangeAspect="1"/>
          </p:cNvPicPr>
          <p:nvPr/>
        </p:nvPicPr>
        <p:blipFill>
          <a:blip r:embed="rId5"/>
          <a:stretch>
            <a:fillRect/>
          </a:stretch>
        </p:blipFill>
        <p:spPr>
          <a:xfrm>
            <a:off x="838200" y="1533104"/>
            <a:ext cx="10156499" cy="4976684"/>
          </a:xfrm>
          <a:prstGeom prst="rect">
            <a:avLst/>
          </a:prstGeom>
          <a:ln>
            <a:solidFill>
              <a:schemeClr val="bg1">
                <a:lumMod val="50000"/>
              </a:schemeClr>
            </a:solidFill>
          </a:ln>
        </p:spPr>
      </p:pic>
      <p:sp>
        <p:nvSpPr>
          <p:cNvPr id="13" name="Title 1">
            <a:extLst>
              <a:ext uri="{FF2B5EF4-FFF2-40B4-BE49-F238E27FC236}">
                <a16:creationId xmlns:a16="http://schemas.microsoft.com/office/drawing/2014/main" id="{9705F16D-ADFB-2E30-F755-29132D74C3CF}"/>
              </a:ext>
            </a:extLst>
          </p:cNvPr>
          <p:cNvSpPr>
            <a:spLocks noGrp="1"/>
          </p:cNvSpPr>
          <p:nvPr>
            <p:ph type="title"/>
          </p:nvPr>
        </p:nvSpPr>
        <p:spPr>
          <a:xfrm>
            <a:off x="838200" y="365125"/>
            <a:ext cx="10515600" cy="1325563"/>
          </a:xfrm>
        </p:spPr>
        <p:txBody>
          <a:bodyPr>
            <a:normAutofit/>
          </a:bodyPr>
          <a:lstStyle/>
          <a:p>
            <a:r>
              <a:rPr lang="en-US" dirty="0">
                <a:solidFill>
                  <a:srgbClr val="FFFFFF"/>
                </a:solidFill>
              </a:rPr>
              <a:t>What’s Video Games UX Research?</a:t>
            </a:r>
          </a:p>
        </p:txBody>
      </p:sp>
      <p:pic>
        <p:nvPicPr>
          <p:cNvPr id="21" name="Audio 20">
            <a:hlinkClick r:id="" action="ppaction://media"/>
            <a:extLst>
              <a:ext uri="{FF2B5EF4-FFF2-40B4-BE49-F238E27FC236}">
                <a16:creationId xmlns:a16="http://schemas.microsoft.com/office/drawing/2014/main" id="{E93412B8-3CAE-8A11-2DAD-95B298B1E8DC}"/>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632165771"/>
      </p:ext>
    </p:extLst>
  </p:cSld>
  <p:clrMapOvr>
    <a:masterClrMapping/>
  </p:clrMapOvr>
  <mc:AlternateContent xmlns:mc="http://schemas.openxmlformats.org/markup-compatibility/2006" xmlns:p14="http://schemas.microsoft.com/office/powerpoint/2010/main">
    <mc:Choice Requires="p14">
      <p:transition spd="slow" p14:dur="2000" advTm="100938"/>
    </mc:Choice>
    <mc:Fallback xmlns="">
      <p:transition spd="slow" advTm="10093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1"/>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hand touching a video game controller&#10;&#10;Description automatically generated">
            <a:extLst>
              <a:ext uri="{FF2B5EF4-FFF2-40B4-BE49-F238E27FC236}">
                <a16:creationId xmlns:a16="http://schemas.microsoft.com/office/drawing/2014/main" id="{8078024A-824C-62A2-3111-16C79537A1A3}"/>
              </a:ext>
            </a:extLst>
          </p:cNvPr>
          <p:cNvPicPr>
            <a:picLocks noChangeAspect="1"/>
          </p:cNvPicPr>
          <p:nvPr/>
        </p:nvPicPr>
        <p:blipFill>
          <a:blip r:embed="rId5">
            <a:alphaModFix amt="35000"/>
            <a:extLst>
              <a:ext uri="{837473B0-CC2E-450A-ABE3-18F120FF3D39}">
                <a1611:picAttrSrcUrl xmlns:a1611="http://schemas.microsoft.com/office/drawing/2016/11/main" r:id="rId6"/>
              </a:ext>
            </a:extLst>
          </a:blip>
          <a:srcRect/>
          <a:stretch/>
        </p:blipFill>
        <p:spPr>
          <a:xfrm>
            <a:off x="20" y="10"/>
            <a:ext cx="12191980" cy="6857990"/>
          </a:xfrm>
          <a:prstGeom prst="rect">
            <a:avLst/>
          </a:prstGeom>
        </p:spPr>
      </p:pic>
      <p:sp>
        <p:nvSpPr>
          <p:cNvPr id="3" name="Content Placeholder 2">
            <a:extLst>
              <a:ext uri="{FF2B5EF4-FFF2-40B4-BE49-F238E27FC236}">
                <a16:creationId xmlns:a16="http://schemas.microsoft.com/office/drawing/2014/main" id="{16F58CB0-F317-F04A-E231-53E2082AFF6F}"/>
              </a:ext>
            </a:extLst>
          </p:cNvPr>
          <p:cNvSpPr>
            <a:spLocks noGrp="1"/>
          </p:cNvSpPr>
          <p:nvPr>
            <p:ph idx="1"/>
          </p:nvPr>
        </p:nvSpPr>
        <p:spPr/>
        <p:txBody>
          <a:bodyPr>
            <a:normAutofit fontScale="92500"/>
          </a:bodyPr>
          <a:lstStyle/>
          <a:p>
            <a:r>
              <a:rPr lang="en-US" dirty="0"/>
              <a:t>Games are designed to be fun and that often comes from friction</a:t>
            </a:r>
          </a:p>
          <a:p>
            <a:pPr lvl="1"/>
            <a:r>
              <a:rPr lang="en-US" dirty="0"/>
              <a:t>Intentional friction vs Unintentional friction</a:t>
            </a:r>
          </a:p>
          <a:p>
            <a:r>
              <a:rPr lang="en-US" dirty="0"/>
              <a:t>Playtesting </a:t>
            </a:r>
          </a:p>
          <a:p>
            <a:pPr lvl="1"/>
            <a:r>
              <a:rPr lang="en-US" dirty="0"/>
              <a:t>Playtesting is where users play the game, and researchers collect data using qualitative and quantitative approaches.</a:t>
            </a:r>
          </a:p>
          <a:p>
            <a:r>
              <a:rPr lang="en-US" dirty="0"/>
              <a:t>Biometrics / Physiology </a:t>
            </a:r>
          </a:p>
          <a:p>
            <a:pPr lvl="1"/>
            <a:r>
              <a:rPr lang="en-US" dirty="0"/>
              <a:t>Using tools like eye tracking, heart rate, or skin response to measure real-time emotional reactions.</a:t>
            </a:r>
          </a:p>
          <a:p>
            <a:r>
              <a:rPr lang="en-US" dirty="0"/>
              <a:t>Telemetry (Game Analytics) </a:t>
            </a:r>
          </a:p>
          <a:p>
            <a:pPr lvl="1"/>
            <a:r>
              <a:rPr lang="en-US" dirty="0"/>
              <a:t>Analyzing large-scale behavioral data — e.g., where players fail, quit, or succeed.</a:t>
            </a:r>
          </a:p>
          <a:p>
            <a:pPr lvl="2"/>
            <a:r>
              <a:rPr lang="en-US" dirty="0"/>
              <a:t>Ex. Kill/Death Ration </a:t>
            </a:r>
          </a:p>
          <a:p>
            <a:pPr lvl="1"/>
            <a:endParaRPr lang="en-US" dirty="0"/>
          </a:p>
        </p:txBody>
      </p:sp>
      <p:sp>
        <p:nvSpPr>
          <p:cNvPr id="7" name="Title 1">
            <a:extLst>
              <a:ext uri="{FF2B5EF4-FFF2-40B4-BE49-F238E27FC236}">
                <a16:creationId xmlns:a16="http://schemas.microsoft.com/office/drawing/2014/main" id="{50E6126F-45CD-A62C-4F7B-876F84097BF7}"/>
              </a:ext>
            </a:extLst>
          </p:cNvPr>
          <p:cNvSpPr>
            <a:spLocks noGrp="1"/>
          </p:cNvSpPr>
          <p:nvPr>
            <p:ph type="title"/>
          </p:nvPr>
        </p:nvSpPr>
        <p:spPr>
          <a:xfrm>
            <a:off x="838200" y="365125"/>
            <a:ext cx="10515600" cy="1325563"/>
          </a:xfrm>
        </p:spPr>
        <p:txBody>
          <a:bodyPr>
            <a:normAutofit/>
          </a:bodyPr>
          <a:lstStyle/>
          <a:p>
            <a:r>
              <a:rPr lang="en-US" dirty="0">
                <a:solidFill>
                  <a:srgbClr val="FFFFFF"/>
                </a:solidFill>
              </a:rPr>
              <a:t>What’s Video Games UX Research?</a:t>
            </a:r>
          </a:p>
        </p:txBody>
      </p:sp>
      <p:pic>
        <p:nvPicPr>
          <p:cNvPr id="12" name="Audio 11">
            <a:hlinkClick r:id="" action="ppaction://media"/>
            <a:extLst>
              <a:ext uri="{FF2B5EF4-FFF2-40B4-BE49-F238E27FC236}">
                <a16:creationId xmlns:a16="http://schemas.microsoft.com/office/drawing/2014/main" id="{2A17628B-FE62-112E-8870-842E6F02ECA4}"/>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888484134"/>
      </p:ext>
    </p:extLst>
  </p:cSld>
  <p:clrMapOvr>
    <a:masterClrMapping/>
  </p:clrMapOvr>
  <mc:AlternateContent xmlns:mc="http://schemas.openxmlformats.org/markup-compatibility/2006" xmlns:p14="http://schemas.microsoft.com/office/powerpoint/2010/main">
    <mc:Choice Requires="p14">
      <p:transition spd="slow" p14:dur="2000" advTm="161600"/>
    </mc:Choice>
    <mc:Fallback xmlns="">
      <p:transition spd="slow" advTm="1616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2"/>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person wearing headphones and holding a video game controller&#10;&#10;Description automatically generated">
            <a:extLst>
              <a:ext uri="{FF2B5EF4-FFF2-40B4-BE49-F238E27FC236}">
                <a16:creationId xmlns:a16="http://schemas.microsoft.com/office/drawing/2014/main" id="{4AA47FD6-EBE8-A186-1457-0A33FDB28511}"/>
              </a:ext>
            </a:extLst>
          </p:cNvPr>
          <p:cNvPicPr>
            <a:picLocks noChangeAspect="1"/>
          </p:cNvPicPr>
          <p:nvPr/>
        </p:nvPicPr>
        <p:blipFill>
          <a:blip r:embed="rId5">
            <a:alphaModFix amt="35000"/>
            <a:extLst>
              <a:ext uri="{837473B0-CC2E-450A-ABE3-18F120FF3D39}">
                <a1611:picAttrSrcUrl xmlns:a1611="http://schemas.microsoft.com/office/drawing/2016/11/main" r:id="rId6"/>
              </a:ext>
            </a:extLst>
          </a:blip>
          <a:srcRect l="444"/>
          <a:stretch/>
        </p:blipFill>
        <p:spPr>
          <a:xfrm>
            <a:off x="20" y="10"/>
            <a:ext cx="12191980" cy="6857990"/>
          </a:xfrm>
          <a:prstGeom prst="rect">
            <a:avLst/>
          </a:prstGeom>
        </p:spPr>
      </p:pic>
      <p:sp>
        <p:nvSpPr>
          <p:cNvPr id="2" name="Title 1">
            <a:extLst>
              <a:ext uri="{FF2B5EF4-FFF2-40B4-BE49-F238E27FC236}">
                <a16:creationId xmlns:a16="http://schemas.microsoft.com/office/drawing/2014/main" id="{228B3336-F43C-1DDF-BBF0-1B9F68F873DA}"/>
              </a:ext>
            </a:extLst>
          </p:cNvPr>
          <p:cNvSpPr>
            <a:spLocks noGrp="1"/>
          </p:cNvSpPr>
          <p:nvPr>
            <p:ph type="title"/>
          </p:nvPr>
        </p:nvSpPr>
        <p:spPr>
          <a:xfrm>
            <a:off x="838200" y="365125"/>
            <a:ext cx="10515600" cy="1325563"/>
          </a:xfrm>
        </p:spPr>
        <p:txBody>
          <a:bodyPr>
            <a:normAutofit/>
          </a:bodyPr>
          <a:lstStyle/>
          <a:p>
            <a:r>
              <a:rPr lang="en-US">
                <a:solidFill>
                  <a:srgbClr val="FFFFFF"/>
                </a:solidFill>
              </a:rPr>
              <a:t>Playtesting </a:t>
            </a:r>
          </a:p>
        </p:txBody>
      </p:sp>
      <p:sp>
        <p:nvSpPr>
          <p:cNvPr id="3" name="Content Placeholder 2">
            <a:extLst>
              <a:ext uri="{FF2B5EF4-FFF2-40B4-BE49-F238E27FC236}">
                <a16:creationId xmlns:a16="http://schemas.microsoft.com/office/drawing/2014/main" id="{AE80B550-2D62-9F27-A0D3-FD72558F8F1F}"/>
              </a:ext>
            </a:extLst>
          </p:cNvPr>
          <p:cNvSpPr>
            <a:spLocks noGrp="1"/>
          </p:cNvSpPr>
          <p:nvPr>
            <p:ph idx="1"/>
          </p:nvPr>
        </p:nvSpPr>
        <p:spPr>
          <a:xfrm>
            <a:off x="838200" y="1825625"/>
            <a:ext cx="10515600" cy="4351338"/>
          </a:xfrm>
        </p:spPr>
        <p:txBody>
          <a:bodyPr>
            <a:normAutofit/>
          </a:bodyPr>
          <a:lstStyle/>
          <a:p>
            <a:r>
              <a:rPr lang="en-US">
                <a:solidFill>
                  <a:srgbClr val="FFFFFF"/>
                </a:solidFill>
              </a:rPr>
              <a:t>Playtesting </a:t>
            </a:r>
          </a:p>
          <a:p>
            <a:pPr lvl="1"/>
            <a:r>
              <a:rPr lang="en-US">
                <a:solidFill>
                  <a:srgbClr val="FFFFFF"/>
                </a:solidFill>
              </a:rPr>
              <a:t>Playtesting is where users play the game, and researchers collect data using qualitative and quantitative approaches. </a:t>
            </a:r>
          </a:p>
          <a:p>
            <a:pPr lvl="1"/>
            <a:r>
              <a:rPr lang="en-US">
                <a:solidFill>
                  <a:srgbClr val="FFFFFF"/>
                </a:solidFill>
              </a:rPr>
              <a:t>Playtesting pitfalls  </a:t>
            </a:r>
          </a:p>
          <a:p>
            <a:pPr lvl="2"/>
            <a:r>
              <a:rPr lang="en-US">
                <a:solidFill>
                  <a:srgbClr val="FFFFFF"/>
                </a:solidFill>
              </a:rPr>
              <a:t>Playtesting with the wrong people </a:t>
            </a:r>
          </a:p>
          <a:p>
            <a:pPr lvl="2"/>
            <a:r>
              <a:rPr lang="en-US">
                <a:solidFill>
                  <a:srgbClr val="FFFFFF"/>
                </a:solidFill>
              </a:rPr>
              <a:t>Running studies late in the development process</a:t>
            </a:r>
          </a:p>
          <a:p>
            <a:pPr lvl="2"/>
            <a:r>
              <a:rPr lang="en-US">
                <a:solidFill>
                  <a:srgbClr val="FFFFFF"/>
                </a:solidFill>
              </a:rPr>
              <a:t>Using inappropriate methods</a:t>
            </a:r>
          </a:p>
          <a:p>
            <a:pPr lvl="2"/>
            <a:r>
              <a:rPr lang="en-US">
                <a:solidFill>
                  <a:srgbClr val="FFFFFF"/>
                </a:solidFill>
              </a:rPr>
              <a:t>Biased questions design and analysis</a:t>
            </a:r>
          </a:p>
          <a:p>
            <a:r>
              <a:rPr lang="en-US">
                <a:solidFill>
                  <a:srgbClr val="FFFFFF"/>
                </a:solidFill>
              </a:rPr>
              <a:t>Playtesting is not the same as QA</a:t>
            </a:r>
          </a:p>
          <a:p>
            <a:pPr lvl="1"/>
            <a:r>
              <a:rPr lang="en-US">
                <a:solidFill>
                  <a:srgbClr val="FFFFFF"/>
                </a:solidFill>
              </a:rPr>
              <a:t>QA = QA testers look for bugs, glitches, crashes </a:t>
            </a:r>
          </a:p>
          <a:p>
            <a:pPr lvl="1"/>
            <a:endParaRPr lang="en-US">
              <a:solidFill>
                <a:srgbClr val="FFFFFF"/>
              </a:solidFill>
            </a:endParaRPr>
          </a:p>
          <a:p>
            <a:pPr lvl="1"/>
            <a:endParaRPr lang="en-US">
              <a:solidFill>
                <a:srgbClr val="FFFFFF"/>
              </a:solidFill>
            </a:endParaRPr>
          </a:p>
        </p:txBody>
      </p:sp>
      <p:pic>
        <p:nvPicPr>
          <p:cNvPr id="17" name="Audio 16">
            <a:hlinkClick r:id="" action="ppaction://media"/>
            <a:extLst>
              <a:ext uri="{FF2B5EF4-FFF2-40B4-BE49-F238E27FC236}">
                <a16:creationId xmlns:a16="http://schemas.microsoft.com/office/drawing/2014/main" id="{DBE6E23B-EBCC-60C4-336B-348E45619B44}"/>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522909940"/>
      </p:ext>
    </p:extLst>
  </p:cSld>
  <p:clrMapOvr>
    <a:masterClrMapping/>
  </p:clrMapOvr>
  <mc:AlternateContent xmlns:mc="http://schemas.openxmlformats.org/markup-compatibility/2006" xmlns:p14="http://schemas.microsoft.com/office/powerpoint/2010/main">
    <mc:Choice Requires="p14">
      <p:transition spd="slow" p14:dur="2000" advTm="218229"/>
    </mc:Choice>
    <mc:Fallback xmlns="">
      <p:transition spd="slow" advTm="21822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7"/>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74342-8669-4CEE-644F-C8422C4B7EF4}"/>
              </a:ext>
            </a:extLst>
          </p:cNvPr>
          <p:cNvSpPr>
            <a:spLocks noGrp="1"/>
          </p:cNvSpPr>
          <p:nvPr>
            <p:ph type="title"/>
          </p:nvPr>
        </p:nvSpPr>
        <p:spPr/>
        <p:txBody>
          <a:bodyPr/>
          <a:lstStyle/>
          <a:p>
            <a:r>
              <a:rPr lang="en-US" dirty="0"/>
              <a:t>What does the process look like?</a:t>
            </a:r>
          </a:p>
        </p:txBody>
      </p:sp>
      <p:pic>
        <p:nvPicPr>
          <p:cNvPr id="5" name="Content Placeholder 4" descr="A diagram of a process&#10;&#10;Description automatically generated with medium confidence">
            <a:extLst>
              <a:ext uri="{FF2B5EF4-FFF2-40B4-BE49-F238E27FC236}">
                <a16:creationId xmlns:a16="http://schemas.microsoft.com/office/drawing/2014/main" id="{A94A559E-BA13-E140-7803-A02942942793}"/>
              </a:ext>
            </a:extLst>
          </p:cNvPr>
          <p:cNvPicPr>
            <a:picLocks noGrp="1" noChangeAspect="1"/>
          </p:cNvPicPr>
          <p:nvPr>
            <p:ph idx="1"/>
          </p:nvPr>
        </p:nvPicPr>
        <p:blipFill>
          <a:blip r:embed="rId5"/>
          <a:stretch>
            <a:fillRect/>
          </a:stretch>
        </p:blipFill>
        <p:spPr>
          <a:xfrm>
            <a:off x="1350376" y="1435080"/>
            <a:ext cx="9491248" cy="5057795"/>
          </a:xfrm>
          <a:ln>
            <a:solidFill>
              <a:schemeClr val="tx1">
                <a:lumMod val="50000"/>
              </a:schemeClr>
            </a:solidFill>
          </a:ln>
        </p:spPr>
      </p:pic>
      <p:pic>
        <p:nvPicPr>
          <p:cNvPr id="7" name="Audio 6">
            <a:hlinkClick r:id="" action="ppaction://media"/>
            <a:extLst>
              <a:ext uri="{FF2B5EF4-FFF2-40B4-BE49-F238E27FC236}">
                <a16:creationId xmlns:a16="http://schemas.microsoft.com/office/drawing/2014/main" id="{1A21A9BE-0C06-38B3-C514-0CA82228431C}"/>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031653797"/>
      </p:ext>
    </p:extLst>
  </p:cSld>
  <p:clrMapOvr>
    <a:masterClrMapping/>
  </p:clrMapOvr>
  <mc:AlternateContent xmlns:mc="http://schemas.openxmlformats.org/markup-compatibility/2006" xmlns:p14="http://schemas.microsoft.com/office/powerpoint/2010/main">
    <mc:Choice Requires="p14">
      <p:transition spd="slow" p14:dur="2000" advTm="163109"/>
    </mc:Choice>
    <mc:Fallback xmlns="">
      <p:transition spd="slow" advTm="16310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28CFD-7736-5FA7-F4E8-05DAF67501BE}"/>
              </a:ext>
            </a:extLst>
          </p:cNvPr>
          <p:cNvSpPr>
            <a:spLocks noGrp="1"/>
          </p:cNvSpPr>
          <p:nvPr>
            <p:ph type="title"/>
          </p:nvPr>
        </p:nvSpPr>
        <p:spPr/>
        <p:txBody>
          <a:bodyPr/>
          <a:lstStyle/>
          <a:p>
            <a:r>
              <a:rPr lang="en-US" dirty="0"/>
              <a:t>Example of Good UX in Video Games </a:t>
            </a:r>
          </a:p>
        </p:txBody>
      </p:sp>
      <p:pic>
        <p:nvPicPr>
          <p:cNvPr id="7" name="Content Placeholder 6" descr="A person wearing glasses and a video game&#10;&#10;Description automatically generated">
            <a:extLst>
              <a:ext uri="{FF2B5EF4-FFF2-40B4-BE49-F238E27FC236}">
                <a16:creationId xmlns:a16="http://schemas.microsoft.com/office/drawing/2014/main" id="{59B88A01-7344-634F-D81B-8A2842C408EF}"/>
              </a:ext>
            </a:extLst>
          </p:cNvPr>
          <p:cNvPicPr>
            <a:picLocks noGrp="1" noChangeAspect="1"/>
          </p:cNvPicPr>
          <p:nvPr>
            <p:ph idx="1"/>
          </p:nvPr>
        </p:nvPicPr>
        <p:blipFill>
          <a:blip r:embed="rId5"/>
          <a:stretch>
            <a:fillRect/>
          </a:stretch>
        </p:blipFill>
        <p:spPr>
          <a:xfrm>
            <a:off x="2249165" y="1825625"/>
            <a:ext cx="7693670" cy="4351338"/>
          </a:xfrm>
          <a:ln>
            <a:solidFill>
              <a:schemeClr val="tx1">
                <a:lumMod val="50000"/>
              </a:schemeClr>
            </a:solidFill>
          </a:ln>
        </p:spPr>
      </p:pic>
      <p:pic>
        <p:nvPicPr>
          <p:cNvPr id="8" name="Audio 7">
            <a:hlinkClick r:id="" action="ppaction://media"/>
            <a:extLst>
              <a:ext uri="{FF2B5EF4-FFF2-40B4-BE49-F238E27FC236}">
                <a16:creationId xmlns:a16="http://schemas.microsoft.com/office/drawing/2014/main" id="{ECF87FE9-165F-C474-6715-A4A8D1E5327F}"/>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235983676"/>
      </p:ext>
    </p:extLst>
  </p:cSld>
  <p:clrMapOvr>
    <a:masterClrMapping/>
  </p:clrMapOvr>
  <mc:AlternateContent xmlns:mc="http://schemas.openxmlformats.org/markup-compatibility/2006" xmlns:p14="http://schemas.microsoft.com/office/powerpoint/2010/main">
    <mc:Choice Requires="p14">
      <p:transition spd="slow" p14:dur="2000" advTm="37610"/>
    </mc:Choice>
    <mc:Fallback xmlns="">
      <p:transition spd="slow" advTm="376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28CFD-7736-5FA7-F4E8-05DAF67501BE}"/>
              </a:ext>
            </a:extLst>
          </p:cNvPr>
          <p:cNvSpPr>
            <a:spLocks noGrp="1"/>
          </p:cNvSpPr>
          <p:nvPr>
            <p:ph type="title"/>
          </p:nvPr>
        </p:nvSpPr>
        <p:spPr/>
        <p:txBody>
          <a:bodyPr/>
          <a:lstStyle/>
          <a:p>
            <a:r>
              <a:rPr lang="en-US" dirty="0"/>
              <a:t>Example of Good UX in Video Games </a:t>
            </a:r>
          </a:p>
        </p:txBody>
      </p:sp>
      <p:pic>
        <p:nvPicPr>
          <p:cNvPr id="4" name="Online Media 3">
            <a:hlinkClick r:id="" action="ppaction://media"/>
            <a:extLst>
              <a:ext uri="{FF2B5EF4-FFF2-40B4-BE49-F238E27FC236}">
                <a16:creationId xmlns:a16="http://schemas.microsoft.com/office/drawing/2014/main" id="{CAC0E3CF-CC16-15F8-B5D4-2CC46B3E133A}"/>
              </a:ext>
            </a:extLst>
          </p:cNvPr>
          <p:cNvPicPr>
            <a:picLocks noGrp="1" noRot="1" noChangeAspect="1"/>
          </p:cNvPicPr>
          <p:nvPr>
            <p:ph idx="1"/>
            <a:videoFile r:link="rId1"/>
          </p:nvPr>
        </p:nvPicPr>
        <p:blipFill>
          <a:blip r:embed="rId4"/>
          <a:stretch>
            <a:fillRect/>
          </a:stretch>
        </p:blipFill>
        <p:spPr>
          <a:xfrm>
            <a:off x="2245519" y="1690688"/>
            <a:ext cx="7700962" cy="4351338"/>
          </a:xfrm>
          <a:prstGeom prst="rect">
            <a:avLst/>
          </a:prstGeom>
          <a:ln>
            <a:solidFill>
              <a:schemeClr val="tx1">
                <a:lumMod val="50000"/>
              </a:schemeClr>
            </a:solidFill>
          </a:ln>
        </p:spPr>
      </p:pic>
    </p:spTree>
    <p:extLst>
      <p:ext uri="{BB962C8B-B14F-4D97-AF65-F5344CB8AC3E}">
        <p14:creationId xmlns:p14="http://schemas.microsoft.com/office/powerpoint/2010/main" val="2175371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Picture 6" descr="A person holding her finger to her mouth through a hole in yellow paper&#10;&#10;Description automatically generated">
            <a:extLst>
              <a:ext uri="{FF2B5EF4-FFF2-40B4-BE49-F238E27FC236}">
                <a16:creationId xmlns:a16="http://schemas.microsoft.com/office/drawing/2014/main" id="{12A8DAA2-F9BD-67C6-5A58-5BEE78537247}"/>
              </a:ext>
            </a:extLst>
          </p:cNvPr>
          <p:cNvPicPr>
            <a:picLocks noChangeAspect="1"/>
          </p:cNvPicPr>
          <p:nvPr/>
        </p:nvPicPr>
        <p:blipFill>
          <a:blip r:embed="rId5">
            <a:duotone>
              <a:prstClr val="black"/>
              <a:schemeClr val="tx2">
                <a:tint val="45000"/>
                <a:satMod val="400000"/>
              </a:schemeClr>
            </a:duotone>
            <a:alphaModFix amt="25000"/>
            <a:extLst>
              <a:ext uri="{837473B0-CC2E-450A-ABE3-18F120FF3D39}">
                <a1611:picAttrSrcUrl xmlns:a1611="http://schemas.microsoft.com/office/drawing/2016/11/main" r:id="rId6"/>
              </a:ext>
            </a:extLst>
          </a:blip>
          <a:src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F3528CFD-7736-5FA7-F4E8-05DAF67501BE}"/>
              </a:ext>
            </a:extLst>
          </p:cNvPr>
          <p:cNvSpPr>
            <a:spLocks noGrp="1"/>
          </p:cNvSpPr>
          <p:nvPr>
            <p:ph type="title"/>
          </p:nvPr>
        </p:nvSpPr>
        <p:spPr>
          <a:xfrm>
            <a:off x="838200" y="365125"/>
            <a:ext cx="10515600" cy="1325563"/>
          </a:xfrm>
        </p:spPr>
        <p:txBody>
          <a:bodyPr>
            <a:normAutofit/>
          </a:bodyPr>
          <a:lstStyle/>
          <a:p>
            <a:r>
              <a:rPr lang="en-US"/>
              <a:t>Challenges</a:t>
            </a:r>
            <a:endParaRPr lang="en-US" dirty="0"/>
          </a:p>
        </p:txBody>
      </p:sp>
      <p:sp>
        <p:nvSpPr>
          <p:cNvPr id="5" name="Content Placeholder 4">
            <a:extLst>
              <a:ext uri="{FF2B5EF4-FFF2-40B4-BE49-F238E27FC236}">
                <a16:creationId xmlns:a16="http://schemas.microsoft.com/office/drawing/2014/main" id="{3161518E-B790-3A97-5540-DC3CFDC48C54}"/>
              </a:ext>
            </a:extLst>
          </p:cNvPr>
          <p:cNvSpPr>
            <a:spLocks noGrp="1"/>
          </p:cNvSpPr>
          <p:nvPr>
            <p:ph idx="1"/>
          </p:nvPr>
        </p:nvSpPr>
        <p:spPr>
          <a:xfrm>
            <a:off x="838200" y="1825625"/>
            <a:ext cx="10515600" cy="4351338"/>
          </a:xfrm>
        </p:spPr>
        <p:txBody>
          <a:bodyPr>
            <a:normAutofit/>
          </a:bodyPr>
          <a:lstStyle/>
          <a:p>
            <a:r>
              <a:rPr lang="en-US" dirty="0"/>
              <a:t>Time </a:t>
            </a:r>
          </a:p>
          <a:p>
            <a:r>
              <a:rPr lang="en-US" dirty="0"/>
              <a:t>Budget </a:t>
            </a:r>
          </a:p>
          <a:p>
            <a:r>
              <a:rPr lang="en-US" b="1" dirty="0"/>
              <a:t>Secrecy </a:t>
            </a:r>
          </a:p>
          <a:p>
            <a:endParaRPr lang="en-US" dirty="0"/>
          </a:p>
        </p:txBody>
      </p:sp>
      <p:pic>
        <p:nvPicPr>
          <p:cNvPr id="10" name="Audio 9">
            <a:hlinkClick r:id="" action="ppaction://media"/>
            <a:extLst>
              <a:ext uri="{FF2B5EF4-FFF2-40B4-BE49-F238E27FC236}">
                <a16:creationId xmlns:a16="http://schemas.microsoft.com/office/drawing/2014/main" id="{E0FDE6B1-CA8C-2AA6-5647-3C1B4AB946AF}"/>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280731036"/>
      </p:ext>
    </p:extLst>
  </p:cSld>
  <p:clrMapOvr>
    <a:masterClrMapping/>
  </p:clrMapOvr>
  <mc:AlternateContent xmlns:mc="http://schemas.openxmlformats.org/markup-compatibility/2006" xmlns:p14="http://schemas.microsoft.com/office/powerpoint/2010/main">
    <mc:Choice Requires="p14">
      <p:transition spd="slow" p14:dur="2000" advTm="144612"/>
    </mc:Choice>
    <mc:Fallback xmlns="">
      <p:transition spd="slow" advTm="14461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0"/>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C432AFE-B3D2-4BFF-BF8F-96C27AFF1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unch of yellow smileys&#10;&#10;Description automatically generated">
            <a:extLst>
              <a:ext uri="{FF2B5EF4-FFF2-40B4-BE49-F238E27FC236}">
                <a16:creationId xmlns:a16="http://schemas.microsoft.com/office/drawing/2014/main" id="{FD4FACF1-316F-FD14-9555-5407F82AA036}"/>
              </a:ext>
            </a:extLst>
          </p:cNvPr>
          <p:cNvPicPr>
            <a:picLocks noChangeAspect="1"/>
          </p:cNvPicPr>
          <p:nvPr/>
        </p:nvPicPr>
        <p:blipFill>
          <a:blip r:embed="rId5">
            <a:alphaModFix amt="40000"/>
          </a:blip>
          <a:srcRect/>
          <a:stretch/>
        </p:blipFill>
        <p:spPr>
          <a:xfrm>
            <a:off x="20" y="10"/>
            <a:ext cx="12191979" cy="6857990"/>
          </a:xfrm>
          <a:prstGeom prst="rect">
            <a:avLst/>
          </a:prstGeom>
        </p:spPr>
      </p:pic>
      <p:sp>
        <p:nvSpPr>
          <p:cNvPr id="2" name="Title 1">
            <a:extLst>
              <a:ext uri="{FF2B5EF4-FFF2-40B4-BE49-F238E27FC236}">
                <a16:creationId xmlns:a16="http://schemas.microsoft.com/office/drawing/2014/main" id="{F520342A-24DB-48D7-21A4-03288BE351BB}"/>
              </a:ext>
            </a:extLst>
          </p:cNvPr>
          <p:cNvSpPr>
            <a:spLocks noGrp="1"/>
          </p:cNvSpPr>
          <p:nvPr>
            <p:ph type="title"/>
          </p:nvPr>
        </p:nvSpPr>
        <p:spPr>
          <a:xfrm>
            <a:off x="841249" y="941832"/>
            <a:ext cx="10506456" cy="2057400"/>
          </a:xfrm>
        </p:spPr>
        <p:txBody>
          <a:bodyPr anchor="b">
            <a:normAutofit/>
          </a:bodyPr>
          <a:lstStyle/>
          <a:p>
            <a:r>
              <a:rPr lang="en-US" sz="5000">
                <a:solidFill>
                  <a:schemeClr val="bg1"/>
                </a:solidFill>
              </a:rPr>
              <a:t>Thank you!</a:t>
            </a:r>
          </a:p>
        </p:txBody>
      </p:sp>
      <p:sp>
        <p:nvSpPr>
          <p:cNvPr id="14" name="Rectangle 13">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3241202"/>
            <a:ext cx="10506456" cy="18288"/>
          </a:xfrm>
          <a:prstGeom prst="rect">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BC84A509-A486-D73D-39A8-E7B3D710FDEC}"/>
              </a:ext>
            </a:extLst>
          </p:cNvPr>
          <p:cNvSpPr>
            <a:spLocks noGrp="1"/>
          </p:cNvSpPr>
          <p:nvPr>
            <p:ph idx="1"/>
          </p:nvPr>
        </p:nvSpPr>
        <p:spPr>
          <a:xfrm>
            <a:off x="841248" y="3502152"/>
            <a:ext cx="10506456" cy="2670048"/>
          </a:xfrm>
        </p:spPr>
        <p:txBody>
          <a:bodyPr>
            <a:normAutofit/>
          </a:bodyPr>
          <a:lstStyle/>
          <a:p>
            <a:pPr marL="0" indent="0">
              <a:buNone/>
            </a:pPr>
            <a:r>
              <a:rPr lang="en-US" sz="2000">
                <a:solidFill>
                  <a:schemeClr val="bg1"/>
                </a:solidFill>
              </a:rPr>
              <a:t>Thank you very much for your time! If you have any questions, please contact me via - </a:t>
            </a:r>
            <a:r>
              <a:rPr lang="en-US" sz="2000">
                <a:solidFill>
                  <a:schemeClr val="bg1"/>
                </a:solidFill>
                <a:hlinkClick r:id="rId6"/>
              </a:rPr>
              <a:t>cast4317@vandals.uidaho.edu</a:t>
            </a:r>
            <a:endParaRPr lang="en-US" sz="2000">
              <a:solidFill>
                <a:schemeClr val="bg1"/>
              </a:solidFill>
            </a:endParaRPr>
          </a:p>
          <a:p>
            <a:pPr marL="0" indent="0">
              <a:buNone/>
            </a:pPr>
            <a:endParaRPr lang="en-US" sz="2000">
              <a:solidFill>
                <a:schemeClr val="bg1"/>
              </a:solidFill>
            </a:endParaRPr>
          </a:p>
        </p:txBody>
      </p:sp>
      <p:pic>
        <p:nvPicPr>
          <p:cNvPr id="4" name="Audio 3">
            <a:hlinkClick r:id="" action="ppaction://media"/>
            <a:extLst>
              <a:ext uri="{FF2B5EF4-FFF2-40B4-BE49-F238E27FC236}">
                <a16:creationId xmlns:a16="http://schemas.microsoft.com/office/drawing/2014/main" id="{0132E707-3744-EADC-B71C-41A28B875415}"/>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55545252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12789"/>
    </mc:Choice>
    <mc:Fallback xmlns="">
      <p:transition spd="slow" advTm="1278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9F3E7-695C-D051-3FCB-64FCF2E4018E}"/>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A5E3959D-18E1-9569-3D71-106604D3A5EF}"/>
              </a:ext>
            </a:extLst>
          </p:cNvPr>
          <p:cNvSpPr>
            <a:spLocks noGrp="1"/>
          </p:cNvSpPr>
          <p:nvPr>
            <p:ph idx="1"/>
          </p:nvPr>
        </p:nvSpPr>
        <p:spPr/>
        <p:txBody>
          <a:bodyPr/>
          <a:lstStyle/>
          <a:p>
            <a:r>
              <a:rPr lang="en-US" dirty="0"/>
              <a:t>Interaction Design Foundation - </a:t>
            </a:r>
            <a:r>
              <a:rPr lang="en-US" dirty="0" err="1"/>
              <a:t>IxDF</a:t>
            </a:r>
            <a:r>
              <a:rPr lang="en-US" dirty="0"/>
              <a:t>. (2023, December 14). What is Games User Research?. Interaction Design Foundation - </a:t>
            </a:r>
            <a:r>
              <a:rPr lang="en-US" dirty="0" err="1"/>
              <a:t>IxDF</a:t>
            </a:r>
            <a:r>
              <a:rPr lang="en-US" dirty="0"/>
              <a:t>. </a:t>
            </a:r>
            <a:r>
              <a:rPr lang="en-US" dirty="0">
                <a:hlinkClick r:id="rId2"/>
              </a:rPr>
              <a:t>https://www.interaction-design.org/literature/topics/games-user-research</a:t>
            </a:r>
            <a:endParaRPr lang="en-US" dirty="0"/>
          </a:p>
          <a:p>
            <a:r>
              <a:rPr lang="en-US" dirty="0"/>
              <a:t>Nielsen, J. (2019, November 12). Games user research: What’s different? Nielsen Norman Group. </a:t>
            </a:r>
            <a:r>
              <a:rPr lang="en-US" dirty="0">
                <a:hlinkClick r:id="rId3"/>
              </a:rPr>
              <a:t>https://www.nngroup.com/articles/game-user-research/</a:t>
            </a:r>
            <a:endParaRPr lang="en-US" dirty="0"/>
          </a:p>
          <a:p>
            <a:r>
              <a:rPr lang="en-US" dirty="0"/>
              <a:t>Fortnite UX Designer Breaks Down Fortnite’s UI / UX | Ars </a:t>
            </a:r>
            <a:r>
              <a:rPr lang="en-US" dirty="0" err="1"/>
              <a:t>Technica</a:t>
            </a:r>
            <a:r>
              <a:rPr lang="en-US" dirty="0"/>
              <a:t>. YouTube. (2018, September 13). </a:t>
            </a:r>
            <a:r>
              <a:rPr lang="en-US" dirty="0">
                <a:hlinkClick r:id="rId4"/>
              </a:rPr>
              <a:t>https://youtu.be/4DE_4HUX94</a:t>
            </a:r>
            <a:r>
              <a:rPr lang="en-US" dirty="0">
                <a:hlinkClick r:id="rId4"/>
              </a:rPr>
              <a:t>E</a:t>
            </a:r>
            <a:endParaRPr lang="en-US" dirty="0"/>
          </a:p>
          <a:p>
            <a:pPr marL="0" indent="0">
              <a:buNone/>
            </a:pPr>
            <a:endParaRPr lang="en-US" dirty="0"/>
          </a:p>
          <a:p>
            <a:endParaRPr lang="en-US" dirty="0"/>
          </a:p>
        </p:txBody>
      </p:sp>
    </p:spTree>
    <p:extLst>
      <p:ext uri="{BB962C8B-B14F-4D97-AF65-F5344CB8AC3E}">
        <p14:creationId xmlns:p14="http://schemas.microsoft.com/office/powerpoint/2010/main" val="50230219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2986</TotalTime>
  <Words>2159</Words>
  <Application>Microsoft Macintosh PowerPoint</Application>
  <PresentationFormat>Widescreen</PresentationFormat>
  <Paragraphs>166</Paragraphs>
  <Slides>12</Slides>
  <Notes>11</Notes>
  <HiddenSlides>0</HiddenSlides>
  <MMClips>11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-webkit-standard</vt:lpstr>
      <vt:lpstr>Arial</vt:lpstr>
      <vt:lpstr>Calibri</vt:lpstr>
      <vt:lpstr>Calibri Light</vt:lpstr>
      <vt:lpstr>Merriweather</vt:lpstr>
      <vt:lpstr>Source Serif Pro Variable</vt:lpstr>
      <vt:lpstr>Office Theme</vt:lpstr>
      <vt:lpstr>Video Games UX Research</vt:lpstr>
      <vt:lpstr>What’s UX Research?</vt:lpstr>
      <vt:lpstr>What’s Video Games UX Research?</vt:lpstr>
      <vt:lpstr>What’s Video Games UX Research?</vt:lpstr>
      <vt:lpstr>What’s Video Games UX Research?</vt:lpstr>
      <vt:lpstr>Playtesting </vt:lpstr>
      <vt:lpstr>What does the process look like?</vt:lpstr>
      <vt:lpstr>Example of Good UX in Video Games </vt:lpstr>
      <vt:lpstr>Example of Good UX in Video Games </vt:lpstr>
      <vt:lpstr>Challenges</vt:lpstr>
      <vt:lpstr>Thank you!</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Games UX Research</dc:title>
  <dc:creator>Castillo Perez, Miguel (cast4317@vandals.uidaho.edu)</dc:creator>
  <cp:lastModifiedBy>Castillo Perez, Miguel (cast4317@vandals.uidaho.edu)</cp:lastModifiedBy>
  <cp:revision>12</cp:revision>
  <dcterms:created xsi:type="dcterms:W3CDTF">2025-04-07T17:11:26Z</dcterms:created>
  <dcterms:modified xsi:type="dcterms:W3CDTF">2025-04-09T19:11:21Z</dcterms:modified>
</cp:coreProperties>
</file>