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8" r:id="rId3"/>
    <p:sldId id="259" r:id="rId4"/>
    <p:sldId id="5285" r:id="rId5"/>
    <p:sldId id="5268" r:id="rId6"/>
    <p:sldId id="2112" r:id="rId7"/>
    <p:sldId id="5276" r:id="rId8"/>
    <p:sldId id="5286" r:id="rId9"/>
    <p:sldId id="5287" r:id="rId10"/>
    <p:sldId id="454" r:id="rId11"/>
    <p:sldId id="284" r:id="rId12"/>
    <p:sldId id="289" r:id="rId13"/>
    <p:sldId id="5284" r:id="rId14"/>
    <p:sldId id="5288" r:id="rId15"/>
    <p:sldId id="260" r:id="rId16"/>
    <p:sldId id="5290" r:id="rId17"/>
    <p:sldId id="286" r:id="rId18"/>
    <p:sldId id="5291" r:id="rId19"/>
    <p:sldId id="528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73523" autoAdjust="0"/>
  </p:normalViewPr>
  <p:slideViewPr>
    <p:cSldViewPr snapToGrid="0">
      <p:cViewPr varScale="1">
        <p:scale>
          <a:sx n="72" d="100"/>
          <a:sy n="72" d="100"/>
        </p:scale>
        <p:origin x="39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B90ED7-40C7-4CE2-8675-F68DA6F797D5}" type="doc">
      <dgm:prSet loTypeId="urn:microsoft.com/office/officeart/2005/8/layout/cycle5" loCatId="cycle" qsTypeId="urn:microsoft.com/office/officeart/2005/8/quickstyle/simple1" qsCatId="simple" csTypeId="urn:microsoft.com/office/officeart/2005/8/colors/accent0_3" csCatId="mainScheme" phldr="1"/>
      <dgm:spPr/>
      <dgm:t>
        <a:bodyPr/>
        <a:lstStyle/>
        <a:p>
          <a:endParaRPr lang="en-US"/>
        </a:p>
      </dgm:t>
    </dgm:pt>
    <dgm:pt modelId="{83CC763A-E70A-45CF-B285-30CF0DECC940}">
      <dgm:prSet phldrT="[Text]"/>
      <dgm:spPr>
        <a:effectLst>
          <a:outerShdw blurRad="50800" dist="38100" dir="2700000" algn="tl" rotWithShape="0">
            <a:prstClr val="black">
              <a:alpha val="40000"/>
            </a:prstClr>
          </a:outerShdw>
        </a:effectLst>
      </dgm:spPr>
      <dgm:t>
        <a:bodyPr/>
        <a:lstStyle/>
        <a:p>
          <a:r>
            <a:rPr lang="en-US" dirty="0"/>
            <a:t>Human Error</a:t>
          </a:r>
        </a:p>
      </dgm:t>
    </dgm:pt>
    <dgm:pt modelId="{2521B55A-3A27-4BDC-9D8D-2A1913BD7CA6}" type="parTrans" cxnId="{4BE2B612-6BAE-4FFC-8641-961D5C2ECA27}">
      <dgm:prSet/>
      <dgm:spPr/>
      <dgm:t>
        <a:bodyPr/>
        <a:lstStyle/>
        <a:p>
          <a:endParaRPr lang="en-US"/>
        </a:p>
      </dgm:t>
    </dgm:pt>
    <dgm:pt modelId="{A8BCC76D-F962-47CD-ACA8-6D36F46F0C35}" type="sibTrans" cxnId="{4BE2B612-6BAE-4FFC-8641-961D5C2ECA27}">
      <dgm:prSet/>
      <dgm:spPr>
        <a:ln w="38100">
          <a:solidFill>
            <a:schemeClr val="tx2"/>
          </a:solidFill>
        </a:ln>
        <a:effectLst>
          <a:outerShdw blurRad="50800" dist="38100" dir="2700000" algn="tl" rotWithShape="0">
            <a:prstClr val="black">
              <a:alpha val="40000"/>
            </a:prstClr>
          </a:outerShdw>
        </a:effectLst>
      </dgm:spPr>
      <dgm:t>
        <a:bodyPr/>
        <a:lstStyle/>
        <a:p>
          <a:endParaRPr lang="en-US"/>
        </a:p>
      </dgm:t>
    </dgm:pt>
    <dgm:pt modelId="{891B66C4-BB4E-494E-806E-90E309A9A8D3}">
      <dgm:prSet phldrT="[Text]" custT="1"/>
      <dgm:spPr>
        <a:effectLst>
          <a:outerShdw blurRad="50800" dist="38100" dir="2700000" algn="tl" rotWithShape="0">
            <a:prstClr val="black">
              <a:alpha val="40000"/>
            </a:prstClr>
          </a:outerShdw>
        </a:effectLst>
      </dgm:spPr>
      <dgm:t>
        <a:bodyPr/>
        <a:lstStyle/>
        <a:p>
          <a:r>
            <a:rPr lang="en-US" sz="1500" kern="1200" dirty="0"/>
            <a:t>Individual counseled and/or disciplined,</a:t>
          </a:r>
          <a:r>
            <a:rPr lang="en-US" sz="1500" kern="1200" dirty="0">
              <a:solidFill>
                <a:prstClr val="white"/>
              </a:solidFill>
              <a:latin typeface="GE Inspira Sans"/>
              <a:ea typeface="+mn-ea"/>
              <a:cs typeface="+mn-cs"/>
            </a:rPr>
            <a:t> or changes made without input</a:t>
          </a:r>
        </a:p>
      </dgm:t>
    </dgm:pt>
    <dgm:pt modelId="{17D0E1B2-08DB-4C7B-9F61-5E6B9AFAC071}" type="parTrans" cxnId="{ACCB54CB-D95A-48B6-AD77-4343F4BA24AC}">
      <dgm:prSet/>
      <dgm:spPr/>
      <dgm:t>
        <a:bodyPr/>
        <a:lstStyle/>
        <a:p>
          <a:endParaRPr lang="en-US"/>
        </a:p>
      </dgm:t>
    </dgm:pt>
    <dgm:pt modelId="{BE5E85CE-22A7-4AC7-BEB5-1BAECE7A6FEC}" type="sibTrans" cxnId="{ACCB54CB-D95A-48B6-AD77-4343F4BA24AC}">
      <dgm:prSet/>
      <dgm:spPr>
        <a:ln w="38100">
          <a:solidFill>
            <a:schemeClr val="tx2"/>
          </a:solidFill>
        </a:ln>
        <a:effectLst>
          <a:outerShdw blurRad="50800" dist="38100" dir="2700000" algn="tl" rotWithShape="0">
            <a:prstClr val="black">
              <a:alpha val="40000"/>
            </a:prstClr>
          </a:outerShdw>
        </a:effectLst>
      </dgm:spPr>
      <dgm:t>
        <a:bodyPr/>
        <a:lstStyle/>
        <a:p>
          <a:endParaRPr lang="en-US"/>
        </a:p>
      </dgm:t>
    </dgm:pt>
    <dgm:pt modelId="{39C790D3-BC29-49CE-B1FD-6E5338A69782}">
      <dgm:prSet phldrT="[Text]"/>
      <dgm:spPr>
        <a:effectLst>
          <a:outerShdw blurRad="50800" dist="38100" dir="2700000" algn="tl" rotWithShape="0">
            <a:prstClr val="black">
              <a:alpha val="40000"/>
            </a:prstClr>
          </a:outerShdw>
        </a:effectLst>
      </dgm:spPr>
      <dgm:t>
        <a:bodyPr/>
        <a:lstStyle/>
        <a:p>
          <a:r>
            <a:rPr lang="en-US" dirty="0"/>
            <a:t>Reduced Trust</a:t>
          </a:r>
        </a:p>
      </dgm:t>
    </dgm:pt>
    <dgm:pt modelId="{F35978EC-9498-4F24-86B2-2011BA44BFC0}" type="parTrans" cxnId="{7ABCC47A-1E57-4219-9A5F-C615876B613C}">
      <dgm:prSet/>
      <dgm:spPr/>
      <dgm:t>
        <a:bodyPr/>
        <a:lstStyle/>
        <a:p>
          <a:endParaRPr lang="en-US"/>
        </a:p>
      </dgm:t>
    </dgm:pt>
    <dgm:pt modelId="{E9BD86EC-D0E9-41AA-AD7C-A30ED4C3CC0D}" type="sibTrans" cxnId="{7ABCC47A-1E57-4219-9A5F-C615876B613C}">
      <dgm:prSet/>
      <dgm:spPr>
        <a:ln w="38100">
          <a:solidFill>
            <a:schemeClr val="tx2"/>
          </a:solidFill>
        </a:ln>
        <a:effectLst>
          <a:outerShdw blurRad="50800" dist="38100" dir="2700000" algn="tl" rotWithShape="0">
            <a:prstClr val="black">
              <a:alpha val="40000"/>
            </a:prstClr>
          </a:outerShdw>
        </a:effectLst>
      </dgm:spPr>
      <dgm:t>
        <a:bodyPr/>
        <a:lstStyle/>
        <a:p>
          <a:endParaRPr lang="en-US"/>
        </a:p>
      </dgm:t>
    </dgm:pt>
    <dgm:pt modelId="{B5FABAB6-8166-4DBE-B113-60955C6E0364}">
      <dgm:prSet phldrT="[Text]"/>
      <dgm:spPr>
        <a:effectLst>
          <a:outerShdw blurRad="50800" dist="38100" dir="2700000" algn="tl" rotWithShape="0">
            <a:prstClr val="black">
              <a:alpha val="40000"/>
            </a:prstClr>
          </a:outerShdw>
        </a:effectLst>
      </dgm:spPr>
      <dgm:t>
        <a:bodyPr/>
        <a:lstStyle/>
        <a:p>
          <a:r>
            <a:rPr lang="en-US" dirty="0"/>
            <a:t>Less Communication</a:t>
          </a:r>
        </a:p>
      </dgm:t>
    </dgm:pt>
    <dgm:pt modelId="{5C8A2236-EB24-479C-961B-997EE2B3D146}" type="parTrans" cxnId="{C0A63A1A-734A-4E8B-BEA8-5B3A52213379}">
      <dgm:prSet/>
      <dgm:spPr/>
      <dgm:t>
        <a:bodyPr/>
        <a:lstStyle/>
        <a:p>
          <a:endParaRPr lang="en-US"/>
        </a:p>
      </dgm:t>
    </dgm:pt>
    <dgm:pt modelId="{95E5F852-F670-49D6-9CC7-A3E1DF211804}" type="sibTrans" cxnId="{C0A63A1A-734A-4E8B-BEA8-5B3A52213379}">
      <dgm:prSet/>
      <dgm:spPr>
        <a:ln w="38100">
          <a:solidFill>
            <a:schemeClr val="tx2"/>
          </a:solidFill>
        </a:ln>
        <a:effectLst>
          <a:outerShdw blurRad="50800" dist="38100" dir="2700000" algn="tl" rotWithShape="0">
            <a:prstClr val="black">
              <a:alpha val="40000"/>
            </a:prstClr>
          </a:outerShdw>
        </a:effectLst>
      </dgm:spPr>
      <dgm:t>
        <a:bodyPr/>
        <a:lstStyle/>
        <a:p>
          <a:endParaRPr lang="en-US"/>
        </a:p>
      </dgm:t>
    </dgm:pt>
    <dgm:pt modelId="{3EAEE4AB-55D3-4BE2-A479-929D01D8A77D}">
      <dgm:prSet phldrT="[Text]"/>
      <dgm:spPr>
        <a:effectLst>
          <a:outerShdw blurRad="50800" dist="38100" dir="2700000" algn="tl" rotWithShape="0">
            <a:prstClr val="black">
              <a:alpha val="40000"/>
            </a:prstClr>
          </a:outerShdw>
        </a:effectLst>
      </dgm:spPr>
      <dgm:t>
        <a:bodyPr/>
        <a:lstStyle/>
        <a:p>
          <a:r>
            <a:rPr lang="en-US" dirty="0"/>
            <a:t>Management less aware of jobsite conditions</a:t>
          </a:r>
        </a:p>
      </dgm:t>
    </dgm:pt>
    <dgm:pt modelId="{1A0E9ABE-7D33-435B-8306-7946E4006DF7}" type="parTrans" cxnId="{6A8424F3-C1B8-4324-9463-DB94E850916F}">
      <dgm:prSet/>
      <dgm:spPr/>
      <dgm:t>
        <a:bodyPr/>
        <a:lstStyle/>
        <a:p>
          <a:endParaRPr lang="en-US"/>
        </a:p>
      </dgm:t>
    </dgm:pt>
    <dgm:pt modelId="{EBECD27E-C3D3-4668-A220-3DCED0E95AF8}" type="sibTrans" cxnId="{6A8424F3-C1B8-4324-9463-DB94E850916F}">
      <dgm:prSet/>
      <dgm:spPr>
        <a:ln w="38100">
          <a:solidFill>
            <a:schemeClr val="tx2"/>
          </a:solidFill>
        </a:ln>
        <a:effectLst>
          <a:outerShdw blurRad="50800" dist="38100" dir="2700000" algn="tl" rotWithShape="0">
            <a:prstClr val="black">
              <a:alpha val="40000"/>
            </a:prstClr>
          </a:outerShdw>
        </a:effectLst>
      </dgm:spPr>
      <dgm:t>
        <a:bodyPr/>
        <a:lstStyle/>
        <a:p>
          <a:endParaRPr lang="en-US"/>
        </a:p>
      </dgm:t>
    </dgm:pt>
    <dgm:pt modelId="{88089625-7975-45FB-9315-A5B4BDC6764B}">
      <dgm:prSet phldrT="[Text]"/>
      <dgm:spPr>
        <a:effectLst>
          <a:outerShdw blurRad="50800" dist="38100" dir="2700000" algn="tl" rotWithShape="0">
            <a:prstClr val="black">
              <a:alpha val="40000"/>
            </a:prstClr>
          </a:outerShdw>
        </a:effectLst>
      </dgm:spPr>
      <dgm:t>
        <a:bodyPr/>
        <a:lstStyle/>
        <a:p>
          <a:r>
            <a:rPr lang="en-US" dirty="0"/>
            <a:t>Latent Organizational Weaknesses persist</a:t>
          </a:r>
        </a:p>
      </dgm:t>
    </dgm:pt>
    <dgm:pt modelId="{C400193A-049D-4762-9B80-4F487844DE9E}" type="parTrans" cxnId="{D7D6E0CC-07AC-470E-BFF5-2D2633F99855}">
      <dgm:prSet/>
      <dgm:spPr/>
      <dgm:t>
        <a:bodyPr/>
        <a:lstStyle/>
        <a:p>
          <a:endParaRPr lang="en-US"/>
        </a:p>
      </dgm:t>
    </dgm:pt>
    <dgm:pt modelId="{53837F57-DB50-47AB-9715-692C91063236}" type="sibTrans" cxnId="{D7D6E0CC-07AC-470E-BFF5-2D2633F99855}">
      <dgm:prSet/>
      <dgm:spPr>
        <a:ln w="38100">
          <a:solidFill>
            <a:schemeClr val="tx2"/>
          </a:solidFill>
        </a:ln>
        <a:effectLst>
          <a:outerShdw blurRad="50800" dist="38100" dir="2700000" algn="tl" rotWithShape="0">
            <a:prstClr val="black">
              <a:alpha val="40000"/>
            </a:prstClr>
          </a:outerShdw>
        </a:effectLst>
      </dgm:spPr>
      <dgm:t>
        <a:bodyPr/>
        <a:lstStyle/>
        <a:p>
          <a:endParaRPr lang="en-US"/>
        </a:p>
      </dgm:t>
    </dgm:pt>
    <dgm:pt modelId="{5D37FB49-EC97-41CD-BCFF-77702DAC552B}">
      <dgm:prSet phldrT="[Text]"/>
      <dgm:spPr>
        <a:effectLst>
          <a:outerShdw blurRad="50800" dist="38100" dir="2700000" algn="tl" rotWithShape="0">
            <a:prstClr val="black">
              <a:alpha val="40000"/>
            </a:prstClr>
          </a:outerShdw>
        </a:effectLst>
      </dgm:spPr>
      <dgm:t>
        <a:bodyPr/>
        <a:lstStyle/>
        <a:p>
          <a:r>
            <a:rPr lang="en-US" dirty="0"/>
            <a:t>More flawed defenses and error precursors</a:t>
          </a:r>
        </a:p>
      </dgm:t>
    </dgm:pt>
    <dgm:pt modelId="{4BDECEDA-6B8A-47CC-9924-9A80F1E80053}" type="parTrans" cxnId="{DD2E7998-23CC-4378-8E5A-406CF4E8466C}">
      <dgm:prSet/>
      <dgm:spPr/>
      <dgm:t>
        <a:bodyPr/>
        <a:lstStyle/>
        <a:p>
          <a:endParaRPr lang="en-US"/>
        </a:p>
      </dgm:t>
    </dgm:pt>
    <dgm:pt modelId="{30D47D27-D9C4-42FA-96D4-12100EE22DBF}" type="sibTrans" cxnId="{DD2E7998-23CC-4378-8E5A-406CF4E8466C}">
      <dgm:prSet/>
      <dgm:spPr>
        <a:ln w="38100">
          <a:solidFill>
            <a:schemeClr val="tx2"/>
          </a:solidFill>
        </a:ln>
        <a:effectLst>
          <a:outerShdw blurRad="50800" dist="38100" dir="2700000" algn="tl" rotWithShape="0">
            <a:prstClr val="black">
              <a:alpha val="40000"/>
            </a:prstClr>
          </a:outerShdw>
        </a:effectLst>
      </dgm:spPr>
      <dgm:t>
        <a:bodyPr/>
        <a:lstStyle/>
        <a:p>
          <a:endParaRPr lang="en-US"/>
        </a:p>
      </dgm:t>
    </dgm:pt>
    <dgm:pt modelId="{0016995F-9C69-4BE0-8E1F-3688AA42C2CF}" type="pres">
      <dgm:prSet presAssocID="{ACB90ED7-40C7-4CE2-8675-F68DA6F797D5}" presName="cycle" presStyleCnt="0">
        <dgm:presLayoutVars>
          <dgm:dir/>
          <dgm:resizeHandles val="exact"/>
        </dgm:presLayoutVars>
      </dgm:prSet>
      <dgm:spPr/>
    </dgm:pt>
    <dgm:pt modelId="{F166736A-64CA-4517-8A33-A3CFE2D2D221}" type="pres">
      <dgm:prSet presAssocID="{83CC763A-E70A-45CF-B285-30CF0DECC940}" presName="node" presStyleLbl="node1" presStyleIdx="0" presStyleCnt="7" custScaleX="133100" custScaleY="133100">
        <dgm:presLayoutVars>
          <dgm:bulletEnabled val="1"/>
        </dgm:presLayoutVars>
      </dgm:prSet>
      <dgm:spPr/>
    </dgm:pt>
    <dgm:pt modelId="{514B1A90-5D9D-43A8-B468-31D1DAABBDE5}" type="pres">
      <dgm:prSet presAssocID="{83CC763A-E70A-45CF-B285-30CF0DECC940}" presName="spNode" presStyleCnt="0"/>
      <dgm:spPr/>
    </dgm:pt>
    <dgm:pt modelId="{402E9FC9-8B87-4F98-98CC-19446C34E8A7}" type="pres">
      <dgm:prSet presAssocID="{A8BCC76D-F962-47CD-ACA8-6D36F46F0C35}" presName="sibTrans" presStyleLbl="sibTrans1D1" presStyleIdx="0" presStyleCnt="7"/>
      <dgm:spPr/>
    </dgm:pt>
    <dgm:pt modelId="{AFAA5281-7947-49C8-97F5-CB537C9817DA}" type="pres">
      <dgm:prSet presAssocID="{891B66C4-BB4E-494E-806E-90E309A9A8D3}" presName="node" presStyleLbl="node1" presStyleIdx="1" presStyleCnt="7" custScaleX="133100" custScaleY="133100">
        <dgm:presLayoutVars>
          <dgm:bulletEnabled val="1"/>
        </dgm:presLayoutVars>
      </dgm:prSet>
      <dgm:spPr/>
    </dgm:pt>
    <dgm:pt modelId="{6DB97185-4974-44C1-93A1-0EEAD86BE1A3}" type="pres">
      <dgm:prSet presAssocID="{891B66C4-BB4E-494E-806E-90E309A9A8D3}" presName="spNode" presStyleCnt="0"/>
      <dgm:spPr/>
    </dgm:pt>
    <dgm:pt modelId="{2937C777-A6CA-41A7-A14D-AE3AE4AEE744}" type="pres">
      <dgm:prSet presAssocID="{BE5E85CE-22A7-4AC7-BEB5-1BAECE7A6FEC}" presName="sibTrans" presStyleLbl="sibTrans1D1" presStyleIdx="1" presStyleCnt="7"/>
      <dgm:spPr/>
    </dgm:pt>
    <dgm:pt modelId="{7B0ED79B-F0BE-4F73-8092-EE5261D4A1E9}" type="pres">
      <dgm:prSet presAssocID="{39C790D3-BC29-49CE-B1FD-6E5338A69782}" presName="node" presStyleLbl="node1" presStyleIdx="2" presStyleCnt="7" custScaleX="133100" custScaleY="133100">
        <dgm:presLayoutVars>
          <dgm:bulletEnabled val="1"/>
        </dgm:presLayoutVars>
      </dgm:prSet>
      <dgm:spPr/>
    </dgm:pt>
    <dgm:pt modelId="{D2232A6E-D6B3-4791-A6E6-8C32C32CE7A8}" type="pres">
      <dgm:prSet presAssocID="{39C790D3-BC29-49CE-B1FD-6E5338A69782}" presName="spNode" presStyleCnt="0"/>
      <dgm:spPr/>
    </dgm:pt>
    <dgm:pt modelId="{1C617CCA-2229-49A4-96E2-8B48CA25BD5B}" type="pres">
      <dgm:prSet presAssocID="{E9BD86EC-D0E9-41AA-AD7C-A30ED4C3CC0D}" presName="sibTrans" presStyleLbl="sibTrans1D1" presStyleIdx="2" presStyleCnt="7"/>
      <dgm:spPr/>
    </dgm:pt>
    <dgm:pt modelId="{167AD9EE-94A5-4E19-B9C6-118F7864A0C0}" type="pres">
      <dgm:prSet presAssocID="{B5FABAB6-8166-4DBE-B113-60955C6E0364}" presName="node" presStyleLbl="node1" presStyleIdx="3" presStyleCnt="7" custScaleX="133100" custScaleY="133100">
        <dgm:presLayoutVars>
          <dgm:bulletEnabled val="1"/>
        </dgm:presLayoutVars>
      </dgm:prSet>
      <dgm:spPr/>
    </dgm:pt>
    <dgm:pt modelId="{658C8353-78DE-4321-B95C-713527B0169B}" type="pres">
      <dgm:prSet presAssocID="{B5FABAB6-8166-4DBE-B113-60955C6E0364}" presName="spNode" presStyleCnt="0"/>
      <dgm:spPr/>
    </dgm:pt>
    <dgm:pt modelId="{27690D3D-08D6-4E88-99DA-B1C689AF9E22}" type="pres">
      <dgm:prSet presAssocID="{95E5F852-F670-49D6-9CC7-A3E1DF211804}" presName="sibTrans" presStyleLbl="sibTrans1D1" presStyleIdx="3" presStyleCnt="7"/>
      <dgm:spPr/>
    </dgm:pt>
    <dgm:pt modelId="{B36C7C4A-9CAF-4368-93D8-647199D91B97}" type="pres">
      <dgm:prSet presAssocID="{3EAEE4AB-55D3-4BE2-A479-929D01D8A77D}" presName="node" presStyleLbl="node1" presStyleIdx="4" presStyleCnt="7" custScaleX="133100" custScaleY="133100">
        <dgm:presLayoutVars>
          <dgm:bulletEnabled val="1"/>
        </dgm:presLayoutVars>
      </dgm:prSet>
      <dgm:spPr/>
    </dgm:pt>
    <dgm:pt modelId="{02102E02-86D3-41FE-80D9-4D61761A3DEE}" type="pres">
      <dgm:prSet presAssocID="{3EAEE4AB-55D3-4BE2-A479-929D01D8A77D}" presName="spNode" presStyleCnt="0"/>
      <dgm:spPr/>
    </dgm:pt>
    <dgm:pt modelId="{1A4F0DE5-ECB0-4E52-B28B-2C8765355D19}" type="pres">
      <dgm:prSet presAssocID="{EBECD27E-C3D3-4668-A220-3DCED0E95AF8}" presName="sibTrans" presStyleLbl="sibTrans1D1" presStyleIdx="4" presStyleCnt="7"/>
      <dgm:spPr/>
    </dgm:pt>
    <dgm:pt modelId="{B61F7F52-5A38-4125-9683-4C310762E6F8}" type="pres">
      <dgm:prSet presAssocID="{88089625-7975-45FB-9315-A5B4BDC6764B}" presName="node" presStyleLbl="node1" presStyleIdx="5" presStyleCnt="7" custScaleX="133100" custScaleY="133100">
        <dgm:presLayoutVars>
          <dgm:bulletEnabled val="1"/>
        </dgm:presLayoutVars>
      </dgm:prSet>
      <dgm:spPr/>
    </dgm:pt>
    <dgm:pt modelId="{C60153EA-C0F6-4C34-830E-01430BAACE80}" type="pres">
      <dgm:prSet presAssocID="{88089625-7975-45FB-9315-A5B4BDC6764B}" presName="spNode" presStyleCnt="0"/>
      <dgm:spPr/>
    </dgm:pt>
    <dgm:pt modelId="{9F6BA028-D787-47EA-8E2E-E92C7B85F591}" type="pres">
      <dgm:prSet presAssocID="{53837F57-DB50-47AB-9715-692C91063236}" presName="sibTrans" presStyleLbl="sibTrans1D1" presStyleIdx="5" presStyleCnt="7"/>
      <dgm:spPr/>
    </dgm:pt>
    <dgm:pt modelId="{2B0AA5CD-D9AE-44BE-84F7-1CB8800C8AAA}" type="pres">
      <dgm:prSet presAssocID="{5D37FB49-EC97-41CD-BCFF-77702DAC552B}" presName="node" presStyleLbl="node1" presStyleIdx="6" presStyleCnt="7" custScaleX="133100" custScaleY="133100">
        <dgm:presLayoutVars>
          <dgm:bulletEnabled val="1"/>
        </dgm:presLayoutVars>
      </dgm:prSet>
      <dgm:spPr/>
    </dgm:pt>
    <dgm:pt modelId="{DAB0A83A-51F7-4710-9285-DB4C976BC165}" type="pres">
      <dgm:prSet presAssocID="{5D37FB49-EC97-41CD-BCFF-77702DAC552B}" presName="spNode" presStyleCnt="0"/>
      <dgm:spPr/>
    </dgm:pt>
    <dgm:pt modelId="{61388D95-72AE-4D16-BE1E-1C095DD62223}" type="pres">
      <dgm:prSet presAssocID="{30D47D27-D9C4-42FA-96D4-12100EE22DBF}" presName="sibTrans" presStyleLbl="sibTrans1D1" presStyleIdx="6" presStyleCnt="7"/>
      <dgm:spPr/>
    </dgm:pt>
  </dgm:ptLst>
  <dgm:cxnLst>
    <dgm:cxn modelId="{E7F84800-DC64-46E5-B1B4-C2CBC9814CC0}" type="presOf" srcId="{A8BCC76D-F962-47CD-ACA8-6D36F46F0C35}" destId="{402E9FC9-8B87-4F98-98CC-19446C34E8A7}" srcOrd="0" destOrd="0" presId="urn:microsoft.com/office/officeart/2005/8/layout/cycle5"/>
    <dgm:cxn modelId="{21E6340A-A3F4-4975-A7AC-189C04681136}" type="presOf" srcId="{3EAEE4AB-55D3-4BE2-A479-929D01D8A77D}" destId="{B36C7C4A-9CAF-4368-93D8-647199D91B97}" srcOrd="0" destOrd="0" presId="urn:microsoft.com/office/officeart/2005/8/layout/cycle5"/>
    <dgm:cxn modelId="{26641B0B-D0A7-43EB-9F8D-9A0B95968DA7}" type="presOf" srcId="{ACB90ED7-40C7-4CE2-8675-F68DA6F797D5}" destId="{0016995F-9C69-4BE0-8E1F-3688AA42C2CF}" srcOrd="0" destOrd="0" presId="urn:microsoft.com/office/officeart/2005/8/layout/cycle5"/>
    <dgm:cxn modelId="{4BE2B612-6BAE-4FFC-8641-961D5C2ECA27}" srcId="{ACB90ED7-40C7-4CE2-8675-F68DA6F797D5}" destId="{83CC763A-E70A-45CF-B285-30CF0DECC940}" srcOrd="0" destOrd="0" parTransId="{2521B55A-3A27-4BDC-9D8D-2A1913BD7CA6}" sibTransId="{A8BCC76D-F962-47CD-ACA8-6D36F46F0C35}"/>
    <dgm:cxn modelId="{C0A63A1A-734A-4E8B-BEA8-5B3A52213379}" srcId="{ACB90ED7-40C7-4CE2-8675-F68DA6F797D5}" destId="{B5FABAB6-8166-4DBE-B113-60955C6E0364}" srcOrd="3" destOrd="0" parTransId="{5C8A2236-EB24-479C-961B-997EE2B3D146}" sibTransId="{95E5F852-F670-49D6-9CC7-A3E1DF211804}"/>
    <dgm:cxn modelId="{22BEE920-BDE0-43E2-854A-F97415D14087}" type="presOf" srcId="{5D37FB49-EC97-41CD-BCFF-77702DAC552B}" destId="{2B0AA5CD-D9AE-44BE-84F7-1CB8800C8AAA}" srcOrd="0" destOrd="0" presId="urn:microsoft.com/office/officeart/2005/8/layout/cycle5"/>
    <dgm:cxn modelId="{66BC0137-350E-43C9-9942-438171D1A56F}" type="presOf" srcId="{EBECD27E-C3D3-4668-A220-3DCED0E95AF8}" destId="{1A4F0DE5-ECB0-4E52-B28B-2C8765355D19}" srcOrd="0" destOrd="0" presId="urn:microsoft.com/office/officeart/2005/8/layout/cycle5"/>
    <dgm:cxn modelId="{AEA39E65-3817-4CB5-83A5-303FB8712F71}" type="presOf" srcId="{30D47D27-D9C4-42FA-96D4-12100EE22DBF}" destId="{61388D95-72AE-4D16-BE1E-1C095DD62223}" srcOrd="0" destOrd="0" presId="urn:microsoft.com/office/officeart/2005/8/layout/cycle5"/>
    <dgm:cxn modelId="{BED9386C-C67C-4809-9CED-8D8E6F940C00}" type="presOf" srcId="{95E5F852-F670-49D6-9CC7-A3E1DF211804}" destId="{27690D3D-08D6-4E88-99DA-B1C689AF9E22}" srcOrd="0" destOrd="0" presId="urn:microsoft.com/office/officeart/2005/8/layout/cycle5"/>
    <dgm:cxn modelId="{12B94D75-F1B4-4E60-A0BC-ECC5E9CED8F6}" type="presOf" srcId="{891B66C4-BB4E-494E-806E-90E309A9A8D3}" destId="{AFAA5281-7947-49C8-97F5-CB537C9817DA}" srcOrd="0" destOrd="0" presId="urn:microsoft.com/office/officeart/2005/8/layout/cycle5"/>
    <dgm:cxn modelId="{14BB9855-92C8-4F24-A259-98F641E265A3}" type="presOf" srcId="{88089625-7975-45FB-9315-A5B4BDC6764B}" destId="{B61F7F52-5A38-4125-9683-4C310762E6F8}" srcOrd="0" destOrd="0" presId="urn:microsoft.com/office/officeart/2005/8/layout/cycle5"/>
    <dgm:cxn modelId="{D45D6A7A-6843-4E14-8729-C8D72E3D8151}" type="presOf" srcId="{39C790D3-BC29-49CE-B1FD-6E5338A69782}" destId="{7B0ED79B-F0BE-4F73-8092-EE5261D4A1E9}" srcOrd="0" destOrd="0" presId="urn:microsoft.com/office/officeart/2005/8/layout/cycle5"/>
    <dgm:cxn modelId="{7ABCC47A-1E57-4219-9A5F-C615876B613C}" srcId="{ACB90ED7-40C7-4CE2-8675-F68DA6F797D5}" destId="{39C790D3-BC29-49CE-B1FD-6E5338A69782}" srcOrd="2" destOrd="0" parTransId="{F35978EC-9498-4F24-86B2-2011BA44BFC0}" sibTransId="{E9BD86EC-D0E9-41AA-AD7C-A30ED4C3CC0D}"/>
    <dgm:cxn modelId="{89008480-D005-4051-8F1D-D72B115604BC}" type="presOf" srcId="{53837F57-DB50-47AB-9715-692C91063236}" destId="{9F6BA028-D787-47EA-8E2E-E92C7B85F591}" srcOrd="0" destOrd="0" presId="urn:microsoft.com/office/officeart/2005/8/layout/cycle5"/>
    <dgm:cxn modelId="{6FA16D89-C225-4CB8-BF6D-96D37F7A3CF0}" type="presOf" srcId="{E9BD86EC-D0E9-41AA-AD7C-A30ED4C3CC0D}" destId="{1C617CCA-2229-49A4-96E2-8B48CA25BD5B}" srcOrd="0" destOrd="0" presId="urn:microsoft.com/office/officeart/2005/8/layout/cycle5"/>
    <dgm:cxn modelId="{DD2E7998-23CC-4378-8E5A-406CF4E8466C}" srcId="{ACB90ED7-40C7-4CE2-8675-F68DA6F797D5}" destId="{5D37FB49-EC97-41CD-BCFF-77702DAC552B}" srcOrd="6" destOrd="0" parTransId="{4BDECEDA-6B8A-47CC-9924-9A80F1E80053}" sibTransId="{30D47D27-D9C4-42FA-96D4-12100EE22DBF}"/>
    <dgm:cxn modelId="{0A4F35A0-6197-4DCE-AB19-3619A35869B6}" type="presOf" srcId="{B5FABAB6-8166-4DBE-B113-60955C6E0364}" destId="{167AD9EE-94A5-4E19-B9C6-118F7864A0C0}" srcOrd="0" destOrd="0" presId="urn:microsoft.com/office/officeart/2005/8/layout/cycle5"/>
    <dgm:cxn modelId="{E05CDAA3-6623-414E-B5F6-B77298C25F52}" type="presOf" srcId="{83CC763A-E70A-45CF-B285-30CF0DECC940}" destId="{F166736A-64CA-4517-8A33-A3CFE2D2D221}" srcOrd="0" destOrd="0" presId="urn:microsoft.com/office/officeart/2005/8/layout/cycle5"/>
    <dgm:cxn modelId="{ACCB54CB-D95A-48B6-AD77-4343F4BA24AC}" srcId="{ACB90ED7-40C7-4CE2-8675-F68DA6F797D5}" destId="{891B66C4-BB4E-494E-806E-90E309A9A8D3}" srcOrd="1" destOrd="0" parTransId="{17D0E1B2-08DB-4C7B-9F61-5E6B9AFAC071}" sibTransId="{BE5E85CE-22A7-4AC7-BEB5-1BAECE7A6FEC}"/>
    <dgm:cxn modelId="{D7D6E0CC-07AC-470E-BFF5-2D2633F99855}" srcId="{ACB90ED7-40C7-4CE2-8675-F68DA6F797D5}" destId="{88089625-7975-45FB-9315-A5B4BDC6764B}" srcOrd="5" destOrd="0" parTransId="{C400193A-049D-4762-9B80-4F487844DE9E}" sibTransId="{53837F57-DB50-47AB-9715-692C91063236}"/>
    <dgm:cxn modelId="{04D029D0-7C71-46B9-B39C-B84EBD8BF127}" type="presOf" srcId="{BE5E85CE-22A7-4AC7-BEB5-1BAECE7A6FEC}" destId="{2937C777-A6CA-41A7-A14D-AE3AE4AEE744}" srcOrd="0" destOrd="0" presId="urn:microsoft.com/office/officeart/2005/8/layout/cycle5"/>
    <dgm:cxn modelId="{6A8424F3-C1B8-4324-9463-DB94E850916F}" srcId="{ACB90ED7-40C7-4CE2-8675-F68DA6F797D5}" destId="{3EAEE4AB-55D3-4BE2-A479-929D01D8A77D}" srcOrd="4" destOrd="0" parTransId="{1A0E9ABE-7D33-435B-8306-7946E4006DF7}" sibTransId="{EBECD27E-C3D3-4668-A220-3DCED0E95AF8}"/>
    <dgm:cxn modelId="{86423BF5-9B37-4F71-B0E7-35A32A4E7E96}" type="presParOf" srcId="{0016995F-9C69-4BE0-8E1F-3688AA42C2CF}" destId="{F166736A-64CA-4517-8A33-A3CFE2D2D221}" srcOrd="0" destOrd="0" presId="urn:microsoft.com/office/officeart/2005/8/layout/cycle5"/>
    <dgm:cxn modelId="{663C8186-96C0-4201-A125-7599FA72001D}" type="presParOf" srcId="{0016995F-9C69-4BE0-8E1F-3688AA42C2CF}" destId="{514B1A90-5D9D-43A8-B468-31D1DAABBDE5}" srcOrd="1" destOrd="0" presId="urn:microsoft.com/office/officeart/2005/8/layout/cycle5"/>
    <dgm:cxn modelId="{92F1DE9F-183E-4C0F-8FBD-F3D9C3A518C9}" type="presParOf" srcId="{0016995F-9C69-4BE0-8E1F-3688AA42C2CF}" destId="{402E9FC9-8B87-4F98-98CC-19446C34E8A7}" srcOrd="2" destOrd="0" presId="urn:microsoft.com/office/officeart/2005/8/layout/cycle5"/>
    <dgm:cxn modelId="{18540FE0-C187-4675-8EC6-E1099D26D105}" type="presParOf" srcId="{0016995F-9C69-4BE0-8E1F-3688AA42C2CF}" destId="{AFAA5281-7947-49C8-97F5-CB537C9817DA}" srcOrd="3" destOrd="0" presId="urn:microsoft.com/office/officeart/2005/8/layout/cycle5"/>
    <dgm:cxn modelId="{4803F172-77EA-40A1-B355-FA5A60E1825C}" type="presParOf" srcId="{0016995F-9C69-4BE0-8E1F-3688AA42C2CF}" destId="{6DB97185-4974-44C1-93A1-0EEAD86BE1A3}" srcOrd="4" destOrd="0" presId="urn:microsoft.com/office/officeart/2005/8/layout/cycle5"/>
    <dgm:cxn modelId="{7247BDCA-9BD7-4E52-A84E-1D528C7C782B}" type="presParOf" srcId="{0016995F-9C69-4BE0-8E1F-3688AA42C2CF}" destId="{2937C777-A6CA-41A7-A14D-AE3AE4AEE744}" srcOrd="5" destOrd="0" presId="urn:microsoft.com/office/officeart/2005/8/layout/cycle5"/>
    <dgm:cxn modelId="{AD1F6508-DF0D-4091-9D9A-73E6EBC9D63C}" type="presParOf" srcId="{0016995F-9C69-4BE0-8E1F-3688AA42C2CF}" destId="{7B0ED79B-F0BE-4F73-8092-EE5261D4A1E9}" srcOrd="6" destOrd="0" presId="urn:microsoft.com/office/officeart/2005/8/layout/cycle5"/>
    <dgm:cxn modelId="{A31F8DA8-CF6A-488E-A1CE-D20672F3E58E}" type="presParOf" srcId="{0016995F-9C69-4BE0-8E1F-3688AA42C2CF}" destId="{D2232A6E-D6B3-4791-A6E6-8C32C32CE7A8}" srcOrd="7" destOrd="0" presId="urn:microsoft.com/office/officeart/2005/8/layout/cycle5"/>
    <dgm:cxn modelId="{07C333B0-B4DA-47D2-B6AF-FCB90B6C31D8}" type="presParOf" srcId="{0016995F-9C69-4BE0-8E1F-3688AA42C2CF}" destId="{1C617CCA-2229-49A4-96E2-8B48CA25BD5B}" srcOrd="8" destOrd="0" presId="urn:microsoft.com/office/officeart/2005/8/layout/cycle5"/>
    <dgm:cxn modelId="{B0ECFCC5-8DDF-42C2-AA0B-38974A87E324}" type="presParOf" srcId="{0016995F-9C69-4BE0-8E1F-3688AA42C2CF}" destId="{167AD9EE-94A5-4E19-B9C6-118F7864A0C0}" srcOrd="9" destOrd="0" presId="urn:microsoft.com/office/officeart/2005/8/layout/cycle5"/>
    <dgm:cxn modelId="{CAF9142F-2960-4476-8F8C-27EBFC25D9C3}" type="presParOf" srcId="{0016995F-9C69-4BE0-8E1F-3688AA42C2CF}" destId="{658C8353-78DE-4321-B95C-713527B0169B}" srcOrd="10" destOrd="0" presId="urn:microsoft.com/office/officeart/2005/8/layout/cycle5"/>
    <dgm:cxn modelId="{71DF54DE-9F98-483F-9F93-319B711FD412}" type="presParOf" srcId="{0016995F-9C69-4BE0-8E1F-3688AA42C2CF}" destId="{27690D3D-08D6-4E88-99DA-B1C689AF9E22}" srcOrd="11" destOrd="0" presId="urn:microsoft.com/office/officeart/2005/8/layout/cycle5"/>
    <dgm:cxn modelId="{99ED9D88-0E71-4BC7-BBC1-DD240CD99E95}" type="presParOf" srcId="{0016995F-9C69-4BE0-8E1F-3688AA42C2CF}" destId="{B36C7C4A-9CAF-4368-93D8-647199D91B97}" srcOrd="12" destOrd="0" presId="urn:microsoft.com/office/officeart/2005/8/layout/cycle5"/>
    <dgm:cxn modelId="{2FDF2B72-37C4-4862-82F5-6697078A53D7}" type="presParOf" srcId="{0016995F-9C69-4BE0-8E1F-3688AA42C2CF}" destId="{02102E02-86D3-41FE-80D9-4D61761A3DEE}" srcOrd="13" destOrd="0" presId="urn:microsoft.com/office/officeart/2005/8/layout/cycle5"/>
    <dgm:cxn modelId="{BDE81BE8-5702-4BDB-8ACC-2AC7B7349599}" type="presParOf" srcId="{0016995F-9C69-4BE0-8E1F-3688AA42C2CF}" destId="{1A4F0DE5-ECB0-4E52-B28B-2C8765355D19}" srcOrd="14" destOrd="0" presId="urn:microsoft.com/office/officeart/2005/8/layout/cycle5"/>
    <dgm:cxn modelId="{2C916577-F561-41FD-9BB5-B405B70FEAB6}" type="presParOf" srcId="{0016995F-9C69-4BE0-8E1F-3688AA42C2CF}" destId="{B61F7F52-5A38-4125-9683-4C310762E6F8}" srcOrd="15" destOrd="0" presId="urn:microsoft.com/office/officeart/2005/8/layout/cycle5"/>
    <dgm:cxn modelId="{25F53B75-1E87-4CE3-8409-D40176CB17C2}" type="presParOf" srcId="{0016995F-9C69-4BE0-8E1F-3688AA42C2CF}" destId="{C60153EA-C0F6-4C34-830E-01430BAACE80}" srcOrd="16" destOrd="0" presId="urn:microsoft.com/office/officeart/2005/8/layout/cycle5"/>
    <dgm:cxn modelId="{3C6C4D0E-9750-41EF-B436-27CA1F895AFF}" type="presParOf" srcId="{0016995F-9C69-4BE0-8E1F-3688AA42C2CF}" destId="{9F6BA028-D787-47EA-8E2E-E92C7B85F591}" srcOrd="17" destOrd="0" presId="urn:microsoft.com/office/officeart/2005/8/layout/cycle5"/>
    <dgm:cxn modelId="{F77BC4AC-A85D-45F0-BCAD-5EDC3FD533F9}" type="presParOf" srcId="{0016995F-9C69-4BE0-8E1F-3688AA42C2CF}" destId="{2B0AA5CD-D9AE-44BE-84F7-1CB8800C8AAA}" srcOrd="18" destOrd="0" presId="urn:microsoft.com/office/officeart/2005/8/layout/cycle5"/>
    <dgm:cxn modelId="{EFED9AE0-670C-4C49-BD24-E94F75C59A3B}" type="presParOf" srcId="{0016995F-9C69-4BE0-8E1F-3688AA42C2CF}" destId="{DAB0A83A-51F7-4710-9285-DB4C976BC165}" srcOrd="19" destOrd="0" presId="urn:microsoft.com/office/officeart/2005/8/layout/cycle5"/>
    <dgm:cxn modelId="{AC30A507-E251-4CFA-8043-E3B5080EF300}" type="presParOf" srcId="{0016995F-9C69-4BE0-8E1F-3688AA42C2CF}" destId="{61388D95-72AE-4D16-BE1E-1C095DD62223}" srcOrd="20"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34C799-4355-43E6-88B4-6D4D5E35A69B}"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C26330AF-A0C2-475F-B440-A1BE46E1F3A6}">
      <dgm:prSet phldrT="[Text]" custT="1"/>
      <dgm:spPr>
        <a:solidFill>
          <a:schemeClr val="tx2">
            <a:lumMod val="75000"/>
          </a:schemeClr>
        </a:solidFill>
      </dgm:spPr>
      <dgm:t>
        <a:bodyPr/>
        <a:lstStyle/>
        <a:p>
          <a:r>
            <a:rPr lang="en-US" sz="2400" i="0" dirty="0">
              <a:solidFill>
                <a:schemeClr val="bg1"/>
              </a:solidFill>
            </a:rPr>
            <a:t>Employee </a:t>
          </a:r>
          <a:r>
            <a:rPr lang="en-US" sz="2400" b="1" i="0" dirty="0">
              <a:solidFill>
                <a:schemeClr val="bg1"/>
              </a:solidFill>
            </a:rPr>
            <a:t>failed</a:t>
          </a:r>
          <a:r>
            <a:rPr lang="en-US" sz="2400" i="0" dirty="0">
              <a:solidFill>
                <a:schemeClr val="bg1"/>
              </a:solidFill>
            </a:rPr>
            <a:t> to use the coolant called for in work instructions. </a:t>
          </a:r>
          <a:r>
            <a:rPr lang="en-US" sz="2400" b="1" i="0" dirty="0">
              <a:solidFill>
                <a:schemeClr val="bg1"/>
              </a:solidFill>
            </a:rPr>
            <a:t>Failure</a:t>
          </a:r>
          <a:r>
            <a:rPr lang="en-US" sz="2400" i="0" dirty="0">
              <a:solidFill>
                <a:schemeClr val="bg1"/>
              </a:solidFill>
            </a:rPr>
            <a:t> to follow work instructions/</a:t>
          </a:r>
          <a:r>
            <a:rPr lang="en-US" sz="2400" b="1" i="0" dirty="0">
              <a:solidFill>
                <a:schemeClr val="bg1"/>
              </a:solidFill>
            </a:rPr>
            <a:t>violation</a:t>
          </a:r>
          <a:r>
            <a:rPr lang="en-US" sz="2400" i="0" dirty="0">
              <a:solidFill>
                <a:schemeClr val="bg1"/>
              </a:solidFill>
            </a:rPr>
            <a:t> of work instructions.</a:t>
          </a:r>
        </a:p>
        <a:p>
          <a:r>
            <a:rPr lang="en-US" sz="2400" i="0" dirty="0">
              <a:solidFill>
                <a:schemeClr val="bg1"/>
              </a:solidFill>
            </a:rPr>
            <a:t>Employee did </a:t>
          </a:r>
          <a:r>
            <a:rPr lang="en-US" sz="2400" b="1" i="0" dirty="0">
              <a:solidFill>
                <a:schemeClr val="bg1"/>
              </a:solidFill>
            </a:rPr>
            <a:t>not care enough </a:t>
          </a:r>
          <a:r>
            <a:rPr lang="en-US" sz="2400" i="0" dirty="0">
              <a:solidFill>
                <a:schemeClr val="bg1"/>
              </a:solidFill>
            </a:rPr>
            <a:t>to pay attention. Discipline employee.</a:t>
          </a:r>
        </a:p>
      </dgm:t>
    </dgm:pt>
    <dgm:pt modelId="{7F53D9B0-964D-46A9-97F2-E0807412AC64}" type="parTrans" cxnId="{3BBF19C2-E061-4D38-9C11-227C262E301B}">
      <dgm:prSet/>
      <dgm:spPr/>
      <dgm:t>
        <a:bodyPr/>
        <a:lstStyle/>
        <a:p>
          <a:endParaRPr lang="en-US"/>
        </a:p>
      </dgm:t>
    </dgm:pt>
    <dgm:pt modelId="{D5827F47-2500-4B1D-B5A3-9FDDF83E7773}" type="sibTrans" cxnId="{3BBF19C2-E061-4D38-9C11-227C262E301B}">
      <dgm:prSet/>
      <dgm:spPr/>
      <dgm:t>
        <a:bodyPr/>
        <a:lstStyle/>
        <a:p>
          <a:endParaRPr lang="en-US"/>
        </a:p>
      </dgm:t>
    </dgm:pt>
    <dgm:pt modelId="{683731DD-002D-4A3E-8296-7F230396C15F}" type="pres">
      <dgm:prSet presAssocID="{6634C799-4355-43E6-88B4-6D4D5E35A69B}" presName="Name0" presStyleCnt="0">
        <dgm:presLayoutVars>
          <dgm:chMax val="7"/>
          <dgm:chPref val="7"/>
          <dgm:dir/>
        </dgm:presLayoutVars>
      </dgm:prSet>
      <dgm:spPr/>
    </dgm:pt>
    <dgm:pt modelId="{89C2A863-66FC-4BE8-80F4-D5FA114F68E4}" type="pres">
      <dgm:prSet presAssocID="{6634C799-4355-43E6-88B4-6D4D5E35A69B}" presName="Name1" presStyleCnt="0"/>
      <dgm:spPr/>
    </dgm:pt>
    <dgm:pt modelId="{6C75EDF7-6288-4A06-AB7A-E5C6E578C5FA}" type="pres">
      <dgm:prSet presAssocID="{6634C799-4355-43E6-88B4-6D4D5E35A69B}" presName="cycle" presStyleCnt="0"/>
      <dgm:spPr/>
    </dgm:pt>
    <dgm:pt modelId="{71EB6A73-A59B-4CDB-B1AD-81DFAC7A1D14}" type="pres">
      <dgm:prSet presAssocID="{6634C799-4355-43E6-88B4-6D4D5E35A69B}" presName="srcNode" presStyleLbl="node1" presStyleIdx="0" presStyleCnt="1"/>
      <dgm:spPr/>
    </dgm:pt>
    <dgm:pt modelId="{9E08F4C5-C98A-4AE3-9FB3-688C0426F0FE}" type="pres">
      <dgm:prSet presAssocID="{6634C799-4355-43E6-88B4-6D4D5E35A69B}" presName="conn" presStyleLbl="parChTrans1D2" presStyleIdx="0" presStyleCnt="1"/>
      <dgm:spPr/>
    </dgm:pt>
    <dgm:pt modelId="{9F5FD1B6-D7A2-411C-95DE-142462BE74A6}" type="pres">
      <dgm:prSet presAssocID="{6634C799-4355-43E6-88B4-6D4D5E35A69B}" presName="extraNode" presStyleLbl="node1" presStyleIdx="0" presStyleCnt="1"/>
      <dgm:spPr/>
    </dgm:pt>
    <dgm:pt modelId="{E7EE0EF9-D159-46C3-B1C2-6AA61504177D}" type="pres">
      <dgm:prSet presAssocID="{6634C799-4355-43E6-88B4-6D4D5E35A69B}" presName="dstNode" presStyleLbl="node1" presStyleIdx="0" presStyleCnt="1"/>
      <dgm:spPr/>
    </dgm:pt>
    <dgm:pt modelId="{2E0AD861-52AC-492A-AD71-BD7A6F8BAAF8}" type="pres">
      <dgm:prSet presAssocID="{C26330AF-A0C2-475F-B440-A1BE46E1F3A6}" presName="text_1" presStyleLbl="node1" presStyleIdx="0" presStyleCnt="1" custScaleX="108927" custLinFactNeighborX="-2232" custLinFactNeighborY="-4497">
        <dgm:presLayoutVars>
          <dgm:bulletEnabled val="1"/>
        </dgm:presLayoutVars>
      </dgm:prSet>
      <dgm:spPr/>
    </dgm:pt>
    <dgm:pt modelId="{3CD4E640-7F85-4ECD-BDB8-E3BA4A51CB7A}" type="pres">
      <dgm:prSet presAssocID="{C26330AF-A0C2-475F-B440-A1BE46E1F3A6}" presName="accent_1" presStyleCnt="0"/>
      <dgm:spPr/>
    </dgm:pt>
    <dgm:pt modelId="{5BE805CC-97BA-4AA5-9829-A78736B02D2B}" type="pres">
      <dgm:prSet presAssocID="{C26330AF-A0C2-475F-B440-A1BE46E1F3A6}" presName="accentRepeatNode" presStyleLbl="solidFgAcc1" presStyleIdx="0" presStyleCnt="1"/>
      <dgm:spPr/>
    </dgm:pt>
  </dgm:ptLst>
  <dgm:cxnLst>
    <dgm:cxn modelId="{2959E85A-D2C1-4797-8E2A-6E7A509A8D22}" type="presOf" srcId="{D5827F47-2500-4B1D-B5A3-9FDDF83E7773}" destId="{9E08F4C5-C98A-4AE3-9FB3-688C0426F0FE}" srcOrd="0" destOrd="0" presId="urn:microsoft.com/office/officeart/2008/layout/VerticalCurvedList"/>
    <dgm:cxn modelId="{AF649ABF-CCF2-46FE-B452-13A85CFDEB7C}" type="presOf" srcId="{C26330AF-A0C2-475F-B440-A1BE46E1F3A6}" destId="{2E0AD861-52AC-492A-AD71-BD7A6F8BAAF8}" srcOrd="0" destOrd="0" presId="urn:microsoft.com/office/officeart/2008/layout/VerticalCurvedList"/>
    <dgm:cxn modelId="{3BBF19C2-E061-4D38-9C11-227C262E301B}" srcId="{6634C799-4355-43E6-88B4-6D4D5E35A69B}" destId="{C26330AF-A0C2-475F-B440-A1BE46E1F3A6}" srcOrd="0" destOrd="0" parTransId="{7F53D9B0-964D-46A9-97F2-E0807412AC64}" sibTransId="{D5827F47-2500-4B1D-B5A3-9FDDF83E7773}"/>
    <dgm:cxn modelId="{AED493DE-36A2-426A-AAA6-5C8820792037}" type="presOf" srcId="{6634C799-4355-43E6-88B4-6D4D5E35A69B}" destId="{683731DD-002D-4A3E-8296-7F230396C15F}" srcOrd="0" destOrd="0" presId="urn:microsoft.com/office/officeart/2008/layout/VerticalCurvedList"/>
    <dgm:cxn modelId="{DC916F79-267F-4E81-9A07-62A6EAB163E0}" type="presParOf" srcId="{683731DD-002D-4A3E-8296-7F230396C15F}" destId="{89C2A863-66FC-4BE8-80F4-D5FA114F68E4}" srcOrd="0" destOrd="0" presId="urn:microsoft.com/office/officeart/2008/layout/VerticalCurvedList"/>
    <dgm:cxn modelId="{2201A879-E23F-4F1E-BD66-CA818C4FD555}" type="presParOf" srcId="{89C2A863-66FC-4BE8-80F4-D5FA114F68E4}" destId="{6C75EDF7-6288-4A06-AB7A-E5C6E578C5FA}" srcOrd="0" destOrd="0" presId="urn:microsoft.com/office/officeart/2008/layout/VerticalCurvedList"/>
    <dgm:cxn modelId="{2DC19E27-5743-49EB-BEFA-138D930FC092}" type="presParOf" srcId="{6C75EDF7-6288-4A06-AB7A-E5C6E578C5FA}" destId="{71EB6A73-A59B-4CDB-B1AD-81DFAC7A1D14}" srcOrd="0" destOrd="0" presId="urn:microsoft.com/office/officeart/2008/layout/VerticalCurvedList"/>
    <dgm:cxn modelId="{FB25EA62-145C-40BC-A09C-2893208196E5}" type="presParOf" srcId="{6C75EDF7-6288-4A06-AB7A-E5C6E578C5FA}" destId="{9E08F4C5-C98A-4AE3-9FB3-688C0426F0FE}" srcOrd="1" destOrd="0" presId="urn:microsoft.com/office/officeart/2008/layout/VerticalCurvedList"/>
    <dgm:cxn modelId="{11F41C18-D6BE-4221-AD2B-63F556B2F640}" type="presParOf" srcId="{6C75EDF7-6288-4A06-AB7A-E5C6E578C5FA}" destId="{9F5FD1B6-D7A2-411C-95DE-142462BE74A6}" srcOrd="2" destOrd="0" presId="urn:microsoft.com/office/officeart/2008/layout/VerticalCurvedList"/>
    <dgm:cxn modelId="{CF0A1F3F-F57E-494D-AA6F-6CCB9A536DC4}" type="presParOf" srcId="{6C75EDF7-6288-4A06-AB7A-E5C6E578C5FA}" destId="{E7EE0EF9-D159-46C3-B1C2-6AA61504177D}" srcOrd="3" destOrd="0" presId="urn:microsoft.com/office/officeart/2008/layout/VerticalCurvedList"/>
    <dgm:cxn modelId="{DDB8718C-4BE3-48FE-88AD-C01452494DE1}" type="presParOf" srcId="{89C2A863-66FC-4BE8-80F4-D5FA114F68E4}" destId="{2E0AD861-52AC-492A-AD71-BD7A6F8BAAF8}" srcOrd="1" destOrd="0" presId="urn:microsoft.com/office/officeart/2008/layout/VerticalCurvedList"/>
    <dgm:cxn modelId="{694A9176-879E-4EBE-B08A-3C81B74532C2}" type="presParOf" srcId="{89C2A863-66FC-4BE8-80F4-D5FA114F68E4}" destId="{3CD4E640-7F85-4ECD-BDB8-E3BA4A51CB7A}" srcOrd="2" destOrd="0" presId="urn:microsoft.com/office/officeart/2008/layout/VerticalCurvedList"/>
    <dgm:cxn modelId="{308EC833-974C-43E0-B8DB-DC188AA548E4}" type="presParOf" srcId="{3CD4E640-7F85-4ECD-BDB8-E3BA4A51CB7A}" destId="{5BE805CC-97BA-4AA5-9829-A78736B02D2B}"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634C799-4355-43E6-88B4-6D4D5E35A69B}"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BDAB05D4-6C3E-425A-B572-42BE8A5959A2}">
      <dgm:prSet phldrT="[Text]" custT="1"/>
      <dgm:spPr>
        <a:solidFill>
          <a:schemeClr val="tx2">
            <a:lumMod val="50000"/>
          </a:schemeClr>
        </a:solidFill>
      </dgm:spPr>
      <dgm:t>
        <a:bodyPr/>
        <a:lstStyle/>
        <a:p>
          <a:r>
            <a:rPr lang="en-US" sz="2000" dirty="0">
              <a:solidFill>
                <a:schemeClr val="bg1"/>
              </a:solidFill>
            </a:rPr>
            <a:t>Employee </a:t>
          </a:r>
          <a:r>
            <a:rPr lang="en-US" sz="2000" b="1" dirty="0">
              <a:solidFill>
                <a:schemeClr val="bg1"/>
              </a:solidFill>
            </a:rPr>
            <a:t>inadvertently </a:t>
          </a:r>
          <a:r>
            <a:rPr lang="en-US" sz="2000" dirty="0">
              <a:solidFill>
                <a:schemeClr val="bg1"/>
              </a:solidFill>
            </a:rPr>
            <a:t>used incorrect coolant, in the middle of the night on 3rd shift, which came in identical pink drums. Color code drums to ease discernment.</a:t>
          </a:r>
        </a:p>
        <a:p>
          <a:r>
            <a:rPr lang="en-US" sz="2000" dirty="0">
              <a:solidFill>
                <a:schemeClr val="bg1"/>
              </a:solidFill>
            </a:rPr>
            <a:t>Further learning with employee uncovered that use of the two different coolants was an unnecessary and excessive administrative burden. </a:t>
          </a:r>
        </a:p>
      </dgm:t>
    </dgm:pt>
    <dgm:pt modelId="{E454416F-87BA-4E86-80DA-742E6E920A0C}" type="parTrans" cxnId="{589F7D81-D643-4579-AC23-9F8D6B3110CE}">
      <dgm:prSet/>
      <dgm:spPr/>
      <dgm:t>
        <a:bodyPr/>
        <a:lstStyle/>
        <a:p>
          <a:endParaRPr lang="en-US"/>
        </a:p>
      </dgm:t>
    </dgm:pt>
    <dgm:pt modelId="{BC4E4273-8920-4D77-BC11-472C3C982971}" type="sibTrans" cxnId="{589F7D81-D643-4579-AC23-9F8D6B3110CE}">
      <dgm:prSet/>
      <dgm:spPr/>
      <dgm:t>
        <a:bodyPr/>
        <a:lstStyle/>
        <a:p>
          <a:endParaRPr lang="en-US"/>
        </a:p>
      </dgm:t>
    </dgm:pt>
    <dgm:pt modelId="{683731DD-002D-4A3E-8296-7F230396C15F}" type="pres">
      <dgm:prSet presAssocID="{6634C799-4355-43E6-88B4-6D4D5E35A69B}" presName="Name0" presStyleCnt="0">
        <dgm:presLayoutVars>
          <dgm:chMax val="7"/>
          <dgm:chPref val="7"/>
          <dgm:dir/>
        </dgm:presLayoutVars>
      </dgm:prSet>
      <dgm:spPr/>
    </dgm:pt>
    <dgm:pt modelId="{89C2A863-66FC-4BE8-80F4-D5FA114F68E4}" type="pres">
      <dgm:prSet presAssocID="{6634C799-4355-43E6-88B4-6D4D5E35A69B}" presName="Name1" presStyleCnt="0"/>
      <dgm:spPr/>
    </dgm:pt>
    <dgm:pt modelId="{6C75EDF7-6288-4A06-AB7A-E5C6E578C5FA}" type="pres">
      <dgm:prSet presAssocID="{6634C799-4355-43E6-88B4-6D4D5E35A69B}" presName="cycle" presStyleCnt="0"/>
      <dgm:spPr/>
    </dgm:pt>
    <dgm:pt modelId="{71EB6A73-A59B-4CDB-B1AD-81DFAC7A1D14}" type="pres">
      <dgm:prSet presAssocID="{6634C799-4355-43E6-88B4-6D4D5E35A69B}" presName="srcNode" presStyleLbl="node1" presStyleIdx="0" presStyleCnt="1"/>
      <dgm:spPr/>
    </dgm:pt>
    <dgm:pt modelId="{9E08F4C5-C98A-4AE3-9FB3-688C0426F0FE}" type="pres">
      <dgm:prSet presAssocID="{6634C799-4355-43E6-88B4-6D4D5E35A69B}" presName="conn" presStyleLbl="parChTrans1D2" presStyleIdx="0" presStyleCnt="1"/>
      <dgm:spPr/>
    </dgm:pt>
    <dgm:pt modelId="{9F5FD1B6-D7A2-411C-95DE-142462BE74A6}" type="pres">
      <dgm:prSet presAssocID="{6634C799-4355-43E6-88B4-6D4D5E35A69B}" presName="extraNode" presStyleLbl="node1" presStyleIdx="0" presStyleCnt="1"/>
      <dgm:spPr/>
    </dgm:pt>
    <dgm:pt modelId="{E7EE0EF9-D159-46C3-B1C2-6AA61504177D}" type="pres">
      <dgm:prSet presAssocID="{6634C799-4355-43E6-88B4-6D4D5E35A69B}" presName="dstNode" presStyleLbl="node1" presStyleIdx="0" presStyleCnt="1"/>
      <dgm:spPr/>
    </dgm:pt>
    <dgm:pt modelId="{227A835E-BF31-440F-B492-AFADAFB20800}" type="pres">
      <dgm:prSet presAssocID="{BDAB05D4-6C3E-425A-B572-42BE8A5959A2}" presName="text_1" presStyleLbl="node1" presStyleIdx="0" presStyleCnt="1" custScaleX="113775" custLinFactNeighborX="4799" custLinFactNeighborY="-3020">
        <dgm:presLayoutVars>
          <dgm:bulletEnabled val="1"/>
        </dgm:presLayoutVars>
      </dgm:prSet>
      <dgm:spPr/>
    </dgm:pt>
    <dgm:pt modelId="{1C85B217-6AD4-43DE-82B1-0D721C2EB77D}" type="pres">
      <dgm:prSet presAssocID="{BDAB05D4-6C3E-425A-B572-42BE8A5959A2}" presName="accent_1" presStyleCnt="0"/>
      <dgm:spPr/>
    </dgm:pt>
    <dgm:pt modelId="{312D2DC1-1824-4A09-B7D3-F070F1764601}" type="pres">
      <dgm:prSet presAssocID="{BDAB05D4-6C3E-425A-B572-42BE8A5959A2}" presName="accentRepeatNode" presStyleLbl="solidFgAcc1" presStyleIdx="0" presStyleCnt="1"/>
      <dgm:spPr/>
    </dgm:pt>
  </dgm:ptLst>
  <dgm:cxnLst>
    <dgm:cxn modelId="{807CA871-9630-45C2-9761-FC93DB52101E}" type="presOf" srcId="{BDAB05D4-6C3E-425A-B572-42BE8A5959A2}" destId="{227A835E-BF31-440F-B492-AFADAFB20800}" srcOrd="0" destOrd="0" presId="urn:microsoft.com/office/officeart/2008/layout/VerticalCurvedList"/>
    <dgm:cxn modelId="{589F7D81-D643-4579-AC23-9F8D6B3110CE}" srcId="{6634C799-4355-43E6-88B4-6D4D5E35A69B}" destId="{BDAB05D4-6C3E-425A-B572-42BE8A5959A2}" srcOrd="0" destOrd="0" parTransId="{E454416F-87BA-4E86-80DA-742E6E920A0C}" sibTransId="{BC4E4273-8920-4D77-BC11-472C3C982971}"/>
    <dgm:cxn modelId="{300FFD88-19E7-4976-9525-D47BD3582AB3}" type="presOf" srcId="{BC4E4273-8920-4D77-BC11-472C3C982971}" destId="{9E08F4C5-C98A-4AE3-9FB3-688C0426F0FE}" srcOrd="0" destOrd="0" presId="urn:microsoft.com/office/officeart/2008/layout/VerticalCurvedList"/>
    <dgm:cxn modelId="{AED493DE-36A2-426A-AAA6-5C8820792037}" type="presOf" srcId="{6634C799-4355-43E6-88B4-6D4D5E35A69B}" destId="{683731DD-002D-4A3E-8296-7F230396C15F}" srcOrd="0" destOrd="0" presId="urn:microsoft.com/office/officeart/2008/layout/VerticalCurvedList"/>
    <dgm:cxn modelId="{DC916F79-267F-4E81-9A07-62A6EAB163E0}" type="presParOf" srcId="{683731DD-002D-4A3E-8296-7F230396C15F}" destId="{89C2A863-66FC-4BE8-80F4-D5FA114F68E4}" srcOrd="0" destOrd="0" presId="urn:microsoft.com/office/officeart/2008/layout/VerticalCurvedList"/>
    <dgm:cxn modelId="{2201A879-E23F-4F1E-BD66-CA818C4FD555}" type="presParOf" srcId="{89C2A863-66FC-4BE8-80F4-D5FA114F68E4}" destId="{6C75EDF7-6288-4A06-AB7A-E5C6E578C5FA}" srcOrd="0" destOrd="0" presId="urn:microsoft.com/office/officeart/2008/layout/VerticalCurvedList"/>
    <dgm:cxn modelId="{2DC19E27-5743-49EB-BEFA-138D930FC092}" type="presParOf" srcId="{6C75EDF7-6288-4A06-AB7A-E5C6E578C5FA}" destId="{71EB6A73-A59B-4CDB-B1AD-81DFAC7A1D14}" srcOrd="0" destOrd="0" presId="urn:microsoft.com/office/officeart/2008/layout/VerticalCurvedList"/>
    <dgm:cxn modelId="{FB25EA62-145C-40BC-A09C-2893208196E5}" type="presParOf" srcId="{6C75EDF7-6288-4A06-AB7A-E5C6E578C5FA}" destId="{9E08F4C5-C98A-4AE3-9FB3-688C0426F0FE}" srcOrd="1" destOrd="0" presId="urn:microsoft.com/office/officeart/2008/layout/VerticalCurvedList"/>
    <dgm:cxn modelId="{11F41C18-D6BE-4221-AD2B-63F556B2F640}" type="presParOf" srcId="{6C75EDF7-6288-4A06-AB7A-E5C6E578C5FA}" destId="{9F5FD1B6-D7A2-411C-95DE-142462BE74A6}" srcOrd="2" destOrd="0" presId="urn:microsoft.com/office/officeart/2008/layout/VerticalCurvedList"/>
    <dgm:cxn modelId="{CF0A1F3F-F57E-494D-AA6F-6CCB9A536DC4}" type="presParOf" srcId="{6C75EDF7-6288-4A06-AB7A-E5C6E578C5FA}" destId="{E7EE0EF9-D159-46C3-B1C2-6AA61504177D}" srcOrd="3" destOrd="0" presId="urn:microsoft.com/office/officeart/2008/layout/VerticalCurvedList"/>
    <dgm:cxn modelId="{49085735-52B3-48B2-ACE1-0B92680877E8}" type="presParOf" srcId="{89C2A863-66FC-4BE8-80F4-D5FA114F68E4}" destId="{227A835E-BF31-440F-B492-AFADAFB20800}" srcOrd="1" destOrd="0" presId="urn:microsoft.com/office/officeart/2008/layout/VerticalCurvedList"/>
    <dgm:cxn modelId="{C952D3F6-9F17-485B-BCAA-D38E4101F294}" type="presParOf" srcId="{89C2A863-66FC-4BE8-80F4-D5FA114F68E4}" destId="{1C85B217-6AD4-43DE-82B1-0D721C2EB77D}" srcOrd="2" destOrd="0" presId="urn:microsoft.com/office/officeart/2008/layout/VerticalCurvedList"/>
    <dgm:cxn modelId="{2D2E3A08-8C11-4AB8-9332-6E213B8519D4}" type="presParOf" srcId="{1C85B217-6AD4-43DE-82B1-0D721C2EB77D}" destId="{312D2DC1-1824-4A09-B7D3-F070F1764601}"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6736A-64CA-4517-8A33-A3CFE2D2D221}">
      <dsp:nvSpPr>
        <dsp:cNvPr id="0" name=""/>
        <dsp:cNvSpPr/>
      </dsp:nvSpPr>
      <dsp:spPr>
        <a:xfrm>
          <a:off x="3422210" y="-154069"/>
          <a:ext cx="1930387" cy="125475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Human Error</a:t>
          </a:r>
        </a:p>
      </dsp:txBody>
      <dsp:txXfrm>
        <a:off x="3483462" y="-92817"/>
        <a:ext cx="1807883" cy="1132247"/>
      </dsp:txXfrm>
    </dsp:sp>
    <dsp:sp modelId="{402E9FC9-8B87-4F98-98CC-19446C34E8A7}">
      <dsp:nvSpPr>
        <dsp:cNvPr id="0" name=""/>
        <dsp:cNvSpPr/>
      </dsp:nvSpPr>
      <dsp:spPr>
        <a:xfrm>
          <a:off x="1697154" y="473306"/>
          <a:ext cx="5380499" cy="5380499"/>
        </a:xfrm>
        <a:custGeom>
          <a:avLst/>
          <a:gdLst/>
          <a:ahLst/>
          <a:cxnLst/>
          <a:rect l="0" t="0" r="0" b="0"/>
          <a:pathLst>
            <a:path>
              <a:moveTo>
                <a:pt x="3742621" y="214374"/>
              </a:moveTo>
              <a:arcTo wR="2690249" hR="2690249" stAng="17581677" swAng="361305"/>
            </a:path>
          </a:pathLst>
        </a:custGeom>
        <a:noFill/>
        <a:ln w="38100" cap="flat" cmpd="sng" algn="ctr">
          <a:solidFill>
            <a:schemeClr val="tx2"/>
          </a:solidFill>
          <a:prstDash val="solid"/>
          <a:miter lim="800000"/>
          <a:tailEnd type="arrow"/>
        </a:ln>
        <a:effectLst>
          <a:outerShdw blurRad="50800" dist="38100" dir="2700000" algn="tl" rotWithShape="0">
            <a:prstClr val="black">
              <a:alpha val="40000"/>
            </a:prstClr>
          </a:outerShdw>
        </a:effectLst>
      </dsp:spPr>
      <dsp:style>
        <a:lnRef idx="1">
          <a:scrgbClr r="0" g="0" b="0"/>
        </a:lnRef>
        <a:fillRef idx="0">
          <a:scrgbClr r="0" g="0" b="0"/>
        </a:fillRef>
        <a:effectRef idx="0">
          <a:scrgbClr r="0" g="0" b="0"/>
        </a:effectRef>
        <a:fontRef idx="minor"/>
      </dsp:style>
    </dsp:sp>
    <dsp:sp modelId="{AFAA5281-7947-49C8-97F5-CB537C9817DA}">
      <dsp:nvSpPr>
        <dsp:cNvPr id="0" name=""/>
        <dsp:cNvSpPr/>
      </dsp:nvSpPr>
      <dsp:spPr>
        <a:xfrm>
          <a:off x="5525532" y="858836"/>
          <a:ext cx="1930387" cy="125475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Individual counseled and/or disciplined,</a:t>
          </a:r>
          <a:r>
            <a:rPr lang="en-US" sz="1500" kern="1200" dirty="0">
              <a:solidFill>
                <a:prstClr val="white"/>
              </a:solidFill>
              <a:latin typeface="GE Inspira Sans"/>
              <a:ea typeface="+mn-ea"/>
              <a:cs typeface="+mn-cs"/>
            </a:rPr>
            <a:t> or changes made without input</a:t>
          </a:r>
        </a:p>
      </dsp:txBody>
      <dsp:txXfrm>
        <a:off x="5586784" y="920088"/>
        <a:ext cx="1807883" cy="1132247"/>
      </dsp:txXfrm>
    </dsp:sp>
    <dsp:sp modelId="{2937C777-A6CA-41A7-A14D-AE3AE4AEE744}">
      <dsp:nvSpPr>
        <dsp:cNvPr id="0" name=""/>
        <dsp:cNvSpPr/>
      </dsp:nvSpPr>
      <dsp:spPr>
        <a:xfrm>
          <a:off x="1697154" y="473306"/>
          <a:ext cx="5380499" cy="5380499"/>
        </a:xfrm>
        <a:custGeom>
          <a:avLst/>
          <a:gdLst/>
          <a:ahLst/>
          <a:cxnLst/>
          <a:rect l="0" t="0" r="0" b="0"/>
          <a:pathLst>
            <a:path>
              <a:moveTo>
                <a:pt x="5241050" y="1835347"/>
              </a:moveTo>
              <a:arcTo wR="2690249" hR="2690249" stAng="20488285" swAng="808367"/>
            </a:path>
          </a:pathLst>
        </a:custGeom>
        <a:noFill/>
        <a:ln w="38100" cap="flat" cmpd="sng" algn="ctr">
          <a:solidFill>
            <a:schemeClr val="tx2"/>
          </a:solidFill>
          <a:prstDash val="solid"/>
          <a:miter lim="800000"/>
          <a:tailEnd type="arrow"/>
        </a:ln>
        <a:effectLst>
          <a:outerShdw blurRad="50800" dist="38100" dir="2700000" algn="tl" rotWithShape="0">
            <a:prstClr val="black">
              <a:alpha val="40000"/>
            </a:prstClr>
          </a:outerShdw>
        </a:effectLst>
      </dsp:spPr>
      <dsp:style>
        <a:lnRef idx="1">
          <a:scrgbClr r="0" g="0" b="0"/>
        </a:lnRef>
        <a:fillRef idx="0">
          <a:scrgbClr r="0" g="0" b="0"/>
        </a:fillRef>
        <a:effectRef idx="0">
          <a:scrgbClr r="0" g="0" b="0"/>
        </a:effectRef>
        <a:fontRef idx="minor"/>
      </dsp:style>
    </dsp:sp>
    <dsp:sp modelId="{7B0ED79B-F0BE-4F73-8092-EE5261D4A1E9}">
      <dsp:nvSpPr>
        <dsp:cNvPr id="0" name=""/>
        <dsp:cNvSpPr/>
      </dsp:nvSpPr>
      <dsp:spPr>
        <a:xfrm>
          <a:off x="6045010" y="3134816"/>
          <a:ext cx="1930387" cy="125475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Reduced Trust</a:t>
          </a:r>
        </a:p>
      </dsp:txBody>
      <dsp:txXfrm>
        <a:off x="6106262" y="3196068"/>
        <a:ext cx="1807883" cy="1132247"/>
      </dsp:txXfrm>
    </dsp:sp>
    <dsp:sp modelId="{1C617CCA-2229-49A4-96E2-8B48CA25BD5B}">
      <dsp:nvSpPr>
        <dsp:cNvPr id="0" name=""/>
        <dsp:cNvSpPr/>
      </dsp:nvSpPr>
      <dsp:spPr>
        <a:xfrm>
          <a:off x="1697154" y="473306"/>
          <a:ext cx="5380499" cy="5380499"/>
        </a:xfrm>
        <a:custGeom>
          <a:avLst/>
          <a:gdLst/>
          <a:ahLst/>
          <a:cxnLst/>
          <a:rect l="0" t="0" r="0" b="0"/>
          <a:pathLst>
            <a:path>
              <a:moveTo>
                <a:pt x="5018664" y="4037814"/>
              </a:moveTo>
              <a:arcTo wR="2690249" hR="2690249" stAng="1803601" swAng="533181"/>
            </a:path>
          </a:pathLst>
        </a:custGeom>
        <a:noFill/>
        <a:ln w="38100" cap="flat" cmpd="sng" algn="ctr">
          <a:solidFill>
            <a:schemeClr val="tx2"/>
          </a:solidFill>
          <a:prstDash val="solid"/>
          <a:miter lim="800000"/>
          <a:tailEnd type="arrow"/>
        </a:ln>
        <a:effectLst>
          <a:outerShdw blurRad="50800" dist="38100" dir="2700000" algn="tl" rotWithShape="0">
            <a:prstClr val="black">
              <a:alpha val="40000"/>
            </a:prstClr>
          </a:outerShdw>
        </a:effectLst>
      </dsp:spPr>
      <dsp:style>
        <a:lnRef idx="1">
          <a:scrgbClr r="0" g="0" b="0"/>
        </a:lnRef>
        <a:fillRef idx="0">
          <a:scrgbClr r="0" g="0" b="0"/>
        </a:fillRef>
        <a:effectRef idx="0">
          <a:scrgbClr r="0" g="0" b="0"/>
        </a:effectRef>
        <a:fontRef idx="minor"/>
      </dsp:style>
    </dsp:sp>
    <dsp:sp modelId="{167AD9EE-94A5-4E19-B9C6-118F7864A0C0}">
      <dsp:nvSpPr>
        <dsp:cNvPr id="0" name=""/>
        <dsp:cNvSpPr/>
      </dsp:nvSpPr>
      <dsp:spPr>
        <a:xfrm>
          <a:off x="4589466" y="4960011"/>
          <a:ext cx="1930387" cy="125475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Less Communication</a:t>
          </a:r>
        </a:p>
      </dsp:txBody>
      <dsp:txXfrm>
        <a:off x="4650718" y="5021263"/>
        <a:ext cx="1807883" cy="1132247"/>
      </dsp:txXfrm>
    </dsp:sp>
    <dsp:sp modelId="{27690D3D-08D6-4E88-99DA-B1C689AF9E22}">
      <dsp:nvSpPr>
        <dsp:cNvPr id="0" name=""/>
        <dsp:cNvSpPr/>
      </dsp:nvSpPr>
      <dsp:spPr>
        <a:xfrm>
          <a:off x="1697154" y="473306"/>
          <a:ext cx="5380499" cy="5380499"/>
        </a:xfrm>
        <a:custGeom>
          <a:avLst/>
          <a:gdLst/>
          <a:ahLst/>
          <a:cxnLst/>
          <a:rect l="0" t="0" r="0" b="0"/>
          <a:pathLst>
            <a:path>
              <a:moveTo>
                <a:pt x="2811636" y="5377759"/>
              </a:moveTo>
              <a:arcTo wR="2690249" hR="2690249" stAng="5244833" swAng="310334"/>
            </a:path>
          </a:pathLst>
        </a:custGeom>
        <a:noFill/>
        <a:ln w="38100" cap="flat" cmpd="sng" algn="ctr">
          <a:solidFill>
            <a:schemeClr val="tx2"/>
          </a:solidFill>
          <a:prstDash val="solid"/>
          <a:miter lim="800000"/>
          <a:tailEnd type="arrow"/>
        </a:ln>
        <a:effectLst>
          <a:outerShdw blurRad="50800" dist="38100" dir="2700000" algn="tl" rotWithShape="0">
            <a:prstClr val="black">
              <a:alpha val="40000"/>
            </a:prstClr>
          </a:outerShdw>
        </a:effectLst>
      </dsp:spPr>
      <dsp:style>
        <a:lnRef idx="1">
          <a:scrgbClr r="0" g="0" b="0"/>
        </a:lnRef>
        <a:fillRef idx="0">
          <a:scrgbClr r="0" g="0" b="0"/>
        </a:fillRef>
        <a:effectRef idx="0">
          <a:scrgbClr r="0" g="0" b="0"/>
        </a:effectRef>
        <a:fontRef idx="minor"/>
      </dsp:style>
    </dsp:sp>
    <dsp:sp modelId="{B36C7C4A-9CAF-4368-93D8-647199D91B97}">
      <dsp:nvSpPr>
        <dsp:cNvPr id="0" name=""/>
        <dsp:cNvSpPr/>
      </dsp:nvSpPr>
      <dsp:spPr>
        <a:xfrm>
          <a:off x="2254954" y="4960011"/>
          <a:ext cx="1930387" cy="125475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Management less aware of jobsite conditions</a:t>
          </a:r>
        </a:p>
      </dsp:txBody>
      <dsp:txXfrm>
        <a:off x="2316206" y="5021263"/>
        <a:ext cx="1807883" cy="1132247"/>
      </dsp:txXfrm>
    </dsp:sp>
    <dsp:sp modelId="{1A4F0DE5-ECB0-4E52-B28B-2C8765355D19}">
      <dsp:nvSpPr>
        <dsp:cNvPr id="0" name=""/>
        <dsp:cNvSpPr/>
      </dsp:nvSpPr>
      <dsp:spPr>
        <a:xfrm>
          <a:off x="1697154" y="473306"/>
          <a:ext cx="5380499" cy="5380499"/>
        </a:xfrm>
        <a:custGeom>
          <a:avLst/>
          <a:gdLst/>
          <a:ahLst/>
          <a:cxnLst/>
          <a:rect l="0" t="0" r="0" b="0"/>
          <a:pathLst>
            <a:path>
              <a:moveTo>
                <a:pt x="597949" y="4381320"/>
              </a:moveTo>
              <a:arcTo wR="2690249" hR="2690249" stAng="8463218" swAng="533181"/>
            </a:path>
          </a:pathLst>
        </a:custGeom>
        <a:noFill/>
        <a:ln w="38100" cap="flat" cmpd="sng" algn="ctr">
          <a:solidFill>
            <a:schemeClr val="tx2"/>
          </a:solidFill>
          <a:prstDash val="solid"/>
          <a:miter lim="800000"/>
          <a:tailEnd type="arrow"/>
        </a:ln>
        <a:effectLst>
          <a:outerShdw blurRad="50800" dist="38100" dir="2700000" algn="tl" rotWithShape="0">
            <a:prstClr val="black">
              <a:alpha val="40000"/>
            </a:prstClr>
          </a:outerShdw>
        </a:effectLst>
      </dsp:spPr>
      <dsp:style>
        <a:lnRef idx="1">
          <a:scrgbClr r="0" g="0" b="0"/>
        </a:lnRef>
        <a:fillRef idx="0">
          <a:scrgbClr r="0" g="0" b="0"/>
        </a:fillRef>
        <a:effectRef idx="0">
          <a:scrgbClr r="0" g="0" b="0"/>
        </a:effectRef>
        <a:fontRef idx="minor"/>
      </dsp:style>
    </dsp:sp>
    <dsp:sp modelId="{B61F7F52-5A38-4125-9683-4C310762E6F8}">
      <dsp:nvSpPr>
        <dsp:cNvPr id="0" name=""/>
        <dsp:cNvSpPr/>
      </dsp:nvSpPr>
      <dsp:spPr>
        <a:xfrm>
          <a:off x="799410" y="3134816"/>
          <a:ext cx="1930387" cy="125475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Latent Organizational Weaknesses persist</a:t>
          </a:r>
        </a:p>
      </dsp:txBody>
      <dsp:txXfrm>
        <a:off x="860662" y="3196068"/>
        <a:ext cx="1807883" cy="1132247"/>
      </dsp:txXfrm>
    </dsp:sp>
    <dsp:sp modelId="{9F6BA028-D787-47EA-8E2E-E92C7B85F591}">
      <dsp:nvSpPr>
        <dsp:cNvPr id="0" name=""/>
        <dsp:cNvSpPr/>
      </dsp:nvSpPr>
      <dsp:spPr>
        <a:xfrm>
          <a:off x="1697154" y="473306"/>
          <a:ext cx="5380499" cy="5380499"/>
        </a:xfrm>
        <a:custGeom>
          <a:avLst/>
          <a:gdLst/>
          <a:ahLst/>
          <a:cxnLst/>
          <a:rect l="0" t="0" r="0" b="0"/>
          <a:pathLst>
            <a:path>
              <a:moveTo>
                <a:pt x="10466" y="2453168"/>
              </a:moveTo>
              <a:arcTo wR="2690249" hR="2690249" stAng="11103348" swAng="808367"/>
            </a:path>
          </a:pathLst>
        </a:custGeom>
        <a:noFill/>
        <a:ln w="38100" cap="flat" cmpd="sng" algn="ctr">
          <a:solidFill>
            <a:schemeClr val="tx2"/>
          </a:solidFill>
          <a:prstDash val="solid"/>
          <a:miter lim="800000"/>
          <a:tailEnd type="arrow"/>
        </a:ln>
        <a:effectLst>
          <a:outerShdw blurRad="50800" dist="38100" dir="2700000" algn="tl" rotWithShape="0">
            <a:prstClr val="black">
              <a:alpha val="40000"/>
            </a:prstClr>
          </a:outerShdw>
        </a:effectLst>
      </dsp:spPr>
      <dsp:style>
        <a:lnRef idx="1">
          <a:scrgbClr r="0" g="0" b="0"/>
        </a:lnRef>
        <a:fillRef idx="0">
          <a:scrgbClr r="0" g="0" b="0"/>
        </a:fillRef>
        <a:effectRef idx="0">
          <a:scrgbClr r="0" g="0" b="0"/>
        </a:effectRef>
        <a:fontRef idx="minor"/>
      </dsp:style>
    </dsp:sp>
    <dsp:sp modelId="{2B0AA5CD-D9AE-44BE-84F7-1CB8800C8AAA}">
      <dsp:nvSpPr>
        <dsp:cNvPr id="0" name=""/>
        <dsp:cNvSpPr/>
      </dsp:nvSpPr>
      <dsp:spPr>
        <a:xfrm>
          <a:off x="1318888" y="858836"/>
          <a:ext cx="1930387" cy="1254751"/>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More flawed defenses and error precursors</a:t>
          </a:r>
        </a:p>
      </dsp:txBody>
      <dsp:txXfrm>
        <a:off x="1380140" y="920088"/>
        <a:ext cx="1807883" cy="1132247"/>
      </dsp:txXfrm>
    </dsp:sp>
    <dsp:sp modelId="{61388D95-72AE-4D16-BE1E-1C095DD62223}">
      <dsp:nvSpPr>
        <dsp:cNvPr id="0" name=""/>
        <dsp:cNvSpPr/>
      </dsp:nvSpPr>
      <dsp:spPr>
        <a:xfrm>
          <a:off x="1697154" y="473306"/>
          <a:ext cx="5380499" cy="5380499"/>
        </a:xfrm>
        <a:custGeom>
          <a:avLst/>
          <a:gdLst/>
          <a:ahLst/>
          <a:cxnLst/>
          <a:rect l="0" t="0" r="0" b="0"/>
          <a:pathLst>
            <a:path>
              <a:moveTo>
                <a:pt x="1383950" y="338436"/>
              </a:moveTo>
              <a:arcTo wR="2690249" hR="2690249" stAng="14457018" swAng="361305"/>
            </a:path>
          </a:pathLst>
        </a:custGeom>
        <a:noFill/>
        <a:ln w="38100" cap="flat" cmpd="sng" algn="ctr">
          <a:solidFill>
            <a:schemeClr val="tx2"/>
          </a:solidFill>
          <a:prstDash val="solid"/>
          <a:miter lim="800000"/>
          <a:tailEnd type="arrow"/>
        </a:ln>
        <a:effectLst>
          <a:outerShdw blurRad="50800" dist="38100" dir="2700000" algn="tl" rotWithShape="0">
            <a:prstClr val="black">
              <a:alpha val="40000"/>
            </a:prstClr>
          </a:outerShdw>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08F4C5-C98A-4AE3-9FB3-688C0426F0FE}">
      <dsp:nvSpPr>
        <dsp:cNvPr id="0" name=""/>
        <dsp:cNvSpPr/>
      </dsp:nvSpPr>
      <dsp:spPr>
        <a:xfrm>
          <a:off x="-5795126" y="-937410"/>
          <a:ext cx="7293488" cy="7293488"/>
        </a:xfrm>
        <a:prstGeom prst="blockArc">
          <a:avLst>
            <a:gd name="adj1" fmla="val 18900000"/>
            <a:gd name="adj2" fmla="val 2700000"/>
            <a:gd name="adj3" fmla="val 296"/>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0AD861-52AC-492A-AD71-BD7A6F8BAAF8}">
      <dsp:nvSpPr>
        <dsp:cNvPr id="0" name=""/>
        <dsp:cNvSpPr/>
      </dsp:nvSpPr>
      <dsp:spPr>
        <a:xfrm>
          <a:off x="981560" y="1309819"/>
          <a:ext cx="7607404" cy="2568056"/>
        </a:xfrm>
        <a:prstGeom prst="rect">
          <a:avLst/>
        </a:prstGeom>
        <a:solidFill>
          <a:schemeClr val="tx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3" tIns="60960" rIns="60960" bIns="60960" numCol="1" spcCol="1270" anchor="ctr" anchorCtr="0">
          <a:noAutofit/>
        </a:bodyPr>
        <a:lstStyle/>
        <a:p>
          <a:pPr marL="0" lvl="0" indent="0" algn="l" defTabSz="1066800">
            <a:lnSpc>
              <a:spcPct val="90000"/>
            </a:lnSpc>
            <a:spcBef>
              <a:spcPct val="0"/>
            </a:spcBef>
            <a:spcAft>
              <a:spcPct val="35000"/>
            </a:spcAft>
            <a:buNone/>
          </a:pPr>
          <a:r>
            <a:rPr lang="en-US" sz="2400" i="0" kern="1200" dirty="0">
              <a:solidFill>
                <a:schemeClr val="bg1"/>
              </a:solidFill>
            </a:rPr>
            <a:t>Employee </a:t>
          </a:r>
          <a:r>
            <a:rPr lang="en-US" sz="2400" b="1" i="0" kern="1200" dirty="0">
              <a:solidFill>
                <a:schemeClr val="bg1"/>
              </a:solidFill>
            </a:rPr>
            <a:t>failed</a:t>
          </a:r>
          <a:r>
            <a:rPr lang="en-US" sz="2400" i="0" kern="1200" dirty="0">
              <a:solidFill>
                <a:schemeClr val="bg1"/>
              </a:solidFill>
            </a:rPr>
            <a:t> to use the coolant called for in work instructions. </a:t>
          </a:r>
          <a:r>
            <a:rPr lang="en-US" sz="2400" b="1" i="0" kern="1200" dirty="0">
              <a:solidFill>
                <a:schemeClr val="bg1"/>
              </a:solidFill>
            </a:rPr>
            <a:t>Failure</a:t>
          </a:r>
          <a:r>
            <a:rPr lang="en-US" sz="2400" i="0" kern="1200" dirty="0">
              <a:solidFill>
                <a:schemeClr val="bg1"/>
              </a:solidFill>
            </a:rPr>
            <a:t> to follow work instructions/</a:t>
          </a:r>
          <a:r>
            <a:rPr lang="en-US" sz="2400" b="1" i="0" kern="1200" dirty="0">
              <a:solidFill>
                <a:schemeClr val="bg1"/>
              </a:solidFill>
            </a:rPr>
            <a:t>violation</a:t>
          </a:r>
          <a:r>
            <a:rPr lang="en-US" sz="2400" i="0" kern="1200" dirty="0">
              <a:solidFill>
                <a:schemeClr val="bg1"/>
              </a:solidFill>
            </a:rPr>
            <a:t> of work instructions.</a:t>
          </a:r>
        </a:p>
        <a:p>
          <a:pPr marL="0" lvl="0" indent="0" algn="l" defTabSz="1066800">
            <a:lnSpc>
              <a:spcPct val="90000"/>
            </a:lnSpc>
            <a:spcBef>
              <a:spcPct val="0"/>
            </a:spcBef>
            <a:spcAft>
              <a:spcPct val="35000"/>
            </a:spcAft>
            <a:buNone/>
          </a:pPr>
          <a:r>
            <a:rPr lang="en-US" sz="2400" i="0" kern="1200" dirty="0">
              <a:solidFill>
                <a:schemeClr val="bg1"/>
              </a:solidFill>
            </a:rPr>
            <a:t>Employee did </a:t>
          </a:r>
          <a:r>
            <a:rPr lang="en-US" sz="2400" b="1" i="0" kern="1200" dirty="0">
              <a:solidFill>
                <a:schemeClr val="bg1"/>
              </a:solidFill>
            </a:rPr>
            <a:t>not care enough </a:t>
          </a:r>
          <a:r>
            <a:rPr lang="en-US" sz="2400" i="0" kern="1200" dirty="0">
              <a:solidFill>
                <a:schemeClr val="bg1"/>
              </a:solidFill>
            </a:rPr>
            <a:t>to pay attention. Discipline employee.</a:t>
          </a:r>
        </a:p>
      </dsp:txBody>
      <dsp:txXfrm>
        <a:off x="981560" y="1309819"/>
        <a:ext cx="7607404" cy="2568056"/>
      </dsp:txXfrm>
    </dsp:sp>
    <dsp:sp modelId="{5BE805CC-97BA-4AA5-9829-A78736B02D2B}">
      <dsp:nvSpPr>
        <dsp:cNvPr id="0" name=""/>
        <dsp:cNvSpPr/>
      </dsp:nvSpPr>
      <dsp:spPr>
        <a:xfrm>
          <a:off x="-155864" y="1104298"/>
          <a:ext cx="3210070" cy="321007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08F4C5-C98A-4AE3-9FB3-688C0426F0FE}">
      <dsp:nvSpPr>
        <dsp:cNvPr id="0" name=""/>
        <dsp:cNvSpPr/>
      </dsp:nvSpPr>
      <dsp:spPr>
        <a:xfrm>
          <a:off x="-5879771" y="-937410"/>
          <a:ext cx="7293488" cy="7293488"/>
        </a:xfrm>
        <a:prstGeom prst="blockArc">
          <a:avLst>
            <a:gd name="adj1" fmla="val 18900000"/>
            <a:gd name="adj2" fmla="val 2700000"/>
            <a:gd name="adj3" fmla="val 296"/>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7A835E-BF31-440F-B492-AFADAFB20800}">
      <dsp:nvSpPr>
        <dsp:cNvPr id="0" name=""/>
        <dsp:cNvSpPr/>
      </dsp:nvSpPr>
      <dsp:spPr>
        <a:xfrm>
          <a:off x="883506" y="1347749"/>
          <a:ext cx="7945986" cy="2568056"/>
        </a:xfrm>
        <a:prstGeom prst="rect">
          <a:avLst/>
        </a:prstGeom>
        <a:solidFill>
          <a:schemeClr val="tx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3"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solidFill>
                <a:schemeClr val="bg1"/>
              </a:solidFill>
            </a:rPr>
            <a:t>Employee </a:t>
          </a:r>
          <a:r>
            <a:rPr lang="en-US" sz="2000" b="1" kern="1200" dirty="0">
              <a:solidFill>
                <a:schemeClr val="bg1"/>
              </a:solidFill>
            </a:rPr>
            <a:t>inadvertently </a:t>
          </a:r>
          <a:r>
            <a:rPr lang="en-US" sz="2000" kern="1200" dirty="0">
              <a:solidFill>
                <a:schemeClr val="bg1"/>
              </a:solidFill>
            </a:rPr>
            <a:t>used incorrect coolant, in the middle of the night on 3rd shift, which came in identical pink drums. Color code drums to ease discernment.</a:t>
          </a:r>
        </a:p>
        <a:p>
          <a:pPr marL="0" lvl="0" indent="0" algn="l" defTabSz="889000">
            <a:lnSpc>
              <a:spcPct val="90000"/>
            </a:lnSpc>
            <a:spcBef>
              <a:spcPct val="0"/>
            </a:spcBef>
            <a:spcAft>
              <a:spcPct val="35000"/>
            </a:spcAft>
            <a:buNone/>
          </a:pPr>
          <a:r>
            <a:rPr lang="en-US" sz="2000" kern="1200" dirty="0">
              <a:solidFill>
                <a:schemeClr val="bg1"/>
              </a:solidFill>
            </a:rPr>
            <a:t>Further learning with employee uncovered that use of the two different coolants was an unnecessary and excessive administrative burden. </a:t>
          </a:r>
        </a:p>
      </dsp:txBody>
      <dsp:txXfrm>
        <a:off x="883506" y="1347749"/>
        <a:ext cx="7945986" cy="2568056"/>
      </dsp:txXfrm>
    </dsp:sp>
    <dsp:sp modelId="{312D2DC1-1824-4A09-B7D3-F070F1764601}">
      <dsp:nvSpPr>
        <dsp:cNvPr id="0" name=""/>
        <dsp:cNvSpPr/>
      </dsp:nvSpPr>
      <dsp:spPr>
        <a:xfrm>
          <a:off x="-240509" y="1104298"/>
          <a:ext cx="3210070" cy="321007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D7EA18-66B4-4601-B354-672824EAE636}" type="datetimeFigureOut">
              <a:rPr lang="en-US" smtClean="0"/>
              <a:t>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3D8EC7-BF66-4C8A-97C1-8508C955512B}" type="slidenum">
              <a:rPr lang="en-US" smtClean="0"/>
              <a:t>‹#›</a:t>
            </a:fld>
            <a:endParaRPr lang="en-US"/>
          </a:p>
        </p:txBody>
      </p:sp>
    </p:spTree>
    <p:extLst>
      <p:ext uri="{BB962C8B-B14F-4D97-AF65-F5344CB8AC3E}">
        <p14:creationId xmlns:p14="http://schemas.microsoft.com/office/powerpoint/2010/main" val="2660539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3D8EC7-BF66-4C8A-97C1-8508C955512B}" type="slidenum">
              <a:rPr lang="en-US" smtClean="0"/>
              <a:t>1</a:t>
            </a:fld>
            <a:endParaRPr lang="en-US"/>
          </a:p>
        </p:txBody>
      </p:sp>
    </p:spTree>
    <p:extLst>
      <p:ext uri="{BB962C8B-B14F-4D97-AF65-F5344CB8AC3E}">
        <p14:creationId xmlns:p14="http://schemas.microsoft.com/office/powerpoint/2010/main" val="1515659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3D8EC7-BF66-4C8A-97C1-8508C955512B}" type="slidenum">
              <a:rPr lang="en-US" smtClean="0"/>
              <a:t>2</a:t>
            </a:fld>
            <a:endParaRPr lang="en-US"/>
          </a:p>
        </p:txBody>
      </p:sp>
    </p:spTree>
    <p:extLst>
      <p:ext uri="{BB962C8B-B14F-4D97-AF65-F5344CB8AC3E}">
        <p14:creationId xmlns:p14="http://schemas.microsoft.com/office/powerpoint/2010/main" val="2672090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dirty="0">
                <a:solidFill>
                  <a:srgbClr val="000000"/>
                </a:solidFill>
                <a:effectLst/>
                <a:latin typeface="Arial" panose="020B0604020202020204" pitchFamily="34" charset="0"/>
              </a:rPr>
              <a:t>People are human, and humans make mistakes. Recognizing that people make mistakes is simply acknowledging that human error is normal. We forget things. We are sometimes inattentive. We’re human! While error is not desirable, we can build resilient systems that allow for us to make errors in in a safe way. Being one error away from a serious incident or accident is a system problem, not a human problem. </a:t>
            </a:r>
            <a:br>
              <a:rPr lang="en-US" sz="1800" b="0" i="0" dirty="0">
                <a:solidFill>
                  <a:srgbClr val="000000"/>
                </a:solidFill>
                <a:effectLst/>
                <a:latin typeface="Arial" panose="020B0604020202020204" pitchFamily="34" charset="0"/>
              </a:rPr>
            </a:br>
            <a:br>
              <a:rPr lang="en-US" sz="1800" b="0" i="0" dirty="0">
                <a:solidFill>
                  <a:srgbClr val="000000"/>
                </a:solidFill>
                <a:effectLst/>
                <a:latin typeface="Arial" panose="020B0604020202020204" pitchFamily="34" charset="0"/>
              </a:rPr>
            </a:br>
            <a:endParaRPr lang="en-US" dirty="0"/>
          </a:p>
        </p:txBody>
      </p:sp>
      <p:sp>
        <p:nvSpPr>
          <p:cNvPr id="4" name="Slide Number Placeholder 3"/>
          <p:cNvSpPr>
            <a:spLocks noGrp="1"/>
          </p:cNvSpPr>
          <p:nvPr>
            <p:ph type="sldNum" sz="quarter" idx="5"/>
          </p:nvPr>
        </p:nvSpPr>
        <p:spPr/>
        <p:txBody>
          <a:bodyPr/>
          <a:lstStyle/>
          <a:p>
            <a:fld id="{A73D8EC7-BF66-4C8A-97C1-8508C955512B}" type="slidenum">
              <a:rPr lang="en-US" smtClean="0"/>
              <a:t>3</a:t>
            </a:fld>
            <a:endParaRPr lang="en-US"/>
          </a:p>
        </p:txBody>
      </p:sp>
    </p:spTree>
    <p:extLst>
      <p:ext uri="{BB962C8B-B14F-4D97-AF65-F5344CB8AC3E}">
        <p14:creationId xmlns:p14="http://schemas.microsoft.com/office/powerpoint/2010/main" val="224778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Blame is part of our everyday life. It permeates our media. When things go wrong, there is an incessant drive to name who did something wrong – whose fault it is. Humans have a tendency to want simple explanations, and wanting someone to blame is anormal, natural human response…but it is not very helpful. Blame actually tends </a:t>
            </a:r>
            <a:r>
              <a:rPr lang="en-US" dirty="0" err="1"/>
              <a:t>tomake</a:t>
            </a:r>
            <a:r>
              <a:rPr lang="en-US" dirty="0"/>
              <a:t> processes worse! It hinders the learning necessary to create resilient, reliable systems. Those directly involved in processes, both when things go right and when things go wrong, are knowledgeable experts with a critical role in creating systems that produce better outcomes for themselves and others. By avoiding blame, we enable better learning.</a:t>
            </a:r>
          </a:p>
        </p:txBody>
      </p:sp>
      <p:sp>
        <p:nvSpPr>
          <p:cNvPr id="4" name="Slide Number Placeholder 3"/>
          <p:cNvSpPr>
            <a:spLocks noGrp="1"/>
          </p:cNvSpPr>
          <p:nvPr>
            <p:ph type="sldNum" sz="quarter" idx="5"/>
          </p:nvPr>
        </p:nvSpPr>
        <p:spPr/>
        <p:txBody>
          <a:bodyPr/>
          <a:lstStyle/>
          <a:p>
            <a:fld id="{A73D8EC7-BF66-4C8A-97C1-8508C955512B}" type="slidenum">
              <a:rPr lang="en-US" smtClean="0"/>
              <a:t>4</a:t>
            </a:fld>
            <a:endParaRPr lang="en-US"/>
          </a:p>
        </p:txBody>
      </p:sp>
    </p:spTree>
    <p:extLst>
      <p:ext uri="{BB962C8B-B14F-4D97-AF65-F5344CB8AC3E}">
        <p14:creationId xmlns:p14="http://schemas.microsoft.com/office/powerpoint/2010/main" val="604412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346075"/>
            <a:ext cx="4187825" cy="2355850"/>
          </a:xfrm>
          <a:prstGeom prst="rect">
            <a:avLst/>
          </a:prstGeom>
        </p:spPr>
      </p:sp>
      <p:sp>
        <p:nvSpPr>
          <p:cNvPr id="3" name="Notes Placeholder 2"/>
          <p:cNvSpPr>
            <a:spLocks noGrp="1"/>
          </p:cNvSpPr>
          <p:nvPr>
            <p:ph type="body" idx="1"/>
          </p:nvPr>
        </p:nvSpPr>
        <p:spPr>
          <a:xfrm>
            <a:off x="557669" y="2746145"/>
            <a:ext cx="6043108" cy="5005971"/>
          </a:xfrm>
          <a:prstGeom prst="rect">
            <a:avLst/>
          </a:prstGeom>
        </p:spPr>
        <p:txBody>
          <a:bodyPr/>
          <a:lstStyle/>
          <a:p>
            <a:endParaRPr lang="en-US" dirty="0"/>
          </a:p>
        </p:txBody>
      </p:sp>
      <p:sp>
        <p:nvSpPr>
          <p:cNvPr id="5" name="Slide Number Placeholder 4"/>
          <p:cNvSpPr>
            <a:spLocks noGrp="1"/>
          </p:cNvSpPr>
          <p:nvPr>
            <p:ph type="sldNum" sz="quarter" idx="10"/>
          </p:nvPr>
        </p:nvSpPr>
        <p:spPr/>
        <p:txBody>
          <a:bodyPr/>
          <a:lstStyle/>
          <a:p>
            <a:pPr marL="0" marR="0" lvl="0" indent="0" algn="r" defTabSz="427299" rtl="0" eaLnBrk="1" fontAlgn="auto" latinLnBrk="0" hangingPunct="1">
              <a:lnSpc>
                <a:spcPct val="100000"/>
              </a:lnSpc>
              <a:spcBef>
                <a:spcPts val="0"/>
              </a:spcBef>
              <a:spcAft>
                <a:spcPts val="0"/>
              </a:spcAft>
              <a:buClrTx/>
              <a:buSzTx/>
              <a:buFontTx/>
              <a:buNone/>
              <a:tabLst/>
              <a:defRPr/>
            </a:pPr>
            <a:fld id="{1C739BE7-1616-4B6C-936F-43D03A267B41}" type="slidenum">
              <a:rPr kumimoji="0" lang="en-GB"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27299" rtl="0" eaLnBrk="1" fontAlgn="auto" latinLnBrk="0" hangingPunct="1">
                <a:lnSpc>
                  <a:spcPct val="100000"/>
                </a:lnSpc>
                <a:spcBef>
                  <a:spcPts val="0"/>
                </a:spcBef>
                <a:spcAft>
                  <a:spcPts val="0"/>
                </a:spcAft>
                <a:buClrTx/>
                <a:buSzTx/>
                <a:buFontTx/>
                <a:buNone/>
                <a:tabLst/>
                <a:defRPr/>
              </a:pPr>
              <a:t>5</a:t>
            </a:fld>
            <a:endParaRPr kumimoji="0" lang="en-GB"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34657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937">
              <a:defRPr/>
            </a:pPr>
            <a:fld id="{80CDABC8-FD09-47BC-822A-A981D494E0D7}" type="slidenum">
              <a:rPr lang="en-CA">
                <a:solidFill>
                  <a:prstClr val="black"/>
                </a:solidFill>
                <a:latin typeface="GE Inspira Sans"/>
              </a:rPr>
              <a:pPr defTabSz="912937">
                <a:defRPr/>
              </a:pPr>
              <a:t>6</a:t>
            </a:fld>
            <a:endParaRPr lang="en-CA">
              <a:solidFill>
                <a:prstClr val="black"/>
              </a:solidFill>
              <a:latin typeface="GE Inspira Sans"/>
            </a:endParaRPr>
          </a:p>
        </p:txBody>
      </p:sp>
    </p:spTree>
    <p:extLst>
      <p:ext uri="{BB962C8B-B14F-4D97-AF65-F5344CB8AC3E}">
        <p14:creationId xmlns:p14="http://schemas.microsoft.com/office/powerpoint/2010/main" val="2174645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937">
              <a:defRPr/>
            </a:pPr>
            <a:fld id="{80CDABC8-FD09-47BC-822A-A981D494E0D7}" type="slidenum">
              <a:rPr lang="en-CA">
                <a:solidFill>
                  <a:prstClr val="black"/>
                </a:solidFill>
                <a:latin typeface="GE Inspira Sans"/>
              </a:rPr>
              <a:pPr defTabSz="912937">
                <a:defRPr/>
              </a:pPr>
              <a:t>7</a:t>
            </a:fld>
            <a:endParaRPr lang="en-CA">
              <a:solidFill>
                <a:prstClr val="black"/>
              </a:solidFill>
              <a:latin typeface="GE Inspira Sans"/>
            </a:endParaRPr>
          </a:p>
        </p:txBody>
      </p:sp>
    </p:spTree>
    <p:extLst>
      <p:ext uri="{BB962C8B-B14F-4D97-AF65-F5344CB8AC3E}">
        <p14:creationId xmlns:p14="http://schemas.microsoft.com/office/powerpoint/2010/main" val="3260147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Traditional investigation methods often result in similar corrective actions over and </a:t>
            </a:r>
            <a:r>
              <a:rPr lang="en-US" dirty="0" err="1"/>
              <a:t>overagain</a:t>
            </a:r>
            <a:r>
              <a:rPr lang="en-US" dirty="0"/>
              <a:t>, such as stand downs, retraining, and discipline. In order to identify </a:t>
            </a:r>
            <a:r>
              <a:rPr lang="en-US" dirty="0" err="1"/>
              <a:t>improvementsthat</a:t>
            </a:r>
            <a:r>
              <a:rPr lang="en-US" dirty="0"/>
              <a:t> can notably enhance our performance, we need to learn from the actual </a:t>
            </a:r>
            <a:r>
              <a:rPr lang="en-US" dirty="0" err="1"/>
              <a:t>workbeing</a:t>
            </a:r>
            <a:r>
              <a:rPr lang="en-US" dirty="0"/>
              <a:t> done at the </a:t>
            </a:r>
            <a:r>
              <a:rPr lang="en-US" dirty="0" err="1"/>
              <a:t>genba</a:t>
            </a:r>
            <a:r>
              <a:rPr lang="en-US" dirty="0"/>
              <a:t>. By understanding the "good, bad, and ugly" aspects of </a:t>
            </a:r>
            <a:r>
              <a:rPr lang="en-US" dirty="0" err="1"/>
              <a:t>howwork</a:t>
            </a:r>
            <a:r>
              <a:rPr lang="en-US" dirty="0"/>
              <a:t> is truly performed, we can better allocate our resources and efforts to </a:t>
            </a:r>
            <a:r>
              <a:rPr lang="en-US" dirty="0" err="1"/>
              <a:t>reduceoperator</a:t>
            </a:r>
            <a:r>
              <a:rPr lang="en-US" dirty="0"/>
              <a:t> struggles and improve process </a:t>
            </a:r>
            <a:r>
              <a:rPr lang="en-US" dirty="0" err="1"/>
              <a:t>stability.If</a:t>
            </a:r>
            <a:r>
              <a:rPr lang="en-US" dirty="0"/>
              <a:t> we don't understand how a person’s action —or choice not to act— was </a:t>
            </a:r>
            <a:r>
              <a:rPr lang="en-US" dirty="0" err="1"/>
              <a:t>logicalbased</a:t>
            </a:r>
            <a:r>
              <a:rPr lang="en-US" dirty="0"/>
              <a:t> on the information and conditions they had at the time, we should </a:t>
            </a:r>
            <a:r>
              <a:rPr lang="en-US" dirty="0" err="1"/>
              <a:t>continueasking</a:t>
            </a:r>
            <a:r>
              <a:rPr lang="en-US" dirty="0"/>
              <a:t> questions and learning until we </a:t>
            </a:r>
            <a:r>
              <a:rPr lang="en-US" dirty="0" err="1"/>
              <a:t>do!Our</a:t>
            </a:r>
            <a:r>
              <a:rPr lang="en-US" dirty="0"/>
              <a:t> next touchpoint will highlight the key principle of this series: our response </a:t>
            </a:r>
            <a:r>
              <a:rPr lang="en-US" dirty="0" err="1"/>
              <a:t>matters!For</a:t>
            </a:r>
            <a:r>
              <a:rPr lang="en-US" dirty="0"/>
              <a:t> questions on Human Factors training and concepts or for support for your Kaizen </a:t>
            </a:r>
            <a:r>
              <a:rPr lang="en-US" dirty="0" err="1"/>
              <a:t>orValue</a:t>
            </a:r>
            <a:r>
              <a:rPr lang="en-US" dirty="0"/>
              <a:t> Stream Mapping please email us at: human_factors_ask_an_expert@ge.com125%</a:t>
            </a:r>
          </a:p>
        </p:txBody>
      </p:sp>
      <p:sp>
        <p:nvSpPr>
          <p:cNvPr id="4" name="Slide Number Placeholder 3"/>
          <p:cNvSpPr>
            <a:spLocks noGrp="1"/>
          </p:cNvSpPr>
          <p:nvPr>
            <p:ph type="sldNum" sz="quarter" idx="5"/>
          </p:nvPr>
        </p:nvSpPr>
        <p:spPr/>
        <p:txBody>
          <a:bodyPr/>
          <a:lstStyle/>
          <a:p>
            <a:fld id="{A73D8EC7-BF66-4C8A-97C1-8508C955512B}" type="slidenum">
              <a:rPr lang="en-US" smtClean="0"/>
              <a:t>8</a:t>
            </a:fld>
            <a:endParaRPr lang="en-US"/>
          </a:p>
        </p:txBody>
      </p:sp>
    </p:spTree>
    <p:extLst>
      <p:ext uri="{BB962C8B-B14F-4D97-AF65-F5344CB8AC3E}">
        <p14:creationId xmlns:p14="http://schemas.microsoft.com/office/powerpoint/2010/main" val="3670435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s humans, we strive to be rational beings. People tend to make decisions that make sense at the time and in the context that they are made in. We don’t go to work with the intention to make errors to hurt ourselves or damage our products or equipment. By aiming to empathize and be curious, we can understand why a person did what they did after an undesirable event occurs. It probably made sense at the time. We should remember </a:t>
            </a:r>
            <a:r>
              <a:rPr lang="en-US" dirty="0" err="1"/>
              <a:t>rthat</a:t>
            </a:r>
            <a:r>
              <a:rPr lang="en-US" dirty="0"/>
              <a:t> the unexpected event had not yet occurred, and was therefore unknown, when the action was made. If it were, the person would almost certainly have done something differently to try to avoid it! Human error is usually a consequence of a system – not the cause of an event.</a:t>
            </a:r>
          </a:p>
        </p:txBody>
      </p:sp>
      <p:sp>
        <p:nvSpPr>
          <p:cNvPr id="4" name="Slide Number Placeholder 3"/>
          <p:cNvSpPr>
            <a:spLocks noGrp="1"/>
          </p:cNvSpPr>
          <p:nvPr>
            <p:ph type="sldNum" sz="quarter" idx="5"/>
          </p:nvPr>
        </p:nvSpPr>
        <p:spPr/>
        <p:txBody>
          <a:bodyPr/>
          <a:lstStyle/>
          <a:p>
            <a:fld id="{A73D8EC7-BF66-4C8A-97C1-8508C955512B}" type="slidenum">
              <a:rPr lang="en-US" smtClean="0"/>
              <a:t>9</a:t>
            </a:fld>
            <a:endParaRPr lang="en-US"/>
          </a:p>
        </p:txBody>
      </p:sp>
    </p:spTree>
    <p:extLst>
      <p:ext uri="{BB962C8B-B14F-4D97-AF65-F5344CB8AC3E}">
        <p14:creationId xmlns:p14="http://schemas.microsoft.com/office/powerpoint/2010/main" val="1397866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330200"/>
            <a:ext cx="4246563" cy="2389188"/>
          </a:xfrm>
          <a:prstGeom prst="rect">
            <a:avLst/>
          </a:prstGeom>
        </p:spPr>
      </p:sp>
      <p:sp>
        <p:nvSpPr>
          <p:cNvPr id="3" name="Notes Placeholder 2"/>
          <p:cNvSpPr>
            <a:spLocks noGrp="1"/>
          </p:cNvSpPr>
          <p:nvPr>
            <p:ph type="body" idx="1"/>
          </p:nvPr>
        </p:nvSpPr>
        <p:spPr>
          <a:xfrm>
            <a:off x="432618" y="2870427"/>
            <a:ext cx="6025469" cy="6889229"/>
          </a:xfrm>
          <a:prstGeom prst="rect">
            <a:avLst/>
          </a:prstGeom>
        </p:spPr>
        <p:txBody>
          <a:bodyPr/>
          <a:lstStyle/>
          <a:p>
            <a:endParaRPr lang="en-US" dirty="0"/>
          </a:p>
        </p:txBody>
      </p:sp>
      <p:sp>
        <p:nvSpPr>
          <p:cNvPr id="4" name="Slide Number Placeholder 3"/>
          <p:cNvSpPr>
            <a:spLocks noGrp="1"/>
          </p:cNvSpPr>
          <p:nvPr>
            <p:ph type="sldNum" sz="quarter" idx="10"/>
          </p:nvPr>
        </p:nvSpPr>
        <p:spPr>
          <a:xfrm>
            <a:off x="4021296" y="9945555"/>
            <a:ext cx="3076363" cy="287285"/>
          </a:xfrm>
          <a:prstGeom prst="rect">
            <a:avLst/>
          </a:prstGeom>
        </p:spPr>
        <p:txBody>
          <a:bodyPr/>
          <a:lstStyle/>
          <a:p>
            <a:fld id="{ADB3F595-5506-E84F-8E15-09F3869B0D21}" type="slidenum">
              <a:rPr lang="en-US" smtClean="0"/>
              <a:t>10</a:t>
            </a:fld>
            <a:endParaRPr lang="en-US" dirty="0"/>
          </a:p>
        </p:txBody>
      </p:sp>
    </p:spTree>
    <p:extLst>
      <p:ext uri="{BB962C8B-B14F-4D97-AF65-F5344CB8AC3E}">
        <p14:creationId xmlns:p14="http://schemas.microsoft.com/office/powerpoint/2010/main" val="604405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11</a:t>
            </a:fld>
            <a:endParaRPr lang="en-US" dirty="0"/>
          </a:p>
        </p:txBody>
      </p:sp>
    </p:spTree>
    <p:extLst>
      <p:ext uri="{BB962C8B-B14F-4D97-AF65-F5344CB8AC3E}">
        <p14:creationId xmlns:p14="http://schemas.microsoft.com/office/powerpoint/2010/main" val="12738664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12</a:t>
            </a:fld>
            <a:endParaRPr lang="en-US" dirty="0"/>
          </a:p>
        </p:txBody>
      </p:sp>
    </p:spTree>
    <p:extLst>
      <p:ext uri="{BB962C8B-B14F-4D97-AF65-F5344CB8AC3E}">
        <p14:creationId xmlns:p14="http://schemas.microsoft.com/office/powerpoint/2010/main" val="2959471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Often, when faced with the stressful task of addressing an undesirable event, we may quickly react rather than thoughtfully respond. Our immediate response following an event is crucial.</a:t>
            </a:r>
          </a:p>
          <a:p>
            <a:pPr algn="l"/>
            <a:br>
              <a:rPr lang="en-US" sz="1800" b="0" i="0" dirty="0">
                <a:solidFill>
                  <a:srgbClr val="000000"/>
                </a:solidFill>
                <a:effectLst/>
                <a:latin typeface="WordVisiCarriageReturn_MSFontService"/>
              </a:rPr>
            </a:br>
            <a:r>
              <a:rPr lang="en-US" sz="1800" b="0" i="0" dirty="0">
                <a:solidFill>
                  <a:srgbClr val="000000"/>
                </a:solidFill>
                <a:effectLst/>
                <a:latin typeface="Arial" panose="020B0604020202020204" pitchFamily="34" charset="0"/>
              </a:rPr>
              <a:t>By intentionally responding with SQDC (safety, quality, delivery, and cost – in that order!) at the forefront, we prioritize valuable learning opportunities and steer clear of knee-jerk reactions driven by biases and blame. By seeking understanding and leveraging our human factors perspective, we foster more effective improvement actions and cultivate an environment conducive to continuous learning and growth.</a:t>
            </a:r>
            <a:endParaRPr lang="en-US" dirty="0"/>
          </a:p>
        </p:txBody>
      </p:sp>
      <p:sp>
        <p:nvSpPr>
          <p:cNvPr id="4" name="Slide Number Placeholder 3"/>
          <p:cNvSpPr>
            <a:spLocks noGrp="1"/>
          </p:cNvSpPr>
          <p:nvPr>
            <p:ph type="sldNum" sz="quarter" idx="5"/>
          </p:nvPr>
        </p:nvSpPr>
        <p:spPr/>
        <p:txBody>
          <a:bodyPr/>
          <a:lstStyle/>
          <a:p>
            <a:fld id="{A73D8EC7-BF66-4C8A-97C1-8508C955512B}" type="slidenum">
              <a:rPr lang="en-US" smtClean="0"/>
              <a:t>14</a:t>
            </a:fld>
            <a:endParaRPr lang="en-US"/>
          </a:p>
        </p:txBody>
      </p:sp>
    </p:spTree>
    <p:extLst>
      <p:ext uri="{BB962C8B-B14F-4D97-AF65-F5344CB8AC3E}">
        <p14:creationId xmlns:p14="http://schemas.microsoft.com/office/powerpoint/2010/main" val="12136350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A73D8EC7-BF66-4C8A-97C1-8508C955512B}" type="slidenum">
              <a:rPr lang="en-US" smtClean="0"/>
              <a:t>15</a:t>
            </a:fld>
            <a:endParaRPr lang="en-US"/>
          </a:p>
        </p:txBody>
      </p:sp>
    </p:spTree>
    <p:extLst>
      <p:ext uri="{BB962C8B-B14F-4D97-AF65-F5344CB8AC3E}">
        <p14:creationId xmlns:p14="http://schemas.microsoft.com/office/powerpoint/2010/main" val="13358262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A73D8EC7-BF66-4C8A-97C1-8508C955512B}" type="slidenum">
              <a:rPr lang="en-US" smtClean="0"/>
              <a:t>16</a:t>
            </a:fld>
            <a:endParaRPr lang="en-US"/>
          </a:p>
        </p:txBody>
      </p:sp>
    </p:spTree>
    <p:extLst>
      <p:ext uri="{BB962C8B-B14F-4D97-AF65-F5344CB8AC3E}">
        <p14:creationId xmlns:p14="http://schemas.microsoft.com/office/powerpoint/2010/main" val="19248755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F220FD56-DF93-4553-E2CD-CBC5F6734BF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627236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3D8EC7-BF66-4C8A-97C1-8508C955512B}" type="slidenum">
              <a:rPr lang="en-US" smtClean="0"/>
              <a:t>18</a:t>
            </a:fld>
            <a:endParaRPr lang="en-US"/>
          </a:p>
        </p:txBody>
      </p:sp>
    </p:spTree>
    <p:extLst>
      <p:ext uri="{BB962C8B-B14F-4D97-AF65-F5344CB8AC3E}">
        <p14:creationId xmlns:p14="http://schemas.microsoft.com/office/powerpoint/2010/main" val="23503788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A73D8EC7-BF66-4C8A-97C1-8508C955512B}" type="slidenum">
              <a:rPr lang="en-US" smtClean="0"/>
              <a:t>19</a:t>
            </a:fld>
            <a:endParaRPr lang="en-US"/>
          </a:p>
        </p:txBody>
      </p:sp>
    </p:spTree>
    <p:extLst>
      <p:ext uri="{BB962C8B-B14F-4D97-AF65-F5344CB8AC3E}">
        <p14:creationId xmlns:p14="http://schemas.microsoft.com/office/powerpoint/2010/main" val="2035516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F2754-4774-CE63-E12B-5BFE5BC648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EA662B-72FB-0893-E4D8-C7480DB616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4B97FA-50A7-B691-3C96-B9D9142852CF}"/>
              </a:ext>
            </a:extLst>
          </p:cNvPr>
          <p:cNvSpPr>
            <a:spLocks noGrp="1"/>
          </p:cNvSpPr>
          <p:nvPr>
            <p:ph type="dt" sz="half" idx="10"/>
          </p:nvPr>
        </p:nvSpPr>
        <p:spPr/>
        <p:txBody>
          <a:bodyPr/>
          <a:lstStyle/>
          <a:p>
            <a:fld id="{7A7BEF00-332A-4CD6-B646-4EB01FC6511B}" type="datetimeFigureOut">
              <a:rPr lang="en-US" smtClean="0"/>
              <a:t>2/3/2025</a:t>
            </a:fld>
            <a:endParaRPr lang="en-US"/>
          </a:p>
        </p:txBody>
      </p:sp>
      <p:sp>
        <p:nvSpPr>
          <p:cNvPr id="5" name="Footer Placeholder 4">
            <a:extLst>
              <a:ext uri="{FF2B5EF4-FFF2-40B4-BE49-F238E27FC236}">
                <a16:creationId xmlns:a16="http://schemas.microsoft.com/office/drawing/2014/main" id="{8BA2AD98-12E6-99F9-7723-3AAF1EECC4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C30BF1-AD2E-5DE9-6F6D-EA7C2730DB13}"/>
              </a:ext>
            </a:extLst>
          </p:cNvPr>
          <p:cNvSpPr>
            <a:spLocks noGrp="1"/>
          </p:cNvSpPr>
          <p:nvPr>
            <p:ph type="sldNum" sz="quarter" idx="12"/>
          </p:nvPr>
        </p:nvSpPr>
        <p:spPr/>
        <p:txBody>
          <a:bodyPr/>
          <a:lstStyle/>
          <a:p>
            <a:fld id="{408810EE-AAEB-4688-B49F-71C8FD033847}" type="slidenum">
              <a:rPr lang="en-US" smtClean="0"/>
              <a:t>‹#›</a:t>
            </a:fld>
            <a:endParaRPr lang="en-US"/>
          </a:p>
        </p:txBody>
      </p:sp>
    </p:spTree>
    <p:extLst>
      <p:ext uri="{BB962C8B-B14F-4D97-AF65-F5344CB8AC3E}">
        <p14:creationId xmlns:p14="http://schemas.microsoft.com/office/powerpoint/2010/main" val="3229832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59FFF-6BD9-786A-AC13-0540E4FD36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9179D5-2B16-3365-F826-B6890C2216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E2B070-0A9A-3208-7761-18BA5B76D701}"/>
              </a:ext>
            </a:extLst>
          </p:cNvPr>
          <p:cNvSpPr>
            <a:spLocks noGrp="1"/>
          </p:cNvSpPr>
          <p:nvPr>
            <p:ph type="dt" sz="half" idx="10"/>
          </p:nvPr>
        </p:nvSpPr>
        <p:spPr/>
        <p:txBody>
          <a:bodyPr/>
          <a:lstStyle/>
          <a:p>
            <a:fld id="{7A7BEF00-332A-4CD6-B646-4EB01FC6511B}" type="datetimeFigureOut">
              <a:rPr lang="en-US" smtClean="0"/>
              <a:t>2/3/2025</a:t>
            </a:fld>
            <a:endParaRPr lang="en-US"/>
          </a:p>
        </p:txBody>
      </p:sp>
      <p:sp>
        <p:nvSpPr>
          <p:cNvPr id="5" name="Footer Placeholder 4">
            <a:extLst>
              <a:ext uri="{FF2B5EF4-FFF2-40B4-BE49-F238E27FC236}">
                <a16:creationId xmlns:a16="http://schemas.microsoft.com/office/drawing/2014/main" id="{7990CEB1-A3E8-1969-83D7-3485DF1729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7842B8-091B-358F-D7F0-C9834EDA1EB8}"/>
              </a:ext>
            </a:extLst>
          </p:cNvPr>
          <p:cNvSpPr>
            <a:spLocks noGrp="1"/>
          </p:cNvSpPr>
          <p:nvPr>
            <p:ph type="sldNum" sz="quarter" idx="12"/>
          </p:nvPr>
        </p:nvSpPr>
        <p:spPr/>
        <p:txBody>
          <a:bodyPr/>
          <a:lstStyle/>
          <a:p>
            <a:fld id="{408810EE-AAEB-4688-B49F-71C8FD033847}" type="slidenum">
              <a:rPr lang="en-US" smtClean="0"/>
              <a:t>‹#›</a:t>
            </a:fld>
            <a:endParaRPr lang="en-US"/>
          </a:p>
        </p:txBody>
      </p:sp>
    </p:spTree>
    <p:extLst>
      <p:ext uri="{BB962C8B-B14F-4D97-AF65-F5344CB8AC3E}">
        <p14:creationId xmlns:p14="http://schemas.microsoft.com/office/powerpoint/2010/main" val="1603393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F232-1762-398F-61EC-F0F34E9ACB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37084F9-43CA-9E37-7D2A-F4545EC9E9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8AB709-30F0-E36E-C4EA-58281DB05727}"/>
              </a:ext>
            </a:extLst>
          </p:cNvPr>
          <p:cNvSpPr>
            <a:spLocks noGrp="1"/>
          </p:cNvSpPr>
          <p:nvPr>
            <p:ph type="dt" sz="half" idx="10"/>
          </p:nvPr>
        </p:nvSpPr>
        <p:spPr/>
        <p:txBody>
          <a:bodyPr/>
          <a:lstStyle/>
          <a:p>
            <a:fld id="{7A7BEF00-332A-4CD6-B646-4EB01FC6511B}" type="datetimeFigureOut">
              <a:rPr lang="en-US" smtClean="0"/>
              <a:t>2/3/2025</a:t>
            </a:fld>
            <a:endParaRPr lang="en-US"/>
          </a:p>
        </p:txBody>
      </p:sp>
      <p:sp>
        <p:nvSpPr>
          <p:cNvPr id="5" name="Footer Placeholder 4">
            <a:extLst>
              <a:ext uri="{FF2B5EF4-FFF2-40B4-BE49-F238E27FC236}">
                <a16:creationId xmlns:a16="http://schemas.microsoft.com/office/drawing/2014/main" id="{8D085758-C6FA-1A1F-251A-ACE33A5AB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E2FF4A-7261-DF7D-84CD-1FD100044255}"/>
              </a:ext>
            </a:extLst>
          </p:cNvPr>
          <p:cNvSpPr>
            <a:spLocks noGrp="1"/>
          </p:cNvSpPr>
          <p:nvPr>
            <p:ph type="sldNum" sz="quarter" idx="12"/>
          </p:nvPr>
        </p:nvSpPr>
        <p:spPr/>
        <p:txBody>
          <a:bodyPr/>
          <a:lstStyle/>
          <a:p>
            <a:fld id="{408810EE-AAEB-4688-B49F-71C8FD033847}" type="slidenum">
              <a:rPr lang="en-US" smtClean="0"/>
              <a:t>‹#›</a:t>
            </a:fld>
            <a:endParaRPr lang="en-US"/>
          </a:p>
        </p:txBody>
      </p:sp>
    </p:spTree>
    <p:extLst>
      <p:ext uri="{BB962C8B-B14F-4D97-AF65-F5344CB8AC3E}">
        <p14:creationId xmlns:p14="http://schemas.microsoft.com/office/powerpoint/2010/main" val="3918571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1CF4E-A74C-D84B-0BEE-868E110932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A99D5E-641E-E0BA-A8D7-CF6079B2E7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78B997-73B0-2D74-6AB8-3D4BCADA8B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5E47AD-F205-BEBA-6458-75A6D4B54530}"/>
              </a:ext>
            </a:extLst>
          </p:cNvPr>
          <p:cNvSpPr>
            <a:spLocks noGrp="1"/>
          </p:cNvSpPr>
          <p:nvPr>
            <p:ph type="dt" sz="half" idx="10"/>
          </p:nvPr>
        </p:nvSpPr>
        <p:spPr/>
        <p:txBody>
          <a:bodyPr/>
          <a:lstStyle/>
          <a:p>
            <a:fld id="{7A7BEF00-332A-4CD6-B646-4EB01FC6511B}" type="datetimeFigureOut">
              <a:rPr lang="en-US" smtClean="0"/>
              <a:t>2/3/2025</a:t>
            </a:fld>
            <a:endParaRPr lang="en-US"/>
          </a:p>
        </p:txBody>
      </p:sp>
      <p:sp>
        <p:nvSpPr>
          <p:cNvPr id="6" name="Footer Placeholder 5">
            <a:extLst>
              <a:ext uri="{FF2B5EF4-FFF2-40B4-BE49-F238E27FC236}">
                <a16:creationId xmlns:a16="http://schemas.microsoft.com/office/drawing/2014/main" id="{1A7B98D0-166B-A0AC-BB87-E12FB10328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07129B-D619-5B3D-640A-99BC62AAA60F}"/>
              </a:ext>
            </a:extLst>
          </p:cNvPr>
          <p:cNvSpPr>
            <a:spLocks noGrp="1"/>
          </p:cNvSpPr>
          <p:nvPr>
            <p:ph type="sldNum" sz="quarter" idx="12"/>
          </p:nvPr>
        </p:nvSpPr>
        <p:spPr/>
        <p:txBody>
          <a:bodyPr/>
          <a:lstStyle/>
          <a:p>
            <a:fld id="{408810EE-AAEB-4688-B49F-71C8FD033847}" type="slidenum">
              <a:rPr lang="en-US" smtClean="0"/>
              <a:t>‹#›</a:t>
            </a:fld>
            <a:endParaRPr lang="en-US"/>
          </a:p>
        </p:txBody>
      </p:sp>
    </p:spTree>
    <p:extLst>
      <p:ext uri="{BB962C8B-B14F-4D97-AF65-F5344CB8AC3E}">
        <p14:creationId xmlns:p14="http://schemas.microsoft.com/office/powerpoint/2010/main" val="1644176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EC7E9-73D5-59CB-992A-15A9EEFB28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6120E83-24BC-EEBB-01B0-3194E73E56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D69534-9B3C-223D-01BE-85F1249692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54C402-6271-300C-F69F-3EBAE477DB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EF84A3-29CB-AD3D-A0FF-D5196F7F06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F6C0A5-D8F1-38AF-FD14-DE2F55EA91F9}"/>
              </a:ext>
            </a:extLst>
          </p:cNvPr>
          <p:cNvSpPr>
            <a:spLocks noGrp="1"/>
          </p:cNvSpPr>
          <p:nvPr>
            <p:ph type="dt" sz="half" idx="10"/>
          </p:nvPr>
        </p:nvSpPr>
        <p:spPr/>
        <p:txBody>
          <a:bodyPr/>
          <a:lstStyle/>
          <a:p>
            <a:fld id="{7A7BEF00-332A-4CD6-B646-4EB01FC6511B}" type="datetimeFigureOut">
              <a:rPr lang="en-US" smtClean="0"/>
              <a:t>2/3/2025</a:t>
            </a:fld>
            <a:endParaRPr lang="en-US"/>
          </a:p>
        </p:txBody>
      </p:sp>
      <p:sp>
        <p:nvSpPr>
          <p:cNvPr id="8" name="Footer Placeholder 7">
            <a:extLst>
              <a:ext uri="{FF2B5EF4-FFF2-40B4-BE49-F238E27FC236}">
                <a16:creationId xmlns:a16="http://schemas.microsoft.com/office/drawing/2014/main" id="{3D15504D-FA2B-0E49-8819-55CBE1A9D1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5D6EAF-21A4-BE0C-C90D-AEA27ABA7377}"/>
              </a:ext>
            </a:extLst>
          </p:cNvPr>
          <p:cNvSpPr>
            <a:spLocks noGrp="1"/>
          </p:cNvSpPr>
          <p:nvPr>
            <p:ph type="sldNum" sz="quarter" idx="12"/>
          </p:nvPr>
        </p:nvSpPr>
        <p:spPr/>
        <p:txBody>
          <a:bodyPr/>
          <a:lstStyle/>
          <a:p>
            <a:fld id="{408810EE-AAEB-4688-B49F-71C8FD033847}" type="slidenum">
              <a:rPr lang="en-US" smtClean="0"/>
              <a:t>‹#›</a:t>
            </a:fld>
            <a:endParaRPr lang="en-US"/>
          </a:p>
        </p:txBody>
      </p:sp>
    </p:spTree>
    <p:extLst>
      <p:ext uri="{BB962C8B-B14F-4D97-AF65-F5344CB8AC3E}">
        <p14:creationId xmlns:p14="http://schemas.microsoft.com/office/powerpoint/2010/main" val="3588608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4B83E-5A9A-1463-41B3-B319484C21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03B6A45-6392-452F-3B0B-3FCD6F103C95}"/>
              </a:ext>
            </a:extLst>
          </p:cNvPr>
          <p:cNvSpPr>
            <a:spLocks noGrp="1"/>
          </p:cNvSpPr>
          <p:nvPr>
            <p:ph type="dt" sz="half" idx="10"/>
          </p:nvPr>
        </p:nvSpPr>
        <p:spPr/>
        <p:txBody>
          <a:bodyPr/>
          <a:lstStyle/>
          <a:p>
            <a:fld id="{7A7BEF00-332A-4CD6-B646-4EB01FC6511B}" type="datetimeFigureOut">
              <a:rPr lang="en-US" smtClean="0"/>
              <a:t>2/3/2025</a:t>
            </a:fld>
            <a:endParaRPr lang="en-US"/>
          </a:p>
        </p:txBody>
      </p:sp>
      <p:sp>
        <p:nvSpPr>
          <p:cNvPr id="4" name="Footer Placeholder 3">
            <a:extLst>
              <a:ext uri="{FF2B5EF4-FFF2-40B4-BE49-F238E27FC236}">
                <a16:creationId xmlns:a16="http://schemas.microsoft.com/office/drawing/2014/main" id="{318A52A6-2ACC-3473-8D18-48CC8BF0F1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574B6D-5DF8-0869-2621-89C31FF1110E}"/>
              </a:ext>
            </a:extLst>
          </p:cNvPr>
          <p:cNvSpPr>
            <a:spLocks noGrp="1"/>
          </p:cNvSpPr>
          <p:nvPr>
            <p:ph type="sldNum" sz="quarter" idx="12"/>
          </p:nvPr>
        </p:nvSpPr>
        <p:spPr/>
        <p:txBody>
          <a:bodyPr/>
          <a:lstStyle/>
          <a:p>
            <a:fld id="{408810EE-AAEB-4688-B49F-71C8FD033847}" type="slidenum">
              <a:rPr lang="en-US" smtClean="0"/>
              <a:t>‹#›</a:t>
            </a:fld>
            <a:endParaRPr lang="en-US"/>
          </a:p>
        </p:txBody>
      </p:sp>
    </p:spTree>
    <p:extLst>
      <p:ext uri="{BB962C8B-B14F-4D97-AF65-F5344CB8AC3E}">
        <p14:creationId xmlns:p14="http://schemas.microsoft.com/office/powerpoint/2010/main" val="84208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ABAD12-6B64-4DB9-F888-EE724BA7DCB2}"/>
              </a:ext>
            </a:extLst>
          </p:cNvPr>
          <p:cNvSpPr>
            <a:spLocks noGrp="1"/>
          </p:cNvSpPr>
          <p:nvPr>
            <p:ph type="dt" sz="half" idx="10"/>
          </p:nvPr>
        </p:nvSpPr>
        <p:spPr/>
        <p:txBody>
          <a:bodyPr/>
          <a:lstStyle/>
          <a:p>
            <a:fld id="{7A7BEF00-332A-4CD6-B646-4EB01FC6511B}" type="datetimeFigureOut">
              <a:rPr lang="en-US" smtClean="0"/>
              <a:t>2/3/2025</a:t>
            </a:fld>
            <a:endParaRPr lang="en-US"/>
          </a:p>
        </p:txBody>
      </p:sp>
      <p:sp>
        <p:nvSpPr>
          <p:cNvPr id="3" name="Footer Placeholder 2">
            <a:extLst>
              <a:ext uri="{FF2B5EF4-FFF2-40B4-BE49-F238E27FC236}">
                <a16:creationId xmlns:a16="http://schemas.microsoft.com/office/drawing/2014/main" id="{0104CB27-5310-0449-EB69-C195B8D6C8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E97496-461E-E0B6-FACD-661D860856E8}"/>
              </a:ext>
            </a:extLst>
          </p:cNvPr>
          <p:cNvSpPr>
            <a:spLocks noGrp="1"/>
          </p:cNvSpPr>
          <p:nvPr>
            <p:ph type="sldNum" sz="quarter" idx="12"/>
          </p:nvPr>
        </p:nvSpPr>
        <p:spPr/>
        <p:txBody>
          <a:bodyPr/>
          <a:lstStyle/>
          <a:p>
            <a:fld id="{408810EE-AAEB-4688-B49F-71C8FD033847}" type="slidenum">
              <a:rPr lang="en-US" smtClean="0"/>
              <a:t>‹#›</a:t>
            </a:fld>
            <a:endParaRPr lang="en-US"/>
          </a:p>
        </p:txBody>
      </p:sp>
    </p:spTree>
    <p:extLst>
      <p:ext uri="{BB962C8B-B14F-4D97-AF65-F5344CB8AC3E}">
        <p14:creationId xmlns:p14="http://schemas.microsoft.com/office/powerpoint/2010/main" val="2285142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A3131-A664-A37C-94C0-45D4CAA043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6B1E73C-65CC-09BD-AA93-39DD621F80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AFD513-7752-97B1-1CCC-7E86AAEF2A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450243-97FD-CB58-8DEB-E534FEADC3E3}"/>
              </a:ext>
            </a:extLst>
          </p:cNvPr>
          <p:cNvSpPr>
            <a:spLocks noGrp="1"/>
          </p:cNvSpPr>
          <p:nvPr>
            <p:ph type="dt" sz="half" idx="10"/>
          </p:nvPr>
        </p:nvSpPr>
        <p:spPr/>
        <p:txBody>
          <a:bodyPr/>
          <a:lstStyle/>
          <a:p>
            <a:fld id="{7A7BEF00-332A-4CD6-B646-4EB01FC6511B}" type="datetimeFigureOut">
              <a:rPr lang="en-US" smtClean="0"/>
              <a:t>2/3/2025</a:t>
            </a:fld>
            <a:endParaRPr lang="en-US"/>
          </a:p>
        </p:txBody>
      </p:sp>
      <p:sp>
        <p:nvSpPr>
          <p:cNvPr id="6" name="Footer Placeholder 5">
            <a:extLst>
              <a:ext uri="{FF2B5EF4-FFF2-40B4-BE49-F238E27FC236}">
                <a16:creationId xmlns:a16="http://schemas.microsoft.com/office/drawing/2014/main" id="{250B041A-5623-940C-9D50-F672776D7A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6A88E1-93EC-E24D-D46E-F0378831B626}"/>
              </a:ext>
            </a:extLst>
          </p:cNvPr>
          <p:cNvSpPr>
            <a:spLocks noGrp="1"/>
          </p:cNvSpPr>
          <p:nvPr>
            <p:ph type="sldNum" sz="quarter" idx="12"/>
          </p:nvPr>
        </p:nvSpPr>
        <p:spPr/>
        <p:txBody>
          <a:bodyPr/>
          <a:lstStyle/>
          <a:p>
            <a:fld id="{408810EE-AAEB-4688-B49F-71C8FD033847}" type="slidenum">
              <a:rPr lang="en-US" smtClean="0"/>
              <a:t>‹#›</a:t>
            </a:fld>
            <a:endParaRPr lang="en-US"/>
          </a:p>
        </p:txBody>
      </p:sp>
    </p:spTree>
    <p:extLst>
      <p:ext uri="{BB962C8B-B14F-4D97-AF65-F5344CB8AC3E}">
        <p14:creationId xmlns:p14="http://schemas.microsoft.com/office/powerpoint/2010/main" val="2666539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A5448-B873-10B3-E26A-0EED2C2F4F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8B21A4-0CC8-0CB3-39BC-1AE9CB655C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948F25-0897-28B7-D0CC-87E7FA2279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7F8A7E-6324-01A6-3AC2-B10D8E03C0B1}"/>
              </a:ext>
            </a:extLst>
          </p:cNvPr>
          <p:cNvSpPr>
            <a:spLocks noGrp="1"/>
          </p:cNvSpPr>
          <p:nvPr>
            <p:ph type="dt" sz="half" idx="10"/>
          </p:nvPr>
        </p:nvSpPr>
        <p:spPr/>
        <p:txBody>
          <a:bodyPr/>
          <a:lstStyle/>
          <a:p>
            <a:fld id="{7A7BEF00-332A-4CD6-B646-4EB01FC6511B}" type="datetimeFigureOut">
              <a:rPr lang="en-US" smtClean="0"/>
              <a:t>2/3/2025</a:t>
            </a:fld>
            <a:endParaRPr lang="en-US"/>
          </a:p>
        </p:txBody>
      </p:sp>
      <p:sp>
        <p:nvSpPr>
          <p:cNvPr id="6" name="Footer Placeholder 5">
            <a:extLst>
              <a:ext uri="{FF2B5EF4-FFF2-40B4-BE49-F238E27FC236}">
                <a16:creationId xmlns:a16="http://schemas.microsoft.com/office/drawing/2014/main" id="{7C1E5A4C-82C4-F7E7-8F2F-D8A9BAEA86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2A39A8-1A77-AAFA-B7D8-729D84BCBA1C}"/>
              </a:ext>
            </a:extLst>
          </p:cNvPr>
          <p:cNvSpPr>
            <a:spLocks noGrp="1"/>
          </p:cNvSpPr>
          <p:nvPr>
            <p:ph type="sldNum" sz="quarter" idx="12"/>
          </p:nvPr>
        </p:nvSpPr>
        <p:spPr/>
        <p:txBody>
          <a:bodyPr/>
          <a:lstStyle/>
          <a:p>
            <a:fld id="{408810EE-AAEB-4688-B49F-71C8FD033847}" type="slidenum">
              <a:rPr lang="en-US" smtClean="0"/>
              <a:t>‹#›</a:t>
            </a:fld>
            <a:endParaRPr lang="en-US"/>
          </a:p>
        </p:txBody>
      </p:sp>
    </p:spTree>
    <p:extLst>
      <p:ext uri="{BB962C8B-B14F-4D97-AF65-F5344CB8AC3E}">
        <p14:creationId xmlns:p14="http://schemas.microsoft.com/office/powerpoint/2010/main" val="2153710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7228B-8FEE-69D9-B016-9E7B3A5166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8E0F1E-5D6F-09AF-987C-BFE07A76AD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9DE405-3DDA-2DB7-457F-9B6B6DE95F39}"/>
              </a:ext>
            </a:extLst>
          </p:cNvPr>
          <p:cNvSpPr>
            <a:spLocks noGrp="1"/>
          </p:cNvSpPr>
          <p:nvPr>
            <p:ph type="dt" sz="half" idx="10"/>
          </p:nvPr>
        </p:nvSpPr>
        <p:spPr/>
        <p:txBody>
          <a:bodyPr/>
          <a:lstStyle/>
          <a:p>
            <a:fld id="{7A7BEF00-332A-4CD6-B646-4EB01FC6511B}" type="datetimeFigureOut">
              <a:rPr lang="en-US" smtClean="0"/>
              <a:t>2/3/2025</a:t>
            </a:fld>
            <a:endParaRPr lang="en-US"/>
          </a:p>
        </p:txBody>
      </p:sp>
      <p:sp>
        <p:nvSpPr>
          <p:cNvPr id="5" name="Footer Placeholder 4">
            <a:extLst>
              <a:ext uri="{FF2B5EF4-FFF2-40B4-BE49-F238E27FC236}">
                <a16:creationId xmlns:a16="http://schemas.microsoft.com/office/drawing/2014/main" id="{8D394D5D-2EB7-E9FF-F787-55B55C87F9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A0DC95-3492-DBA6-9DB3-076EC5EC7640}"/>
              </a:ext>
            </a:extLst>
          </p:cNvPr>
          <p:cNvSpPr>
            <a:spLocks noGrp="1"/>
          </p:cNvSpPr>
          <p:nvPr>
            <p:ph type="sldNum" sz="quarter" idx="12"/>
          </p:nvPr>
        </p:nvSpPr>
        <p:spPr/>
        <p:txBody>
          <a:bodyPr/>
          <a:lstStyle/>
          <a:p>
            <a:fld id="{408810EE-AAEB-4688-B49F-71C8FD033847}" type="slidenum">
              <a:rPr lang="en-US" smtClean="0"/>
              <a:t>‹#›</a:t>
            </a:fld>
            <a:endParaRPr lang="en-US"/>
          </a:p>
        </p:txBody>
      </p:sp>
    </p:spTree>
    <p:extLst>
      <p:ext uri="{BB962C8B-B14F-4D97-AF65-F5344CB8AC3E}">
        <p14:creationId xmlns:p14="http://schemas.microsoft.com/office/powerpoint/2010/main" val="1265655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2015CC-804B-7A6B-D5F1-538896BC9C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A5A79C-02CA-4362-D4B3-7AA961483B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4DFB7F-9C66-EC2B-8948-2AFB7D986558}"/>
              </a:ext>
            </a:extLst>
          </p:cNvPr>
          <p:cNvSpPr>
            <a:spLocks noGrp="1"/>
          </p:cNvSpPr>
          <p:nvPr>
            <p:ph type="dt" sz="half" idx="10"/>
          </p:nvPr>
        </p:nvSpPr>
        <p:spPr/>
        <p:txBody>
          <a:bodyPr/>
          <a:lstStyle/>
          <a:p>
            <a:fld id="{7A7BEF00-332A-4CD6-B646-4EB01FC6511B}" type="datetimeFigureOut">
              <a:rPr lang="en-US" smtClean="0"/>
              <a:t>2/3/2025</a:t>
            </a:fld>
            <a:endParaRPr lang="en-US"/>
          </a:p>
        </p:txBody>
      </p:sp>
      <p:sp>
        <p:nvSpPr>
          <p:cNvPr id="5" name="Footer Placeholder 4">
            <a:extLst>
              <a:ext uri="{FF2B5EF4-FFF2-40B4-BE49-F238E27FC236}">
                <a16:creationId xmlns:a16="http://schemas.microsoft.com/office/drawing/2014/main" id="{A068580C-9D15-834B-E762-D6375E6BD5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5D8B97-EDD6-B757-F9B5-547A0D503B61}"/>
              </a:ext>
            </a:extLst>
          </p:cNvPr>
          <p:cNvSpPr>
            <a:spLocks noGrp="1"/>
          </p:cNvSpPr>
          <p:nvPr>
            <p:ph type="sldNum" sz="quarter" idx="12"/>
          </p:nvPr>
        </p:nvSpPr>
        <p:spPr/>
        <p:txBody>
          <a:bodyPr/>
          <a:lstStyle/>
          <a:p>
            <a:fld id="{408810EE-AAEB-4688-B49F-71C8FD033847}" type="slidenum">
              <a:rPr lang="en-US" smtClean="0"/>
              <a:t>‹#›</a:t>
            </a:fld>
            <a:endParaRPr lang="en-US"/>
          </a:p>
        </p:txBody>
      </p:sp>
    </p:spTree>
    <p:extLst>
      <p:ext uri="{BB962C8B-B14F-4D97-AF65-F5344CB8AC3E}">
        <p14:creationId xmlns:p14="http://schemas.microsoft.com/office/powerpoint/2010/main" val="2169295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ote Statement 2 White">
    <p:spTree>
      <p:nvGrpSpPr>
        <p:cNvPr id="1" name=""/>
        <p:cNvGrpSpPr/>
        <p:nvPr/>
      </p:nvGrpSpPr>
      <p:grpSpPr>
        <a:xfrm>
          <a:off x="0" y="0"/>
          <a:ext cx="0" cy="0"/>
          <a:chOff x="0" y="0"/>
          <a:chExt cx="0" cy="0"/>
        </a:xfrm>
      </p:grpSpPr>
      <p:pic>
        <p:nvPicPr>
          <p:cNvPr id="10" name="Direction Graphic">
            <a:extLst>
              <a:ext uri="{FF2B5EF4-FFF2-40B4-BE49-F238E27FC236}">
                <a16:creationId xmlns:a16="http://schemas.microsoft.com/office/drawing/2014/main" id="{6869F596-3692-3E4E-9BF3-E29D14395ABE}"/>
              </a:ext>
            </a:extLst>
          </p:cNvPr>
          <p:cNvPicPr>
            <a:picLocks noChangeAspect="1"/>
          </p:cNvPicPr>
          <p:nvPr userDrawn="1"/>
        </p:nvPicPr>
        <p:blipFill>
          <a:blip r:embed="rId2"/>
          <a:stretch>
            <a:fillRect/>
          </a:stretch>
        </p:blipFill>
        <p:spPr>
          <a:xfrm>
            <a:off x="1643297" y="731713"/>
            <a:ext cx="822613" cy="5273667"/>
          </a:xfrm>
          <a:prstGeom prst="rect">
            <a:avLst/>
          </a:prstGeom>
        </p:spPr>
      </p:pic>
      <p:sp>
        <p:nvSpPr>
          <p:cNvPr id="3" name="Footer Placeholder 2">
            <a:extLst>
              <a:ext uri="{FF2B5EF4-FFF2-40B4-BE49-F238E27FC236}">
                <a16:creationId xmlns:a16="http://schemas.microsoft.com/office/drawing/2014/main" id="{2FC2E251-1249-1447-8D56-F6A4533673E3}"/>
              </a:ext>
            </a:extLst>
          </p:cNvPr>
          <p:cNvSpPr>
            <a:spLocks noGrp="1"/>
          </p:cNvSpPr>
          <p:nvPr>
            <p:ph type="ftr" sz="quarter" idx="10"/>
          </p:nvPr>
        </p:nvSpPr>
        <p:spPr/>
        <p:txBody>
          <a:bodyPr/>
          <a:lstStyle/>
          <a:p>
            <a:r>
              <a:rPr lang="en-US"/>
              <a:t>To edit the confidentiality disclosure, go to the View tab &gt; Slide Master &gt; Insert tab &gt; Header &amp; Footer</a:t>
            </a:r>
            <a:endParaRPr lang="en-US" dirty="0"/>
          </a:p>
        </p:txBody>
      </p:sp>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p>
            <a:fld id="{7A7A97EF-C944-4447-B862-B593E9B4A0FF}" type="slidenum">
              <a:rPr lang="en-US"/>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p:nvPr>
        </p:nvSpPr>
        <p:spPr>
          <a:xfrm>
            <a:off x="3048000" y="615950"/>
            <a:ext cx="8724899" cy="5486400"/>
          </a:xfrm>
        </p:spPr>
        <p:txBody>
          <a:bodyPr anchor="ctr" anchorCtr="0"/>
          <a:lstStyle>
            <a:lvl1pPr marL="201168" indent="-201168">
              <a:lnSpc>
                <a:spcPct val="85000"/>
              </a:lnSpc>
              <a:spcAft>
                <a:spcPts val="1000"/>
              </a:spcAft>
              <a:defRPr sz="5000">
                <a:solidFill>
                  <a:schemeClr val="tx2"/>
                </a:solidFill>
              </a:defRPr>
            </a:lvl1pPr>
            <a:lvl2pPr marL="219456" indent="0">
              <a:lnSpc>
                <a:spcPct val="100000"/>
              </a:lnSpc>
              <a:buClr>
                <a:schemeClr val="tx1"/>
              </a:buClr>
              <a:buFont typeface="System Font Regular"/>
              <a:buNone/>
              <a:defRPr>
                <a:solidFill>
                  <a:schemeClr val="tx1"/>
                </a:solidFill>
              </a:defRPr>
            </a:lvl2pPr>
            <a:lvl3pPr marL="201168" indent="0">
              <a:lnSpc>
                <a:spcPct val="85000"/>
              </a:lnSpc>
              <a:buNone/>
              <a:defRPr sz="5000">
                <a:solidFill>
                  <a:schemeClr val="tx2"/>
                </a:solidFill>
              </a:defRPr>
            </a:lvl3pPr>
            <a:lvl4pPr marL="201168" indent="0">
              <a:lnSpc>
                <a:spcPct val="90000"/>
              </a:lnSpc>
              <a:buNone/>
              <a:defRPr sz="3200">
                <a:solidFill>
                  <a:schemeClr val="tx2"/>
                </a:solidFill>
              </a:defRPr>
            </a:lvl4pPr>
            <a:lvl5pPr marL="237744" indent="0">
              <a:lnSpc>
                <a:spcPct val="100000"/>
              </a:lnSpc>
              <a:buClr>
                <a:schemeClr val="tx1"/>
              </a:buClr>
              <a:buFont typeface="System Font Regular"/>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1216707"/>
      </p:ext>
    </p:extLst>
  </p:cSld>
  <p:clrMapOvr>
    <a:masterClrMapping/>
  </p:clrMapOvr>
  <p:extLst>
    <p:ext uri="{DCECCB84-F9BA-43D5-87BE-67443E8EF086}">
      <p15:sldGuideLst xmlns:p15="http://schemas.microsoft.com/office/powerpoint/2012/main">
        <p15:guide id="1" pos="1920">
          <p15:clr>
            <a:srgbClr val="FBAE40"/>
          </p15:clr>
        </p15:guide>
        <p15:guide id="2" orient="horz" pos="211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8B1718-BC94-7E98-698C-D42F5C15E0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796445-03B5-5CE5-DDD7-DD5F8D1837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CAF8E8-C952-06EF-4879-D3B3233647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7BEF00-332A-4CD6-B646-4EB01FC6511B}" type="datetimeFigureOut">
              <a:rPr lang="en-US" smtClean="0"/>
              <a:t>2/3/2025</a:t>
            </a:fld>
            <a:endParaRPr lang="en-US"/>
          </a:p>
        </p:txBody>
      </p:sp>
      <p:sp>
        <p:nvSpPr>
          <p:cNvPr id="5" name="Footer Placeholder 4">
            <a:extLst>
              <a:ext uri="{FF2B5EF4-FFF2-40B4-BE49-F238E27FC236}">
                <a16:creationId xmlns:a16="http://schemas.microsoft.com/office/drawing/2014/main" id="{8CE14563-64FB-5E80-0815-B6990754F9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162904A-3AF1-DDEB-D77E-E05A05B82D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8810EE-AAEB-4688-B49F-71C8FD033847}" type="slidenum">
              <a:rPr lang="en-US" smtClean="0"/>
              <a:t>‹#›</a:t>
            </a:fld>
            <a:endParaRPr lang="en-US"/>
          </a:p>
        </p:txBody>
      </p:sp>
    </p:spTree>
    <p:extLst>
      <p:ext uri="{BB962C8B-B14F-4D97-AF65-F5344CB8AC3E}">
        <p14:creationId xmlns:p14="http://schemas.microsoft.com/office/powerpoint/2010/main" val="29854923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10.svg"/><Relationship Id="rId5" Type="http://schemas.openxmlformats.org/officeDocument/2006/relationships/diagramQuickStyle" Target="../diagrams/quickStyle2.xml"/><Relationship Id="rId10" Type="http://schemas.openxmlformats.org/officeDocument/2006/relationships/image" Target="../media/image9.png"/><Relationship Id="rId4" Type="http://schemas.openxmlformats.org/officeDocument/2006/relationships/diagramLayout" Target="../diagrams/layout2.xml"/><Relationship Id="rId9" Type="http://schemas.microsoft.com/office/2007/relationships/hdphoto" Target="../media/hdphoto1.wdp"/></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13" Type="http://schemas.microsoft.com/office/2007/relationships/hdphoto" Target="../media/hdphoto2.wdp"/><Relationship Id="rId3" Type="http://schemas.openxmlformats.org/officeDocument/2006/relationships/diagramData" Target="../diagrams/data3.xml"/><Relationship Id="rId7" Type="http://schemas.microsoft.com/office/2007/relationships/diagramDrawing" Target="../diagrams/drawing3.xml"/><Relationship Id="rId12"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microsoft.com/office/2007/relationships/hdphoto" Target="../media/hdphoto1.wdp"/><Relationship Id="rId5" Type="http://schemas.openxmlformats.org/officeDocument/2006/relationships/diagramQuickStyle" Target="../diagrams/quickStyle3.xml"/><Relationship Id="rId10" Type="http://schemas.openxmlformats.org/officeDocument/2006/relationships/image" Target="../media/image4.png"/><Relationship Id="rId4" Type="http://schemas.openxmlformats.org/officeDocument/2006/relationships/diagramLayout" Target="../diagrams/layout3.xml"/><Relationship Id="rId9" Type="http://schemas.openxmlformats.org/officeDocument/2006/relationships/image" Target="../media/image12.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AA5239A-F5A8-934A-3DB6-3D02D0C95E7A}"/>
              </a:ext>
            </a:extLst>
          </p:cNvPr>
          <p:cNvSpPr>
            <a:spLocks noGrp="1"/>
          </p:cNvSpPr>
          <p:nvPr>
            <p:ph type="ctrTitle"/>
          </p:nvPr>
        </p:nvSpPr>
        <p:spPr>
          <a:xfrm>
            <a:off x="1191111" y="1423435"/>
            <a:ext cx="10053763" cy="1641138"/>
          </a:xfrm>
        </p:spPr>
        <p:txBody>
          <a:bodyPr anchor="b">
            <a:normAutofit/>
          </a:bodyPr>
          <a:lstStyle/>
          <a:p>
            <a:pPr algn="l"/>
            <a:r>
              <a:rPr lang="en-US" sz="4800" dirty="0">
                <a:solidFill>
                  <a:srgbClr val="FFFFFF"/>
                </a:solidFill>
              </a:rPr>
              <a:t>Retraining is Not a Corrective Action</a:t>
            </a:r>
            <a:br>
              <a:rPr lang="en-US" sz="4800" dirty="0">
                <a:solidFill>
                  <a:srgbClr val="FFFFFF"/>
                </a:solidFill>
              </a:rPr>
            </a:br>
            <a:r>
              <a:rPr lang="en-US" sz="2800" dirty="0">
                <a:solidFill>
                  <a:srgbClr val="FFFFFF"/>
                </a:solidFill>
              </a:rPr>
              <a:t>Digging Deeper when Investigating the Human Cause of Incidents</a:t>
            </a:r>
            <a:endParaRPr lang="en-US" sz="4800" dirty="0">
              <a:solidFill>
                <a:srgbClr val="FFFFFF"/>
              </a:solidFill>
            </a:endParaRPr>
          </a:p>
        </p:txBody>
      </p:sp>
      <p:sp>
        <p:nvSpPr>
          <p:cNvPr id="3" name="Subtitle 2">
            <a:extLst>
              <a:ext uri="{FF2B5EF4-FFF2-40B4-BE49-F238E27FC236}">
                <a16:creationId xmlns:a16="http://schemas.microsoft.com/office/drawing/2014/main" id="{79724415-3AB5-2138-CAD1-EB3D6D92A889}"/>
              </a:ext>
            </a:extLst>
          </p:cNvPr>
          <p:cNvSpPr>
            <a:spLocks noGrp="1"/>
          </p:cNvSpPr>
          <p:nvPr>
            <p:ph type="subTitle" idx="1"/>
          </p:nvPr>
        </p:nvSpPr>
        <p:spPr>
          <a:xfrm>
            <a:off x="1191111" y="3139619"/>
            <a:ext cx="10005951" cy="917986"/>
          </a:xfrm>
        </p:spPr>
        <p:txBody>
          <a:bodyPr anchor="ctr">
            <a:normAutofit fontScale="92500" lnSpcReduction="20000"/>
          </a:bodyPr>
          <a:lstStyle/>
          <a:p>
            <a:pPr algn="l"/>
            <a:r>
              <a:rPr lang="en-US" sz="1800" dirty="0">
                <a:solidFill>
                  <a:schemeClr val="accent1">
                    <a:lumMod val="60000"/>
                    <a:lumOff val="40000"/>
                  </a:schemeClr>
                </a:solidFill>
                <a:latin typeface="AdvOT4ac4c61e"/>
              </a:rPr>
              <a:t>Ryan Ward, CHST, CIT</a:t>
            </a:r>
            <a:br>
              <a:rPr lang="en-US" sz="1800" dirty="0">
                <a:solidFill>
                  <a:schemeClr val="accent1">
                    <a:lumMod val="60000"/>
                    <a:lumOff val="40000"/>
                  </a:schemeClr>
                </a:solidFill>
                <a:latin typeface="AdvOT4ac4c61e"/>
              </a:rPr>
            </a:br>
            <a:r>
              <a:rPr lang="en-US" sz="1800" dirty="0">
                <a:solidFill>
                  <a:schemeClr val="accent1">
                    <a:lumMod val="60000"/>
                    <a:lumOff val="40000"/>
                  </a:schemeClr>
                </a:solidFill>
                <a:latin typeface="AdvOT4ac4c61e"/>
              </a:rPr>
              <a:t>American Society of Safety Professionals</a:t>
            </a:r>
            <a:br>
              <a:rPr lang="en-US" sz="1800" dirty="0">
                <a:solidFill>
                  <a:schemeClr val="accent1">
                    <a:lumMod val="60000"/>
                    <a:lumOff val="40000"/>
                  </a:schemeClr>
                </a:solidFill>
                <a:latin typeface="AdvOT4ac4c61e"/>
              </a:rPr>
            </a:br>
            <a:r>
              <a:rPr lang="en-US" sz="1800" dirty="0">
                <a:solidFill>
                  <a:schemeClr val="accent1">
                    <a:lumMod val="60000"/>
                    <a:lumOff val="40000"/>
                  </a:schemeClr>
                </a:solidFill>
                <a:latin typeface="AdvOT4ac4c61e"/>
              </a:rPr>
              <a:t>Professional Safety Journal, 70(1)</a:t>
            </a:r>
            <a:br>
              <a:rPr lang="en-US" sz="1800" dirty="0">
                <a:solidFill>
                  <a:schemeClr val="accent1">
                    <a:lumMod val="60000"/>
                    <a:lumOff val="40000"/>
                  </a:schemeClr>
                </a:solidFill>
                <a:latin typeface="AdvOT4ac4c61e"/>
              </a:rPr>
            </a:br>
            <a:r>
              <a:rPr lang="en-US" sz="1800" dirty="0">
                <a:solidFill>
                  <a:schemeClr val="accent1">
                    <a:lumMod val="60000"/>
                    <a:lumOff val="40000"/>
                  </a:schemeClr>
                </a:solidFill>
                <a:latin typeface="AdvOT4ac4c61e"/>
              </a:rPr>
              <a:t>January 2025</a:t>
            </a:r>
            <a:endParaRPr lang="en-US" sz="1800" b="0" i="0" u="none" strike="noStrike" dirty="0">
              <a:solidFill>
                <a:schemeClr val="accent1">
                  <a:lumMod val="60000"/>
                  <a:lumOff val="40000"/>
                </a:schemeClr>
              </a:solidFill>
              <a:latin typeface="AdvOT4ac4c61e"/>
            </a:endParaRPr>
          </a:p>
        </p:txBody>
      </p:sp>
      <p:sp>
        <p:nvSpPr>
          <p:cNvPr id="4" name="TextBox 3">
            <a:extLst>
              <a:ext uri="{FF2B5EF4-FFF2-40B4-BE49-F238E27FC236}">
                <a16:creationId xmlns:a16="http://schemas.microsoft.com/office/drawing/2014/main" id="{DF7C1E37-78BA-E0DF-3469-2A212B1EDA41}"/>
              </a:ext>
            </a:extLst>
          </p:cNvPr>
          <p:cNvSpPr txBox="1"/>
          <p:nvPr/>
        </p:nvSpPr>
        <p:spPr>
          <a:xfrm>
            <a:off x="1191111" y="5112054"/>
            <a:ext cx="2982856" cy="1169551"/>
          </a:xfrm>
          <a:prstGeom prst="rect">
            <a:avLst/>
          </a:prstGeom>
          <a:noFill/>
        </p:spPr>
        <p:txBody>
          <a:bodyPr wrap="square" rtlCol="0">
            <a:spAutoFit/>
          </a:bodyPr>
          <a:lstStyle/>
          <a:p>
            <a:r>
              <a:rPr lang="en-US" sz="1400" dirty="0"/>
              <a:t>Bethany Ryan</a:t>
            </a:r>
            <a:br>
              <a:rPr lang="en-US" sz="1400" dirty="0"/>
            </a:br>
            <a:r>
              <a:rPr lang="en-US" sz="1400" dirty="0"/>
              <a:t>University of Idaho</a:t>
            </a:r>
          </a:p>
          <a:p>
            <a:r>
              <a:rPr lang="en-US" sz="1400" dirty="0"/>
              <a:t>PSYC 562: Advanced Human Factors</a:t>
            </a:r>
          </a:p>
          <a:p>
            <a:r>
              <a:rPr lang="en-US" sz="1400" dirty="0"/>
              <a:t>Professor Roger Lew</a:t>
            </a:r>
            <a:br>
              <a:rPr lang="en-US" sz="1400" dirty="0"/>
            </a:br>
            <a:r>
              <a:rPr lang="en-US" sz="1400" dirty="0"/>
              <a:t>February 05, 2025</a:t>
            </a:r>
          </a:p>
        </p:txBody>
      </p:sp>
    </p:spTree>
    <p:extLst>
      <p:ext uri="{BB962C8B-B14F-4D97-AF65-F5344CB8AC3E}">
        <p14:creationId xmlns:p14="http://schemas.microsoft.com/office/powerpoint/2010/main" val="220606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AEB000-CC31-D35B-3836-0135F5D0E6FB}"/>
              </a:ext>
            </a:extLst>
          </p:cNvPr>
          <p:cNvSpPr>
            <a:spLocks noGrp="1"/>
          </p:cNvSpPr>
          <p:nvPr>
            <p:ph type="title"/>
          </p:nvPr>
        </p:nvSpPr>
        <p:spPr>
          <a:xfrm>
            <a:off x="1103304" y="566353"/>
            <a:ext cx="9688296" cy="718342"/>
          </a:xfrm>
        </p:spPr>
        <p:txBody>
          <a:bodyPr anchor="b">
            <a:normAutofit/>
          </a:bodyPr>
          <a:lstStyle/>
          <a:p>
            <a:r>
              <a:rPr lang="en-US" sz="4000" dirty="0"/>
              <a:t>Human and Organizational Performance (HOP)</a:t>
            </a:r>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DB76EDD6-98F3-639F-04AD-6CAE0881BB6C}"/>
              </a:ext>
            </a:extLst>
          </p:cNvPr>
          <p:cNvGrpSpPr/>
          <p:nvPr/>
        </p:nvGrpSpPr>
        <p:grpSpPr>
          <a:xfrm>
            <a:off x="3936643" y="2740941"/>
            <a:ext cx="6214747" cy="2744421"/>
            <a:chOff x="4954441" y="2138766"/>
            <a:chExt cx="4473695" cy="2744421"/>
          </a:xfrm>
        </p:grpSpPr>
        <p:pic>
          <p:nvPicPr>
            <p:cNvPr id="18" name="Picture 17">
              <a:extLst>
                <a:ext uri="{FF2B5EF4-FFF2-40B4-BE49-F238E27FC236}">
                  <a16:creationId xmlns:a16="http://schemas.microsoft.com/office/drawing/2014/main" id="{AB94630B-27C4-F4B3-1700-E7EF175A4282}"/>
                </a:ext>
              </a:extLst>
            </p:cNvPr>
            <p:cNvPicPr>
              <a:picLocks noChangeAspect="1"/>
            </p:cNvPicPr>
            <p:nvPr/>
          </p:nvPicPr>
          <p:blipFill>
            <a:blip r:embed="rId3"/>
            <a:stretch>
              <a:fillRect/>
            </a:stretch>
          </p:blipFill>
          <p:spPr>
            <a:xfrm>
              <a:off x="4954441" y="2138766"/>
              <a:ext cx="4473695" cy="2428483"/>
            </a:xfrm>
            <a:prstGeom prst="rect">
              <a:avLst/>
            </a:prstGeom>
          </p:spPr>
        </p:pic>
        <p:sp>
          <p:nvSpPr>
            <p:cNvPr id="5" name="TextBox 4">
              <a:extLst>
                <a:ext uri="{FF2B5EF4-FFF2-40B4-BE49-F238E27FC236}">
                  <a16:creationId xmlns:a16="http://schemas.microsoft.com/office/drawing/2014/main" id="{0B92DC7E-F46D-B301-983A-3073B7489FBE}"/>
                </a:ext>
              </a:extLst>
            </p:cNvPr>
            <p:cNvSpPr txBox="1"/>
            <p:nvPr/>
          </p:nvSpPr>
          <p:spPr>
            <a:xfrm>
              <a:off x="5048697" y="2205531"/>
              <a:ext cx="4285181" cy="2677656"/>
            </a:xfrm>
            <a:prstGeom prst="rect">
              <a:avLst/>
            </a:prstGeom>
            <a:noFill/>
          </p:spPr>
          <p:txBody>
            <a:bodyPr wrap="square">
              <a:spAutoFit/>
            </a:bodyPr>
            <a:lstStyle/>
            <a:p>
              <a:pPr algn="l"/>
              <a:r>
                <a:rPr lang="en-US" sz="2800" b="0" i="0" u="none" strike="noStrike" baseline="0" dirty="0">
                  <a:solidFill>
                    <a:schemeClr val="bg1"/>
                  </a:solidFill>
                  <a:latin typeface="+mj-lt"/>
                </a:rPr>
                <a:t>(1) </a:t>
              </a:r>
              <a:r>
                <a:rPr lang="en-US" sz="2800" dirty="0">
                  <a:solidFill>
                    <a:schemeClr val="bg1"/>
                  </a:solidFill>
                  <a:latin typeface="+mj-lt"/>
                </a:rPr>
                <a:t>Human Error is Normal.</a:t>
              </a:r>
              <a:endParaRPr lang="en-US" sz="2800" b="0" i="0" u="none" strike="noStrike" baseline="0" dirty="0">
                <a:solidFill>
                  <a:schemeClr val="bg1"/>
                </a:solidFill>
                <a:latin typeface="+mj-lt"/>
              </a:endParaRPr>
            </a:p>
            <a:p>
              <a:pPr algn="l"/>
              <a:r>
                <a:rPr lang="en-US" sz="2800" b="0" i="0" u="none" strike="noStrike" baseline="0" dirty="0">
                  <a:solidFill>
                    <a:schemeClr val="bg1"/>
                  </a:solidFill>
                  <a:latin typeface="+mj-lt"/>
                </a:rPr>
                <a:t>(2) </a:t>
              </a:r>
              <a:r>
                <a:rPr lang="en-US" sz="2800" dirty="0">
                  <a:solidFill>
                    <a:schemeClr val="bg1"/>
                  </a:solidFill>
                  <a:latin typeface="+mj-lt"/>
                </a:rPr>
                <a:t>Blame Fixes Nothing.</a:t>
              </a:r>
              <a:endParaRPr lang="en-US" sz="2800" b="0" i="0" u="none" strike="noStrike" baseline="0" dirty="0">
                <a:solidFill>
                  <a:schemeClr val="bg1"/>
                </a:solidFill>
                <a:latin typeface="+mj-lt"/>
              </a:endParaRPr>
            </a:p>
            <a:p>
              <a:pPr algn="l"/>
              <a:r>
                <a:rPr lang="en-US" sz="2800" b="0" i="0" u="none" strike="noStrike" baseline="0" dirty="0">
                  <a:solidFill>
                    <a:schemeClr val="bg1"/>
                  </a:solidFill>
                  <a:latin typeface="+mj-lt"/>
                </a:rPr>
                <a:t>(3) Learning is Vital.</a:t>
              </a:r>
            </a:p>
            <a:p>
              <a:pPr algn="l"/>
              <a:r>
                <a:rPr lang="en-US" sz="2800" b="0" i="0" u="none" strike="noStrike" baseline="0" dirty="0">
                  <a:solidFill>
                    <a:schemeClr val="bg1"/>
                  </a:solidFill>
                  <a:latin typeface="+mj-lt"/>
                </a:rPr>
                <a:t>(4) Context Drives Behaviors.</a:t>
              </a:r>
            </a:p>
            <a:p>
              <a:pPr algn="l"/>
              <a:r>
                <a:rPr lang="en-US" sz="2800" b="0" i="0" u="none" strike="noStrike" baseline="0" dirty="0">
                  <a:solidFill>
                    <a:schemeClr val="bg1"/>
                  </a:solidFill>
                  <a:latin typeface="+mj-lt"/>
                </a:rPr>
                <a:t>(5) How you Respond to Failure Matters.</a:t>
              </a:r>
              <a:endParaRPr lang="en-US" sz="2800" dirty="0">
                <a:solidFill>
                  <a:schemeClr val="bg1"/>
                </a:solidFill>
                <a:latin typeface="+mj-lt"/>
              </a:endParaRPr>
            </a:p>
          </p:txBody>
        </p:sp>
      </p:grpSp>
      <p:sp>
        <p:nvSpPr>
          <p:cNvPr id="11" name="TextBox 10">
            <a:extLst>
              <a:ext uri="{FF2B5EF4-FFF2-40B4-BE49-F238E27FC236}">
                <a16:creationId xmlns:a16="http://schemas.microsoft.com/office/drawing/2014/main" id="{9A31D905-1B9E-390E-132C-73411C391429}"/>
              </a:ext>
            </a:extLst>
          </p:cNvPr>
          <p:cNvSpPr txBox="1"/>
          <p:nvPr/>
        </p:nvSpPr>
        <p:spPr>
          <a:xfrm>
            <a:off x="1986366" y="1397520"/>
            <a:ext cx="8219267" cy="707886"/>
          </a:xfrm>
          <a:prstGeom prst="rect">
            <a:avLst/>
          </a:prstGeom>
          <a:noFill/>
        </p:spPr>
        <p:txBody>
          <a:bodyPr wrap="square">
            <a:spAutoFit/>
          </a:bodyPr>
          <a:lstStyle/>
          <a:p>
            <a:pPr algn="ctr"/>
            <a:r>
              <a:rPr lang="en-US" sz="2000" dirty="0"/>
              <a:t>….an operating philosophy that tunes OSH professionals’ focus on both the human factors and organizational causes of incidents</a:t>
            </a:r>
            <a:endParaRPr lang="en-US" sz="2400" dirty="0"/>
          </a:p>
        </p:txBody>
      </p:sp>
      <p:sp>
        <p:nvSpPr>
          <p:cNvPr id="16" name="TextBox 15">
            <a:extLst>
              <a:ext uri="{FF2B5EF4-FFF2-40B4-BE49-F238E27FC236}">
                <a16:creationId xmlns:a16="http://schemas.microsoft.com/office/drawing/2014/main" id="{96E759A9-39BB-6B91-B744-DA3DF6FD1A7B}"/>
              </a:ext>
            </a:extLst>
          </p:cNvPr>
          <p:cNvSpPr txBox="1"/>
          <p:nvPr/>
        </p:nvSpPr>
        <p:spPr>
          <a:xfrm>
            <a:off x="1421819" y="3545135"/>
            <a:ext cx="2736965" cy="523220"/>
          </a:xfrm>
          <a:prstGeom prst="rect">
            <a:avLst/>
          </a:prstGeom>
          <a:noFill/>
        </p:spPr>
        <p:txBody>
          <a:bodyPr wrap="square">
            <a:spAutoFit/>
          </a:bodyPr>
          <a:lstStyle/>
          <a:p>
            <a:r>
              <a:rPr lang="en-US" sz="2800" dirty="0">
                <a:latin typeface="+mj-lt"/>
              </a:rPr>
              <a:t>Five principles:</a:t>
            </a:r>
            <a:endParaRPr lang="en-US" sz="2800" dirty="0"/>
          </a:p>
        </p:txBody>
      </p:sp>
    </p:spTree>
    <p:extLst>
      <p:ext uri="{BB962C8B-B14F-4D97-AF65-F5344CB8AC3E}">
        <p14:creationId xmlns:p14="http://schemas.microsoft.com/office/powerpoint/2010/main" val="88996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Rectangle 2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AEB000-CC31-D35B-3836-0135F5D0E6FB}"/>
              </a:ext>
            </a:extLst>
          </p:cNvPr>
          <p:cNvSpPr>
            <a:spLocks noGrp="1"/>
          </p:cNvSpPr>
          <p:nvPr>
            <p:ph type="title"/>
          </p:nvPr>
        </p:nvSpPr>
        <p:spPr>
          <a:xfrm>
            <a:off x="283675" y="491112"/>
            <a:ext cx="3754149" cy="3432328"/>
          </a:xfrm>
        </p:spPr>
        <p:txBody>
          <a:bodyPr anchor="b">
            <a:normAutofit/>
          </a:bodyPr>
          <a:lstStyle/>
          <a:p>
            <a:r>
              <a:rPr lang="en-US" sz="4000" b="1" dirty="0">
                <a:solidFill>
                  <a:srgbClr val="FFFFFF"/>
                </a:solidFill>
              </a:rPr>
              <a:t>Human Error is Normal</a:t>
            </a:r>
            <a:endParaRPr lang="en-US" sz="4000" dirty="0">
              <a:solidFill>
                <a:schemeClr val="bg1"/>
              </a:solidFill>
            </a:endParaRPr>
          </a:p>
        </p:txBody>
      </p:sp>
      <p:sp>
        <p:nvSpPr>
          <p:cNvPr id="33" name="TextBox 32">
            <a:extLst>
              <a:ext uri="{FF2B5EF4-FFF2-40B4-BE49-F238E27FC236}">
                <a16:creationId xmlns:a16="http://schemas.microsoft.com/office/drawing/2014/main" id="{8A9E61FD-50C8-A28C-F088-ECE57C8C8F23}"/>
              </a:ext>
            </a:extLst>
          </p:cNvPr>
          <p:cNvSpPr txBox="1"/>
          <p:nvPr/>
        </p:nvSpPr>
        <p:spPr>
          <a:xfrm>
            <a:off x="4494579" y="752994"/>
            <a:ext cx="7077561" cy="2308324"/>
          </a:xfrm>
          <a:prstGeom prst="rect">
            <a:avLst/>
          </a:prstGeom>
          <a:noFill/>
        </p:spPr>
        <p:txBody>
          <a:bodyPr wrap="square">
            <a:spAutoFit/>
          </a:bodyPr>
          <a:lstStyle/>
          <a:p>
            <a:pPr algn="ctr"/>
            <a:r>
              <a:rPr lang="en-US" sz="3600" b="1" i="0" u="none" strike="noStrike" dirty="0">
                <a:solidFill>
                  <a:srgbClr val="000000"/>
                </a:solidFill>
                <a:latin typeface="+mj-lt"/>
              </a:rPr>
              <a:t>To err is human.</a:t>
            </a:r>
          </a:p>
          <a:p>
            <a:pPr algn="ctr"/>
            <a:endParaRPr lang="en-US" sz="3600" b="1" dirty="0">
              <a:solidFill>
                <a:srgbClr val="000000"/>
              </a:solidFill>
              <a:latin typeface="+mj-lt"/>
            </a:endParaRPr>
          </a:p>
          <a:p>
            <a:pPr algn="ctr"/>
            <a:r>
              <a:rPr lang="en-US" sz="2400" dirty="0"/>
              <a:t>All people, regardless of skills and ability, have the potential to make mistakes, and this is completely normal.</a:t>
            </a:r>
            <a:endParaRPr lang="en-US" sz="2400" dirty="0">
              <a:latin typeface="+mj-lt"/>
            </a:endParaRPr>
          </a:p>
        </p:txBody>
      </p:sp>
      <p:pic>
        <p:nvPicPr>
          <p:cNvPr id="1026" name="Picture 2">
            <a:extLst>
              <a:ext uri="{FF2B5EF4-FFF2-40B4-BE49-F238E27FC236}">
                <a16:creationId xmlns:a16="http://schemas.microsoft.com/office/drawing/2014/main" id="{F7AF450B-788B-15AF-06D8-CD5F448B1C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7690" y="3633155"/>
            <a:ext cx="6518817" cy="2653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170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Rectangle 2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AEB000-CC31-D35B-3836-0135F5D0E6FB}"/>
              </a:ext>
            </a:extLst>
          </p:cNvPr>
          <p:cNvSpPr>
            <a:spLocks noGrp="1"/>
          </p:cNvSpPr>
          <p:nvPr>
            <p:ph type="title"/>
          </p:nvPr>
        </p:nvSpPr>
        <p:spPr>
          <a:xfrm>
            <a:off x="283675" y="491112"/>
            <a:ext cx="3754149" cy="3432328"/>
          </a:xfrm>
        </p:spPr>
        <p:txBody>
          <a:bodyPr anchor="b">
            <a:normAutofit/>
          </a:bodyPr>
          <a:lstStyle/>
          <a:p>
            <a:r>
              <a:rPr lang="en-US" sz="4000" b="1" dirty="0">
                <a:solidFill>
                  <a:srgbClr val="FFFFFF"/>
                </a:solidFill>
              </a:rPr>
              <a:t>Blame fixes Nothing.</a:t>
            </a:r>
            <a:endParaRPr lang="en-US" sz="4000" dirty="0">
              <a:solidFill>
                <a:schemeClr val="bg1"/>
              </a:solidFill>
            </a:endParaRPr>
          </a:p>
        </p:txBody>
      </p:sp>
      <p:sp>
        <p:nvSpPr>
          <p:cNvPr id="33" name="TextBox 32">
            <a:extLst>
              <a:ext uri="{FF2B5EF4-FFF2-40B4-BE49-F238E27FC236}">
                <a16:creationId xmlns:a16="http://schemas.microsoft.com/office/drawing/2014/main" id="{8A9E61FD-50C8-A28C-F088-ECE57C8C8F23}"/>
              </a:ext>
            </a:extLst>
          </p:cNvPr>
          <p:cNvSpPr txBox="1"/>
          <p:nvPr/>
        </p:nvSpPr>
        <p:spPr>
          <a:xfrm>
            <a:off x="4977561" y="1590387"/>
            <a:ext cx="6271648" cy="3416320"/>
          </a:xfrm>
          <a:prstGeom prst="rect">
            <a:avLst/>
          </a:prstGeom>
          <a:noFill/>
        </p:spPr>
        <p:txBody>
          <a:bodyPr wrap="square">
            <a:spAutoFit/>
          </a:bodyPr>
          <a:lstStyle/>
          <a:p>
            <a:pPr algn="ctr"/>
            <a:r>
              <a:rPr lang="en-US" sz="3600" dirty="0"/>
              <a:t>You can either blame and punish or learn and improve; you cannot do both.</a:t>
            </a:r>
          </a:p>
          <a:p>
            <a:pPr algn="ctr"/>
            <a:endParaRPr lang="en-US" sz="3600" dirty="0">
              <a:solidFill>
                <a:srgbClr val="000000"/>
              </a:solidFill>
              <a:latin typeface="+mj-lt"/>
            </a:endParaRPr>
          </a:p>
          <a:p>
            <a:pPr algn="ctr"/>
            <a:r>
              <a:rPr lang="en-US" sz="2400" dirty="0"/>
              <a:t>The moment blame is placed on the employee, their willingness to listen, learn and improve is greatly diminished.</a:t>
            </a:r>
            <a:endParaRPr lang="en-US" sz="2400" dirty="0">
              <a:latin typeface="+mj-lt"/>
            </a:endParaRPr>
          </a:p>
        </p:txBody>
      </p:sp>
    </p:spTree>
    <p:extLst>
      <p:ext uri="{BB962C8B-B14F-4D97-AF65-F5344CB8AC3E}">
        <p14:creationId xmlns:p14="http://schemas.microsoft.com/office/powerpoint/2010/main" val="438563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43BFE7C-BE7A-4973-B20E-2B5FC883EC8C}"/>
              </a:ext>
            </a:extLst>
          </p:cNvPr>
          <p:cNvGrpSpPr/>
          <p:nvPr/>
        </p:nvGrpSpPr>
        <p:grpSpPr>
          <a:xfrm>
            <a:off x="685285" y="715074"/>
            <a:ext cx="4384274" cy="5621301"/>
            <a:chOff x="20" y="10"/>
            <a:chExt cx="6095980" cy="6857990"/>
          </a:xfrm>
        </p:grpSpPr>
        <p:pic>
          <p:nvPicPr>
            <p:cNvPr id="4" name="Picture 3">
              <a:extLst>
                <a:ext uri="{FF2B5EF4-FFF2-40B4-BE49-F238E27FC236}">
                  <a16:creationId xmlns:a16="http://schemas.microsoft.com/office/drawing/2014/main" id="{07622611-BBF0-49F2-8E1B-90E2E7D18349}"/>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2333" b="98667" l="10000" r="90000">
                          <a14:foregroundMark x1="69500" y1="63000" x2="58500" y2="94667"/>
                          <a14:foregroundMark x1="58500" y1="94667" x2="58500" y2="94667"/>
                          <a14:foregroundMark x1="31333" y1="88667" x2="41167" y2="92500"/>
                          <a14:foregroundMark x1="41167" y1="92500" x2="54167" y2="92667"/>
                          <a14:foregroundMark x1="54167" y1="92667" x2="68167" y2="89667"/>
                          <a14:foregroundMark x1="49500" y1="97500" x2="49667" y2="98833"/>
                          <a14:foregroundMark x1="27500" y1="40000" x2="25667" y2="4333"/>
                          <a14:foregroundMark x1="25667" y1="4333" x2="56000" y2="1500"/>
                          <a14:foregroundMark x1="56000" y1="1500" x2="74000" y2="2333"/>
                          <a14:foregroundMark x1="74000" y1="2333" x2="79500" y2="10167"/>
                          <a14:foregroundMark x1="79500" y1="10167" x2="75667" y2="18833"/>
                          <a14:foregroundMark x1="75667" y1="18833" x2="69833" y2="25167"/>
                          <a14:foregroundMark x1="69833" y1="25167" x2="48667" y2="30000"/>
                          <a14:foregroundMark x1="48667" y1="30000" x2="41167" y2="11667"/>
                          <a14:foregroundMark x1="41167" y1="11667" x2="32333" y2="10833"/>
                          <a14:foregroundMark x1="32333" y1="10833" x2="27333" y2="18500"/>
                          <a14:foregroundMark x1="27333" y1="18500" x2="29333" y2="22333"/>
                          <a14:foregroundMark x1="74500" y1="23333" x2="38000" y2="24500"/>
                          <a14:foregroundMark x1="38000" y1="24500" x2="38000" y2="24500"/>
                          <a14:foregroundMark x1="30167" y1="17500" x2="36833" y2="22667"/>
                          <a14:foregroundMark x1="36833" y1="22667" x2="47167" y2="25333"/>
                          <a14:foregroundMark x1="47167" y1="25333" x2="54000" y2="19667"/>
                          <a14:foregroundMark x1="54000" y1="19667" x2="57833" y2="22833"/>
                          <a14:foregroundMark x1="31500" y1="31167" x2="33000" y2="21333"/>
                        </a14:backgroundRemoval>
                      </a14:imgEffect>
                    </a14:imgLayer>
                  </a14:imgProps>
                </a:ext>
              </a:extLst>
            </a:blip>
            <a:srcRect l="9685" r="1426"/>
            <a:stretch/>
          </p:blipFill>
          <p:spPr>
            <a:xfrm rot="21600000">
              <a:off x="20" y="10"/>
              <a:ext cx="6095980" cy="6857990"/>
            </a:xfrm>
            <a:prstGeom prst="rect">
              <a:avLst/>
            </a:prstGeom>
          </p:spPr>
        </p:pic>
        <p:pic>
          <p:nvPicPr>
            <p:cNvPr id="11" name="Picture 10">
              <a:extLst>
                <a:ext uri="{FF2B5EF4-FFF2-40B4-BE49-F238E27FC236}">
                  <a16:creationId xmlns:a16="http://schemas.microsoft.com/office/drawing/2014/main" id="{C928FE9D-5E0A-4AF1-B81F-2B3661BA5AAF}"/>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2333" b="98667" l="10000" r="90000">
                          <a14:foregroundMark x1="69500" y1="63000" x2="58500" y2="94667"/>
                          <a14:foregroundMark x1="58500" y1="94667" x2="58500" y2="94667"/>
                          <a14:foregroundMark x1="31333" y1="88667" x2="41167" y2="92500"/>
                          <a14:foregroundMark x1="41167" y1="92500" x2="54167" y2="92667"/>
                          <a14:foregroundMark x1="54167" y1="92667" x2="68167" y2="89667"/>
                          <a14:foregroundMark x1="49500" y1="97500" x2="49667" y2="98833"/>
                          <a14:foregroundMark x1="27500" y1="40000" x2="25667" y2="4333"/>
                          <a14:foregroundMark x1="25667" y1="4333" x2="56000" y2="1500"/>
                          <a14:foregroundMark x1="56000" y1="1500" x2="74000" y2="2333"/>
                          <a14:foregroundMark x1="74000" y1="2333" x2="79500" y2="10167"/>
                          <a14:foregroundMark x1="79500" y1="10167" x2="75667" y2="18833"/>
                          <a14:foregroundMark x1="75667" y1="18833" x2="69833" y2="25167"/>
                          <a14:foregroundMark x1="69833" y1="25167" x2="48667" y2="30000"/>
                          <a14:foregroundMark x1="48667" y1="30000" x2="41167" y2="11667"/>
                          <a14:foregroundMark x1="41167" y1="11667" x2="32333" y2="10833"/>
                          <a14:foregroundMark x1="32333" y1="10833" x2="27333" y2="18500"/>
                          <a14:foregroundMark x1="27333" y1="18500" x2="29333" y2="22333"/>
                          <a14:foregroundMark x1="74500" y1="23333" x2="38000" y2="24500"/>
                          <a14:foregroundMark x1="38000" y1="24500" x2="38000" y2="24500"/>
                          <a14:foregroundMark x1="30167" y1="17500" x2="36833" y2="22667"/>
                          <a14:foregroundMark x1="36833" y1="22667" x2="47167" y2="25333"/>
                          <a14:foregroundMark x1="47167" y1="25333" x2="54000" y2="19667"/>
                          <a14:foregroundMark x1="54000" y1="19667" x2="57833" y2="22833"/>
                          <a14:foregroundMark x1="31500" y1="31167" x2="33000" y2="21333"/>
                        </a14:backgroundRemoval>
                      </a14:imgEffect>
                    </a14:imgLayer>
                  </a14:imgProps>
                </a:ext>
              </a:extLst>
            </a:blip>
            <a:srcRect l="26675" t="44659" r="25503" b="39140"/>
            <a:stretch/>
          </p:blipFill>
          <p:spPr>
            <a:xfrm rot="21600000">
              <a:off x="866285" y="1044515"/>
              <a:ext cx="3754875" cy="1111045"/>
            </a:xfrm>
            <a:prstGeom prst="rect">
              <a:avLst/>
            </a:prstGeom>
          </p:spPr>
        </p:pic>
      </p:grpSp>
      <p:grpSp>
        <p:nvGrpSpPr>
          <p:cNvPr id="6" name="Group 5">
            <a:extLst>
              <a:ext uri="{FF2B5EF4-FFF2-40B4-BE49-F238E27FC236}">
                <a16:creationId xmlns:a16="http://schemas.microsoft.com/office/drawing/2014/main" id="{231F3366-C9DD-4A46-8037-1BEEE0F89850}"/>
              </a:ext>
            </a:extLst>
          </p:cNvPr>
          <p:cNvGrpSpPr/>
          <p:nvPr/>
        </p:nvGrpSpPr>
        <p:grpSpPr>
          <a:xfrm>
            <a:off x="7529003" y="749508"/>
            <a:ext cx="4384274" cy="5621301"/>
            <a:chOff x="6096000" y="10"/>
            <a:chExt cx="6096000" cy="6857990"/>
          </a:xfrm>
        </p:grpSpPr>
        <p:pic>
          <p:nvPicPr>
            <p:cNvPr id="5" name="Picture 4">
              <a:extLst>
                <a:ext uri="{FF2B5EF4-FFF2-40B4-BE49-F238E27FC236}">
                  <a16:creationId xmlns:a16="http://schemas.microsoft.com/office/drawing/2014/main" id="{3B54FF9E-5539-427A-8BA9-D3B27ECA1116}"/>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2333" b="98667" l="10000" r="90000">
                          <a14:foregroundMark x1="69500" y1="63000" x2="58500" y2="94667"/>
                          <a14:foregroundMark x1="58500" y1="94667" x2="58500" y2="94667"/>
                          <a14:foregroundMark x1="31333" y1="88667" x2="41167" y2="92500"/>
                          <a14:foregroundMark x1="41167" y1="92500" x2="54167" y2="92667"/>
                          <a14:foregroundMark x1="54167" y1="92667" x2="68167" y2="89667"/>
                          <a14:foregroundMark x1="49500" y1="97500" x2="49667" y2="98833"/>
                          <a14:foregroundMark x1="27500" y1="40000" x2="25667" y2="4333"/>
                          <a14:foregroundMark x1="25667" y1="4333" x2="56000" y2="1500"/>
                          <a14:foregroundMark x1="56000" y1="1500" x2="74000" y2="2333"/>
                          <a14:foregroundMark x1="74000" y1="2333" x2="79500" y2="10167"/>
                          <a14:foregroundMark x1="79500" y1="10167" x2="75667" y2="18833"/>
                          <a14:foregroundMark x1="75667" y1="18833" x2="69833" y2="25167"/>
                          <a14:foregroundMark x1="69833" y1="25167" x2="48667" y2="30000"/>
                          <a14:foregroundMark x1="48667" y1="30000" x2="41167" y2="11667"/>
                          <a14:foregroundMark x1="41167" y1="11667" x2="32333" y2="10833"/>
                          <a14:foregroundMark x1="32333" y1="10833" x2="27333" y2="18500"/>
                          <a14:foregroundMark x1="27333" y1="18500" x2="29333" y2="22333"/>
                          <a14:foregroundMark x1="74500" y1="23333" x2="38000" y2="24500"/>
                          <a14:foregroundMark x1="38000" y1="24500" x2="38000" y2="24500"/>
                          <a14:foregroundMark x1="30167" y1="17500" x2="36833" y2="22667"/>
                          <a14:foregroundMark x1="36833" y1="22667" x2="47167" y2="25333"/>
                          <a14:foregroundMark x1="47167" y1="25333" x2="54000" y2="19667"/>
                          <a14:foregroundMark x1="54000" y1="19667" x2="57833" y2="22833"/>
                          <a14:foregroundMark x1="31500" y1="31167" x2="33000" y2="21333"/>
                        </a14:backgroundRemoval>
                      </a14:imgEffect>
                    </a14:imgLayer>
                  </a14:imgProps>
                </a:ext>
              </a:extLst>
            </a:blip>
            <a:srcRect l="9896" r="1215"/>
            <a:stretch/>
          </p:blipFill>
          <p:spPr>
            <a:xfrm rot="21600000">
              <a:off x="6096000" y="10"/>
              <a:ext cx="6096000" cy="6857990"/>
            </a:xfrm>
            <a:prstGeom prst="rect">
              <a:avLst/>
            </a:prstGeom>
          </p:spPr>
        </p:pic>
        <p:pic>
          <p:nvPicPr>
            <p:cNvPr id="13" name="Picture 12">
              <a:extLst>
                <a:ext uri="{FF2B5EF4-FFF2-40B4-BE49-F238E27FC236}">
                  <a16:creationId xmlns:a16="http://schemas.microsoft.com/office/drawing/2014/main" id="{A56D6921-6AFD-486A-A6F9-4B8B15302827}"/>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2333" b="98667" l="10000" r="90000">
                          <a14:foregroundMark x1="69500" y1="63000" x2="58500" y2="94667"/>
                          <a14:foregroundMark x1="58500" y1="94667" x2="58500" y2="94667"/>
                          <a14:foregroundMark x1="31333" y1="88667" x2="41167" y2="92500"/>
                          <a14:foregroundMark x1="41167" y1="92500" x2="54167" y2="92667"/>
                          <a14:foregroundMark x1="54167" y1="92667" x2="68167" y2="89667"/>
                          <a14:foregroundMark x1="49500" y1="97500" x2="49667" y2="98833"/>
                          <a14:foregroundMark x1="27500" y1="40000" x2="25667" y2="4333"/>
                          <a14:foregroundMark x1="25667" y1="4333" x2="56000" y2="1500"/>
                          <a14:foregroundMark x1="56000" y1="1500" x2="74000" y2="2333"/>
                          <a14:foregroundMark x1="74000" y1="2333" x2="79500" y2="10167"/>
                          <a14:foregroundMark x1="79500" y1="10167" x2="75667" y2="18833"/>
                          <a14:foregroundMark x1="75667" y1="18833" x2="69833" y2="25167"/>
                          <a14:foregroundMark x1="69833" y1="25167" x2="48667" y2="30000"/>
                          <a14:foregroundMark x1="48667" y1="30000" x2="41167" y2="11667"/>
                          <a14:foregroundMark x1="41167" y1="11667" x2="32333" y2="10833"/>
                          <a14:foregroundMark x1="32333" y1="10833" x2="27333" y2="18500"/>
                          <a14:foregroundMark x1="27333" y1="18500" x2="29333" y2="22333"/>
                          <a14:foregroundMark x1="74500" y1="23333" x2="38000" y2="24500"/>
                          <a14:foregroundMark x1="38000" y1="24500" x2="38000" y2="24500"/>
                          <a14:foregroundMark x1="30167" y1="17500" x2="36833" y2="22667"/>
                          <a14:foregroundMark x1="36833" y1="22667" x2="47167" y2="25333"/>
                          <a14:foregroundMark x1="47167" y1="25333" x2="54000" y2="19667"/>
                          <a14:foregroundMark x1="54000" y1="19667" x2="57833" y2="22833"/>
                          <a14:foregroundMark x1="31500" y1="31167" x2="33000" y2="21333"/>
                        </a14:backgroundRemoval>
                      </a14:imgEffect>
                    </a14:imgLayer>
                  </a14:imgProps>
                </a:ext>
              </a:extLst>
            </a:blip>
            <a:srcRect l="26675" t="44659" r="25503" b="39140"/>
            <a:stretch/>
          </p:blipFill>
          <p:spPr>
            <a:xfrm rot="21600000">
              <a:off x="6913211" y="1030181"/>
              <a:ext cx="3754875" cy="1111045"/>
            </a:xfrm>
            <a:prstGeom prst="rect">
              <a:avLst/>
            </a:prstGeom>
          </p:spPr>
        </p:pic>
      </p:grpSp>
      <p:pic>
        <p:nvPicPr>
          <p:cNvPr id="94210" name="Picture 2" descr="55 Gallon PPG Blue Tight Head Steel Drum, Reconditioned, UN Rated, 2&quot; &amp; 3/4&quot; Fittings, Unlined">
            <a:extLst>
              <a:ext uri="{FF2B5EF4-FFF2-40B4-BE49-F238E27FC236}">
                <a16:creationId xmlns:a16="http://schemas.microsoft.com/office/drawing/2014/main" id="{7118164B-6C98-4AC8-9AC9-8FFC34D5C21E}"/>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2281" b="99123" l="10000" r="90000">
                        <a14:foregroundMark x1="42632" y1="5088" x2="42632" y2="5088"/>
                        <a14:foregroundMark x1="73684" y1="5263" x2="41579" y2="5088"/>
                        <a14:foregroundMark x1="28246" y1="4211" x2="34211" y2="2281"/>
                        <a14:foregroundMark x1="44561" y1="94211" x2="44561" y2="94211"/>
                        <a14:foregroundMark x1="57895" y1="97544" x2="51228" y2="98947"/>
                        <a14:foregroundMark x1="58246" y1="99123" x2="54211" y2="98947"/>
                      </a14:backgroundRemoval>
                    </a14:imgEffect>
                  </a14:imgLayer>
                </a14:imgProps>
              </a:ext>
              <a:ext uri="{28A0092B-C50C-407E-A947-70E740481C1C}">
                <a14:useLocalDpi xmlns:a14="http://schemas.microsoft.com/office/drawing/2010/main" val="0"/>
              </a:ext>
            </a:extLst>
          </a:blip>
          <a:srcRect/>
          <a:stretch>
            <a:fillRect/>
          </a:stretch>
        </p:blipFill>
        <p:spPr bwMode="auto">
          <a:xfrm>
            <a:off x="6852438" y="617639"/>
            <a:ext cx="5274605" cy="58161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8BE1D95-EC71-49AC-9A60-43D13D9557F5}"/>
              </a:ext>
            </a:extLst>
          </p:cNvPr>
          <p:cNvSpPr txBox="1"/>
          <p:nvPr/>
        </p:nvSpPr>
        <p:spPr>
          <a:xfrm>
            <a:off x="4286858" y="2761554"/>
            <a:ext cx="3618284" cy="1345720"/>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2800" kern="1200" dirty="0">
                <a:solidFill>
                  <a:srgbClr val="080808"/>
                </a:solidFill>
                <a:latin typeface="+mj-lt"/>
                <a:ea typeface="+mj-ea"/>
                <a:cs typeface="+mj-cs"/>
              </a:rPr>
              <a:t>Coolant Mix-Up</a:t>
            </a:r>
          </a:p>
        </p:txBody>
      </p:sp>
    </p:spTree>
    <p:extLst>
      <p:ext uri="{BB962C8B-B14F-4D97-AF65-F5344CB8AC3E}">
        <p14:creationId xmlns:p14="http://schemas.microsoft.com/office/powerpoint/2010/main" val="531494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2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196A3E75-67CE-4DCD-AA89-8ED36C300325}"/>
              </a:ext>
            </a:extLst>
          </p:cNvPr>
          <p:cNvGraphicFramePr/>
          <p:nvPr/>
        </p:nvGraphicFramePr>
        <p:xfrm>
          <a:off x="1851546" y="202144"/>
          <a:ext cx="8774808" cy="60606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337123CC-CF72-4101-BE43-D5B1A5FD7BBA}"/>
              </a:ext>
            </a:extLst>
          </p:cNvPr>
          <p:cNvSpPr txBox="1"/>
          <p:nvPr/>
        </p:nvSpPr>
        <p:spPr>
          <a:xfrm>
            <a:off x="342907" y="423261"/>
            <a:ext cx="2775119"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63666A"/>
                </a:solidFill>
                <a:effectLst/>
                <a:uLnTx/>
                <a:uFillTx/>
                <a:latin typeface="+mj-lt"/>
                <a:ea typeface="+mn-ea"/>
                <a:cs typeface="+mn-cs"/>
              </a:rPr>
              <a:t>Blame Cycle</a:t>
            </a:r>
          </a:p>
        </p:txBody>
      </p:sp>
      <p:sp>
        <p:nvSpPr>
          <p:cNvPr id="7" name="Rounded Rectangle 4">
            <a:extLst>
              <a:ext uri="{FF2B5EF4-FFF2-40B4-BE49-F238E27FC236}">
                <a16:creationId xmlns:a16="http://schemas.microsoft.com/office/drawing/2014/main" id="{EDB4CEE1-D27E-40FD-85C1-5175A38A735C}"/>
              </a:ext>
            </a:extLst>
          </p:cNvPr>
          <p:cNvSpPr/>
          <p:nvPr/>
        </p:nvSpPr>
        <p:spPr>
          <a:xfrm>
            <a:off x="4779820" y="2603765"/>
            <a:ext cx="3008503" cy="1692323"/>
          </a:xfrm>
          <a:prstGeom prst="roundRect">
            <a:avLst/>
          </a:prstGeom>
          <a:solidFill>
            <a:schemeClr val="accent5"/>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ea typeface="+mn-ea"/>
                <a:cs typeface="+mn-cs"/>
              </a:rPr>
              <a:t>Be hard on the process not the person</a:t>
            </a:r>
          </a:p>
        </p:txBody>
      </p:sp>
    </p:spTree>
    <p:extLst>
      <p:ext uri="{BB962C8B-B14F-4D97-AF65-F5344CB8AC3E}">
        <p14:creationId xmlns:p14="http://schemas.microsoft.com/office/powerpoint/2010/main" val="4114134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graphicEl>
                                              <a:dgm id="{F166736A-64CA-4517-8A33-A3CFE2D2D221}"/>
                                            </p:graphicEl>
                                          </p:spTgt>
                                        </p:tgtEl>
                                        <p:attrNameLst>
                                          <p:attrName>style.visibility</p:attrName>
                                        </p:attrNameLst>
                                      </p:cBhvr>
                                      <p:to>
                                        <p:strVal val="visible"/>
                                      </p:to>
                                    </p:set>
                                    <p:animEffect transition="in" filter="fade">
                                      <p:cBhvr>
                                        <p:cTn id="7" dur="500"/>
                                        <p:tgtEl>
                                          <p:spTgt spid="5">
                                            <p:graphicEl>
                                              <a:dgm id="{F166736A-64CA-4517-8A33-A3CFE2D2D221}"/>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graphicEl>
                                              <a:dgm id="{402E9FC9-8B87-4F98-98CC-19446C34E8A7}"/>
                                            </p:graphicEl>
                                          </p:spTgt>
                                        </p:tgtEl>
                                        <p:attrNameLst>
                                          <p:attrName>style.visibility</p:attrName>
                                        </p:attrNameLst>
                                      </p:cBhvr>
                                      <p:to>
                                        <p:strVal val="visible"/>
                                      </p:to>
                                    </p:set>
                                    <p:animEffect transition="in" filter="fade">
                                      <p:cBhvr>
                                        <p:cTn id="12" dur="500"/>
                                        <p:tgtEl>
                                          <p:spTgt spid="5">
                                            <p:graphicEl>
                                              <a:dgm id="{402E9FC9-8B87-4F98-98CC-19446C34E8A7}"/>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graphicEl>
                                              <a:dgm id="{AFAA5281-7947-49C8-97F5-CB537C9817DA}"/>
                                            </p:graphicEl>
                                          </p:spTgt>
                                        </p:tgtEl>
                                        <p:attrNameLst>
                                          <p:attrName>style.visibility</p:attrName>
                                        </p:attrNameLst>
                                      </p:cBhvr>
                                      <p:to>
                                        <p:strVal val="visible"/>
                                      </p:to>
                                    </p:set>
                                    <p:animEffect transition="in" filter="fade">
                                      <p:cBhvr>
                                        <p:cTn id="15" dur="500"/>
                                        <p:tgtEl>
                                          <p:spTgt spid="5">
                                            <p:graphicEl>
                                              <a:dgm id="{AFAA5281-7947-49C8-97F5-CB537C9817DA}"/>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graphicEl>
                                              <a:dgm id="{2937C777-A6CA-41A7-A14D-AE3AE4AEE744}"/>
                                            </p:graphicEl>
                                          </p:spTgt>
                                        </p:tgtEl>
                                        <p:attrNameLst>
                                          <p:attrName>style.visibility</p:attrName>
                                        </p:attrNameLst>
                                      </p:cBhvr>
                                      <p:to>
                                        <p:strVal val="visible"/>
                                      </p:to>
                                    </p:set>
                                    <p:animEffect transition="in" filter="fade">
                                      <p:cBhvr>
                                        <p:cTn id="20" dur="500"/>
                                        <p:tgtEl>
                                          <p:spTgt spid="5">
                                            <p:graphicEl>
                                              <a:dgm id="{2937C777-A6CA-41A7-A14D-AE3AE4AEE744}"/>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
                                            <p:graphicEl>
                                              <a:dgm id="{7B0ED79B-F0BE-4F73-8092-EE5261D4A1E9}"/>
                                            </p:graphicEl>
                                          </p:spTgt>
                                        </p:tgtEl>
                                        <p:attrNameLst>
                                          <p:attrName>style.visibility</p:attrName>
                                        </p:attrNameLst>
                                      </p:cBhvr>
                                      <p:to>
                                        <p:strVal val="visible"/>
                                      </p:to>
                                    </p:set>
                                    <p:animEffect transition="in" filter="fade">
                                      <p:cBhvr>
                                        <p:cTn id="23" dur="500"/>
                                        <p:tgtEl>
                                          <p:spTgt spid="5">
                                            <p:graphicEl>
                                              <a:dgm id="{7B0ED79B-F0BE-4F73-8092-EE5261D4A1E9}"/>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
                                            <p:graphicEl>
                                              <a:dgm id="{1C617CCA-2229-49A4-96E2-8B48CA25BD5B}"/>
                                            </p:graphicEl>
                                          </p:spTgt>
                                        </p:tgtEl>
                                        <p:attrNameLst>
                                          <p:attrName>style.visibility</p:attrName>
                                        </p:attrNameLst>
                                      </p:cBhvr>
                                      <p:to>
                                        <p:strVal val="visible"/>
                                      </p:to>
                                    </p:set>
                                    <p:animEffect transition="in" filter="fade">
                                      <p:cBhvr>
                                        <p:cTn id="28" dur="500"/>
                                        <p:tgtEl>
                                          <p:spTgt spid="5">
                                            <p:graphicEl>
                                              <a:dgm id="{1C617CCA-2229-49A4-96E2-8B48CA25BD5B}"/>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
                                            <p:graphicEl>
                                              <a:dgm id="{167AD9EE-94A5-4E19-B9C6-118F7864A0C0}"/>
                                            </p:graphicEl>
                                          </p:spTgt>
                                        </p:tgtEl>
                                        <p:attrNameLst>
                                          <p:attrName>style.visibility</p:attrName>
                                        </p:attrNameLst>
                                      </p:cBhvr>
                                      <p:to>
                                        <p:strVal val="visible"/>
                                      </p:to>
                                    </p:set>
                                    <p:animEffect transition="in" filter="fade">
                                      <p:cBhvr>
                                        <p:cTn id="31" dur="500"/>
                                        <p:tgtEl>
                                          <p:spTgt spid="5">
                                            <p:graphicEl>
                                              <a:dgm id="{167AD9EE-94A5-4E19-B9C6-118F7864A0C0}"/>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
                                            <p:graphicEl>
                                              <a:dgm id="{27690D3D-08D6-4E88-99DA-B1C689AF9E22}"/>
                                            </p:graphicEl>
                                          </p:spTgt>
                                        </p:tgtEl>
                                        <p:attrNameLst>
                                          <p:attrName>style.visibility</p:attrName>
                                        </p:attrNameLst>
                                      </p:cBhvr>
                                      <p:to>
                                        <p:strVal val="visible"/>
                                      </p:to>
                                    </p:set>
                                    <p:animEffect transition="in" filter="fade">
                                      <p:cBhvr>
                                        <p:cTn id="36" dur="500"/>
                                        <p:tgtEl>
                                          <p:spTgt spid="5">
                                            <p:graphicEl>
                                              <a:dgm id="{27690D3D-08D6-4E88-99DA-B1C689AF9E22}"/>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
                                            <p:graphicEl>
                                              <a:dgm id="{B36C7C4A-9CAF-4368-93D8-647199D91B97}"/>
                                            </p:graphicEl>
                                          </p:spTgt>
                                        </p:tgtEl>
                                        <p:attrNameLst>
                                          <p:attrName>style.visibility</p:attrName>
                                        </p:attrNameLst>
                                      </p:cBhvr>
                                      <p:to>
                                        <p:strVal val="visible"/>
                                      </p:to>
                                    </p:set>
                                    <p:animEffect transition="in" filter="fade">
                                      <p:cBhvr>
                                        <p:cTn id="39" dur="500"/>
                                        <p:tgtEl>
                                          <p:spTgt spid="5">
                                            <p:graphicEl>
                                              <a:dgm id="{B36C7C4A-9CAF-4368-93D8-647199D91B97}"/>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5">
                                            <p:graphicEl>
                                              <a:dgm id="{1A4F0DE5-ECB0-4E52-B28B-2C8765355D19}"/>
                                            </p:graphicEl>
                                          </p:spTgt>
                                        </p:tgtEl>
                                        <p:attrNameLst>
                                          <p:attrName>style.visibility</p:attrName>
                                        </p:attrNameLst>
                                      </p:cBhvr>
                                      <p:to>
                                        <p:strVal val="visible"/>
                                      </p:to>
                                    </p:set>
                                    <p:animEffect transition="in" filter="fade">
                                      <p:cBhvr>
                                        <p:cTn id="44" dur="500"/>
                                        <p:tgtEl>
                                          <p:spTgt spid="5">
                                            <p:graphicEl>
                                              <a:dgm id="{1A4F0DE5-ECB0-4E52-B28B-2C8765355D19}"/>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
                                            <p:graphicEl>
                                              <a:dgm id="{B61F7F52-5A38-4125-9683-4C310762E6F8}"/>
                                            </p:graphicEl>
                                          </p:spTgt>
                                        </p:tgtEl>
                                        <p:attrNameLst>
                                          <p:attrName>style.visibility</p:attrName>
                                        </p:attrNameLst>
                                      </p:cBhvr>
                                      <p:to>
                                        <p:strVal val="visible"/>
                                      </p:to>
                                    </p:set>
                                    <p:animEffect transition="in" filter="fade">
                                      <p:cBhvr>
                                        <p:cTn id="47" dur="500"/>
                                        <p:tgtEl>
                                          <p:spTgt spid="5">
                                            <p:graphicEl>
                                              <a:dgm id="{B61F7F52-5A38-4125-9683-4C310762E6F8}"/>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
                                            <p:graphicEl>
                                              <a:dgm id="{9F6BA028-D787-47EA-8E2E-E92C7B85F591}"/>
                                            </p:graphicEl>
                                          </p:spTgt>
                                        </p:tgtEl>
                                        <p:attrNameLst>
                                          <p:attrName>style.visibility</p:attrName>
                                        </p:attrNameLst>
                                      </p:cBhvr>
                                      <p:to>
                                        <p:strVal val="visible"/>
                                      </p:to>
                                    </p:set>
                                    <p:animEffect transition="in" filter="fade">
                                      <p:cBhvr>
                                        <p:cTn id="52" dur="500"/>
                                        <p:tgtEl>
                                          <p:spTgt spid="5">
                                            <p:graphicEl>
                                              <a:dgm id="{9F6BA028-D787-47EA-8E2E-E92C7B85F591}"/>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
                                            <p:graphicEl>
                                              <a:dgm id="{2B0AA5CD-D9AE-44BE-84F7-1CB8800C8AAA}"/>
                                            </p:graphicEl>
                                          </p:spTgt>
                                        </p:tgtEl>
                                        <p:attrNameLst>
                                          <p:attrName>style.visibility</p:attrName>
                                        </p:attrNameLst>
                                      </p:cBhvr>
                                      <p:to>
                                        <p:strVal val="visible"/>
                                      </p:to>
                                    </p:set>
                                    <p:animEffect transition="in" filter="fade">
                                      <p:cBhvr>
                                        <p:cTn id="55" dur="500"/>
                                        <p:tgtEl>
                                          <p:spTgt spid="5">
                                            <p:graphicEl>
                                              <a:dgm id="{2B0AA5CD-D9AE-44BE-84F7-1CB8800C8AAA}"/>
                                            </p:graphic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
                                            <p:graphicEl>
                                              <a:dgm id="{61388D95-72AE-4D16-BE1E-1C095DD62223}"/>
                                            </p:graphicEl>
                                          </p:spTgt>
                                        </p:tgtEl>
                                        <p:attrNameLst>
                                          <p:attrName>style.visibility</p:attrName>
                                        </p:attrNameLst>
                                      </p:cBhvr>
                                      <p:to>
                                        <p:strVal val="visible"/>
                                      </p:to>
                                    </p:set>
                                    <p:animEffect transition="in" filter="fade">
                                      <p:cBhvr>
                                        <p:cTn id="58" dur="500"/>
                                        <p:tgtEl>
                                          <p:spTgt spid="5">
                                            <p:graphicEl>
                                              <a:dgm id="{61388D95-72AE-4D16-BE1E-1C095DD62223}"/>
                                            </p:graphicEl>
                                          </p:spTgt>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barn(inVertical)">
                                      <p:cBhvr>
                                        <p:cTn id="6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Box 9">
            <a:extLst>
              <a:ext uri="{FF2B5EF4-FFF2-40B4-BE49-F238E27FC236}">
                <a16:creationId xmlns:a16="http://schemas.microsoft.com/office/drawing/2014/main" id="{08ACB041-451D-E81C-F1FC-059A6926A677}"/>
              </a:ext>
            </a:extLst>
          </p:cNvPr>
          <p:cNvSpPr txBox="1">
            <a:spLocks noChangeArrowheads="1"/>
          </p:cNvSpPr>
          <p:nvPr/>
        </p:nvSpPr>
        <p:spPr bwMode="auto">
          <a:xfrm>
            <a:off x="4601928" y="3471914"/>
            <a:ext cx="7077752" cy="400110"/>
          </a:xfrm>
          <a:prstGeom prst="rect">
            <a:avLst/>
          </a:prstGeom>
          <a:solidFill>
            <a:schemeClr val="bg1">
              <a:lumMod val="75000"/>
            </a:schemeClr>
          </a:solidFill>
          <a:ln>
            <a:headEnd/>
            <a:tailEnd/>
          </a:ln>
        </p:spPr>
        <p:style>
          <a:lnRef idx="1">
            <a:schemeClr val="accent2"/>
          </a:lnRef>
          <a:fillRef idx="2">
            <a:schemeClr val="accent2"/>
          </a:fillRef>
          <a:effectRef idx="1">
            <a:schemeClr val="accent2"/>
          </a:effectRef>
          <a:fontRef idx="minor">
            <a:schemeClr val="dk1"/>
          </a:fontRef>
        </p:style>
        <p:txBody>
          <a:bodyPr wrap="square">
            <a:spAutoFit/>
          </a:bodyPr>
          <a:lstStyle>
            <a:lvl1pPr>
              <a:defRPr sz="3200">
                <a:solidFill>
                  <a:schemeClr val="tx1"/>
                </a:solidFill>
                <a:latin typeface="GE Inspira" pitchFamily="34" charset="0"/>
              </a:defRPr>
            </a:lvl1pPr>
            <a:lvl2pPr marL="742950" indent="-285750">
              <a:defRPr sz="3200">
                <a:solidFill>
                  <a:schemeClr val="tx1"/>
                </a:solidFill>
                <a:latin typeface="GE Inspira" pitchFamily="34" charset="0"/>
              </a:defRPr>
            </a:lvl2pPr>
            <a:lvl3pPr marL="1143000" indent="-228600">
              <a:defRPr sz="3200">
                <a:solidFill>
                  <a:schemeClr val="tx1"/>
                </a:solidFill>
                <a:latin typeface="GE Inspira" pitchFamily="34" charset="0"/>
              </a:defRPr>
            </a:lvl3pPr>
            <a:lvl4pPr marL="1600200" indent="-228600">
              <a:defRPr sz="3200">
                <a:solidFill>
                  <a:schemeClr val="tx1"/>
                </a:solidFill>
                <a:latin typeface="GE Inspira" pitchFamily="34" charset="0"/>
              </a:defRPr>
            </a:lvl4pPr>
            <a:lvl5pPr marL="2057400" indent="-228600">
              <a:defRPr sz="3200">
                <a:solidFill>
                  <a:schemeClr val="tx1"/>
                </a:solidFill>
                <a:latin typeface="GE Inspira" pitchFamily="34" charset="0"/>
              </a:defRPr>
            </a:lvl5pPr>
            <a:lvl6pPr marL="2514600" indent="-228600" eaLnBrk="0" fontAlgn="base" hangingPunct="0">
              <a:spcBef>
                <a:spcPct val="0"/>
              </a:spcBef>
              <a:spcAft>
                <a:spcPct val="0"/>
              </a:spcAft>
              <a:defRPr sz="3200">
                <a:solidFill>
                  <a:schemeClr val="tx1"/>
                </a:solidFill>
                <a:latin typeface="GE Inspira" pitchFamily="34" charset="0"/>
              </a:defRPr>
            </a:lvl6pPr>
            <a:lvl7pPr marL="2971800" indent="-228600" eaLnBrk="0" fontAlgn="base" hangingPunct="0">
              <a:spcBef>
                <a:spcPct val="0"/>
              </a:spcBef>
              <a:spcAft>
                <a:spcPct val="0"/>
              </a:spcAft>
              <a:defRPr sz="3200">
                <a:solidFill>
                  <a:schemeClr val="tx1"/>
                </a:solidFill>
                <a:latin typeface="GE Inspira" pitchFamily="34" charset="0"/>
              </a:defRPr>
            </a:lvl7pPr>
            <a:lvl8pPr marL="3429000" indent="-228600" eaLnBrk="0" fontAlgn="base" hangingPunct="0">
              <a:spcBef>
                <a:spcPct val="0"/>
              </a:spcBef>
              <a:spcAft>
                <a:spcPct val="0"/>
              </a:spcAft>
              <a:defRPr sz="3200">
                <a:solidFill>
                  <a:schemeClr val="tx1"/>
                </a:solidFill>
                <a:latin typeface="GE Inspira" pitchFamily="34" charset="0"/>
              </a:defRPr>
            </a:lvl8pPr>
            <a:lvl9pPr marL="3886200" indent="-228600" eaLnBrk="0" fontAlgn="base" hangingPunct="0">
              <a:spcBef>
                <a:spcPct val="0"/>
              </a:spcBef>
              <a:spcAft>
                <a:spcPct val="0"/>
              </a:spcAft>
              <a:defRPr sz="3200">
                <a:solidFill>
                  <a:schemeClr val="tx1"/>
                </a:solidFill>
                <a:latin typeface="GE Inspira" pitchFamily="34" charset="0"/>
              </a:defRPr>
            </a:lvl9pPr>
          </a:lstStyle>
          <a:p>
            <a:pPr marL="0" marR="0" lvl="0" indent="0" defTabSz="914400" rtl="0" eaLnBrk="1" fontAlgn="auto" latinLnBrk="0" hangingPunct="1">
              <a:lnSpc>
                <a:spcPct val="100000"/>
              </a:lnSpc>
              <a:spcBef>
                <a:spcPct val="5000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mn-lt"/>
                <a:ea typeface="ＭＳ Ｐゴシック" pitchFamily="34" charset="-128"/>
                <a:sym typeface="Wingdings" pitchFamily="2" charset="2"/>
              </a:rPr>
              <a:t>Most people care</a:t>
            </a:r>
            <a:r>
              <a:rPr lang="en-US" sz="2000" b="1" dirty="0">
                <a:solidFill>
                  <a:srgbClr val="000000"/>
                </a:solidFill>
                <a:latin typeface="+mn-lt"/>
                <a:ea typeface="ＭＳ Ｐゴシック" pitchFamily="34" charset="-128"/>
                <a:sym typeface="Wingdings" pitchFamily="2" charset="2"/>
              </a:rPr>
              <a:t> and are committed</a:t>
            </a:r>
            <a:r>
              <a:rPr kumimoji="0" lang="en-US" sz="2000" b="1" i="0" u="none" strike="noStrike" kern="1200" cap="none" spc="0" normalizeH="0" baseline="0" noProof="0" dirty="0">
                <a:ln>
                  <a:noFill/>
                </a:ln>
                <a:solidFill>
                  <a:srgbClr val="000000"/>
                </a:solidFill>
                <a:effectLst/>
                <a:uLnTx/>
                <a:uFillTx/>
                <a:latin typeface="+mn-lt"/>
                <a:ea typeface="ＭＳ Ｐゴシック" pitchFamily="34" charset="-128"/>
                <a:sym typeface="Wingdings" pitchFamily="2" charset="2"/>
              </a:rPr>
              <a:t> to doing a good job</a:t>
            </a:r>
            <a:endParaRPr kumimoji="0" lang="en-US" sz="2000" b="1" i="0" u="none" strike="noStrike" kern="1200" cap="none" spc="0" normalizeH="0" baseline="0" noProof="0" dirty="0">
              <a:ln>
                <a:noFill/>
              </a:ln>
              <a:solidFill>
                <a:srgbClr val="000000"/>
              </a:solidFill>
              <a:effectLst/>
              <a:uLnTx/>
              <a:uFillTx/>
              <a:latin typeface="+mn-lt"/>
              <a:ea typeface="ＭＳ Ｐゴシック" pitchFamily="34" charset="-128"/>
            </a:endParaRPr>
          </a:p>
        </p:txBody>
      </p:sp>
      <p:sp>
        <p:nvSpPr>
          <p:cNvPr id="15" name="Text Box 3">
            <a:extLst>
              <a:ext uri="{FF2B5EF4-FFF2-40B4-BE49-F238E27FC236}">
                <a16:creationId xmlns:a16="http://schemas.microsoft.com/office/drawing/2014/main" id="{870A69E6-C753-310A-39C3-44F5276E478A}"/>
              </a:ext>
            </a:extLst>
          </p:cNvPr>
          <p:cNvSpPr txBox="1">
            <a:spLocks noChangeArrowheads="1"/>
          </p:cNvSpPr>
          <p:nvPr/>
        </p:nvSpPr>
        <p:spPr bwMode="auto">
          <a:xfrm>
            <a:off x="1118437" y="3413454"/>
            <a:ext cx="232160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GE Inspira" pitchFamily="34" charset="0"/>
              </a:defRPr>
            </a:lvl1pPr>
            <a:lvl2pPr marL="742950" indent="-285750">
              <a:defRPr sz="3200">
                <a:solidFill>
                  <a:schemeClr val="tx1"/>
                </a:solidFill>
                <a:latin typeface="GE Inspira" pitchFamily="34" charset="0"/>
              </a:defRPr>
            </a:lvl2pPr>
            <a:lvl3pPr marL="1143000" indent="-228600">
              <a:defRPr sz="3200">
                <a:solidFill>
                  <a:schemeClr val="tx1"/>
                </a:solidFill>
                <a:latin typeface="GE Inspira" pitchFamily="34" charset="0"/>
              </a:defRPr>
            </a:lvl3pPr>
            <a:lvl4pPr marL="1600200" indent="-228600">
              <a:defRPr sz="3200">
                <a:solidFill>
                  <a:schemeClr val="tx1"/>
                </a:solidFill>
                <a:latin typeface="GE Inspira" pitchFamily="34" charset="0"/>
              </a:defRPr>
            </a:lvl4pPr>
            <a:lvl5pPr marL="2057400" indent="-228600">
              <a:defRPr sz="3200">
                <a:solidFill>
                  <a:schemeClr val="tx1"/>
                </a:solidFill>
                <a:latin typeface="GE Inspira" pitchFamily="34" charset="0"/>
              </a:defRPr>
            </a:lvl5pPr>
            <a:lvl6pPr marL="2514600" indent="-228600" eaLnBrk="0" fontAlgn="base" hangingPunct="0">
              <a:spcBef>
                <a:spcPct val="0"/>
              </a:spcBef>
              <a:spcAft>
                <a:spcPct val="0"/>
              </a:spcAft>
              <a:defRPr sz="3200">
                <a:solidFill>
                  <a:schemeClr val="tx1"/>
                </a:solidFill>
                <a:latin typeface="GE Inspira" pitchFamily="34" charset="0"/>
              </a:defRPr>
            </a:lvl6pPr>
            <a:lvl7pPr marL="2971800" indent="-228600" eaLnBrk="0" fontAlgn="base" hangingPunct="0">
              <a:spcBef>
                <a:spcPct val="0"/>
              </a:spcBef>
              <a:spcAft>
                <a:spcPct val="0"/>
              </a:spcAft>
              <a:defRPr sz="3200">
                <a:solidFill>
                  <a:schemeClr val="tx1"/>
                </a:solidFill>
                <a:latin typeface="GE Inspira" pitchFamily="34" charset="0"/>
              </a:defRPr>
            </a:lvl7pPr>
            <a:lvl8pPr marL="3429000" indent="-228600" eaLnBrk="0" fontAlgn="base" hangingPunct="0">
              <a:spcBef>
                <a:spcPct val="0"/>
              </a:spcBef>
              <a:spcAft>
                <a:spcPct val="0"/>
              </a:spcAft>
              <a:defRPr sz="3200">
                <a:solidFill>
                  <a:schemeClr val="tx1"/>
                </a:solidFill>
                <a:latin typeface="GE Inspira" pitchFamily="34" charset="0"/>
              </a:defRPr>
            </a:lvl8pPr>
            <a:lvl9pPr marL="3886200" indent="-228600" eaLnBrk="0" fontAlgn="base" hangingPunct="0">
              <a:spcBef>
                <a:spcPct val="0"/>
              </a:spcBef>
              <a:spcAft>
                <a:spcPct val="0"/>
              </a:spcAft>
              <a:defRPr sz="3200">
                <a:solidFill>
                  <a:schemeClr val="tx1"/>
                </a:solidFill>
                <a:latin typeface="GE Inspira"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mn-lt"/>
                <a:ea typeface="ＭＳ Ｐゴシック" pitchFamily="34" charset="-128"/>
                <a:cs typeface="+mn-cs"/>
              </a:rPr>
              <a:t>Don’t Care</a:t>
            </a:r>
          </a:p>
        </p:txBody>
      </p:sp>
      <p:sp>
        <p:nvSpPr>
          <p:cNvPr id="16" name="Text Box 4">
            <a:extLst>
              <a:ext uri="{FF2B5EF4-FFF2-40B4-BE49-F238E27FC236}">
                <a16:creationId xmlns:a16="http://schemas.microsoft.com/office/drawing/2014/main" id="{B91B99D0-04B7-A89E-4A2A-81B495675485}"/>
              </a:ext>
            </a:extLst>
          </p:cNvPr>
          <p:cNvSpPr txBox="1">
            <a:spLocks noChangeArrowheads="1"/>
          </p:cNvSpPr>
          <p:nvPr/>
        </p:nvSpPr>
        <p:spPr bwMode="auto">
          <a:xfrm>
            <a:off x="989058" y="2917313"/>
            <a:ext cx="232160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GE Inspira" pitchFamily="34" charset="0"/>
              </a:defRPr>
            </a:lvl1pPr>
            <a:lvl2pPr marL="742950" indent="-285750">
              <a:defRPr sz="3200">
                <a:solidFill>
                  <a:schemeClr val="tx1"/>
                </a:solidFill>
                <a:latin typeface="GE Inspira" pitchFamily="34" charset="0"/>
              </a:defRPr>
            </a:lvl2pPr>
            <a:lvl3pPr marL="1143000" indent="-228600">
              <a:defRPr sz="3200">
                <a:solidFill>
                  <a:schemeClr val="tx1"/>
                </a:solidFill>
                <a:latin typeface="GE Inspira" pitchFamily="34" charset="0"/>
              </a:defRPr>
            </a:lvl3pPr>
            <a:lvl4pPr marL="1600200" indent="-228600">
              <a:defRPr sz="3200">
                <a:solidFill>
                  <a:schemeClr val="tx1"/>
                </a:solidFill>
                <a:latin typeface="GE Inspira" pitchFamily="34" charset="0"/>
              </a:defRPr>
            </a:lvl4pPr>
            <a:lvl5pPr marL="2057400" indent="-228600">
              <a:defRPr sz="3200">
                <a:solidFill>
                  <a:schemeClr val="tx1"/>
                </a:solidFill>
                <a:latin typeface="GE Inspira" pitchFamily="34" charset="0"/>
              </a:defRPr>
            </a:lvl5pPr>
            <a:lvl6pPr marL="2514600" indent="-228600" eaLnBrk="0" fontAlgn="base" hangingPunct="0">
              <a:spcBef>
                <a:spcPct val="0"/>
              </a:spcBef>
              <a:spcAft>
                <a:spcPct val="0"/>
              </a:spcAft>
              <a:defRPr sz="3200">
                <a:solidFill>
                  <a:schemeClr val="tx1"/>
                </a:solidFill>
                <a:latin typeface="GE Inspira" pitchFamily="34" charset="0"/>
              </a:defRPr>
            </a:lvl6pPr>
            <a:lvl7pPr marL="2971800" indent="-228600" eaLnBrk="0" fontAlgn="base" hangingPunct="0">
              <a:spcBef>
                <a:spcPct val="0"/>
              </a:spcBef>
              <a:spcAft>
                <a:spcPct val="0"/>
              </a:spcAft>
              <a:defRPr sz="3200">
                <a:solidFill>
                  <a:schemeClr val="tx1"/>
                </a:solidFill>
                <a:latin typeface="GE Inspira" pitchFamily="34" charset="0"/>
              </a:defRPr>
            </a:lvl7pPr>
            <a:lvl8pPr marL="3429000" indent="-228600" eaLnBrk="0" fontAlgn="base" hangingPunct="0">
              <a:spcBef>
                <a:spcPct val="0"/>
              </a:spcBef>
              <a:spcAft>
                <a:spcPct val="0"/>
              </a:spcAft>
              <a:defRPr sz="3200">
                <a:solidFill>
                  <a:schemeClr val="tx1"/>
                </a:solidFill>
                <a:latin typeface="GE Inspira" pitchFamily="34" charset="0"/>
              </a:defRPr>
            </a:lvl8pPr>
            <a:lvl9pPr marL="3886200" indent="-228600" eaLnBrk="0" fontAlgn="base" hangingPunct="0">
              <a:spcBef>
                <a:spcPct val="0"/>
              </a:spcBef>
              <a:spcAft>
                <a:spcPct val="0"/>
              </a:spcAft>
              <a:defRPr sz="3200">
                <a:solidFill>
                  <a:schemeClr val="tx1"/>
                </a:solidFill>
                <a:latin typeface="GE Inspira"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mn-lt"/>
                <a:ea typeface="ＭＳ Ｐゴシック" pitchFamily="34" charset="-128"/>
                <a:cs typeface="+mn-cs"/>
              </a:rPr>
              <a:t>Don’t Know</a:t>
            </a:r>
          </a:p>
        </p:txBody>
      </p:sp>
      <p:sp>
        <p:nvSpPr>
          <p:cNvPr id="17" name="Text Box 7">
            <a:extLst>
              <a:ext uri="{FF2B5EF4-FFF2-40B4-BE49-F238E27FC236}">
                <a16:creationId xmlns:a16="http://schemas.microsoft.com/office/drawing/2014/main" id="{70FD42D3-60AF-F54D-3EA4-7E1A1D379E9C}"/>
              </a:ext>
            </a:extLst>
          </p:cNvPr>
          <p:cNvSpPr txBox="1">
            <a:spLocks noChangeArrowheads="1"/>
          </p:cNvSpPr>
          <p:nvPr/>
        </p:nvSpPr>
        <p:spPr bwMode="auto">
          <a:xfrm>
            <a:off x="2917489" y="3428009"/>
            <a:ext cx="1682266" cy="461665"/>
          </a:xfrm>
          <a:prstGeom prst="rect">
            <a:avLst/>
          </a:prstGeom>
          <a:solidFill>
            <a:schemeClr val="tx2"/>
          </a:solidFill>
          <a:ln/>
        </p:spPr>
        <p:style>
          <a:lnRef idx="0">
            <a:schemeClr val="dk1"/>
          </a:lnRef>
          <a:fillRef idx="3">
            <a:schemeClr val="dk1"/>
          </a:fillRef>
          <a:effectRef idx="3">
            <a:schemeClr val="dk1"/>
          </a:effectRef>
          <a:fontRef idx="minor">
            <a:schemeClr val="lt1"/>
          </a:fontRef>
        </p:style>
        <p:txBody>
          <a:bodyPr wrap="square">
            <a:spAutoFit/>
          </a:bodyPr>
          <a:lstStyle>
            <a:lvl1pPr>
              <a:defRPr sz="3200">
                <a:solidFill>
                  <a:schemeClr val="tx1"/>
                </a:solidFill>
                <a:latin typeface="GE Inspira" pitchFamily="34" charset="0"/>
              </a:defRPr>
            </a:lvl1pPr>
            <a:lvl2pPr marL="742950" indent="-285750">
              <a:defRPr sz="3200">
                <a:solidFill>
                  <a:schemeClr val="tx1"/>
                </a:solidFill>
                <a:latin typeface="GE Inspira" pitchFamily="34" charset="0"/>
              </a:defRPr>
            </a:lvl2pPr>
            <a:lvl3pPr marL="1143000" indent="-228600">
              <a:defRPr sz="3200">
                <a:solidFill>
                  <a:schemeClr val="tx1"/>
                </a:solidFill>
                <a:latin typeface="GE Inspira" pitchFamily="34" charset="0"/>
              </a:defRPr>
            </a:lvl3pPr>
            <a:lvl4pPr marL="1600200" indent="-228600">
              <a:defRPr sz="3200">
                <a:solidFill>
                  <a:schemeClr val="tx1"/>
                </a:solidFill>
                <a:latin typeface="GE Inspira" pitchFamily="34" charset="0"/>
              </a:defRPr>
            </a:lvl4pPr>
            <a:lvl5pPr marL="2057400" indent="-228600">
              <a:defRPr sz="3200">
                <a:solidFill>
                  <a:schemeClr val="tx1"/>
                </a:solidFill>
                <a:latin typeface="GE Inspira" pitchFamily="34" charset="0"/>
              </a:defRPr>
            </a:lvl5pPr>
            <a:lvl6pPr marL="2514600" indent="-228600" eaLnBrk="0" fontAlgn="base" hangingPunct="0">
              <a:spcBef>
                <a:spcPct val="0"/>
              </a:spcBef>
              <a:spcAft>
                <a:spcPct val="0"/>
              </a:spcAft>
              <a:defRPr sz="3200">
                <a:solidFill>
                  <a:schemeClr val="tx1"/>
                </a:solidFill>
                <a:latin typeface="GE Inspira" pitchFamily="34" charset="0"/>
              </a:defRPr>
            </a:lvl6pPr>
            <a:lvl7pPr marL="2971800" indent="-228600" eaLnBrk="0" fontAlgn="base" hangingPunct="0">
              <a:spcBef>
                <a:spcPct val="0"/>
              </a:spcBef>
              <a:spcAft>
                <a:spcPct val="0"/>
              </a:spcAft>
              <a:defRPr sz="3200">
                <a:solidFill>
                  <a:schemeClr val="tx1"/>
                </a:solidFill>
                <a:latin typeface="GE Inspira" pitchFamily="34" charset="0"/>
              </a:defRPr>
            </a:lvl7pPr>
            <a:lvl8pPr marL="3429000" indent="-228600" eaLnBrk="0" fontAlgn="base" hangingPunct="0">
              <a:spcBef>
                <a:spcPct val="0"/>
              </a:spcBef>
              <a:spcAft>
                <a:spcPct val="0"/>
              </a:spcAft>
              <a:defRPr sz="3200">
                <a:solidFill>
                  <a:schemeClr val="tx1"/>
                </a:solidFill>
                <a:latin typeface="GE Inspira" pitchFamily="34" charset="0"/>
              </a:defRPr>
            </a:lvl8pPr>
            <a:lvl9pPr marL="3886200" indent="-228600" eaLnBrk="0" fontAlgn="base" hangingPunct="0">
              <a:spcBef>
                <a:spcPct val="0"/>
              </a:spcBef>
              <a:spcAft>
                <a:spcPct val="0"/>
              </a:spcAft>
              <a:defRPr sz="3200">
                <a:solidFill>
                  <a:schemeClr val="tx1"/>
                </a:solidFill>
                <a:latin typeface="GE Inspira"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2400" b="1" i="0" u="none" strike="noStrike" kern="1200" cap="none" spc="0" normalizeH="0" baseline="0" noProof="0" dirty="0">
                <a:ln>
                  <a:noFill/>
                </a:ln>
                <a:solidFill>
                  <a:srgbClr val="F8F8F8"/>
                </a:solidFill>
                <a:effectLst/>
                <a:uLnTx/>
                <a:uFillTx/>
                <a:latin typeface="+mn-lt"/>
                <a:ea typeface="ＭＳ Ｐゴシック" pitchFamily="34" charset="-128"/>
                <a:cs typeface="+mn-cs"/>
                <a:sym typeface="Wingdings" pitchFamily="2" charset="2"/>
              </a:rPr>
              <a:t></a:t>
            </a:r>
            <a:r>
              <a:rPr kumimoji="0" lang="en-US" sz="2400" b="1" i="0" u="none" strike="noStrike" kern="1200" cap="none" spc="0" normalizeH="0" baseline="0" noProof="0" dirty="0">
                <a:ln>
                  <a:noFill/>
                </a:ln>
                <a:solidFill>
                  <a:srgbClr val="F8F8F8"/>
                </a:solidFill>
                <a:effectLst/>
                <a:uLnTx/>
                <a:uFillTx/>
                <a:latin typeface="+mn-lt"/>
                <a:ea typeface="ＭＳ Ｐゴシック" pitchFamily="34" charset="-128"/>
                <a:cs typeface="+mn-cs"/>
              </a:rPr>
              <a:t>Punish</a:t>
            </a:r>
          </a:p>
        </p:txBody>
      </p:sp>
      <p:sp>
        <p:nvSpPr>
          <p:cNvPr id="18" name="Text Box 8">
            <a:extLst>
              <a:ext uri="{FF2B5EF4-FFF2-40B4-BE49-F238E27FC236}">
                <a16:creationId xmlns:a16="http://schemas.microsoft.com/office/drawing/2014/main" id="{33E9CCA2-619D-A2D8-0E97-9B5D936B62E6}"/>
              </a:ext>
            </a:extLst>
          </p:cNvPr>
          <p:cNvSpPr txBox="1">
            <a:spLocks noChangeArrowheads="1"/>
          </p:cNvSpPr>
          <p:nvPr/>
        </p:nvSpPr>
        <p:spPr bwMode="auto">
          <a:xfrm>
            <a:off x="2916854" y="2920659"/>
            <a:ext cx="1682266" cy="461665"/>
          </a:xfrm>
          <a:prstGeom prst="rect">
            <a:avLst/>
          </a:prstGeom>
          <a:solidFill>
            <a:schemeClr val="accent1"/>
          </a:solidFill>
          <a:ln/>
        </p:spPr>
        <p:style>
          <a:lnRef idx="0">
            <a:schemeClr val="dk1"/>
          </a:lnRef>
          <a:fillRef idx="3">
            <a:schemeClr val="dk1"/>
          </a:fillRef>
          <a:effectRef idx="3">
            <a:schemeClr val="dk1"/>
          </a:effectRef>
          <a:fontRef idx="minor">
            <a:schemeClr val="lt1"/>
          </a:fontRef>
        </p:style>
        <p:txBody>
          <a:bodyPr wrap="square">
            <a:spAutoFit/>
          </a:bodyPr>
          <a:lstStyle>
            <a:lvl1pPr>
              <a:defRPr sz="3200">
                <a:solidFill>
                  <a:schemeClr val="tx1"/>
                </a:solidFill>
                <a:latin typeface="GE Inspira" pitchFamily="34" charset="0"/>
              </a:defRPr>
            </a:lvl1pPr>
            <a:lvl2pPr marL="742950" indent="-285750">
              <a:defRPr sz="3200">
                <a:solidFill>
                  <a:schemeClr val="tx1"/>
                </a:solidFill>
                <a:latin typeface="GE Inspira" pitchFamily="34" charset="0"/>
              </a:defRPr>
            </a:lvl2pPr>
            <a:lvl3pPr marL="1143000" indent="-228600">
              <a:defRPr sz="3200">
                <a:solidFill>
                  <a:schemeClr val="tx1"/>
                </a:solidFill>
                <a:latin typeface="GE Inspira" pitchFamily="34" charset="0"/>
              </a:defRPr>
            </a:lvl3pPr>
            <a:lvl4pPr marL="1600200" indent="-228600">
              <a:defRPr sz="3200">
                <a:solidFill>
                  <a:schemeClr val="tx1"/>
                </a:solidFill>
                <a:latin typeface="GE Inspira" pitchFamily="34" charset="0"/>
              </a:defRPr>
            </a:lvl4pPr>
            <a:lvl5pPr marL="2057400" indent="-228600">
              <a:defRPr sz="3200">
                <a:solidFill>
                  <a:schemeClr val="tx1"/>
                </a:solidFill>
                <a:latin typeface="GE Inspira" pitchFamily="34" charset="0"/>
              </a:defRPr>
            </a:lvl5pPr>
            <a:lvl6pPr marL="2514600" indent="-228600" eaLnBrk="0" fontAlgn="base" hangingPunct="0">
              <a:spcBef>
                <a:spcPct val="0"/>
              </a:spcBef>
              <a:spcAft>
                <a:spcPct val="0"/>
              </a:spcAft>
              <a:defRPr sz="3200">
                <a:solidFill>
                  <a:schemeClr val="tx1"/>
                </a:solidFill>
                <a:latin typeface="GE Inspira" pitchFamily="34" charset="0"/>
              </a:defRPr>
            </a:lvl6pPr>
            <a:lvl7pPr marL="2971800" indent="-228600" eaLnBrk="0" fontAlgn="base" hangingPunct="0">
              <a:spcBef>
                <a:spcPct val="0"/>
              </a:spcBef>
              <a:spcAft>
                <a:spcPct val="0"/>
              </a:spcAft>
              <a:defRPr sz="3200">
                <a:solidFill>
                  <a:schemeClr val="tx1"/>
                </a:solidFill>
                <a:latin typeface="GE Inspira" pitchFamily="34" charset="0"/>
              </a:defRPr>
            </a:lvl7pPr>
            <a:lvl8pPr marL="3429000" indent="-228600" eaLnBrk="0" fontAlgn="base" hangingPunct="0">
              <a:spcBef>
                <a:spcPct val="0"/>
              </a:spcBef>
              <a:spcAft>
                <a:spcPct val="0"/>
              </a:spcAft>
              <a:defRPr sz="3200">
                <a:solidFill>
                  <a:schemeClr val="tx1"/>
                </a:solidFill>
                <a:latin typeface="GE Inspira" pitchFamily="34" charset="0"/>
              </a:defRPr>
            </a:lvl8pPr>
            <a:lvl9pPr marL="3886200" indent="-228600" eaLnBrk="0" fontAlgn="base" hangingPunct="0">
              <a:spcBef>
                <a:spcPct val="0"/>
              </a:spcBef>
              <a:spcAft>
                <a:spcPct val="0"/>
              </a:spcAft>
              <a:defRPr sz="3200">
                <a:solidFill>
                  <a:schemeClr val="tx1"/>
                </a:solidFill>
                <a:latin typeface="GE Inspira"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2400" b="1" i="0" u="none" strike="noStrike" kern="1200" cap="none" spc="0" normalizeH="0" baseline="0" noProof="0" dirty="0">
                <a:ln>
                  <a:noFill/>
                </a:ln>
                <a:solidFill>
                  <a:srgbClr val="F8F8F8"/>
                </a:solidFill>
                <a:effectLst/>
                <a:uLnTx/>
                <a:uFillTx/>
                <a:latin typeface="+mn-lt"/>
                <a:ea typeface="ＭＳ Ｐゴシック" pitchFamily="34" charset="-128"/>
                <a:cs typeface="+mn-cs"/>
                <a:sym typeface="Wingdings" pitchFamily="2" charset="2"/>
              </a:rPr>
              <a:t></a:t>
            </a:r>
            <a:r>
              <a:rPr kumimoji="0" lang="en-US" sz="2400" b="1" i="0" u="none" strike="noStrike" kern="1200" cap="none" spc="0" normalizeH="0" baseline="0" noProof="0" dirty="0">
                <a:ln>
                  <a:noFill/>
                </a:ln>
                <a:solidFill>
                  <a:srgbClr val="F8F8F8"/>
                </a:solidFill>
                <a:effectLst/>
                <a:uLnTx/>
                <a:uFillTx/>
                <a:latin typeface="+mn-lt"/>
                <a:ea typeface="ＭＳ Ｐゴシック" pitchFamily="34" charset="-128"/>
                <a:cs typeface="+mn-cs"/>
              </a:rPr>
              <a:t>Train</a:t>
            </a:r>
          </a:p>
        </p:txBody>
      </p:sp>
      <p:sp>
        <p:nvSpPr>
          <p:cNvPr id="21" name="Text Box 10">
            <a:extLst>
              <a:ext uri="{FF2B5EF4-FFF2-40B4-BE49-F238E27FC236}">
                <a16:creationId xmlns:a16="http://schemas.microsoft.com/office/drawing/2014/main" id="{EF6DDBF3-0E90-CB3D-42DB-2DFD4592BB88}"/>
              </a:ext>
            </a:extLst>
          </p:cNvPr>
          <p:cNvSpPr txBox="1">
            <a:spLocks noChangeArrowheads="1"/>
          </p:cNvSpPr>
          <p:nvPr/>
        </p:nvSpPr>
        <p:spPr bwMode="auto">
          <a:xfrm>
            <a:off x="4600358" y="2948091"/>
            <a:ext cx="7079321" cy="40011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lvl1pPr>
              <a:defRPr sz="3200">
                <a:solidFill>
                  <a:schemeClr val="tx1"/>
                </a:solidFill>
                <a:latin typeface="GE Inspira" pitchFamily="34" charset="0"/>
              </a:defRPr>
            </a:lvl1pPr>
            <a:lvl2pPr marL="742950" indent="-285750">
              <a:defRPr sz="3200">
                <a:solidFill>
                  <a:schemeClr val="tx1"/>
                </a:solidFill>
                <a:latin typeface="GE Inspira" pitchFamily="34" charset="0"/>
              </a:defRPr>
            </a:lvl2pPr>
            <a:lvl3pPr marL="1143000" indent="-228600">
              <a:defRPr sz="3200">
                <a:solidFill>
                  <a:schemeClr val="tx1"/>
                </a:solidFill>
                <a:latin typeface="GE Inspira" pitchFamily="34" charset="0"/>
              </a:defRPr>
            </a:lvl3pPr>
            <a:lvl4pPr marL="1600200" indent="-228600">
              <a:defRPr sz="3200">
                <a:solidFill>
                  <a:schemeClr val="tx1"/>
                </a:solidFill>
                <a:latin typeface="GE Inspira" pitchFamily="34" charset="0"/>
              </a:defRPr>
            </a:lvl4pPr>
            <a:lvl5pPr marL="2057400" indent="-228600">
              <a:defRPr sz="3200">
                <a:solidFill>
                  <a:schemeClr val="tx1"/>
                </a:solidFill>
                <a:latin typeface="GE Inspira" pitchFamily="34" charset="0"/>
              </a:defRPr>
            </a:lvl5pPr>
            <a:lvl6pPr marL="2514600" indent="-228600" eaLnBrk="0" fontAlgn="base" hangingPunct="0">
              <a:spcBef>
                <a:spcPct val="0"/>
              </a:spcBef>
              <a:spcAft>
                <a:spcPct val="0"/>
              </a:spcAft>
              <a:defRPr sz="3200">
                <a:solidFill>
                  <a:schemeClr val="tx1"/>
                </a:solidFill>
                <a:latin typeface="GE Inspira" pitchFamily="34" charset="0"/>
              </a:defRPr>
            </a:lvl6pPr>
            <a:lvl7pPr marL="2971800" indent="-228600" eaLnBrk="0" fontAlgn="base" hangingPunct="0">
              <a:spcBef>
                <a:spcPct val="0"/>
              </a:spcBef>
              <a:spcAft>
                <a:spcPct val="0"/>
              </a:spcAft>
              <a:defRPr sz="3200">
                <a:solidFill>
                  <a:schemeClr val="tx1"/>
                </a:solidFill>
                <a:latin typeface="GE Inspira" pitchFamily="34" charset="0"/>
              </a:defRPr>
            </a:lvl7pPr>
            <a:lvl8pPr marL="3429000" indent="-228600" eaLnBrk="0" fontAlgn="base" hangingPunct="0">
              <a:spcBef>
                <a:spcPct val="0"/>
              </a:spcBef>
              <a:spcAft>
                <a:spcPct val="0"/>
              </a:spcAft>
              <a:defRPr sz="3200">
                <a:solidFill>
                  <a:schemeClr val="tx1"/>
                </a:solidFill>
                <a:latin typeface="GE Inspira" pitchFamily="34" charset="0"/>
              </a:defRPr>
            </a:lvl8pPr>
            <a:lvl9pPr marL="3886200" indent="-228600" eaLnBrk="0" fontAlgn="base" hangingPunct="0">
              <a:spcBef>
                <a:spcPct val="0"/>
              </a:spcBef>
              <a:spcAft>
                <a:spcPct val="0"/>
              </a:spcAft>
              <a:defRPr sz="3200">
                <a:solidFill>
                  <a:schemeClr val="tx1"/>
                </a:solidFill>
                <a:latin typeface="GE Inspira" pitchFamily="34" charset="0"/>
              </a:defRPr>
            </a:lvl9pPr>
          </a:lstStyle>
          <a:p>
            <a:pPr marL="0" marR="0" lvl="0" indent="0" defTabSz="914400" rtl="0" eaLnBrk="1" fontAlgn="auto" latinLnBrk="0" hangingPunct="1">
              <a:lnSpc>
                <a:spcPct val="100000"/>
              </a:lnSpc>
              <a:spcBef>
                <a:spcPct val="5000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mn-lt"/>
                <a:ea typeface="ＭＳ Ｐゴシック" pitchFamily="34" charset="-128"/>
                <a:cs typeface="+mn-cs"/>
                <a:sym typeface="Wingdings" pitchFamily="2" charset="2"/>
              </a:rPr>
              <a:t>&lt;</a:t>
            </a:r>
            <a:r>
              <a:rPr kumimoji="0" lang="en-US" sz="2000" b="1" i="0" u="none" strike="noStrike" kern="1200" cap="none" spc="0" normalizeH="0" baseline="0" noProof="0" dirty="0">
                <a:ln>
                  <a:noFill/>
                </a:ln>
                <a:solidFill>
                  <a:srgbClr val="000000"/>
                </a:solidFill>
                <a:effectLst/>
                <a:uLnTx/>
                <a:uFillTx/>
                <a:latin typeface="+mn-lt"/>
                <a:ea typeface="ＭＳ Ｐゴシック" pitchFamily="34" charset="-128"/>
                <a:cs typeface="+mn-cs"/>
              </a:rPr>
              <a:t>10% errors = lack of competence</a:t>
            </a:r>
          </a:p>
        </p:txBody>
      </p:sp>
      <p:sp>
        <p:nvSpPr>
          <p:cNvPr id="22" name="TextBox 21">
            <a:extLst>
              <a:ext uri="{FF2B5EF4-FFF2-40B4-BE49-F238E27FC236}">
                <a16:creationId xmlns:a16="http://schemas.microsoft.com/office/drawing/2014/main" id="{11977A2C-A481-2624-FDC3-2C1652E4839C}"/>
              </a:ext>
            </a:extLst>
          </p:cNvPr>
          <p:cNvSpPr txBox="1"/>
          <p:nvPr/>
        </p:nvSpPr>
        <p:spPr>
          <a:xfrm>
            <a:off x="826844" y="734730"/>
            <a:ext cx="7247308" cy="1514694"/>
          </a:xfrm>
          <a:prstGeom prst="rect">
            <a:avLst/>
          </a:prstGeom>
          <a:noFill/>
        </p:spPr>
        <p:txBody>
          <a:bodyPr wrap="square" lIns="0" tIns="0" rIns="0" bIns="0" rtlCol="0">
            <a:noAutofit/>
          </a:bodyPr>
          <a:lstStyle/>
          <a:p>
            <a:pPr algn="l">
              <a:spcAft>
                <a:spcPts val="600"/>
              </a:spcAft>
            </a:pPr>
            <a:r>
              <a:rPr lang="en-US" sz="2800" dirty="0"/>
              <a:t>Common Assumption worth Challenging</a:t>
            </a:r>
            <a:br>
              <a:rPr lang="en-US" sz="2800" dirty="0"/>
            </a:br>
            <a:br>
              <a:rPr lang="en-US" sz="2800" dirty="0"/>
            </a:br>
            <a:endParaRPr lang="en-US" sz="2800" dirty="0"/>
          </a:p>
          <a:p>
            <a:pPr algn="l">
              <a:spcAft>
                <a:spcPts val="600"/>
              </a:spcAft>
            </a:pPr>
            <a:r>
              <a:rPr lang="en-US" sz="2800" dirty="0"/>
              <a:t>People make errors because they…</a:t>
            </a:r>
          </a:p>
        </p:txBody>
      </p:sp>
    </p:spTree>
    <p:extLst>
      <p:ext uri="{BB962C8B-B14F-4D97-AF65-F5344CB8AC3E}">
        <p14:creationId xmlns:p14="http://schemas.microsoft.com/office/powerpoint/2010/main" val="401976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5" grpId="0"/>
      <p:bldP spid="16" grpId="0"/>
      <p:bldP spid="17" grpId="0" animBg="1"/>
      <p:bldP spid="18"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Rectangle 2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AEB000-CC31-D35B-3836-0135F5D0E6FB}"/>
              </a:ext>
            </a:extLst>
          </p:cNvPr>
          <p:cNvSpPr>
            <a:spLocks noGrp="1"/>
          </p:cNvSpPr>
          <p:nvPr>
            <p:ph type="title"/>
          </p:nvPr>
        </p:nvSpPr>
        <p:spPr>
          <a:xfrm>
            <a:off x="283675" y="491112"/>
            <a:ext cx="3754149" cy="3432328"/>
          </a:xfrm>
        </p:spPr>
        <p:txBody>
          <a:bodyPr anchor="b">
            <a:normAutofit/>
          </a:bodyPr>
          <a:lstStyle/>
          <a:p>
            <a:r>
              <a:rPr lang="en-US" sz="4000" b="1" dirty="0">
                <a:solidFill>
                  <a:srgbClr val="FFFFFF"/>
                </a:solidFill>
              </a:rPr>
              <a:t>Learning is Vital.</a:t>
            </a:r>
            <a:endParaRPr lang="en-US" sz="4000" dirty="0">
              <a:solidFill>
                <a:schemeClr val="bg1"/>
              </a:solidFill>
            </a:endParaRPr>
          </a:p>
        </p:txBody>
      </p:sp>
      <p:sp>
        <p:nvSpPr>
          <p:cNvPr id="33" name="TextBox 32">
            <a:extLst>
              <a:ext uri="{FF2B5EF4-FFF2-40B4-BE49-F238E27FC236}">
                <a16:creationId xmlns:a16="http://schemas.microsoft.com/office/drawing/2014/main" id="{8A9E61FD-50C8-A28C-F088-ECE57C8C8F23}"/>
              </a:ext>
            </a:extLst>
          </p:cNvPr>
          <p:cNvSpPr txBox="1"/>
          <p:nvPr/>
        </p:nvSpPr>
        <p:spPr>
          <a:xfrm>
            <a:off x="5041907" y="596802"/>
            <a:ext cx="6271648" cy="2492990"/>
          </a:xfrm>
          <a:prstGeom prst="rect">
            <a:avLst/>
          </a:prstGeom>
          <a:noFill/>
        </p:spPr>
        <p:txBody>
          <a:bodyPr wrap="square">
            <a:spAutoFit/>
          </a:bodyPr>
          <a:lstStyle/>
          <a:p>
            <a:pPr algn="ctr"/>
            <a:r>
              <a:rPr lang="en-US" sz="3600" dirty="0"/>
              <a:t>Every incident is an opportunity to learn.</a:t>
            </a:r>
          </a:p>
          <a:p>
            <a:pPr algn="ctr"/>
            <a:endParaRPr lang="en-US" sz="3600" dirty="0">
              <a:solidFill>
                <a:srgbClr val="000000"/>
              </a:solidFill>
              <a:latin typeface="+mj-lt"/>
            </a:endParaRPr>
          </a:p>
          <a:p>
            <a:pPr algn="ctr"/>
            <a:r>
              <a:rPr lang="en-US" sz="2400" dirty="0"/>
              <a:t>Even the simplest of incidents holds the potential for great information if we are willing to learn.</a:t>
            </a:r>
            <a:endParaRPr lang="en-US" sz="2400" dirty="0">
              <a:latin typeface="+mj-lt"/>
            </a:endParaRPr>
          </a:p>
        </p:txBody>
      </p:sp>
      <p:pic>
        <p:nvPicPr>
          <p:cNvPr id="2050" name="Picture 2">
            <a:extLst>
              <a:ext uri="{FF2B5EF4-FFF2-40B4-BE49-F238E27FC236}">
                <a16:creationId xmlns:a16="http://schemas.microsoft.com/office/drawing/2014/main" id="{4E07C9E9-AA00-BD24-C3F1-87712DC6F6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9084" y="3418860"/>
            <a:ext cx="6690167" cy="326145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1" name="Picture 3" descr="Text Box">
            <a:extLst>
              <a:ext uri="{FF2B5EF4-FFF2-40B4-BE49-F238E27FC236}">
                <a16:creationId xmlns:a16="http://schemas.microsoft.com/office/drawing/2014/main" id="{F7689231-4C0A-B23C-D5C2-C9A2F6D719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39542" y="-2778715"/>
            <a:ext cx="4286250" cy="200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460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Rectangle 2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AEB000-CC31-D35B-3836-0135F5D0E6FB}"/>
              </a:ext>
            </a:extLst>
          </p:cNvPr>
          <p:cNvSpPr>
            <a:spLocks noGrp="1"/>
          </p:cNvSpPr>
          <p:nvPr>
            <p:ph type="title"/>
          </p:nvPr>
        </p:nvSpPr>
        <p:spPr>
          <a:xfrm>
            <a:off x="283675" y="491112"/>
            <a:ext cx="3754149" cy="3432328"/>
          </a:xfrm>
        </p:spPr>
        <p:txBody>
          <a:bodyPr anchor="b">
            <a:normAutofit/>
          </a:bodyPr>
          <a:lstStyle/>
          <a:p>
            <a:r>
              <a:rPr lang="en-US" sz="4000" b="1" dirty="0">
                <a:solidFill>
                  <a:srgbClr val="FFFFFF"/>
                </a:solidFill>
              </a:rPr>
              <a:t>Context Drives Behavior.</a:t>
            </a:r>
            <a:endParaRPr lang="en-US" sz="4000" dirty="0">
              <a:solidFill>
                <a:schemeClr val="bg1"/>
              </a:solidFill>
            </a:endParaRPr>
          </a:p>
        </p:txBody>
      </p:sp>
      <p:sp>
        <p:nvSpPr>
          <p:cNvPr id="33" name="TextBox 32">
            <a:extLst>
              <a:ext uri="{FF2B5EF4-FFF2-40B4-BE49-F238E27FC236}">
                <a16:creationId xmlns:a16="http://schemas.microsoft.com/office/drawing/2014/main" id="{8A9E61FD-50C8-A28C-F088-ECE57C8C8F23}"/>
              </a:ext>
            </a:extLst>
          </p:cNvPr>
          <p:cNvSpPr txBox="1"/>
          <p:nvPr/>
        </p:nvSpPr>
        <p:spPr>
          <a:xfrm>
            <a:off x="4840708" y="619338"/>
            <a:ext cx="6271648" cy="3046988"/>
          </a:xfrm>
          <a:prstGeom prst="rect">
            <a:avLst/>
          </a:prstGeom>
          <a:noFill/>
        </p:spPr>
        <p:txBody>
          <a:bodyPr wrap="square">
            <a:spAutoFit/>
          </a:bodyPr>
          <a:lstStyle/>
          <a:p>
            <a:pPr algn="ctr"/>
            <a:r>
              <a:rPr lang="en-US" sz="3600" dirty="0"/>
              <a:t>It is far too easy to judge.</a:t>
            </a:r>
          </a:p>
          <a:p>
            <a:pPr algn="ctr"/>
            <a:endParaRPr lang="en-US" sz="3600" dirty="0">
              <a:solidFill>
                <a:srgbClr val="000000"/>
              </a:solidFill>
              <a:latin typeface="+mj-lt"/>
            </a:endParaRPr>
          </a:p>
          <a:p>
            <a:pPr algn="ctr"/>
            <a:r>
              <a:rPr lang="en-US" sz="2400" dirty="0"/>
              <a:t>By looking at the incident through the employee’s eyes at the time of the incident, we stand to gain valuable information about the influences and variables that led to the employee’s actions.</a:t>
            </a:r>
            <a:endParaRPr lang="en-US" sz="2400" dirty="0">
              <a:latin typeface="+mj-lt"/>
            </a:endParaRPr>
          </a:p>
        </p:txBody>
      </p:sp>
      <p:pic>
        <p:nvPicPr>
          <p:cNvPr id="3074" name="Picture 2">
            <a:extLst>
              <a:ext uri="{FF2B5EF4-FFF2-40B4-BE49-F238E27FC236}">
                <a16:creationId xmlns:a16="http://schemas.microsoft.com/office/drawing/2014/main" id="{DB801435-4FE2-408E-83FE-EA4AEB0F5F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2947" y="3842198"/>
            <a:ext cx="3887169" cy="2745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4849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11736" y="1664451"/>
            <a:ext cx="7409203" cy="2901893"/>
          </a:xfrm>
          <a:prstGeom prst="rect">
            <a:avLst/>
          </a:prstGeom>
          <a:noFill/>
        </p:spPr>
        <p:txBody>
          <a:bodyPr wrap="square" lIns="85460" tIns="42730" rIns="85460" bIns="42730">
            <a:spAutoFit/>
          </a:bodyPr>
          <a:lstStyle/>
          <a:p>
            <a:r>
              <a:rPr lang="en-US" sz="3000" kern="0" dirty="0">
                <a:latin typeface="+mj-lt"/>
                <a:ea typeface="+mj-ea"/>
                <a:cs typeface="Arial" panose="020B0604020202020204" pitchFamily="34" charset="0"/>
              </a:rPr>
              <a:t>Workers don’t cause failures.</a:t>
            </a:r>
          </a:p>
          <a:p>
            <a:endParaRPr lang="en-US" sz="3000" kern="0" dirty="0">
              <a:latin typeface="+mj-lt"/>
              <a:ea typeface="+mj-ea"/>
              <a:cs typeface="Arial" panose="020B0604020202020204" pitchFamily="34" charset="0"/>
            </a:endParaRPr>
          </a:p>
          <a:p>
            <a:r>
              <a:rPr lang="en-US" sz="3000" kern="0" dirty="0">
                <a:latin typeface="+mj-lt"/>
                <a:ea typeface="+mj-ea"/>
                <a:cs typeface="Arial" panose="020B0604020202020204" pitchFamily="34" charset="0"/>
              </a:rPr>
              <a:t>Worker’s </a:t>
            </a:r>
            <a:r>
              <a:rPr lang="en-US" sz="3000" b="1" kern="0" dirty="0">
                <a:solidFill>
                  <a:schemeClr val="accent5"/>
                </a:solidFill>
                <a:latin typeface="+mj-lt"/>
                <a:ea typeface="+mj-ea"/>
                <a:cs typeface="Arial" panose="020B0604020202020204" pitchFamily="34" charset="0"/>
              </a:rPr>
              <a:t>“trigger” latent conditions</a:t>
            </a:r>
            <a:r>
              <a:rPr lang="en-US" sz="3000" kern="0" dirty="0">
                <a:solidFill>
                  <a:schemeClr val="accent5"/>
                </a:solidFill>
                <a:latin typeface="+mj-lt"/>
                <a:ea typeface="+mj-ea"/>
                <a:cs typeface="Arial" panose="020B0604020202020204" pitchFamily="34" charset="0"/>
              </a:rPr>
              <a:t> </a:t>
            </a:r>
            <a:r>
              <a:rPr lang="en-US" sz="3000" kern="0" dirty="0">
                <a:latin typeface="+mj-lt"/>
                <a:ea typeface="+mj-ea"/>
                <a:cs typeface="Arial" panose="020B0604020202020204" pitchFamily="34" charset="0"/>
              </a:rPr>
              <a:t>that lie dormant in our organizations.</a:t>
            </a:r>
          </a:p>
          <a:p>
            <a:endParaRPr lang="en-US" sz="3000" kern="0" dirty="0">
              <a:latin typeface="+mj-lt"/>
              <a:ea typeface="+mj-ea"/>
              <a:cs typeface="Arial" panose="020B0604020202020204" pitchFamily="34" charset="0"/>
            </a:endParaRPr>
          </a:p>
          <a:p>
            <a:r>
              <a:rPr lang="en-US" sz="3000" b="1" kern="0" dirty="0">
                <a:latin typeface="+mj-lt"/>
                <a:ea typeface="+mj-ea"/>
                <a:cs typeface="Arial" panose="020B0604020202020204" pitchFamily="34" charset="0"/>
              </a:rPr>
              <a:t>Errors are consequences not causes.</a:t>
            </a:r>
          </a:p>
        </p:txBody>
      </p:sp>
    </p:spTree>
    <p:extLst>
      <p:ext uri="{BB962C8B-B14F-4D97-AF65-F5344CB8AC3E}">
        <p14:creationId xmlns:p14="http://schemas.microsoft.com/office/powerpoint/2010/main" val="408283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7252AE5-EF05-F87A-D11E-05A521FA55F8}"/>
              </a:ext>
            </a:extLst>
          </p:cNvPr>
          <p:cNvSpPr/>
          <p:nvPr/>
        </p:nvSpPr>
        <p:spPr>
          <a:xfrm>
            <a:off x="4710063" y="2793944"/>
            <a:ext cx="6918328" cy="2235594"/>
          </a:xfrm>
          <a:prstGeom prst="rect">
            <a:avLst/>
          </a:prstGeom>
          <a:solidFill>
            <a:srgbClr val="DE5D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endParaRPr>
          </a:p>
        </p:txBody>
      </p:sp>
      <p:graphicFrame>
        <p:nvGraphicFramePr>
          <p:cNvPr id="2" name="Diagram 1">
            <a:extLst>
              <a:ext uri="{FF2B5EF4-FFF2-40B4-BE49-F238E27FC236}">
                <a16:creationId xmlns:a16="http://schemas.microsoft.com/office/drawing/2014/main" id="{51AFE5F8-1A57-B189-F2D7-FDAD25DF5BE9}"/>
              </a:ext>
            </a:extLst>
          </p:cNvPr>
          <p:cNvGraphicFramePr/>
          <p:nvPr>
            <p:extLst>
              <p:ext uri="{D42A27DB-BD31-4B8C-83A1-F6EECF244321}">
                <p14:modId xmlns:p14="http://schemas.microsoft.com/office/powerpoint/2010/main" val="1451515721"/>
              </p:ext>
            </p:extLst>
          </p:nvPr>
        </p:nvGraphicFramePr>
        <p:xfrm>
          <a:off x="3293241" y="719666"/>
          <a:ext cx="8588983"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D3CCF278-2B82-1FE0-6782-BF18322ADB90}"/>
              </a:ext>
            </a:extLst>
          </p:cNvPr>
          <p:cNvGrpSpPr/>
          <p:nvPr/>
        </p:nvGrpSpPr>
        <p:grpSpPr>
          <a:xfrm>
            <a:off x="159565" y="1979949"/>
            <a:ext cx="3099517" cy="2898099"/>
            <a:chOff x="246713" y="188000"/>
            <a:chExt cx="2622805" cy="2228357"/>
          </a:xfrm>
        </p:grpSpPr>
        <p:grpSp>
          <p:nvGrpSpPr>
            <p:cNvPr id="4" name="Group 3">
              <a:extLst>
                <a:ext uri="{FF2B5EF4-FFF2-40B4-BE49-F238E27FC236}">
                  <a16:creationId xmlns:a16="http://schemas.microsoft.com/office/drawing/2014/main" id="{4398A35F-B9FA-5051-0D18-CB5D817FFE37}"/>
                </a:ext>
              </a:extLst>
            </p:cNvPr>
            <p:cNvGrpSpPr/>
            <p:nvPr/>
          </p:nvGrpSpPr>
          <p:grpSpPr>
            <a:xfrm>
              <a:off x="246713" y="188000"/>
              <a:ext cx="1770194" cy="2012682"/>
              <a:chOff x="20" y="10"/>
              <a:chExt cx="6095980" cy="6857990"/>
            </a:xfrm>
          </p:grpSpPr>
          <p:pic>
            <p:nvPicPr>
              <p:cNvPr id="8" name="Picture 7">
                <a:extLst>
                  <a:ext uri="{FF2B5EF4-FFF2-40B4-BE49-F238E27FC236}">
                    <a16:creationId xmlns:a16="http://schemas.microsoft.com/office/drawing/2014/main" id="{A0E782B7-5AEA-EB79-6C40-428F56E4EB13}"/>
                  </a:ext>
                </a:extLst>
              </p:cNvPr>
              <p:cNvPicPr>
                <a:picLocks noChangeAspect="1"/>
              </p:cNvPicPr>
              <p:nvPr/>
            </p:nvPicPr>
            <p:blipFill rotWithShape="1">
              <a:blip r:embed="rId8">
                <a:extLst>
                  <a:ext uri="{BEBA8EAE-BF5A-486C-A8C5-ECC9F3942E4B}">
                    <a14:imgProps xmlns:a14="http://schemas.microsoft.com/office/drawing/2010/main">
                      <a14:imgLayer r:embed="rId9">
                        <a14:imgEffect>
                          <a14:backgroundRemoval t="2333" b="98667" l="10000" r="90000">
                            <a14:foregroundMark x1="69500" y1="63000" x2="58500" y2="94667"/>
                            <a14:foregroundMark x1="58500" y1="94667" x2="58500" y2="94667"/>
                            <a14:foregroundMark x1="31333" y1="88667" x2="41167" y2="92500"/>
                            <a14:foregroundMark x1="41167" y1="92500" x2="54167" y2="92667"/>
                            <a14:foregroundMark x1="54167" y1="92667" x2="68167" y2="89667"/>
                            <a14:foregroundMark x1="49500" y1="97500" x2="49667" y2="98833"/>
                            <a14:foregroundMark x1="27500" y1="40000" x2="25667" y2="4333"/>
                            <a14:foregroundMark x1="25667" y1="4333" x2="56000" y2="1500"/>
                            <a14:foregroundMark x1="56000" y1="1500" x2="74000" y2="2333"/>
                            <a14:foregroundMark x1="74000" y1="2333" x2="79500" y2="10167"/>
                            <a14:foregroundMark x1="79500" y1="10167" x2="75667" y2="18833"/>
                            <a14:foregroundMark x1="75667" y1="18833" x2="69833" y2="25167"/>
                            <a14:foregroundMark x1="69833" y1="25167" x2="48667" y2="30000"/>
                            <a14:foregroundMark x1="48667" y1="30000" x2="41167" y2="11667"/>
                            <a14:foregroundMark x1="41167" y1="11667" x2="32333" y2="10833"/>
                            <a14:foregroundMark x1="32333" y1="10833" x2="27333" y2="18500"/>
                            <a14:foregroundMark x1="27333" y1="18500" x2="29333" y2="22333"/>
                            <a14:foregroundMark x1="74500" y1="23333" x2="38000" y2="24500"/>
                            <a14:foregroundMark x1="38000" y1="24500" x2="38000" y2="24500"/>
                            <a14:foregroundMark x1="30167" y1="17500" x2="36833" y2="22667"/>
                            <a14:foregroundMark x1="36833" y1="22667" x2="47167" y2="25333"/>
                            <a14:foregroundMark x1="47167" y1="25333" x2="54000" y2="19667"/>
                            <a14:foregroundMark x1="54000" y1="19667" x2="57833" y2="22833"/>
                            <a14:foregroundMark x1="31500" y1="31167" x2="33000" y2="21333"/>
                          </a14:backgroundRemoval>
                        </a14:imgEffect>
                      </a14:imgLayer>
                    </a14:imgProps>
                  </a:ext>
                </a:extLst>
              </a:blip>
              <a:srcRect l="9685" r="1426"/>
              <a:stretch/>
            </p:blipFill>
            <p:spPr>
              <a:xfrm rot="21600000">
                <a:off x="20" y="10"/>
                <a:ext cx="6095980" cy="6857990"/>
              </a:xfrm>
              <a:prstGeom prst="rect">
                <a:avLst/>
              </a:prstGeom>
            </p:spPr>
          </p:pic>
          <p:pic>
            <p:nvPicPr>
              <p:cNvPr id="9" name="Picture 8">
                <a:extLst>
                  <a:ext uri="{FF2B5EF4-FFF2-40B4-BE49-F238E27FC236}">
                    <a16:creationId xmlns:a16="http://schemas.microsoft.com/office/drawing/2014/main" id="{37FF1CC0-87BC-EA77-C425-0815CBE5DBC3}"/>
                  </a:ext>
                </a:extLst>
              </p:cNvPr>
              <p:cNvPicPr>
                <a:picLocks noChangeAspect="1"/>
              </p:cNvPicPr>
              <p:nvPr/>
            </p:nvPicPr>
            <p:blipFill rotWithShape="1">
              <a:blip r:embed="rId8">
                <a:extLst>
                  <a:ext uri="{BEBA8EAE-BF5A-486C-A8C5-ECC9F3942E4B}">
                    <a14:imgProps xmlns:a14="http://schemas.microsoft.com/office/drawing/2010/main">
                      <a14:imgLayer r:embed="rId9">
                        <a14:imgEffect>
                          <a14:backgroundRemoval t="2333" b="98667" l="10000" r="90000">
                            <a14:foregroundMark x1="69500" y1="63000" x2="58500" y2="94667"/>
                            <a14:foregroundMark x1="58500" y1="94667" x2="58500" y2="94667"/>
                            <a14:foregroundMark x1="31333" y1="88667" x2="41167" y2="92500"/>
                            <a14:foregroundMark x1="41167" y1="92500" x2="54167" y2="92667"/>
                            <a14:foregroundMark x1="54167" y1="92667" x2="68167" y2="89667"/>
                            <a14:foregroundMark x1="49500" y1="97500" x2="49667" y2="98833"/>
                            <a14:foregroundMark x1="27500" y1="40000" x2="25667" y2="4333"/>
                            <a14:foregroundMark x1="25667" y1="4333" x2="56000" y2="1500"/>
                            <a14:foregroundMark x1="56000" y1="1500" x2="74000" y2="2333"/>
                            <a14:foregroundMark x1="74000" y1="2333" x2="79500" y2="10167"/>
                            <a14:foregroundMark x1="79500" y1="10167" x2="75667" y2="18833"/>
                            <a14:foregroundMark x1="75667" y1="18833" x2="69833" y2="25167"/>
                            <a14:foregroundMark x1="69833" y1="25167" x2="48667" y2="30000"/>
                            <a14:foregroundMark x1="48667" y1="30000" x2="41167" y2="11667"/>
                            <a14:foregroundMark x1="41167" y1="11667" x2="32333" y2="10833"/>
                            <a14:foregroundMark x1="32333" y1="10833" x2="27333" y2="18500"/>
                            <a14:foregroundMark x1="27333" y1="18500" x2="29333" y2="22333"/>
                            <a14:foregroundMark x1="74500" y1="23333" x2="38000" y2="24500"/>
                            <a14:foregroundMark x1="38000" y1="24500" x2="38000" y2="24500"/>
                            <a14:foregroundMark x1="30167" y1="17500" x2="36833" y2="22667"/>
                            <a14:foregroundMark x1="36833" y1="22667" x2="47167" y2="25333"/>
                            <a14:foregroundMark x1="47167" y1="25333" x2="54000" y2="19667"/>
                            <a14:foregroundMark x1="54000" y1="19667" x2="57833" y2="22833"/>
                            <a14:foregroundMark x1="31500" y1="31167" x2="33000" y2="21333"/>
                          </a14:backgroundRemoval>
                        </a14:imgEffect>
                      </a14:imgLayer>
                    </a14:imgProps>
                  </a:ext>
                </a:extLst>
              </a:blip>
              <a:srcRect l="26675" t="44659" r="25503" b="39140"/>
              <a:stretch/>
            </p:blipFill>
            <p:spPr>
              <a:xfrm rot="21600000">
                <a:off x="866285" y="1044515"/>
                <a:ext cx="3754875" cy="1111045"/>
              </a:xfrm>
              <a:prstGeom prst="rect">
                <a:avLst/>
              </a:prstGeom>
            </p:spPr>
          </p:pic>
        </p:grpSp>
        <p:grpSp>
          <p:nvGrpSpPr>
            <p:cNvPr id="5" name="Group 4">
              <a:extLst>
                <a:ext uri="{FF2B5EF4-FFF2-40B4-BE49-F238E27FC236}">
                  <a16:creationId xmlns:a16="http://schemas.microsoft.com/office/drawing/2014/main" id="{AB93AE9F-060C-F0F8-3A88-FE36107BAABE}"/>
                </a:ext>
              </a:extLst>
            </p:cNvPr>
            <p:cNvGrpSpPr/>
            <p:nvPr/>
          </p:nvGrpSpPr>
          <p:grpSpPr>
            <a:xfrm>
              <a:off x="1099324" y="403675"/>
              <a:ext cx="1770194" cy="2012682"/>
              <a:chOff x="20" y="10"/>
              <a:chExt cx="6095980" cy="6857990"/>
            </a:xfrm>
          </p:grpSpPr>
          <p:pic>
            <p:nvPicPr>
              <p:cNvPr id="6" name="Picture 5">
                <a:extLst>
                  <a:ext uri="{FF2B5EF4-FFF2-40B4-BE49-F238E27FC236}">
                    <a16:creationId xmlns:a16="http://schemas.microsoft.com/office/drawing/2014/main" id="{C9CCC98A-61DE-7BCE-E53C-0FF5895718DC}"/>
                  </a:ext>
                </a:extLst>
              </p:cNvPr>
              <p:cNvPicPr>
                <a:picLocks noChangeAspect="1"/>
              </p:cNvPicPr>
              <p:nvPr/>
            </p:nvPicPr>
            <p:blipFill rotWithShape="1">
              <a:blip r:embed="rId8">
                <a:extLst>
                  <a:ext uri="{BEBA8EAE-BF5A-486C-A8C5-ECC9F3942E4B}">
                    <a14:imgProps xmlns:a14="http://schemas.microsoft.com/office/drawing/2010/main">
                      <a14:imgLayer r:embed="rId9">
                        <a14:imgEffect>
                          <a14:backgroundRemoval t="2333" b="98667" l="10000" r="90000">
                            <a14:foregroundMark x1="69500" y1="63000" x2="58500" y2="94667"/>
                            <a14:foregroundMark x1="58500" y1="94667" x2="58500" y2="94667"/>
                            <a14:foregroundMark x1="31333" y1="88667" x2="41167" y2="92500"/>
                            <a14:foregroundMark x1="41167" y1="92500" x2="54167" y2="92667"/>
                            <a14:foregroundMark x1="54167" y1="92667" x2="68167" y2="89667"/>
                            <a14:foregroundMark x1="49500" y1="97500" x2="49667" y2="98833"/>
                            <a14:foregroundMark x1="27500" y1="40000" x2="25667" y2="4333"/>
                            <a14:foregroundMark x1="25667" y1="4333" x2="56000" y2="1500"/>
                            <a14:foregroundMark x1="56000" y1="1500" x2="74000" y2="2333"/>
                            <a14:foregroundMark x1="74000" y1="2333" x2="79500" y2="10167"/>
                            <a14:foregroundMark x1="79500" y1="10167" x2="75667" y2="18833"/>
                            <a14:foregroundMark x1="75667" y1="18833" x2="69833" y2="25167"/>
                            <a14:foregroundMark x1="69833" y1="25167" x2="48667" y2="30000"/>
                            <a14:foregroundMark x1="48667" y1="30000" x2="41167" y2="11667"/>
                            <a14:foregroundMark x1="41167" y1="11667" x2="32333" y2="10833"/>
                            <a14:foregroundMark x1="32333" y1="10833" x2="27333" y2="18500"/>
                            <a14:foregroundMark x1="27333" y1="18500" x2="29333" y2="22333"/>
                            <a14:foregroundMark x1="74500" y1="23333" x2="38000" y2="24500"/>
                            <a14:foregroundMark x1="38000" y1="24500" x2="38000" y2="24500"/>
                            <a14:foregroundMark x1="30167" y1="17500" x2="36833" y2="22667"/>
                            <a14:foregroundMark x1="36833" y1="22667" x2="47167" y2="25333"/>
                            <a14:foregroundMark x1="47167" y1="25333" x2="54000" y2="19667"/>
                            <a14:foregroundMark x1="54000" y1="19667" x2="57833" y2="22833"/>
                            <a14:foregroundMark x1="31500" y1="31167" x2="33000" y2="21333"/>
                          </a14:backgroundRemoval>
                        </a14:imgEffect>
                      </a14:imgLayer>
                    </a14:imgProps>
                  </a:ext>
                </a:extLst>
              </a:blip>
              <a:srcRect l="9685" r="1426"/>
              <a:stretch/>
            </p:blipFill>
            <p:spPr>
              <a:xfrm rot="21600000">
                <a:off x="20" y="10"/>
                <a:ext cx="6095980" cy="6857990"/>
              </a:xfrm>
              <a:prstGeom prst="rect">
                <a:avLst/>
              </a:prstGeom>
            </p:spPr>
          </p:pic>
          <p:pic>
            <p:nvPicPr>
              <p:cNvPr id="7" name="Picture 6">
                <a:extLst>
                  <a:ext uri="{FF2B5EF4-FFF2-40B4-BE49-F238E27FC236}">
                    <a16:creationId xmlns:a16="http://schemas.microsoft.com/office/drawing/2014/main" id="{CABFE441-3209-2E1F-97D1-A8AC2D3A8AC2}"/>
                  </a:ext>
                </a:extLst>
              </p:cNvPr>
              <p:cNvPicPr>
                <a:picLocks noChangeAspect="1"/>
              </p:cNvPicPr>
              <p:nvPr/>
            </p:nvPicPr>
            <p:blipFill rotWithShape="1">
              <a:blip r:embed="rId8">
                <a:extLst>
                  <a:ext uri="{BEBA8EAE-BF5A-486C-A8C5-ECC9F3942E4B}">
                    <a14:imgProps xmlns:a14="http://schemas.microsoft.com/office/drawing/2010/main">
                      <a14:imgLayer r:embed="rId9">
                        <a14:imgEffect>
                          <a14:backgroundRemoval t="2333" b="98667" l="10000" r="90000">
                            <a14:foregroundMark x1="69500" y1="63000" x2="58500" y2="94667"/>
                            <a14:foregroundMark x1="58500" y1="94667" x2="58500" y2="94667"/>
                            <a14:foregroundMark x1="31333" y1="88667" x2="41167" y2="92500"/>
                            <a14:foregroundMark x1="41167" y1="92500" x2="54167" y2="92667"/>
                            <a14:foregroundMark x1="54167" y1="92667" x2="68167" y2="89667"/>
                            <a14:foregroundMark x1="49500" y1="97500" x2="49667" y2="98833"/>
                            <a14:foregroundMark x1="27500" y1="40000" x2="25667" y2="4333"/>
                            <a14:foregroundMark x1="25667" y1="4333" x2="56000" y2="1500"/>
                            <a14:foregroundMark x1="56000" y1="1500" x2="74000" y2="2333"/>
                            <a14:foregroundMark x1="74000" y1="2333" x2="79500" y2="10167"/>
                            <a14:foregroundMark x1="79500" y1="10167" x2="75667" y2="18833"/>
                            <a14:foregroundMark x1="75667" y1="18833" x2="69833" y2="25167"/>
                            <a14:foregroundMark x1="69833" y1="25167" x2="48667" y2="30000"/>
                            <a14:foregroundMark x1="48667" y1="30000" x2="41167" y2="11667"/>
                            <a14:foregroundMark x1="41167" y1="11667" x2="32333" y2="10833"/>
                            <a14:foregroundMark x1="32333" y1="10833" x2="27333" y2="18500"/>
                            <a14:foregroundMark x1="27333" y1="18500" x2="29333" y2="22333"/>
                            <a14:foregroundMark x1="74500" y1="23333" x2="38000" y2="24500"/>
                            <a14:foregroundMark x1="38000" y1="24500" x2="38000" y2="24500"/>
                            <a14:foregroundMark x1="30167" y1="17500" x2="36833" y2="22667"/>
                            <a14:foregroundMark x1="36833" y1="22667" x2="47167" y2="25333"/>
                            <a14:foregroundMark x1="47167" y1="25333" x2="54000" y2="19667"/>
                            <a14:foregroundMark x1="54000" y1="19667" x2="57833" y2="22833"/>
                            <a14:foregroundMark x1="31500" y1="31167" x2="33000" y2="21333"/>
                          </a14:backgroundRemoval>
                        </a14:imgEffect>
                      </a14:imgLayer>
                    </a14:imgProps>
                  </a:ext>
                </a:extLst>
              </a:blip>
              <a:srcRect l="26675" t="44659" r="25503" b="39140"/>
              <a:stretch/>
            </p:blipFill>
            <p:spPr>
              <a:xfrm rot="21600000">
                <a:off x="866285" y="1044515"/>
                <a:ext cx="3754875" cy="1111045"/>
              </a:xfrm>
              <a:prstGeom prst="rect">
                <a:avLst/>
              </a:prstGeom>
            </p:spPr>
          </p:pic>
        </p:grpSp>
      </p:grpSp>
      <p:pic>
        <p:nvPicPr>
          <p:cNvPr id="14" name="Graphic 13" descr="Right pointing backhand index outline">
            <a:extLst>
              <a:ext uri="{FF2B5EF4-FFF2-40B4-BE49-F238E27FC236}">
                <a16:creationId xmlns:a16="http://schemas.microsoft.com/office/drawing/2014/main" id="{D5AA5A19-D7C3-207B-E469-BB68AC35A46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34577" y="2175657"/>
            <a:ext cx="2740820" cy="2421894"/>
          </a:xfrm>
          <a:prstGeom prst="rect">
            <a:avLst/>
          </a:prstGeom>
        </p:spPr>
      </p:pic>
      <p:sp>
        <p:nvSpPr>
          <p:cNvPr id="15" name="Rectangle 14">
            <a:extLst>
              <a:ext uri="{FF2B5EF4-FFF2-40B4-BE49-F238E27FC236}">
                <a16:creationId xmlns:a16="http://schemas.microsoft.com/office/drawing/2014/main" id="{7C9058EC-2B1E-C08F-64DB-A1AC625CD30C}"/>
              </a:ext>
            </a:extLst>
          </p:cNvPr>
          <p:cNvSpPr/>
          <p:nvPr/>
        </p:nvSpPr>
        <p:spPr>
          <a:xfrm>
            <a:off x="5423054" y="1271141"/>
            <a:ext cx="6205337" cy="707886"/>
          </a:xfrm>
          <a:prstGeom prst="rect">
            <a:avLst/>
          </a:prstGeom>
          <a:noFill/>
        </p:spPr>
        <p:txBody>
          <a:bodyPr wrap="square" lIns="91440" tIns="45720" rIns="91440" bIns="45720">
            <a:spAutoFit/>
          </a:bodyPr>
          <a:lstStyle/>
          <a:p>
            <a:r>
              <a:rPr lang="en-US" sz="2000" b="0" cap="none" spc="0" dirty="0">
                <a:ln w="0"/>
                <a:solidFill>
                  <a:schemeClr val="accent1"/>
                </a:solidFill>
                <a:effectLst>
                  <a:outerShdw blurRad="38100" dist="25400" dir="5400000" algn="ctr" rotWithShape="0">
                    <a:srgbClr val="6E747A">
                      <a:alpha val="43000"/>
                    </a:srgbClr>
                  </a:outerShdw>
                </a:effectLst>
              </a:rPr>
              <a:t>Traditional Investigation: </a:t>
            </a:r>
            <a:br>
              <a:rPr lang="en-US" sz="2000" b="0" cap="none" spc="0" dirty="0">
                <a:ln w="0"/>
                <a:solidFill>
                  <a:schemeClr val="accent1"/>
                </a:solidFill>
                <a:effectLst>
                  <a:outerShdw blurRad="38100" dist="25400" dir="5400000" algn="ctr" rotWithShape="0">
                    <a:srgbClr val="6E747A">
                      <a:alpha val="43000"/>
                    </a:srgbClr>
                  </a:outerShdw>
                </a:effectLst>
              </a:rPr>
            </a:br>
            <a:r>
              <a:rPr lang="en-US" sz="2000" b="0" i="1" cap="none" spc="0" dirty="0">
                <a:ln w="0"/>
                <a:solidFill>
                  <a:schemeClr val="accent1"/>
                </a:solidFill>
                <a:effectLst>
                  <a:outerShdw blurRad="38100" dist="25400" dir="5400000" algn="ctr" rotWithShape="0">
                    <a:srgbClr val="6E747A">
                      <a:alpha val="43000"/>
                    </a:srgbClr>
                  </a:outerShdw>
                </a:effectLst>
              </a:rPr>
              <a:t>views human error as the </a:t>
            </a:r>
            <a:r>
              <a:rPr lang="en-US" sz="2000" b="1" i="1" cap="none" spc="0" dirty="0">
                <a:ln w="0"/>
                <a:solidFill>
                  <a:schemeClr val="accent1"/>
                </a:solidFill>
                <a:effectLst>
                  <a:outerShdw blurRad="38100" dist="25400" dir="5400000" algn="ctr" rotWithShape="0">
                    <a:srgbClr val="6E747A">
                      <a:alpha val="43000"/>
                    </a:srgbClr>
                  </a:outerShdw>
                </a:effectLst>
              </a:rPr>
              <a:t>cause</a:t>
            </a:r>
            <a:r>
              <a:rPr lang="en-US" sz="2000" b="0" i="1" cap="none" spc="0" dirty="0">
                <a:ln w="0"/>
                <a:solidFill>
                  <a:schemeClr val="accent1"/>
                </a:solidFill>
                <a:effectLst>
                  <a:outerShdw blurRad="38100" dist="25400" dir="5400000" algn="ctr" rotWithShape="0">
                    <a:srgbClr val="6E747A">
                      <a:alpha val="43000"/>
                    </a:srgbClr>
                  </a:outerShdw>
                </a:effectLst>
              </a:rPr>
              <a:t> of the event</a:t>
            </a:r>
          </a:p>
        </p:txBody>
      </p:sp>
    </p:spTree>
    <p:extLst>
      <p:ext uri="{BB962C8B-B14F-4D97-AF65-F5344CB8AC3E}">
        <p14:creationId xmlns:p14="http://schemas.microsoft.com/office/powerpoint/2010/main" val="859033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AA3ED05-567D-5807-46CF-54CAA091034A}"/>
              </a:ext>
            </a:extLst>
          </p:cNvPr>
          <p:cNvSpPr/>
          <p:nvPr/>
        </p:nvSpPr>
        <p:spPr>
          <a:xfrm>
            <a:off x="4710063" y="2793944"/>
            <a:ext cx="6918328" cy="2235594"/>
          </a:xfrm>
          <a:prstGeom prst="rect">
            <a:avLst/>
          </a:prstGeom>
          <a:solidFill>
            <a:srgbClr val="1D78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graphicFrame>
        <p:nvGraphicFramePr>
          <p:cNvPr id="2" name="Diagram 1">
            <a:extLst>
              <a:ext uri="{FF2B5EF4-FFF2-40B4-BE49-F238E27FC236}">
                <a16:creationId xmlns:a16="http://schemas.microsoft.com/office/drawing/2014/main" id="{51AFE5F8-1A57-B189-F2D7-FDAD25DF5BE9}"/>
              </a:ext>
            </a:extLst>
          </p:cNvPr>
          <p:cNvGraphicFramePr/>
          <p:nvPr>
            <p:extLst>
              <p:ext uri="{D42A27DB-BD31-4B8C-83A1-F6EECF244321}">
                <p14:modId xmlns:p14="http://schemas.microsoft.com/office/powerpoint/2010/main" val="2026534379"/>
              </p:ext>
            </p:extLst>
          </p:nvPr>
        </p:nvGraphicFramePr>
        <p:xfrm>
          <a:off x="3293242" y="719666"/>
          <a:ext cx="8588983"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Graphic 9" descr="Lightbulb and gear outline">
            <a:extLst>
              <a:ext uri="{FF2B5EF4-FFF2-40B4-BE49-F238E27FC236}">
                <a16:creationId xmlns:a16="http://schemas.microsoft.com/office/drawing/2014/main" id="{8B2A428F-D200-9101-1312-F60BC8291EB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92069" y="2133672"/>
            <a:ext cx="2435988" cy="2435988"/>
          </a:xfrm>
          <a:prstGeom prst="rect">
            <a:avLst/>
          </a:prstGeom>
        </p:spPr>
      </p:pic>
      <p:sp>
        <p:nvSpPr>
          <p:cNvPr id="16" name="Rectangle 15">
            <a:extLst>
              <a:ext uri="{FF2B5EF4-FFF2-40B4-BE49-F238E27FC236}">
                <a16:creationId xmlns:a16="http://schemas.microsoft.com/office/drawing/2014/main" id="{FB33B240-4E03-0A3B-2442-CD5AC6E0F4FD}"/>
              </a:ext>
            </a:extLst>
          </p:cNvPr>
          <p:cNvSpPr/>
          <p:nvPr/>
        </p:nvSpPr>
        <p:spPr>
          <a:xfrm>
            <a:off x="5380719" y="1331206"/>
            <a:ext cx="6095153" cy="707886"/>
          </a:xfrm>
          <a:prstGeom prst="rect">
            <a:avLst/>
          </a:prstGeom>
          <a:noFill/>
        </p:spPr>
        <p:txBody>
          <a:bodyPr wrap="square" lIns="91440" tIns="45720" rIns="91440" bIns="45720">
            <a:spAutoFit/>
          </a:bodyPr>
          <a:lstStyle/>
          <a:p>
            <a:r>
              <a:rPr lang="en-US" sz="2000" dirty="0">
                <a:ln w="0"/>
                <a:solidFill>
                  <a:schemeClr val="accent1"/>
                </a:solidFill>
                <a:effectLst>
                  <a:outerShdw blurRad="38100" dist="25400" dir="5400000" algn="ctr" rotWithShape="0">
                    <a:srgbClr val="6E747A">
                      <a:alpha val="43000"/>
                    </a:srgbClr>
                  </a:outerShdw>
                </a:effectLst>
              </a:rPr>
              <a:t>Event Learning with Human Factors Lens</a:t>
            </a:r>
            <a:r>
              <a:rPr lang="en-US" sz="2000" b="0" cap="none" spc="0" dirty="0">
                <a:ln w="0"/>
                <a:solidFill>
                  <a:schemeClr val="accent1"/>
                </a:solidFill>
                <a:effectLst>
                  <a:outerShdw blurRad="38100" dist="25400" dir="5400000" algn="ctr" rotWithShape="0">
                    <a:srgbClr val="6E747A">
                      <a:alpha val="43000"/>
                    </a:srgbClr>
                  </a:outerShdw>
                </a:effectLst>
              </a:rPr>
              <a:t>:</a:t>
            </a:r>
          </a:p>
          <a:p>
            <a:r>
              <a:rPr lang="en-US" sz="2000" b="0" i="1" cap="none" spc="0" dirty="0">
                <a:ln w="0"/>
                <a:solidFill>
                  <a:schemeClr val="accent1"/>
                </a:solidFill>
                <a:effectLst>
                  <a:outerShdw blurRad="38100" dist="25400" dir="5400000" algn="ctr" rotWithShape="0">
                    <a:srgbClr val="6E747A">
                      <a:alpha val="43000"/>
                    </a:srgbClr>
                  </a:outerShdw>
                </a:effectLst>
              </a:rPr>
              <a:t>views human error as a </a:t>
            </a:r>
            <a:r>
              <a:rPr lang="en-US" sz="2000" b="1" i="1" cap="none" spc="0" dirty="0">
                <a:ln w="0"/>
                <a:solidFill>
                  <a:schemeClr val="accent1"/>
                </a:solidFill>
                <a:effectLst>
                  <a:outerShdw blurRad="38100" dist="25400" dir="5400000" algn="ctr" rotWithShape="0">
                    <a:srgbClr val="6E747A">
                      <a:alpha val="43000"/>
                    </a:srgbClr>
                  </a:outerShdw>
                </a:effectLst>
              </a:rPr>
              <a:t>consequence</a:t>
            </a:r>
            <a:r>
              <a:rPr lang="en-US" sz="2000" b="0" i="1" cap="none" spc="0" dirty="0">
                <a:ln w="0"/>
                <a:solidFill>
                  <a:schemeClr val="accent1"/>
                </a:solidFill>
                <a:effectLst>
                  <a:outerShdw blurRad="38100" dist="25400" dir="5400000" algn="ctr" rotWithShape="0">
                    <a:srgbClr val="6E747A">
                      <a:alpha val="43000"/>
                    </a:srgbClr>
                  </a:outerShdw>
                </a:effectLst>
              </a:rPr>
              <a:t> of the system</a:t>
            </a:r>
          </a:p>
        </p:txBody>
      </p:sp>
      <p:grpSp>
        <p:nvGrpSpPr>
          <p:cNvPr id="12" name="Group 11">
            <a:extLst>
              <a:ext uri="{FF2B5EF4-FFF2-40B4-BE49-F238E27FC236}">
                <a16:creationId xmlns:a16="http://schemas.microsoft.com/office/drawing/2014/main" id="{C89B34F3-F2D7-F2F2-2A07-093FB35968DD}"/>
              </a:ext>
            </a:extLst>
          </p:cNvPr>
          <p:cNvGrpSpPr/>
          <p:nvPr/>
        </p:nvGrpSpPr>
        <p:grpSpPr>
          <a:xfrm>
            <a:off x="309775" y="1796083"/>
            <a:ext cx="3182294" cy="2898634"/>
            <a:chOff x="309775" y="1796083"/>
            <a:chExt cx="3182294" cy="2898634"/>
          </a:xfrm>
        </p:grpSpPr>
        <p:grpSp>
          <p:nvGrpSpPr>
            <p:cNvPr id="4" name="Group 3">
              <a:extLst>
                <a:ext uri="{FF2B5EF4-FFF2-40B4-BE49-F238E27FC236}">
                  <a16:creationId xmlns:a16="http://schemas.microsoft.com/office/drawing/2014/main" id="{4398A35F-B9FA-5051-0D18-CB5D817FFE37}"/>
                </a:ext>
              </a:extLst>
            </p:cNvPr>
            <p:cNvGrpSpPr/>
            <p:nvPr/>
          </p:nvGrpSpPr>
          <p:grpSpPr>
            <a:xfrm>
              <a:off x="309775" y="1796083"/>
              <a:ext cx="2091938" cy="2617602"/>
              <a:chOff x="20" y="10"/>
              <a:chExt cx="6095980" cy="6857990"/>
            </a:xfrm>
          </p:grpSpPr>
          <p:pic>
            <p:nvPicPr>
              <p:cNvPr id="8" name="Picture 7">
                <a:extLst>
                  <a:ext uri="{FF2B5EF4-FFF2-40B4-BE49-F238E27FC236}">
                    <a16:creationId xmlns:a16="http://schemas.microsoft.com/office/drawing/2014/main" id="{A0E782B7-5AEA-EB79-6C40-428F56E4EB13}"/>
                  </a:ext>
                </a:extLst>
              </p:cNvPr>
              <p:cNvPicPr>
                <a:picLocks noChangeAspect="1"/>
              </p:cNvPicPr>
              <p:nvPr/>
            </p:nvPicPr>
            <p:blipFill rotWithShape="1">
              <a:blip r:embed="rId10">
                <a:extLst>
                  <a:ext uri="{BEBA8EAE-BF5A-486C-A8C5-ECC9F3942E4B}">
                    <a14:imgProps xmlns:a14="http://schemas.microsoft.com/office/drawing/2010/main">
                      <a14:imgLayer r:embed="rId11">
                        <a14:imgEffect>
                          <a14:backgroundRemoval t="2333" b="98667" l="10000" r="90000">
                            <a14:foregroundMark x1="69500" y1="63000" x2="58500" y2="94667"/>
                            <a14:foregroundMark x1="58500" y1="94667" x2="58500" y2="94667"/>
                            <a14:foregroundMark x1="31333" y1="88667" x2="41167" y2="92500"/>
                            <a14:foregroundMark x1="41167" y1="92500" x2="54167" y2="92667"/>
                            <a14:foregroundMark x1="54167" y1="92667" x2="68167" y2="89667"/>
                            <a14:foregroundMark x1="49500" y1="97500" x2="49667" y2="98833"/>
                            <a14:foregroundMark x1="27500" y1="40000" x2="25667" y2="4333"/>
                            <a14:foregroundMark x1="25667" y1="4333" x2="56000" y2="1500"/>
                            <a14:foregroundMark x1="56000" y1="1500" x2="74000" y2="2333"/>
                            <a14:foregroundMark x1="74000" y1="2333" x2="79500" y2="10167"/>
                            <a14:foregroundMark x1="79500" y1="10167" x2="75667" y2="18833"/>
                            <a14:foregroundMark x1="75667" y1="18833" x2="69833" y2="25167"/>
                            <a14:foregroundMark x1="69833" y1="25167" x2="48667" y2="30000"/>
                            <a14:foregroundMark x1="48667" y1="30000" x2="41167" y2="11667"/>
                            <a14:foregroundMark x1="41167" y1="11667" x2="32333" y2="10833"/>
                            <a14:foregroundMark x1="32333" y1="10833" x2="27333" y2="18500"/>
                            <a14:foregroundMark x1="27333" y1="18500" x2="29333" y2="22333"/>
                            <a14:foregroundMark x1="74500" y1="23333" x2="38000" y2="24500"/>
                            <a14:foregroundMark x1="38000" y1="24500" x2="38000" y2="24500"/>
                            <a14:foregroundMark x1="30167" y1="17500" x2="36833" y2="22667"/>
                            <a14:foregroundMark x1="36833" y1="22667" x2="47167" y2="25333"/>
                            <a14:foregroundMark x1="47167" y1="25333" x2="54000" y2="19667"/>
                            <a14:foregroundMark x1="54000" y1="19667" x2="57833" y2="22833"/>
                            <a14:foregroundMark x1="31500" y1="31167" x2="33000" y2="21333"/>
                          </a14:backgroundRemoval>
                        </a14:imgEffect>
                      </a14:imgLayer>
                    </a14:imgProps>
                  </a:ext>
                </a:extLst>
              </a:blip>
              <a:srcRect l="9685" r="1426"/>
              <a:stretch/>
            </p:blipFill>
            <p:spPr>
              <a:xfrm rot="21600000">
                <a:off x="20" y="10"/>
                <a:ext cx="6095980" cy="6857990"/>
              </a:xfrm>
              <a:prstGeom prst="rect">
                <a:avLst/>
              </a:prstGeom>
            </p:spPr>
          </p:pic>
          <p:pic>
            <p:nvPicPr>
              <p:cNvPr id="9" name="Picture 8">
                <a:extLst>
                  <a:ext uri="{FF2B5EF4-FFF2-40B4-BE49-F238E27FC236}">
                    <a16:creationId xmlns:a16="http://schemas.microsoft.com/office/drawing/2014/main" id="{37FF1CC0-87BC-EA77-C425-0815CBE5DBC3}"/>
                  </a:ext>
                </a:extLst>
              </p:cNvPr>
              <p:cNvPicPr>
                <a:picLocks noChangeAspect="1"/>
              </p:cNvPicPr>
              <p:nvPr/>
            </p:nvPicPr>
            <p:blipFill rotWithShape="1">
              <a:blip r:embed="rId10">
                <a:extLst>
                  <a:ext uri="{BEBA8EAE-BF5A-486C-A8C5-ECC9F3942E4B}">
                    <a14:imgProps xmlns:a14="http://schemas.microsoft.com/office/drawing/2010/main">
                      <a14:imgLayer r:embed="rId11">
                        <a14:imgEffect>
                          <a14:backgroundRemoval t="2333" b="98667" l="10000" r="90000">
                            <a14:foregroundMark x1="69500" y1="63000" x2="58500" y2="94667"/>
                            <a14:foregroundMark x1="58500" y1="94667" x2="58500" y2="94667"/>
                            <a14:foregroundMark x1="31333" y1="88667" x2="41167" y2="92500"/>
                            <a14:foregroundMark x1="41167" y1="92500" x2="54167" y2="92667"/>
                            <a14:foregroundMark x1="54167" y1="92667" x2="68167" y2="89667"/>
                            <a14:foregroundMark x1="49500" y1="97500" x2="49667" y2="98833"/>
                            <a14:foregroundMark x1="27500" y1="40000" x2="25667" y2="4333"/>
                            <a14:foregroundMark x1="25667" y1="4333" x2="56000" y2="1500"/>
                            <a14:foregroundMark x1="56000" y1="1500" x2="74000" y2="2333"/>
                            <a14:foregroundMark x1="74000" y1="2333" x2="79500" y2="10167"/>
                            <a14:foregroundMark x1="79500" y1="10167" x2="75667" y2="18833"/>
                            <a14:foregroundMark x1="75667" y1="18833" x2="69833" y2="25167"/>
                            <a14:foregroundMark x1="69833" y1="25167" x2="48667" y2="30000"/>
                            <a14:foregroundMark x1="48667" y1="30000" x2="41167" y2="11667"/>
                            <a14:foregroundMark x1="41167" y1="11667" x2="32333" y2="10833"/>
                            <a14:foregroundMark x1="32333" y1="10833" x2="27333" y2="18500"/>
                            <a14:foregroundMark x1="27333" y1="18500" x2="29333" y2="22333"/>
                            <a14:foregroundMark x1="74500" y1="23333" x2="38000" y2="24500"/>
                            <a14:foregroundMark x1="38000" y1="24500" x2="38000" y2="24500"/>
                            <a14:foregroundMark x1="30167" y1="17500" x2="36833" y2="22667"/>
                            <a14:foregroundMark x1="36833" y1="22667" x2="47167" y2="25333"/>
                            <a14:foregroundMark x1="47167" y1="25333" x2="54000" y2="19667"/>
                            <a14:foregroundMark x1="54000" y1="19667" x2="57833" y2="22833"/>
                            <a14:foregroundMark x1="31500" y1="31167" x2="33000" y2="21333"/>
                          </a14:backgroundRemoval>
                        </a14:imgEffect>
                      </a14:imgLayer>
                    </a14:imgProps>
                  </a:ext>
                </a:extLst>
              </a:blip>
              <a:srcRect l="26675" t="44659" r="25503" b="39140"/>
              <a:stretch/>
            </p:blipFill>
            <p:spPr>
              <a:xfrm rot="21600000">
                <a:off x="866285" y="1044515"/>
                <a:ext cx="3754875" cy="1111045"/>
              </a:xfrm>
              <a:prstGeom prst="rect">
                <a:avLst/>
              </a:prstGeom>
            </p:spPr>
          </p:pic>
        </p:grpSp>
        <p:pic>
          <p:nvPicPr>
            <p:cNvPr id="11" name="Picture 2" descr="55 Gallon PPG Blue Tight Head Steel Drum, Reconditioned, UN Rated, 2&quot; &amp; 3/4&quot; Fittings, Unlined">
              <a:extLst>
                <a:ext uri="{FF2B5EF4-FFF2-40B4-BE49-F238E27FC236}">
                  <a16:creationId xmlns:a16="http://schemas.microsoft.com/office/drawing/2014/main" id="{D311DA88-930E-A70B-8D5B-FBDE82158B5E}"/>
                </a:ext>
              </a:extLst>
            </p:cNvPr>
            <p:cNvPicPr>
              <a:picLocks noChangeAspect="1" noChangeArrowheads="1"/>
            </p:cNvPicPr>
            <p:nvPr/>
          </p:nvPicPr>
          <p:blipFill>
            <a:blip r:embed="rId12">
              <a:extLst>
                <a:ext uri="{BEBA8EAE-BF5A-486C-A8C5-ECC9F3942E4B}">
                  <a14:imgProps xmlns:a14="http://schemas.microsoft.com/office/drawing/2010/main">
                    <a14:imgLayer r:embed="rId13">
                      <a14:imgEffect>
                        <a14:backgroundRemoval t="2281" b="99123" l="10000" r="90000">
                          <a14:foregroundMark x1="42632" y1="5088" x2="42632" y2="5088"/>
                          <a14:foregroundMark x1="73684" y1="5263" x2="41579" y2="5088"/>
                          <a14:foregroundMark x1="28246" y1="4211" x2="34211" y2="2281"/>
                          <a14:foregroundMark x1="44561" y1="94211" x2="44561" y2="94211"/>
                          <a14:foregroundMark x1="57895" y1="97544" x2="51228" y2="98947"/>
                          <a14:foregroundMark x1="58246" y1="99123" x2="54211" y2="98947"/>
                        </a14:backgroundRemoval>
                      </a14:imgEffect>
                    </a14:imgLayer>
                  </a14:imgProps>
                </a:ext>
                <a:ext uri="{28A0092B-C50C-407E-A947-70E740481C1C}">
                  <a14:useLocalDpi xmlns:a14="http://schemas.microsoft.com/office/drawing/2010/main" val="0"/>
                </a:ext>
              </a:extLst>
            </a:blip>
            <a:srcRect/>
            <a:stretch>
              <a:fillRect/>
            </a:stretch>
          </p:blipFill>
          <p:spPr bwMode="auto">
            <a:xfrm>
              <a:off x="1056082" y="2008616"/>
              <a:ext cx="2435987" cy="2686101"/>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Rectangle 2">
            <a:extLst>
              <a:ext uri="{FF2B5EF4-FFF2-40B4-BE49-F238E27FC236}">
                <a16:creationId xmlns:a16="http://schemas.microsoft.com/office/drawing/2014/main" id="{D9C28868-889C-E3B2-803C-6696C7DE1303}"/>
              </a:ext>
            </a:extLst>
          </p:cNvPr>
          <p:cNvSpPr/>
          <p:nvPr/>
        </p:nvSpPr>
        <p:spPr>
          <a:xfrm>
            <a:off x="5533238" y="5076504"/>
            <a:ext cx="6095153" cy="707886"/>
          </a:xfrm>
          <a:prstGeom prst="rect">
            <a:avLst/>
          </a:prstGeom>
          <a:noFill/>
        </p:spPr>
        <p:txBody>
          <a:bodyPr wrap="square" lIns="91440" tIns="45720" rIns="91440" bIns="45720">
            <a:spAutoFit/>
          </a:bodyPr>
          <a:lstStyle/>
          <a:p>
            <a:r>
              <a:rPr lang="en-US" sz="2000" b="0" cap="none" spc="0" dirty="0">
                <a:ln w="0"/>
                <a:solidFill>
                  <a:schemeClr val="accent1"/>
                </a:solidFill>
                <a:effectLst>
                  <a:outerShdw blurRad="38100" dist="25400" dir="5400000" algn="ctr" rotWithShape="0">
                    <a:srgbClr val="6E747A">
                      <a:alpha val="43000"/>
                    </a:srgbClr>
                  </a:outerShdw>
                </a:effectLst>
              </a:rPr>
              <a:t>Significant difference in response, following significant difference in </a:t>
            </a:r>
            <a:r>
              <a:rPr lang="en-US" sz="2000" b="1" cap="none" spc="0" dirty="0">
                <a:ln w="0"/>
                <a:solidFill>
                  <a:schemeClr val="accent1"/>
                </a:solidFill>
                <a:effectLst>
                  <a:outerShdw blurRad="38100" dist="25400" dir="5400000" algn="ctr" rotWithShape="0">
                    <a:srgbClr val="6E747A">
                      <a:alpha val="43000"/>
                    </a:srgbClr>
                  </a:outerShdw>
                </a:effectLst>
              </a:rPr>
              <a:t>problem definition</a:t>
            </a:r>
            <a:r>
              <a:rPr lang="en-US" sz="2000" b="0" cap="none" spc="0" dirty="0">
                <a:ln w="0"/>
                <a:solidFill>
                  <a:schemeClr val="accent1"/>
                </a:solidFill>
                <a:effectLst>
                  <a:outerShdw blurRad="38100" dist="25400" dir="5400000" algn="ctr" rotWithShape="0">
                    <a:srgbClr val="6E747A">
                      <a:alpha val="43000"/>
                    </a:srgbClr>
                  </a:outerShdw>
                </a:effectLst>
              </a:rPr>
              <a:t>.</a:t>
            </a:r>
          </a:p>
        </p:txBody>
      </p:sp>
    </p:spTree>
    <p:extLst>
      <p:ext uri="{BB962C8B-B14F-4D97-AF65-F5344CB8AC3E}">
        <p14:creationId xmlns:p14="http://schemas.microsoft.com/office/powerpoint/2010/main" val="1808843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6ADFF9C-3A07-4650-C62E-40CF6ECBA163}"/>
              </a:ext>
            </a:extLst>
          </p:cNvPr>
          <p:cNvSpPr txBox="1"/>
          <p:nvPr/>
        </p:nvSpPr>
        <p:spPr>
          <a:xfrm>
            <a:off x="3464826" y="1208796"/>
            <a:ext cx="7924230" cy="4616648"/>
          </a:xfrm>
          <a:prstGeom prst="rect">
            <a:avLst/>
          </a:prstGeom>
          <a:noFill/>
        </p:spPr>
        <p:txBody>
          <a:bodyPr wrap="square">
            <a:spAutoFit/>
          </a:bodyPr>
          <a:lstStyle/>
          <a:p>
            <a:r>
              <a:rPr lang="en-US" sz="5400" b="0" i="1" dirty="0">
                <a:solidFill>
                  <a:srgbClr val="040C28"/>
                </a:solidFill>
                <a:effectLst/>
                <a:latin typeface="+mj-lt"/>
              </a:rPr>
              <a:t>“If you define the problem correctly, you almost have the solution.”</a:t>
            </a:r>
            <a:br>
              <a:rPr lang="en-US" sz="5400" b="0" i="1" dirty="0">
                <a:solidFill>
                  <a:srgbClr val="040C28"/>
                </a:solidFill>
                <a:effectLst/>
                <a:latin typeface="+mj-lt"/>
              </a:rPr>
            </a:br>
            <a:br>
              <a:rPr lang="en-US" sz="5400" b="0" i="1" dirty="0">
                <a:solidFill>
                  <a:srgbClr val="040C28"/>
                </a:solidFill>
                <a:effectLst/>
                <a:latin typeface="+mj-lt"/>
              </a:rPr>
            </a:br>
            <a:r>
              <a:rPr lang="en-US" sz="2400" b="0" dirty="0">
                <a:solidFill>
                  <a:srgbClr val="040C28"/>
                </a:solidFill>
                <a:effectLst/>
                <a:latin typeface="+mj-lt"/>
              </a:rPr>
              <a:t>(Steve Jobs)</a:t>
            </a:r>
            <a:endParaRPr lang="en-US" sz="5400" dirty="0">
              <a:latin typeface="+mj-lt"/>
            </a:endParaRPr>
          </a:p>
        </p:txBody>
      </p:sp>
    </p:spTree>
    <p:extLst>
      <p:ext uri="{BB962C8B-B14F-4D97-AF65-F5344CB8AC3E}">
        <p14:creationId xmlns:p14="http://schemas.microsoft.com/office/powerpoint/2010/main" val="2811831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Rectangle 2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AEB000-CC31-D35B-3836-0135F5D0E6FB}"/>
              </a:ext>
            </a:extLst>
          </p:cNvPr>
          <p:cNvSpPr>
            <a:spLocks noGrp="1"/>
          </p:cNvSpPr>
          <p:nvPr>
            <p:ph type="title"/>
          </p:nvPr>
        </p:nvSpPr>
        <p:spPr>
          <a:xfrm>
            <a:off x="283675" y="491112"/>
            <a:ext cx="3754149" cy="3432328"/>
          </a:xfrm>
        </p:spPr>
        <p:txBody>
          <a:bodyPr anchor="b">
            <a:normAutofit/>
          </a:bodyPr>
          <a:lstStyle/>
          <a:p>
            <a:r>
              <a:rPr lang="en-US" sz="4000" b="1" dirty="0">
                <a:solidFill>
                  <a:srgbClr val="FFFFFF"/>
                </a:solidFill>
              </a:rPr>
              <a:t>How you Respond to Failure Matters.</a:t>
            </a:r>
            <a:endParaRPr lang="en-US" sz="4000" dirty="0">
              <a:solidFill>
                <a:schemeClr val="bg1"/>
              </a:solidFill>
            </a:endParaRPr>
          </a:p>
        </p:txBody>
      </p:sp>
      <p:sp>
        <p:nvSpPr>
          <p:cNvPr id="33" name="TextBox 32">
            <a:extLst>
              <a:ext uri="{FF2B5EF4-FFF2-40B4-BE49-F238E27FC236}">
                <a16:creationId xmlns:a16="http://schemas.microsoft.com/office/drawing/2014/main" id="{8A9E61FD-50C8-A28C-F088-ECE57C8C8F23}"/>
              </a:ext>
            </a:extLst>
          </p:cNvPr>
          <p:cNvSpPr txBox="1"/>
          <p:nvPr/>
        </p:nvSpPr>
        <p:spPr>
          <a:xfrm>
            <a:off x="4977561" y="1109941"/>
            <a:ext cx="6271648" cy="4893647"/>
          </a:xfrm>
          <a:prstGeom prst="rect">
            <a:avLst/>
          </a:prstGeom>
          <a:noFill/>
        </p:spPr>
        <p:txBody>
          <a:bodyPr wrap="square">
            <a:spAutoFit/>
          </a:bodyPr>
          <a:lstStyle/>
          <a:p>
            <a:pPr algn="ctr"/>
            <a:r>
              <a:rPr lang="en-US" sz="3600" dirty="0"/>
              <a:t>If employees feel that management is and only investigating to find out who should be fired, this develops a culture of fear.</a:t>
            </a:r>
          </a:p>
          <a:p>
            <a:pPr algn="ctr"/>
            <a:endParaRPr lang="en-US" sz="3600" dirty="0">
              <a:solidFill>
                <a:srgbClr val="000000"/>
              </a:solidFill>
              <a:latin typeface="+mj-lt"/>
            </a:endParaRPr>
          </a:p>
          <a:p>
            <a:pPr algn="ctr"/>
            <a:r>
              <a:rPr lang="en-US" sz="2400" dirty="0"/>
              <a:t>If the employees can speak without fear because they know that management’s priority is to learn from mistakes and prevent them from recurring, this builds a culture of interdependent safety.</a:t>
            </a:r>
            <a:endParaRPr lang="en-US" sz="2400" dirty="0">
              <a:latin typeface="+mj-lt"/>
            </a:endParaRPr>
          </a:p>
        </p:txBody>
      </p:sp>
    </p:spTree>
    <p:extLst>
      <p:ext uri="{BB962C8B-B14F-4D97-AF65-F5344CB8AC3E}">
        <p14:creationId xmlns:p14="http://schemas.microsoft.com/office/powerpoint/2010/main" val="149435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A65989E-BBD5-44D7-AA86-7AFD5D46B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66000">
                <a:srgbClr val="000000"/>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31A2881-D8D7-4A7D-ACA3-E9F849F85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0800"/>
            <a:ext cx="8153398" cy="456772"/>
          </a:xfrm>
          <a:prstGeom prst="rect">
            <a:avLst/>
          </a:prstGeom>
          <a:gradFill>
            <a:gsLst>
              <a:gs pos="0">
                <a:srgbClr val="000000">
                  <a:alpha val="63000"/>
                </a:srgbClr>
              </a:gs>
              <a:gs pos="100000">
                <a:schemeClr val="accent1">
                  <a:lumMod val="7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9" name="Picture 3">
            <a:extLst>
              <a:ext uri="{FF2B5EF4-FFF2-40B4-BE49-F238E27FC236}">
                <a16:creationId xmlns:a16="http://schemas.microsoft.com/office/drawing/2014/main" id="{D82C922D-F822-D130-17A3-FC54386C8D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812" y="1348353"/>
            <a:ext cx="11916603" cy="3917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1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E72ABD1-809A-AA9E-81D2-6B531775ADF7}"/>
              </a:ext>
            </a:extLst>
          </p:cNvPr>
          <p:cNvPicPr>
            <a:picLocks noChangeAspect="1"/>
          </p:cNvPicPr>
          <p:nvPr/>
        </p:nvPicPr>
        <p:blipFill>
          <a:blip r:embed="rId3"/>
          <a:srcRect l="175" t="848" r="-175" b="3800"/>
          <a:stretch/>
        </p:blipFill>
        <p:spPr>
          <a:xfrm>
            <a:off x="1714039" y="160034"/>
            <a:ext cx="9237495" cy="6650119"/>
          </a:xfrm>
          <a:prstGeom prst="rect">
            <a:avLst/>
          </a:prstGeom>
        </p:spPr>
      </p:pic>
    </p:spTree>
    <p:extLst>
      <p:ext uri="{BB962C8B-B14F-4D97-AF65-F5344CB8AC3E}">
        <p14:creationId xmlns:p14="http://schemas.microsoft.com/office/powerpoint/2010/main" val="3904592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4F48CCA-90B7-353C-35DB-C5DCB5543495}"/>
              </a:ext>
            </a:extLst>
          </p:cNvPr>
          <p:cNvGrpSpPr/>
          <p:nvPr/>
        </p:nvGrpSpPr>
        <p:grpSpPr>
          <a:xfrm>
            <a:off x="1296545" y="61927"/>
            <a:ext cx="9591138" cy="6773970"/>
            <a:chOff x="1589142" y="46306"/>
            <a:chExt cx="9092847" cy="6773970"/>
          </a:xfrm>
        </p:grpSpPr>
        <p:cxnSp>
          <p:nvCxnSpPr>
            <p:cNvPr id="170" name="Straight Arrow Connector 169"/>
            <p:cNvCxnSpPr>
              <a:stCxn id="14" idx="2"/>
              <a:endCxn id="58" idx="0"/>
            </p:cNvCxnSpPr>
            <p:nvPr/>
          </p:nvCxnSpPr>
          <p:spPr>
            <a:xfrm>
              <a:off x="10045915" y="2836884"/>
              <a:ext cx="5103" cy="61887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1642826" y="3991352"/>
              <a:ext cx="1212833" cy="805975"/>
            </a:xfrm>
            <a:prstGeom prst="rect">
              <a:avLst/>
            </a:prstGeom>
          </p:spPr>
          <p:txBody>
            <a:bodyPr wrap="square" lIns="66662" tIns="33330" rIns="66662" bIns="33330">
              <a:spAutoFit/>
            </a:bodyPr>
            <a:lstStyle/>
            <a:p>
              <a:pPr defTabSz="666614"/>
              <a:r>
                <a:rPr lang="en-US" sz="800" dirty="0">
                  <a:solidFill>
                    <a:srgbClr val="000000"/>
                  </a:solidFill>
                </a:rPr>
                <a:t>This was not an error; the behavior is possibly sabotage, malevolent damage, willful violation and disciplinary process is warranted</a:t>
              </a:r>
            </a:p>
          </p:txBody>
        </p:sp>
        <p:sp>
          <p:nvSpPr>
            <p:cNvPr id="6" name="Diamond 5"/>
            <p:cNvSpPr/>
            <p:nvPr/>
          </p:nvSpPr>
          <p:spPr>
            <a:xfrm>
              <a:off x="1589142" y="192291"/>
              <a:ext cx="1193177" cy="906605"/>
            </a:xfrm>
            <a:prstGeom prst="diamond">
              <a:avLst/>
            </a:prstGeom>
            <a:solidFill>
              <a:srgbClr val="92D05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dirty="0">
                <a:solidFill>
                  <a:prstClr val="white"/>
                </a:solidFill>
              </a:endParaRPr>
            </a:p>
          </p:txBody>
        </p:sp>
        <p:sp>
          <p:nvSpPr>
            <p:cNvPr id="7" name="Rectangle 6"/>
            <p:cNvSpPr/>
            <p:nvPr/>
          </p:nvSpPr>
          <p:spPr>
            <a:xfrm>
              <a:off x="1716069" y="509359"/>
              <a:ext cx="939322" cy="313532"/>
            </a:xfrm>
            <a:prstGeom prst="rect">
              <a:avLst/>
            </a:prstGeom>
          </p:spPr>
          <p:txBody>
            <a:bodyPr wrap="square" lIns="66662" tIns="33330" rIns="66662" bIns="33330">
              <a:spAutoFit/>
            </a:bodyPr>
            <a:lstStyle/>
            <a:p>
              <a:pPr algn="ctr" defTabSz="666614"/>
              <a:r>
                <a:rPr lang="en-US" sz="800" dirty="0">
                  <a:solidFill>
                    <a:srgbClr val="000000"/>
                  </a:solidFill>
                </a:rPr>
                <a:t>Q1.  Were the actions intended?</a:t>
              </a:r>
            </a:p>
          </p:txBody>
        </p:sp>
        <p:sp>
          <p:nvSpPr>
            <p:cNvPr id="8" name="Diamond 7"/>
            <p:cNvSpPr/>
            <p:nvPr/>
          </p:nvSpPr>
          <p:spPr>
            <a:xfrm>
              <a:off x="3456850" y="197095"/>
              <a:ext cx="1370861" cy="884994"/>
            </a:xfrm>
            <a:prstGeom prst="diamond">
              <a:avLst/>
            </a:prstGeom>
            <a:solidFill>
              <a:srgbClr val="92D05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dirty="0">
                <a:solidFill>
                  <a:prstClr val="white"/>
                </a:solidFill>
              </a:endParaRPr>
            </a:p>
          </p:txBody>
        </p:sp>
        <p:sp>
          <p:nvSpPr>
            <p:cNvPr id="9" name="Rectangle 8"/>
            <p:cNvSpPr/>
            <p:nvPr/>
          </p:nvSpPr>
          <p:spPr>
            <a:xfrm>
              <a:off x="3704863" y="379130"/>
              <a:ext cx="956810" cy="559753"/>
            </a:xfrm>
            <a:prstGeom prst="rect">
              <a:avLst/>
            </a:prstGeom>
          </p:spPr>
          <p:txBody>
            <a:bodyPr wrap="square" lIns="66662" tIns="33330" rIns="66662" bIns="33330">
              <a:spAutoFit/>
            </a:bodyPr>
            <a:lstStyle/>
            <a:p>
              <a:pPr algn="ctr" defTabSz="666614"/>
              <a:r>
                <a:rPr lang="en-US" sz="800" dirty="0">
                  <a:solidFill>
                    <a:srgbClr val="000000"/>
                  </a:solidFill>
                </a:rPr>
                <a:t>Q7.  Did the employee knowingly violate expectations?</a:t>
              </a:r>
            </a:p>
          </p:txBody>
        </p:sp>
        <p:sp>
          <p:nvSpPr>
            <p:cNvPr id="10" name="Diamond 9"/>
            <p:cNvSpPr/>
            <p:nvPr/>
          </p:nvSpPr>
          <p:spPr>
            <a:xfrm>
              <a:off x="6102138" y="46306"/>
              <a:ext cx="1552228" cy="1198574"/>
            </a:xfrm>
            <a:prstGeom prst="diamond">
              <a:avLst/>
            </a:prstGeom>
            <a:solidFill>
              <a:srgbClr val="92D05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dirty="0">
                <a:solidFill>
                  <a:prstClr val="white"/>
                </a:solidFill>
              </a:endParaRPr>
            </a:p>
          </p:txBody>
        </p:sp>
        <p:sp>
          <p:nvSpPr>
            <p:cNvPr id="11" name="Rectangle 10"/>
            <p:cNvSpPr/>
            <p:nvPr/>
          </p:nvSpPr>
          <p:spPr>
            <a:xfrm>
              <a:off x="6307931" y="318391"/>
              <a:ext cx="1099322" cy="682864"/>
            </a:xfrm>
            <a:prstGeom prst="rect">
              <a:avLst/>
            </a:prstGeom>
          </p:spPr>
          <p:txBody>
            <a:bodyPr wrap="square" lIns="66662" tIns="33330" rIns="66662" bIns="33330">
              <a:spAutoFit/>
            </a:bodyPr>
            <a:lstStyle/>
            <a:p>
              <a:pPr algn="ctr" defTabSz="666614"/>
              <a:r>
                <a:rPr lang="en-US" sz="800" dirty="0">
                  <a:solidFill>
                    <a:srgbClr val="000000"/>
                  </a:solidFill>
                </a:rPr>
                <a:t>Q9. Would a peer have behaved</a:t>
              </a:r>
            </a:p>
            <a:p>
              <a:pPr algn="ctr" defTabSz="666614"/>
              <a:r>
                <a:rPr lang="en-US" sz="800" dirty="0">
                  <a:solidFill>
                    <a:srgbClr val="000000"/>
                  </a:solidFill>
                </a:rPr>
                <a:t>differently under those or very similar circumstances?</a:t>
              </a:r>
            </a:p>
          </p:txBody>
        </p:sp>
        <p:sp>
          <p:nvSpPr>
            <p:cNvPr id="12" name="Diamond 11"/>
            <p:cNvSpPr/>
            <p:nvPr/>
          </p:nvSpPr>
          <p:spPr>
            <a:xfrm>
              <a:off x="8079669" y="61452"/>
              <a:ext cx="1468184" cy="1174849"/>
            </a:xfrm>
            <a:prstGeom prst="diamond">
              <a:avLst/>
            </a:prstGeom>
            <a:solidFill>
              <a:srgbClr val="92D05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dirty="0">
                <a:solidFill>
                  <a:prstClr val="white"/>
                </a:solidFill>
              </a:endParaRPr>
            </a:p>
          </p:txBody>
        </p:sp>
        <p:sp>
          <p:nvSpPr>
            <p:cNvPr id="13" name="Rectangle 12"/>
            <p:cNvSpPr/>
            <p:nvPr/>
          </p:nvSpPr>
          <p:spPr>
            <a:xfrm>
              <a:off x="8290440" y="365066"/>
              <a:ext cx="1089861" cy="682864"/>
            </a:xfrm>
            <a:prstGeom prst="rect">
              <a:avLst/>
            </a:prstGeom>
          </p:spPr>
          <p:txBody>
            <a:bodyPr wrap="square" lIns="66662" tIns="33330" rIns="66662" bIns="33330">
              <a:spAutoFit/>
            </a:bodyPr>
            <a:lstStyle/>
            <a:p>
              <a:pPr algn="ctr" defTabSz="666614"/>
              <a:r>
                <a:rPr lang="en-US" sz="800" dirty="0">
                  <a:solidFill>
                    <a:srgbClr val="000000"/>
                  </a:solidFill>
                </a:rPr>
                <a:t>Q11.  Does the employee have a history of human performance problems?</a:t>
              </a:r>
            </a:p>
          </p:txBody>
        </p:sp>
        <p:sp>
          <p:nvSpPr>
            <p:cNvPr id="14" name="Diamond 13"/>
            <p:cNvSpPr/>
            <p:nvPr/>
          </p:nvSpPr>
          <p:spPr>
            <a:xfrm>
              <a:off x="9409842" y="1662037"/>
              <a:ext cx="1272147" cy="1174849"/>
            </a:xfrm>
            <a:prstGeom prst="diamond">
              <a:avLst/>
            </a:prstGeom>
            <a:solidFill>
              <a:srgbClr val="92D05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dirty="0">
                <a:solidFill>
                  <a:prstClr val="white"/>
                </a:solidFill>
              </a:endParaRPr>
            </a:p>
          </p:txBody>
        </p:sp>
        <p:sp>
          <p:nvSpPr>
            <p:cNvPr id="15" name="Rectangle 14"/>
            <p:cNvSpPr/>
            <p:nvPr/>
          </p:nvSpPr>
          <p:spPr>
            <a:xfrm>
              <a:off x="9538598" y="2014147"/>
              <a:ext cx="1058064" cy="559753"/>
            </a:xfrm>
            <a:prstGeom prst="rect">
              <a:avLst/>
            </a:prstGeom>
          </p:spPr>
          <p:txBody>
            <a:bodyPr wrap="square" lIns="66662" tIns="33330" rIns="66662" bIns="33330">
              <a:spAutoFit/>
            </a:bodyPr>
            <a:lstStyle/>
            <a:p>
              <a:pPr algn="ctr" defTabSz="666614"/>
              <a:r>
                <a:rPr lang="en-US" sz="800" dirty="0">
                  <a:solidFill>
                    <a:srgbClr val="000000"/>
                  </a:solidFill>
                </a:rPr>
                <a:t>Q12.  Was the performance problem self-reported?</a:t>
              </a:r>
            </a:p>
          </p:txBody>
        </p:sp>
        <p:sp>
          <p:nvSpPr>
            <p:cNvPr id="16" name="Diamond 15"/>
            <p:cNvSpPr/>
            <p:nvPr/>
          </p:nvSpPr>
          <p:spPr>
            <a:xfrm>
              <a:off x="6232855" y="1710139"/>
              <a:ext cx="1286902" cy="1287768"/>
            </a:xfrm>
            <a:prstGeom prst="diamond">
              <a:avLst/>
            </a:prstGeom>
            <a:solidFill>
              <a:srgbClr val="92D05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dirty="0">
                <a:solidFill>
                  <a:prstClr val="white"/>
                </a:solidFill>
              </a:endParaRPr>
            </a:p>
          </p:txBody>
        </p:sp>
        <p:sp>
          <p:nvSpPr>
            <p:cNvPr id="17" name="Rectangle 16"/>
            <p:cNvSpPr/>
            <p:nvPr/>
          </p:nvSpPr>
          <p:spPr>
            <a:xfrm>
              <a:off x="6368009" y="2057150"/>
              <a:ext cx="987365" cy="682872"/>
            </a:xfrm>
            <a:prstGeom prst="rect">
              <a:avLst/>
            </a:prstGeom>
          </p:spPr>
          <p:txBody>
            <a:bodyPr wrap="square" lIns="66662" tIns="33330" rIns="66662" bIns="33330">
              <a:spAutoFit/>
            </a:bodyPr>
            <a:lstStyle/>
            <a:p>
              <a:pPr algn="ctr" defTabSz="666614"/>
              <a:r>
                <a:rPr lang="en-US" sz="800" dirty="0">
                  <a:solidFill>
                    <a:srgbClr val="000000"/>
                  </a:solidFill>
                </a:rPr>
                <a:t>Q10.  Were there deficiencies in training, selection, assignment or experience?</a:t>
              </a:r>
            </a:p>
          </p:txBody>
        </p:sp>
        <p:sp>
          <p:nvSpPr>
            <p:cNvPr id="18" name="Diamond 17"/>
            <p:cNvSpPr/>
            <p:nvPr/>
          </p:nvSpPr>
          <p:spPr>
            <a:xfrm>
              <a:off x="3432480" y="1550395"/>
              <a:ext cx="1440906" cy="1461041"/>
            </a:xfrm>
            <a:prstGeom prst="diamond">
              <a:avLst/>
            </a:prstGeom>
            <a:solidFill>
              <a:srgbClr val="92D05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dirty="0">
                <a:solidFill>
                  <a:prstClr val="white"/>
                </a:solidFill>
              </a:endParaRPr>
            </a:p>
          </p:txBody>
        </p:sp>
        <p:sp>
          <p:nvSpPr>
            <p:cNvPr id="19" name="Rectangle 18"/>
            <p:cNvSpPr/>
            <p:nvPr/>
          </p:nvSpPr>
          <p:spPr>
            <a:xfrm>
              <a:off x="3595479" y="1977768"/>
              <a:ext cx="1137777" cy="929085"/>
            </a:xfrm>
            <a:prstGeom prst="rect">
              <a:avLst/>
            </a:prstGeom>
          </p:spPr>
          <p:txBody>
            <a:bodyPr wrap="square" lIns="66662" tIns="33330" rIns="66662" bIns="33330">
              <a:spAutoFit/>
            </a:bodyPr>
            <a:lstStyle/>
            <a:p>
              <a:pPr algn="ctr" defTabSz="666614"/>
              <a:r>
                <a:rPr lang="en-US" sz="800" dirty="0">
                  <a:solidFill>
                    <a:srgbClr val="000000"/>
                  </a:solidFill>
                </a:rPr>
                <a:t>Q8.  Were expectations reasonable, available, workable, intelligible, correct and consistently enforced?</a:t>
              </a:r>
            </a:p>
          </p:txBody>
        </p:sp>
        <p:sp>
          <p:nvSpPr>
            <p:cNvPr id="22" name="Rectangle: Rounded Corners 21"/>
            <p:cNvSpPr/>
            <p:nvPr/>
          </p:nvSpPr>
          <p:spPr>
            <a:xfrm>
              <a:off x="1605244" y="3450524"/>
              <a:ext cx="1154820" cy="411061"/>
            </a:xfrm>
            <a:prstGeom prst="roundRect">
              <a:avLst/>
            </a:prstGeom>
            <a:solidFill>
              <a:srgbClr val="DE2533"/>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a:solidFill>
                  <a:prstClr val="white"/>
                </a:solidFill>
              </a:endParaRPr>
            </a:p>
          </p:txBody>
        </p:sp>
        <p:sp>
          <p:nvSpPr>
            <p:cNvPr id="23" name="Rectangle 22"/>
            <p:cNvSpPr/>
            <p:nvPr/>
          </p:nvSpPr>
          <p:spPr>
            <a:xfrm>
              <a:off x="1589254" y="3494966"/>
              <a:ext cx="1134559" cy="313532"/>
            </a:xfrm>
            <a:prstGeom prst="rect">
              <a:avLst/>
            </a:prstGeom>
          </p:spPr>
          <p:txBody>
            <a:bodyPr wrap="square" lIns="66662" tIns="33330" rIns="66662" bIns="33330">
              <a:spAutoFit/>
            </a:bodyPr>
            <a:lstStyle/>
            <a:p>
              <a:pPr algn="ctr" defTabSz="666614"/>
              <a:r>
                <a:rPr lang="en-US" sz="800" dirty="0">
                  <a:solidFill>
                    <a:prstClr val="white"/>
                  </a:solidFill>
                </a:rPr>
                <a:t>C1. Intention act (not an error) </a:t>
              </a:r>
            </a:p>
          </p:txBody>
        </p:sp>
        <p:sp>
          <p:nvSpPr>
            <p:cNvPr id="24" name="Diamond 23"/>
            <p:cNvSpPr/>
            <p:nvPr/>
          </p:nvSpPr>
          <p:spPr>
            <a:xfrm>
              <a:off x="1589142" y="1662037"/>
              <a:ext cx="1194943" cy="1174849"/>
            </a:xfrm>
            <a:prstGeom prst="diamond">
              <a:avLst/>
            </a:prstGeom>
            <a:solidFill>
              <a:srgbClr val="92D05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dirty="0">
                <a:solidFill>
                  <a:prstClr val="white"/>
                </a:solidFill>
              </a:endParaRPr>
            </a:p>
          </p:txBody>
        </p:sp>
        <p:sp>
          <p:nvSpPr>
            <p:cNvPr id="25" name="Rectangle 24"/>
            <p:cNvSpPr/>
            <p:nvPr/>
          </p:nvSpPr>
          <p:spPr>
            <a:xfrm>
              <a:off x="1710732" y="1993521"/>
              <a:ext cx="899026" cy="436643"/>
            </a:xfrm>
            <a:prstGeom prst="rect">
              <a:avLst/>
            </a:prstGeom>
          </p:spPr>
          <p:txBody>
            <a:bodyPr wrap="square" lIns="66662" tIns="33330" rIns="66662" bIns="33330">
              <a:spAutoFit/>
            </a:bodyPr>
            <a:lstStyle/>
            <a:p>
              <a:pPr algn="ctr" defTabSz="666614"/>
              <a:r>
                <a:rPr lang="en-US" sz="800" dirty="0">
                  <a:solidFill>
                    <a:srgbClr val="000000"/>
                  </a:solidFill>
                </a:rPr>
                <a:t>Q2.  Were the consequences intended?</a:t>
              </a:r>
            </a:p>
          </p:txBody>
        </p:sp>
        <p:sp>
          <p:nvSpPr>
            <p:cNvPr id="26" name="Rectangle: Rounded Corners 25"/>
            <p:cNvSpPr/>
            <p:nvPr/>
          </p:nvSpPr>
          <p:spPr>
            <a:xfrm>
              <a:off x="2806666" y="3447930"/>
              <a:ext cx="1270361" cy="403906"/>
            </a:xfrm>
            <a:prstGeom prst="roundRect">
              <a:avLst/>
            </a:prstGeom>
            <a:solidFill>
              <a:srgbClr val="FFC00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a:solidFill>
                  <a:prstClr val="white"/>
                </a:solidFill>
              </a:endParaRPr>
            </a:p>
          </p:txBody>
        </p:sp>
        <p:sp>
          <p:nvSpPr>
            <p:cNvPr id="27" name="Rectangle 26"/>
            <p:cNvSpPr/>
            <p:nvPr/>
          </p:nvSpPr>
          <p:spPr>
            <a:xfrm>
              <a:off x="2793752" y="3463690"/>
              <a:ext cx="1283274" cy="344310"/>
            </a:xfrm>
            <a:prstGeom prst="rect">
              <a:avLst/>
            </a:prstGeom>
          </p:spPr>
          <p:txBody>
            <a:bodyPr wrap="square" lIns="66662" tIns="33330" rIns="66662" bIns="33330">
              <a:spAutoFit/>
            </a:bodyPr>
            <a:lstStyle/>
            <a:p>
              <a:pPr algn="ctr" defTabSz="666614"/>
              <a:r>
                <a:rPr lang="en-US" sz="900" dirty="0">
                  <a:solidFill>
                    <a:srgbClr val="000000"/>
                  </a:solidFill>
                </a:rPr>
                <a:t>C6. Possible reckless violation</a:t>
              </a:r>
            </a:p>
          </p:txBody>
        </p:sp>
        <p:sp>
          <p:nvSpPr>
            <p:cNvPr id="29" name="Rectangle: Rounded Corners 28"/>
            <p:cNvSpPr/>
            <p:nvPr/>
          </p:nvSpPr>
          <p:spPr>
            <a:xfrm>
              <a:off x="4157838" y="3441129"/>
              <a:ext cx="1449827" cy="400660"/>
            </a:xfrm>
            <a:prstGeom prst="roundRect">
              <a:avLst/>
            </a:prstGeom>
            <a:solidFill>
              <a:srgbClr val="FFFF00"/>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a:solidFill>
                  <a:prstClr val="white"/>
                </a:solidFill>
              </a:endParaRPr>
            </a:p>
          </p:txBody>
        </p:sp>
        <p:sp>
          <p:nvSpPr>
            <p:cNvPr id="30" name="Rectangle 29"/>
            <p:cNvSpPr/>
            <p:nvPr/>
          </p:nvSpPr>
          <p:spPr>
            <a:xfrm>
              <a:off x="4157838" y="3523513"/>
              <a:ext cx="1449827" cy="344310"/>
            </a:xfrm>
            <a:prstGeom prst="rect">
              <a:avLst/>
            </a:prstGeom>
          </p:spPr>
          <p:txBody>
            <a:bodyPr wrap="square" lIns="66662" tIns="33330" rIns="66662" bIns="33330">
              <a:spAutoFit/>
            </a:bodyPr>
            <a:lstStyle/>
            <a:p>
              <a:pPr algn="ctr" defTabSz="666614"/>
              <a:r>
                <a:rPr lang="en-US" sz="900" dirty="0">
                  <a:solidFill>
                    <a:srgbClr val="000000"/>
                  </a:solidFill>
                </a:rPr>
                <a:t>C7. System- induced violation</a:t>
              </a:r>
            </a:p>
          </p:txBody>
        </p:sp>
        <p:sp>
          <p:nvSpPr>
            <p:cNvPr id="31" name="Rectangle: Rounded Corners 30"/>
            <p:cNvSpPr/>
            <p:nvPr/>
          </p:nvSpPr>
          <p:spPr>
            <a:xfrm>
              <a:off x="5697044" y="3441131"/>
              <a:ext cx="1112322" cy="380291"/>
            </a:xfrm>
            <a:prstGeom prst="roundRect">
              <a:avLst/>
            </a:prstGeom>
            <a:solidFill>
              <a:srgbClr val="FFFF66"/>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a:solidFill>
                  <a:prstClr val="white"/>
                </a:solidFill>
              </a:endParaRPr>
            </a:p>
          </p:txBody>
        </p:sp>
        <p:sp>
          <p:nvSpPr>
            <p:cNvPr id="32" name="Rectangle 31"/>
            <p:cNvSpPr/>
            <p:nvPr/>
          </p:nvSpPr>
          <p:spPr>
            <a:xfrm>
              <a:off x="5656347" y="3474598"/>
              <a:ext cx="1153021" cy="344310"/>
            </a:xfrm>
            <a:prstGeom prst="rect">
              <a:avLst/>
            </a:prstGeom>
          </p:spPr>
          <p:txBody>
            <a:bodyPr wrap="square" lIns="66662" tIns="33330" rIns="66662" bIns="33330">
              <a:spAutoFit/>
            </a:bodyPr>
            <a:lstStyle/>
            <a:p>
              <a:pPr algn="ctr" defTabSz="666614"/>
              <a:r>
                <a:rPr lang="en-US" sz="900" dirty="0">
                  <a:solidFill>
                    <a:srgbClr val="000000"/>
                  </a:solidFill>
                </a:rPr>
                <a:t>C8. Possible negligent error</a:t>
              </a:r>
            </a:p>
          </p:txBody>
        </p:sp>
        <p:sp>
          <p:nvSpPr>
            <p:cNvPr id="33" name="Rectangle: Rounded Corners 32"/>
            <p:cNvSpPr/>
            <p:nvPr/>
          </p:nvSpPr>
          <p:spPr>
            <a:xfrm>
              <a:off x="6935650" y="3470880"/>
              <a:ext cx="1168214" cy="350539"/>
            </a:xfrm>
            <a:prstGeom prst="roundRect">
              <a:avLst/>
            </a:prstGeom>
            <a:solidFill>
              <a:schemeClr val="accent4">
                <a:lumMod val="20000"/>
                <a:lumOff val="8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a:solidFill>
                  <a:prstClr val="white"/>
                </a:solidFill>
              </a:endParaRPr>
            </a:p>
          </p:txBody>
        </p:sp>
        <p:sp>
          <p:nvSpPr>
            <p:cNvPr id="34" name="Rectangle 33"/>
            <p:cNvSpPr/>
            <p:nvPr/>
          </p:nvSpPr>
          <p:spPr>
            <a:xfrm>
              <a:off x="6955630" y="3450523"/>
              <a:ext cx="1148234" cy="344310"/>
            </a:xfrm>
            <a:prstGeom prst="rect">
              <a:avLst/>
            </a:prstGeom>
          </p:spPr>
          <p:txBody>
            <a:bodyPr wrap="square" lIns="66662" tIns="33330" rIns="66662" bIns="33330">
              <a:spAutoFit/>
            </a:bodyPr>
            <a:lstStyle/>
            <a:p>
              <a:pPr algn="ctr" defTabSz="666614"/>
              <a:r>
                <a:rPr lang="en-US" sz="900" dirty="0">
                  <a:solidFill>
                    <a:srgbClr val="000000"/>
                  </a:solidFill>
                </a:rPr>
                <a:t>C9. System induced error</a:t>
              </a:r>
            </a:p>
          </p:txBody>
        </p:sp>
        <p:sp>
          <p:nvSpPr>
            <p:cNvPr id="35" name="Rectangle: Rounded Corners 34"/>
            <p:cNvSpPr/>
            <p:nvPr/>
          </p:nvSpPr>
          <p:spPr>
            <a:xfrm>
              <a:off x="8254911" y="3470879"/>
              <a:ext cx="1127907" cy="367824"/>
            </a:xfrm>
            <a:prstGeom prst="roundRect">
              <a:avLst/>
            </a:prstGeom>
            <a:solidFill>
              <a:schemeClr val="accent4">
                <a:lumMod val="40000"/>
                <a:lumOff val="60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a:solidFill>
                  <a:prstClr val="white"/>
                </a:solidFill>
              </a:endParaRPr>
            </a:p>
          </p:txBody>
        </p:sp>
        <p:sp>
          <p:nvSpPr>
            <p:cNvPr id="36" name="Rectangle 35"/>
            <p:cNvSpPr/>
            <p:nvPr/>
          </p:nvSpPr>
          <p:spPr>
            <a:xfrm>
              <a:off x="8234037" y="3454232"/>
              <a:ext cx="1169654" cy="482809"/>
            </a:xfrm>
            <a:prstGeom prst="rect">
              <a:avLst/>
            </a:prstGeom>
          </p:spPr>
          <p:txBody>
            <a:bodyPr wrap="square" lIns="66662" tIns="33330" rIns="66662" bIns="33330">
              <a:spAutoFit/>
            </a:bodyPr>
            <a:lstStyle/>
            <a:p>
              <a:pPr algn="ctr" defTabSz="666614"/>
              <a:r>
                <a:rPr lang="en-US" sz="900" dirty="0">
                  <a:solidFill>
                    <a:srgbClr val="000000"/>
                  </a:solidFill>
                </a:rPr>
                <a:t>C10. Blameless error with remediation</a:t>
              </a:r>
            </a:p>
          </p:txBody>
        </p:sp>
        <p:sp>
          <p:nvSpPr>
            <p:cNvPr id="41" name="Rectangle 40"/>
            <p:cNvSpPr/>
            <p:nvPr/>
          </p:nvSpPr>
          <p:spPr>
            <a:xfrm>
              <a:off x="2827925" y="4687504"/>
              <a:ext cx="1257844" cy="2037081"/>
            </a:xfrm>
            <a:prstGeom prst="rect">
              <a:avLst/>
            </a:prstGeom>
            <a:noFill/>
          </p:spPr>
          <p:txBody>
            <a:bodyPr wrap="square" lIns="66662" tIns="33330" rIns="66662" bIns="33330">
              <a:spAutoFit/>
            </a:bodyPr>
            <a:lstStyle/>
            <a:p>
              <a:pPr defTabSz="666614"/>
              <a:r>
                <a:rPr lang="en-US" sz="800" b="1" dirty="0">
                  <a:solidFill>
                    <a:srgbClr val="000000"/>
                  </a:solidFill>
                </a:rPr>
                <a:t>YES. </a:t>
              </a:r>
              <a:r>
                <a:rPr lang="en-US" sz="800" dirty="0">
                  <a:solidFill>
                    <a:srgbClr val="000000"/>
                  </a:solidFill>
                </a:rPr>
                <a:t>This </a:t>
              </a:r>
              <a:r>
                <a:rPr lang="en-US" sz="800" i="1" dirty="0">
                  <a:solidFill>
                    <a:srgbClr val="000000"/>
                  </a:solidFill>
                </a:rPr>
                <a:t>was </a:t>
              </a:r>
              <a:r>
                <a:rPr lang="en-US" sz="800" dirty="0">
                  <a:solidFill>
                    <a:srgbClr val="000000"/>
                  </a:solidFill>
                </a:rPr>
                <a:t>a</a:t>
              </a:r>
            </a:p>
            <a:p>
              <a:pPr defTabSz="666614"/>
              <a:r>
                <a:rPr lang="en-US" sz="800" dirty="0">
                  <a:solidFill>
                    <a:srgbClr val="000000"/>
                  </a:solidFill>
                </a:rPr>
                <a:t>reckless violation. Invoking the</a:t>
              </a:r>
            </a:p>
            <a:p>
              <a:pPr defTabSz="666614"/>
              <a:r>
                <a:rPr lang="en-US" sz="800" dirty="0">
                  <a:solidFill>
                    <a:srgbClr val="000000"/>
                  </a:solidFill>
                </a:rPr>
                <a:t>organization’s disciplinary</a:t>
              </a:r>
            </a:p>
            <a:p>
              <a:pPr defTabSz="666614"/>
              <a:r>
                <a:rPr lang="en-US" sz="800" dirty="0">
                  <a:solidFill>
                    <a:srgbClr val="000000"/>
                  </a:solidFill>
                </a:rPr>
                <a:t>process is warranted.</a:t>
              </a:r>
            </a:p>
            <a:p>
              <a:pPr defTabSz="666614"/>
              <a:endParaRPr lang="en-US" sz="800" dirty="0">
                <a:solidFill>
                  <a:srgbClr val="000000"/>
                </a:solidFill>
              </a:endParaRPr>
            </a:p>
            <a:p>
              <a:pPr defTabSz="666614"/>
              <a:r>
                <a:rPr lang="en-US" sz="800" b="1" dirty="0">
                  <a:solidFill>
                    <a:srgbClr val="000000"/>
                  </a:solidFill>
                </a:rPr>
                <a:t>NO. </a:t>
              </a:r>
              <a:r>
                <a:rPr lang="en-US" sz="800" dirty="0">
                  <a:solidFill>
                    <a:srgbClr val="000000"/>
                  </a:solidFill>
                </a:rPr>
                <a:t>This </a:t>
              </a:r>
              <a:r>
                <a:rPr lang="en-US" sz="800" i="1" dirty="0">
                  <a:solidFill>
                    <a:srgbClr val="000000"/>
                  </a:solidFill>
                </a:rPr>
                <a:t>was not </a:t>
              </a:r>
              <a:r>
                <a:rPr lang="en-US" sz="800" dirty="0">
                  <a:solidFill>
                    <a:srgbClr val="000000"/>
                  </a:solidFill>
                </a:rPr>
                <a:t>a reckless violation. Conclusion: This must have been system-induced. Use causal analysis to determine systemic/ organizational causes that prompted or influenced the violation.</a:t>
              </a:r>
            </a:p>
          </p:txBody>
        </p:sp>
        <p:sp>
          <p:nvSpPr>
            <p:cNvPr id="44" name="Rectangle 43"/>
            <p:cNvSpPr/>
            <p:nvPr/>
          </p:nvSpPr>
          <p:spPr>
            <a:xfrm>
              <a:off x="4146172" y="3945814"/>
              <a:ext cx="1427741" cy="51330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a:solidFill>
                  <a:prstClr val="white"/>
                </a:solidFill>
              </a:endParaRPr>
            </a:p>
          </p:txBody>
        </p:sp>
        <p:sp>
          <p:nvSpPr>
            <p:cNvPr id="45" name="Rectangle 44"/>
            <p:cNvSpPr/>
            <p:nvPr/>
          </p:nvSpPr>
          <p:spPr>
            <a:xfrm>
              <a:off x="4132243" y="3977091"/>
              <a:ext cx="1397146" cy="436643"/>
            </a:xfrm>
            <a:prstGeom prst="rect">
              <a:avLst/>
            </a:prstGeom>
          </p:spPr>
          <p:txBody>
            <a:bodyPr wrap="square" lIns="66662" tIns="33330" rIns="66662" bIns="33330">
              <a:spAutoFit/>
            </a:bodyPr>
            <a:lstStyle/>
            <a:p>
              <a:pPr algn="ctr" defTabSz="666614"/>
              <a:r>
                <a:rPr lang="en-US" sz="800" dirty="0">
                  <a:solidFill>
                    <a:srgbClr val="000000"/>
                  </a:solidFill>
                </a:rPr>
                <a:t>Q9. Would a peer have behaved differently under very similar circumstances?</a:t>
              </a:r>
            </a:p>
          </p:txBody>
        </p:sp>
        <p:sp>
          <p:nvSpPr>
            <p:cNvPr id="47" name="Rectangle 46"/>
            <p:cNvSpPr/>
            <p:nvPr/>
          </p:nvSpPr>
          <p:spPr>
            <a:xfrm>
              <a:off x="4183269" y="4679574"/>
              <a:ext cx="1407104" cy="2037081"/>
            </a:xfrm>
            <a:prstGeom prst="rect">
              <a:avLst/>
            </a:prstGeom>
            <a:noFill/>
          </p:spPr>
          <p:txBody>
            <a:bodyPr wrap="square" lIns="66662" tIns="33330" rIns="66662" bIns="33330">
              <a:spAutoFit/>
            </a:bodyPr>
            <a:lstStyle/>
            <a:p>
              <a:pPr defTabSz="666614"/>
              <a:r>
                <a:rPr lang="en-US" sz="800" b="1" dirty="0">
                  <a:solidFill>
                    <a:srgbClr val="000000"/>
                  </a:solidFill>
                </a:rPr>
                <a:t>YES. </a:t>
              </a:r>
              <a:r>
                <a:rPr lang="en-US" sz="800" dirty="0">
                  <a:solidFill>
                    <a:srgbClr val="000000"/>
                  </a:solidFill>
                </a:rPr>
                <a:t>Invoking the</a:t>
              </a:r>
            </a:p>
            <a:p>
              <a:pPr defTabSz="666614"/>
              <a:r>
                <a:rPr lang="en-US" sz="800" dirty="0">
                  <a:solidFill>
                    <a:srgbClr val="000000"/>
                  </a:solidFill>
                </a:rPr>
                <a:t>organization’s disciplinary</a:t>
              </a:r>
            </a:p>
            <a:p>
              <a:pPr defTabSz="666614"/>
              <a:r>
                <a:rPr lang="en-US" sz="800" dirty="0">
                  <a:solidFill>
                    <a:srgbClr val="000000"/>
                  </a:solidFill>
                </a:rPr>
                <a:t>process is warranted, but it is still required to evaluate relevant organizational processes and</a:t>
              </a:r>
            </a:p>
            <a:p>
              <a:pPr defTabSz="666614"/>
              <a:r>
                <a:rPr lang="en-US" sz="800" dirty="0">
                  <a:solidFill>
                    <a:srgbClr val="000000"/>
                  </a:solidFill>
                </a:rPr>
                <a:t>related management / supervisory practices.</a:t>
              </a:r>
            </a:p>
            <a:p>
              <a:pPr defTabSz="666614"/>
              <a:endParaRPr lang="en-US" sz="800" dirty="0">
                <a:solidFill>
                  <a:srgbClr val="000000"/>
                </a:solidFill>
              </a:endParaRPr>
            </a:p>
            <a:p>
              <a:pPr defTabSz="666614"/>
              <a:r>
                <a:rPr lang="en-US" sz="800" b="1" dirty="0">
                  <a:solidFill>
                    <a:srgbClr val="000000"/>
                  </a:solidFill>
                </a:rPr>
                <a:t>NO.</a:t>
              </a:r>
              <a:r>
                <a:rPr lang="en-US" sz="800" dirty="0">
                  <a:solidFill>
                    <a:srgbClr val="000000"/>
                  </a:solidFill>
                </a:rPr>
                <a:t> Causal analysis should be used to determine the type of violation (routine, optimizing or necessary) and the systemic causes that prompted, or influenced the violation. </a:t>
              </a:r>
            </a:p>
          </p:txBody>
        </p:sp>
        <p:sp>
          <p:nvSpPr>
            <p:cNvPr id="50" name="Rectangle 49"/>
            <p:cNvSpPr/>
            <p:nvPr/>
          </p:nvSpPr>
          <p:spPr>
            <a:xfrm>
              <a:off x="5704573" y="3861582"/>
              <a:ext cx="1153020" cy="261217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defTabSz="666614"/>
              <a:r>
                <a:rPr lang="en-US" sz="800" dirty="0">
                  <a:solidFill>
                    <a:srgbClr val="000000"/>
                  </a:solidFill>
                </a:rPr>
                <a:t>This is an appropriate conclusion if another person (peer) would have foreseen and avoided bringing about the consequence. It suggests more individual culpability than a system-induced error</a:t>
              </a:r>
              <a:r>
                <a:rPr lang="en-US" sz="800" dirty="0">
                  <a:solidFill>
                    <a:srgbClr val="000000"/>
                  </a:solidFill>
                  <a:highlight>
                    <a:srgbClr val="FFFF00"/>
                  </a:highlight>
                </a:rPr>
                <a:t>. Corrective action should seek to understand why the individual did not recognize the potential consequence</a:t>
              </a:r>
              <a:r>
                <a:rPr lang="en-US" sz="800" dirty="0">
                  <a:solidFill>
                    <a:srgbClr val="000000"/>
                  </a:solidFill>
                </a:rPr>
                <a:t> and why he/she believed his/her behavior was appropriate for the situation.</a:t>
              </a:r>
            </a:p>
          </p:txBody>
        </p:sp>
        <p:sp>
          <p:nvSpPr>
            <p:cNvPr id="55" name="Rectangle 54"/>
            <p:cNvSpPr/>
            <p:nvPr/>
          </p:nvSpPr>
          <p:spPr>
            <a:xfrm>
              <a:off x="7001729" y="3996482"/>
              <a:ext cx="1172833" cy="2652634"/>
            </a:xfrm>
            <a:prstGeom prst="rect">
              <a:avLst/>
            </a:prstGeom>
            <a:noFill/>
          </p:spPr>
          <p:txBody>
            <a:bodyPr wrap="square" lIns="66662" tIns="33330" rIns="66662" bIns="33330">
              <a:spAutoFit/>
            </a:bodyPr>
            <a:lstStyle/>
            <a:p>
              <a:pPr defTabSz="666614"/>
              <a:r>
                <a:rPr lang="en-US" sz="800" dirty="0">
                  <a:solidFill>
                    <a:srgbClr val="000000"/>
                  </a:solidFill>
                </a:rPr>
                <a:t>This was an error provoked by the system in which the individual was working. If</a:t>
              </a:r>
            </a:p>
            <a:p>
              <a:pPr defTabSz="666614"/>
              <a:r>
                <a:rPr lang="en-US" sz="800" dirty="0">
                  <a:solidFill>
                    <a:srgbClr val="000000"/>
                  </a:solidFill>
                </a:rPr>
                <a:t>there was a deficiency in selection and/or assignment, further analysis should focus on the hiring process.</a:t>
              </a:r>
            </a:p>
            <a:p>
              <a:pPr defTabSz="666614"/>
              <a:r>
                <a:rPr lang="en-US" sz="800" dirty="0">
                  <a:solidFill>
                    <a:srgbClr val="000000"/>
                  </a:solidFill>
                </a:rPr>
                <a:t>Deficiencies in training or experience should analyze the training and qualification process for the individual’s</a:t>
              </a:r>
            </a:p>
            <a:p>
              <a:pPr defTabSz="666614"/>
              <a:r>
                <a:rPr lang="en-US" sz="800" dirty="0">
                  <a:solidFill>
                    <a:srgbClr val="000000"/>
                  </a:solidFill>
                </a:rPr>
                <a:t>job position. Other parts of the system should also be evaluated for related causes.</a:t>
              </a:r>
            </a:p>
          </p:txBody>
        </p:sp>
        <p:sp>
          <p:nvSpPr>
            <p:cNvPr id="56" name="Rectangle 55"/>
            <p:cNvSpPr/>
            <p:nvPr/>
          </p:nvSpPr>
          <p:spPr>
            <a:xfrm>
              <a:off x="2834957" y="3947468"/>
              <a:ext cx="1250852" cy="51165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a:solidFill>
                  <a:prstClr val="white"/>
                </a:solidFill>
              </a:endParaRPr>
            </a:p>
          </p:txBody>
        </p:sp>
        <p:sp>
          <p:nvSpPr>
            <p:cNvPr id="57" name="Rectangle 56"/>
            <p:cNvSpPr/>
            <p:nvPr/>
          </p:nvSpPr>
          <p:spPr>
            <a:xfrm>
              <a:off x="2868259" y="3949932"/>
              <a:ext cx="1217550" cy="559753"/>
            </a:xfrm>
            <a:prstGeom prst="rect">
              <a:avLst/>
            </a:prstGeom>
          </p:spPr>
          <p:txBody>
            <a:bodyPr wrap="square" lIns="66662" tIns="33330" rIns="66662" bIns="33330">
              <a:spAutoFit/>
            </a:bodyPr>
            <a:lstStyle/>
            <a:p>
              <a:pPr algn="ctr" defTabSz="666614"/>
              <a:r>
                <a:rPr lang="en-US" sz="800" dirty="0">
                  <a:solidFill>
                    <a:srgbClr val="000000"/>
                  </a:solidFill>
                </a:rPr>
                <a:t>Q9. Would a peer have behaved differently under very similar circumstances?</a:t>
              </a:r>
            </a:p>
          </p:txBody>
        </p:sp>
        <p:sp>
          <p:nvSpPr>
            <p:cNvPr id="58" name="Rectangle: Rounded Corners 57"/>
            <p:cNvSpPr/>
            <p:nvPr/>
          </p:nvSpPr>
          <p:spPr>
            <a:xfrm>
              <a:off x="9467513" y="3455764"/>
              <a:ext cx="1167011" cy="365299"/>
            </a:xfrm>
            <a:prstGeom prst="roundRect">
              <a:avLst/>
            </a:prstGeom>
            <a:solidFill>
              <a:schemeClr val="accent5">
                <a:lumMod val="75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62" tIns="33330" rIns="66662" bIns="33330" numCol="1" spcCol="0" rtlCol="0" fromWordArt="0" anchor="ctr" anchorCtr="0" forceAA="0" compatLnSpc="1">
              <a:prstTxWarp prst="textNoShape">
                <a:avLst/>
              </a:prstTxWarp>
              <a:noAutofit/>
            </a:bodyPr>
            <a:lstStyle/>
            <a:p>
              <a:pPr algn="ctr" defTabSz="666614"/>
              <a:endParaRPr lang="en-US" sz="1300">
                <a:solidFill>
                  <a:prstClr val="white"/>
                </a:solidFill>
              </a:endParaRPr>
            </a:p>
          </p:txBody>
        </p:sp>
        <p:sp>
          <p:nvSpPr>
            <p:cNvPr id="59" name="Rectangle 58"/>
            <p:cNvSpPr/>
            <p:nvPr/>
          </p:nvSpPr>
          <p:spPr>
            <a:xfrm>
              <a:off x="9448297" y="3493940"/>
              <a:ext cx="1169654" cy="344310"/>
            </a:xfrm>
            <a:prstGeom prst="rect">
              <a:avLst/>
            </a:prstGeom>
          </p:spPr>
          <p:txBody>
            <a:bodyPr wrap="square" lIns="66662" tIns="33330" rIns="66662" bIns="33330">
              <a:spAutoFit/>
            </a:bodyPr>
            <a:lstStyle/>
            <a:p>
              <a:pPr algn="ctr" defTabSz="666614"/>
              <a:r>
                <a:rPr lang="en-US" sz="900" dirty="0">
                  <a:solidFill>
                    <a:srgbClr val="000000"/>
                  </a:solidFill>
                </a:rPr>
                <a:t>C11. Blameless error</a:t>
              </a:r>
            </a:p>
          </p:txBody>
        </p:sp>
        <p:sp>
          <p:nvSpPr>
            <p:cNvPr id="60" name="Rectangle 59"/>
            <p:cNvSpPr/>
            <p:nvPr/>
          </p:nvSpPr>
          <p:spPr>
            <a:xfrm>
              <a:off x="8230037" y="3991042"/>
              <a:ext cx="1148943" cy="2652634"/>
            </a:xfrm>
            <a:prstGeom prst="rect">
              <a:avLst/>
            </a:prstGeom>
            <a:noFill/>
          </p:spPr>
          <p:txBody>
            <a:bodyPr wrap="square" lIns="66662" tIns="33330" rIns="66662" bIns="33330">
              <a:spAutoFit/>
            </a:bodyPr>
            <a:lstStyle/>
            <a:p>
              <a:pPr defTabSz="666614"/>
              <a:r>
                <a:rPr lang="en-US" sz="800" dirty="0">
                  <a:solidFill>
                    <a:srgbClr val="000000"/>
                  </a:solidFill>
                </a:rPr>
                <a:t>This was an error; However, the behavior (or history of this type of behavior) may warrant some form of remediation to correct it. </a:t>
              </a:r>
            </a:p>
            <a:p>
              <a:pPr defTabSz="666614"/>
              <a:r>
                <a:rPr lang="en-US" sz="800" dirty="0">
                  <a:solidFill>
                    <a:srgbClr val="000000"/>
                  </a:solidFill>
                </a:rPr>
                <a:t>Determining the performance mode of the error skill-, rule- or knowledge-based) will serve to indicate the appropriate training or form of remediation needed.</a:t>
              </a:r>
            </a:p>
            <a:p>
              <a:pPr defTabSz="666614"/>
              <a:r>
                <a:rPr lang="en-US" sz="800" dirty="0">
                  <a:solidFill>
                    <a:srgbClr val="000000"/>
                  </a:solidFill>
                </a:rPr>
                <a:t>Analysis of organizational processes and management/supervisory practices should also be conducted.</a:t>
              </a:r>
            </a:p>
          </p:txBody>
        </p:sp>
        <p:sp>
          <p:nvSpPr>
            <p:cNvPr id="64" name="Rectangle 63"/>
            <p:cNvSpPr/>
            <p:nvPr/>
          </p:nvSpPr>
          <p:spPr>
            <a:xfrm>
              <a:off x="9445686" y="4011734"/>
              <a:ext cx="1148943" cy="2160192"/>
            </a:xfrm>
            <a:prstGeom prst="rect">
              <a:avLst/>
            </a:prstGeom>
            <a:noFill/>
          </p:spPr>
          <p:txBody>
            <a:bodyPr wrap="square" lIns="66662" tIns="33330" rIns="66662" bIns="33330">
              <a:spAutoFit/>
            </a:bodyPr>
            <a:lstStyle/>
            <a:p>
              <a:pPr defTabSz="666614"/>
              <a:r>
                <a:rPr lang="en-US" sz="800" dirty="0">
                  <a:solidFill>
                    <a:srgbClr val="000000"/>
                  </a:solidFill>
                </a:rPr>
                <a:t>This was an error; the individual should not be individually blamed. Analysis of</a:t>
              </a:r>
            </a:p>
            <a:p>
              <a:pPr defTabSz="666614"/>
              <a:r>
                <a:rPr lang="en-US" sz="800" dirty="0">
                  <a:solidFill>
                    <a:srgbClr val="000000"/>
                  </a:solidFill>
                </a:rPr>
                <a:t>organizational processes and management/ supervisory practices should be conducted to identify conditions that</a:t>
              </a:r>
            </a:p>
            <a:p>
              <a:pPr defTabSz="666614"/>
              <a:r>
                <a:rPr lang="en-US" sz="800" dirty="0">
                  <a:solidFill>
                    <a:srgbClr val="000000"/>
                  </a:solidFill>
                </a:rPr>
                <a:t>provoked the error and weaknesses in the defenses that did not mitigate the consequences of the error.</a:t>
              </a:r>
            </a:p>
          </p:txBody>
        </p:sp>
        <p:cxnSp>
          <p:nvCxnSpPr>
            <p:cNvPr id="66" name="Straight Arrow Connector 65"/>
            <p:cNvCxnSpPr>
              <a:stCxn id="6" idx="3"/>
              <a:endCxn id="8" idx="1"/>
            </p:cNvCxnSpPr>
            <p:nvPr/>
          </p:nvCxnSpPr>
          <p:spPr>
            <a:xfrm flipV="1">
              <a:off x="2782317" y="639594"/>
              <a:ext cx="674530" cy="600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cxnSpLocks/>
              <a:stCxn id="8" idx="3"/>
              <a:endCxn id="10" idx="1"/>
            </p:cNvCxnSpPr>
            <p:nvPr/>
          </p:nvCxnSpPr>
          <p:spPr>
            <a:xfrm>
              <a:off x="4827709" y="639594"/>
              <a:ext cx="1274428" cy="600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cxnSpLocks/>
              <a:stCxn id="10" idx="3"/>
              <a:endCxn id="12" idx="1"/>
            </p:cNvCxnSpPr>
            <p:nvPr/>
          </p:nvCxnSpPr>
          <p:spPr>
            <a:xfrm>
              <a:off x="7654365" y="645596"/>
              <a:ext cx="425304" cy="328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3025554" y="539342"/>
              <a:ext cx="251802" cy="184666"/>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no</a:t>
              </a:r>
            </a:p>
          </p:txBody>
        </p:sp>
        <p:sp>
          <p:nvSpPr>
            <p:cNvPr id="87" name="TextBox 86"/>
            <p:cNvSpPr txBox="1"/>
            <p:nvPr/>
          </p:nvSpPr>
          <p:spPr>
            <a:xfrm>
              <a:off x="5364615" y="550704"/>
              <a:ext cx="251802" cy="184666"/>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no</a:t>
              </a:r>
            </a:p>
          </p:txBody>
        </p:sp>
        <p:sp>
          <p:nvSpPr>
            <p:cNvPr id="88" name="TextBox 87"/>
            <p:cNvSpPr txBox="1"/>
            <p:nvPr/>
          </p:nvSpPr>
          <p:spPr>
            <a:xfrm>
              <a:off x="6777170" y="1298108"/>
              <a:ext cx="251802" cy="369332"/>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yes</a:t>
              </a:r>
            </a:p>
          </p:txBody>
        </p:sp>
        <p:cxnSp>
          <p:nvCxnSpPr>
            <p:cNvPr id="91" name="Straight Arrow Connector 90"/>
            <p:cNvCxnSpPr>
              <a:stCxn id="6" idx="2"/>
              <a:endCxn id="24" idx="0"/>
            </p:cNvCxnSpPr>
            <p:nvPr/>
          </p:nvCxnSpPr>
          <p:spPr>
            <a:xfrm>
              <a:off x="2185731" y="1098897"/>
              <a:ext cx="883" cy="5631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a:stCxn id="24" idx="2"/>
              <a:endCxn id="22" idx="0"/>
            </p:cNvCxnSpPr>
            <p:nvPr/>
          </p:nvCxnSpPr>
          <p:spPr>
            <a:xfrm flipH="1">
              <a:off x="2182656" y="2836884"/>
              <a:ext cx="3957" cy="61363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2016965" y="1210197"/>
              <a:ext cx="380133" cy="184666"/>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yes</a:t>
              </a:r>
            </a:p>
          </p:txBody>
        </p:sp>
        <p:sp>
          <p:nvSpPr>
            <p:cNvPr id="99" name="TextBox 98"/>
            <p:cNvSpPr txBox="1"/>
            <p:nvPr/>
          </p:nvSpPr>
          <p:spPr>
            <a:xfrm>
              <a:off x="2055042" y="2918429"/>
              <a:ext cx="251802" cy="369332"/>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yes</a:t>
              </a:r>
            </a:p>
          </p:txBody>
        </p:sp>
        <p:cxnSp>
          <p:nvCxnSpPr>
            <p:cNvPr id="101" name="Straight Arrow Connector 100"/>
            <p:cNvCxnSpPr>
              <a:stCxn id="8" idx="2"/>
              <a:endCxn id="18" idx="0"/>
            </p:cNvCxnSpPr>
            <p:nvPr/>
          </p:nvCxnSpPr>
          <p:spPr>
            <a:xfrm>
              <a:off x="4142281" y="1082090"/>
              <a:ext cx="10653" cy="4683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a:stCxn id="18" idx="1"/>
              <a:endCxn id="26" idx="0"/>
            </p:cNvCxnSpPr>
            <p:nvPr/>
          </p:nvCxnSpPr>
          <p:spPr>
            <a:xfrm>
              <a:off x="3432480" y="2280916"/>
              <a:ext cx="9366" cy="11670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18" idx="3"/>
              <a:endCxn id="29" idx="0"/>
            </p:cNvCxnSpPr>
            <p:nvPr/>
          </p:nvCxnSpPr>
          <p:spPr>
            <a:xfrm>
              <a:off x="4873387" y="2280915"/>
              <a:ext cx="9365" cy="116021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cxnSpLocks/>
              <a:stCxn id="10" idx="2"/>
              <a:endCxn id="16" idx="0"/>
            </p:cNvCxnSpPr>
            <p:nvPr/>
          </p:nvCxnSpPr>
          <p:spPr>
            <a:xfrm flipH="1">
              <a:off x="6876308" y="1244881"/>
              <a:ext cx="1945" cy="46525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a:stCxn id="16" idx="1"/>
              <a:endCxn id="32" idx="0"/>
            </p:cNvCxnSpPr>
            <p:nvPr/>
          </p:nvCxnSpPr>
          <p:spPr>
            <a:xfrm>
              <a:off x="6232855" y="2354024"/>
              <a:ext cx="2" cy="11205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a:stCxn id="16" idx="3"/>
              <a:endCxn id="33" idx="0"/>
            </p:cNvCxnSpPr>
            <p:nvPr/>
          </p:nvCxnSpPr>
          <p:spPr>
            <a:xfrm>
              <a:off x="7519757" y="2354023"/>
              <a:ext cx="0" cy="111685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a:cxnSpLocks/>
              <a:stCxn id="12" idx="2"/>
              <a:endCxn id="36" idx="0"/>
            </p:cNvCxnSpPr>
            <p:nvPr/>
          </p:nvCxnSpPr>
          <p:spPr>
            <a:xfrm>
              <a:off x="8813761" y="1236301"/>
              <a:ext cx="5103" cy="22179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p:cNvCxnSpPr>
              <a:stCxn id="14" idx="2"/>
              <a:endCxn id="36" idx="0"/>
            </p:cNvCxnSpPr>
            <p:nvPr/>
          </p:nvCxnSpPr>
          <p:spPr>
            <a:xfrm flipH="1">
              <a:off x="8818864" y="2836886"/>
              <a:ext cx="1227052" cy="6173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a:cxnSpLocks/>
              <a:stCxn id="12" idx="2"/>
              <a:endCxn id="14" idx="0"/>
            </p:cNvCxnSpPr>
            <p:nvPr/>
          </p:nvCxnSpPr>
          <p:spPr>
            <a:xfrm>
              <a:off x="8813763" y="1236299"/>
              <a:ext cx="1232153" cy="42573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4" name="TextBox 153"/>
            <p:cNvSpPr txBox="1"/>
            <p:nvPr/>
          </p:nvSpPr>
          <p:spPr>
            <a:xfrm>
              <a:off x="7386364" y="2824328"/>
              <a:ext cx="251802" cy="369332"/>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yes</a:t>
              </a:r>
            </a:p>
          </p:txBody>
        </p:sp>
        <p:sp>
          <p:nvSpPr>
            <p:cNvPr id="155" name="TextBox 154"/>
            <p:cNvSpPr txBox="1"/>
            <p:nvPr/>
          </p:nvSpPr>
          <p:spPr>
            <a:xfrm>
              <a:off x="6099298" y="2832239"/>
              <a:ext cx="251802" cy="184666"/>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no</a:t>
              </a:r>
            </a:p>
          </p:txBody>
        </p:sp>
        <p:sp>
          <p:nvSpPr>
            <p:cNvPr id="156" name="TextBox 155"/>
            <p:cNvSpPr txBox="1"/>
            <p:nvPr/>
          </p:nvSpPr>
          <p:spPr>
            <a:xfrm>
              <a:off x="4749194" y="2711400"/>
              <a:ext cx="251802" cy="184666"/>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no</a:t>
              </a:r>
            </a:p>
          </p:txBody>
        </p:sp>
        <p:sp>
          <p:nvSpPr>
            <p:cNvPr id="158" name="TextBox 157"/>
            <p:cNvSpPr txBox="1"/>
            <p:nvPr/>
          </p:nvSpPr>
          <p:spPr>
            <a:xfrm>
              <a:off x="3312985" y="2697591"/>
              <a:ext cx="251802" cy="369332"/>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yes</a:t>
              </a:r>
            </a:p>
          </p:txBody>
        </p:sp>
        <p:sp>
          <p:nvSpPr>
            <p:cNvPr id="159" name="TextBox 158"/>
            <p:cNvSpPr txBox="1"/>
            <p:nvPr/>
          </p:nvSpPr>
          <p:spPr>
            <a:xfrm>
              <a:off x="8672089" y="2302704"/>
              <a:ext cx="251802" cy="369332"/>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yes</a:t>
              </a:r>
            </a:p>
          </p:txBody>
        </p:sp>
        <p:sp>
          <p:nvSpPr>
            <p:cNvPr id="160" name="TextBox 159"/>
            <p:cNvSpPr txBox="1"/>
            <p:nvPr/>
          </p:nvSpPr>
          <p:spPr>
            <a:xfrm>
              <a:off x="9984586" y="3050832"/>
              <a:ext cx="251802" cy="369332"/>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yes</a:t>
              </a:r>
            </a:p>
          </p:txBody>
        </p:sp>
        <p:sp>
          <p:nvSpPr>
            <p:cNvPr id="161" name="TextBox 160"/>
            <p:cNvSpPr txBox="1"/>
            <p:nvPr/>
          </p:nvSpPr>
          <p:spPr>
            <a:xfrm>
              <a:off x="9322396" y="1354779"/>
              <a:ext cx="251802" cy="184666"/>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no</a:t>
              </a:r>
            </a:p>
          </p:txBody>
        </p:sp>
        <p:sp>
          <p:nvSpPr>
            <p:cNvPr id="162" name="TextBox 161"/>
            <p:cNvSpPr txBox="1"/>
            <p:nvPr/>
          </p:nvSpPr>
          <p:spPr>
            <a:xfrm>
              <a:off x="9296051" y="2978019"/>
              <a:ext cx="251802" cy="184666"/>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no</a:t>
              </a:r>
            </a:p>
          </p:txBody>
        </p:sp>
        <p:sp>
          <p:nvSpPr>
            <p:cNvPr id="175" name="TextBox 174"/>
            <p:cNvSpPr txBox="1"/>
            <p:nvPr/>
          </p:nvSpPr>
          <p:spPr>
            <a:xfrm>
              <a:off x="7701967" y="574562"/>
              <a:ext cx="251802" cy="184666"/>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no</a:t>
              </a:r>
            </a:p>
          </p:txBody>
        </p:sp>
        <p:sp>
          <p:nvSpPr>
            <p:cNvPr id="176" name="TextBox 175"/>
            <p:cNvSpPr txBox="1"/>
            <p:nvPr/>
          </p:nvSpPr>
          <p:spPr>
            <a:xfrm>
              <a:off x="3971345" y="1167575"/>
              <a:ext cx="387479" cy="184666"/>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yes</a:t>
              </a:r>
            </a:p>
          </p:txBody>
        </p:sp>
        <p:sp>
          <p:nvSpPr>
            <p:cNvPr id="212" name="TextBox 211"/>
            <p:cNvSpPr txBox="1"/>
            <p:nvPr/>
          </p:nvSpPr>
          <p:spPr>
            <a:xfrm>
              <a:off x="6955631" y="6681777"/>
              <a:ext cx="3621704" cy="138499"/>
            </a:xfrm>
            <a:prstGeom prst="rect">
              <a:avLst/>
            </a:prstGeom>
            <a:noFill/>
          </p:spPr>
          <p:txBody>
            <a:bodyPr wrap="square" lIns="0" tIns="0" rIns="0" bIns="0" rtlCol="0">
              <a:spAutoFit/>
            </a:bodyPr>
            <a:lstStyle/>
            <a:p>
              <a:pPr algn="r" defTabSz="666614"/>
              <a:r>
                <a:rPr lang="en-US" sz="900" dirty="0">
                  <a:solidFill>
                    <a:srgbClr val="575757"/>
                  </a:solidFill>
                </a:rPr>
                <a:t>Adapted from Andy Hobbs, 2008.  </a:t>
              </a:r>
              <a:r>
                <a:rPr lang="en-US" sz="900" u="sng" dirty="0">
                  <a:solidFill>
                    <a:srgbClr val="575757"/>
                  </a:solidFill>
                </a:rPr>
                <a:t>Human Performance Culpability</a:t>
              </a:r>
            </a:p>
          </p:txBody>
        </p:sp>
        <p:cxnSp>
          <p:nvCxnSpPr>
            <p:cNvPr id="74" name="Straight Arrow Connector 73"/>
            <p:cNvCxnSpPr/>
            <p:nvPr/>
          </p:nvCxnSpPr>
          <p:spPr>
            <a:xfrm flipV="1">
              <a:off x="2782318" y="735371"/>
              <a:ext cx="694717" cy="14843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3006381" y="1414307"/>
              <a:ext cx="251802" cy="184666"/>
            </a:xfrm>
            <a:prstGeom prst="rect">
              <a:avLst/>
            </a:prstGeom>
            <a:solidFill>
              <a:schemeClr val="bg1"/>
            </a:solidFill>
          </p:spPr>
          <p:txBody>
            <a:bodyPr wrap="square" lIns="0" tIns="0" rIns="0" bIns="0" rtlCol="0">
              <a:spAutoFit/>
            </a:bodyPr>
            <a:lstStyle/>
            <a:p>
              <a:pPr algn="ctr" defTabSz="666614"/>
              <a:r>
                <a:rPr lang="en-US" sz="1200" b="1" dirty="0">
                  <a:solidFill>
                    <a:srgbClr val="000000"/>
                  </a:solidFill>
                </a:rPr>
                <a:t>no</a:t>
              </a:r>
            </a:p>
          </p:txBody>
        </p:sp>
      </p:grpSp>
      <p:sp>
        <p:nvSpPr>
          <p:cNvPr id="43" name="Oval 42">
            <a:extLst>
              <a:ext uri="{FF2B5EF4-FFF2-40B4-BE49-F238E27FC236}">
                <a16:creationId xmlns:a16="http://schemas.microsoft.com/office/drawing/2014/main" id="{13259BAB-D287-CC1A-EC16-09E884CC9E3A}"/>
              </a:ext>
            </a:extLst>
          </p:cNvPr>
          <p:cNvSpPr/>
          <p:nvPr/>
        </p:nvSpPr>
        <p:spPr>
          <a:xfrm>
            <a:off x="2466562" y="532998"/>
            <a:ext cx="990797" cy="228595"/>
          </a:xfrm>
          <a:prstGeom prst="ellipse">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29D46461-DA1D-4A4D-71BE-9CDF78352327}"/>
              </a:ext>
            </a:extLst>
          </p:cNvPr>
          <p:cNvSpPr/>
          <p:nvPr/>
        </p:nvSpPr>
        <p:spPr>
          <a:xfrm>
            <a:off x="4612260" y="502181"/>
            <a:ext cx="1589250" cy="306067"/>
          </a:xfrm>
          <a:prstGeom prst="ellipse">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4C8AFB71-3911-A572-DDA3-22795440DAEC}"/>
              </a:ext>
            </a:extLst>
          </p:cNvPr>
          <p:cNvSpPr/>
          <p:nvPr/>
        </p:nvSpPr>
        <p:spPr>
          <a:xfrm>
            <a:off x="6677583" y="1110333"/>
            <a:ext cx="352251" cy="766685"/>
          </a:xfrm>
          <a:prstGeom prst="ellipse">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DEDBC9D8-B364-6037-9385-EDE2F14B7231}"/>
              </a:ext>
            </a:extLst>
          </p:cNvPr>
          <p:cNvSpPr/>
          <p:nvPr/>
        </p:nvSpPr>
        <p:spPr>
          <a:xfrm>
            <a:off x="6043427" y="2309644"/>
            <a:ext cx="352251" cy="1186076"/>
          </a:xfrm>
          <a:prstGeom prst="ellipse">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933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8" grpId="0" animBg="1"/>
      <p:bldP spid="49" grpId="0" animBg="1"/>
      <p:bldP spid="5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A99748-AD04-8D2F-BD41-6178D345D8E1}"/>
              </a:ext>
            </a:extLst>
          </p:cNvPr>
          <p:cNvPicPr>
            <a:picLocks noChangeAspect="1"/>
          </p:cNvPicPr>
          <p:nvPr/>
        </p:nvPicPr>
        <p:blipFill>
          <a:blip r:embed="rId3"/>
          <a:stretch>
            <a:fillRect/>
          </a:stretch>
        </p:blipFill>
        <p:spPr>
          <a:xfrm>
            <a:off x="377456" y="339189"/>
            <a:ext cx="11040852" cy="5211007"/>
          </a:xfrm>
          <a:prstGeom prst="rect">
            <a:avLst/>
          </a:prstGeom>
        </p:spPr>
      </p:pic>
      <p:sp>
        <p:nvSpPr>
          <p:cNvPr id="6" name="TextBox 5">
            <a:extLst>
              <a:ext uri="{FF2B5EF4-FFF2-40B4-BE49-F238E27FC236}">
                <a16:creationId xmlns:a16="http://schemas.microsoft.com/office/drawing/2014/main" id="{8F842EE2-6480-2812-BB4F-4FC325ED9A18}"/>
              </a:ext>
            </a:extLst>
          </p:cNvPr>
          <p:cNvSpPr txBox="1"/>
          <p:nvPr/>
        </p:nvSpPr>
        <p:spPr>
          <a:xfrm>
            <a:off x="313660" y="5808184"/>
            <a:ext cx="6650665" cy="369332"/>
          </a:xfrm>
          <a:prstGeom prst="rect">
            <a:avLst/>
          </a:prstGeom>
          <a:noFill/>
        </p:spPr>
        <p:txBody>
          <a:bodyPr wrap="square" rtlCol="0">
            <a:spAutoFit/>
          </a:bodyPr>
          <a:lstStyle/>
          <a:p>
            <a:r>
              <a:rPr lang="en-US" dirty="0"/>
              <a:t>Human Performance Culpability Decision Tree (Reason, 1997)</a:t>
            </a:r>
          </a:p>
        </p:txBody>
      </p:sp>
    </p:spTree>
    <p:extLst>
      <p:ext uri="{BB962C8B-B14F-4D97-AF65-F5344CB8AC3E}">
        <p14:creationId xmlns:p14="http://schemas.microsoft.com/office/powerpoint/2010/main" val="2090923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C8E6B907-CDA4-23DF-A43A-DB393C48F3C2}"/>
              </a:ext>
            </a:extLst>
          </p:cNvPr>
          <p:cNvSpPr txBox="1"/>
          <p:nvPr/>
        </p:nvSpPr>
        <p:spPr>
          <a:xfrm>
            <a:off x="1386865" y="1766888"/>
            <a:ext cx="6596245" cy="2320616"/>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800" kern="1200" dirty="0">
                <a:solidFill>
                  <a:srgbClr val="FFFFFF"/>
                </a:solidFill>
                <a:latin typeface="+mj-lt"/>
                <a:ea typeface="+mj-ea"/>
                <a:cs typeface="+mj-cs"/>
              </a:rPr>
              <a:t>The word “accountability” comes from “account,” meaning to tell a story.</a:t>
            </a:r>
          </a:p>
        </p:txBody>
      </p:sp>
      <p:sp>
        <p:nvSpPr>
          <p:cNvPr id="43" name="Rectangle 42">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4AEA181-DE12-730D-EED0-208F79ED5E33}"/>
              </a:ext>
            </a:extLst>
          </p:cNvPr>
          <p:cNvPicPr>
            <a:picLocks noChangeAspect="1"/>
          </p:cNvPicPr>
          <p:nvPr/>
        </p:nvPicPr>
        <p:blipFill>
          <a:blip r:embed="rId3"/>
          <a:stretch>
            <a:fillRect/>
          </a:stretch>
        </p:blipFill>
        <p:spPr>
          <a:xfrm>
            <a:off x="9367516" y="611244"/>
            <a:ext cx="2247900" cy="3257550"/>
          </a:xfrm>
          <a:prstGeom prst="rect">
            <a:avLst/>
          </a:prstGeom>
        </p:spPr>
      </p:pic>
    </p:spTree>
    <p:extLst>
      <p:ext uri="{BB962C8B-B14F-4D97-AF65-F5344CB8AC3E}">
        <p14:creationId xmlns:p14="http://schemas.microsoft.com/office/powerpoint/2010/main" val="2795955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18618</TotalTime>
  <Words>1813</Words>
  <Application>Microsoft Office PowerPoint</Application>
  <PresentationFormat>Widescreen</PresentationFormat>
  <Paragraphs>149</Paragraphs>
  <Slides>19</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AdvOT4ac4c61e</vt:lpstr>
      <vt:lpstr>Arial</vt:lpstr>
      <vt:lpstr>Calibri</vt:lpstr>
      <vt:lpstr>Calibri Light</vt:lpstr>
      <vt:lpstr>GE Inspira Sans</vt:lpstr>
      <vt:lpstr>System Font Regular</vt:lpstr>
      <vt:lpstr>WordVisiCarriageReturn_MSFontService</vt:lpstr>
      <vt:lpstr>Office Theme</vt:lpstr>
      <vt:lpstr>Retraining is Not a Corrective Action Digging Deeper when Investigating the Human Cause of Incidents</vt:lpstr>
      <vt:lpstr>Human and Organizational Performance (HOP)</vt:lpstr>
      <vt:lpstr>Human Error is Normal</vt:lpstr>
      <vt:lpstr>Blame fixes Nothing.</vt:lpstr>
      <vt:lpstr>PowerPoint Presentation</vt:lpstr>
      <vt:lpstr>PowerPoint Presentation</vt:lpstr>
      <vt:lpstr>PowerPoint Presentation</vt:lpstr>
      <vt:lpstr>Learning is Vital.</vt:lpstr>
      <vt:lpstr>Context Drives Behavior.</vt:lpstr>
      <vt:lpstr>PowerPoint Presentation</vt:lpstr>
      <vt:lpstr>PowerPoint Presentation</vt:lpstr>
      <vt:lpstr>PowerPoint Presentation</vt:lpstr>
      <vt:lpstr>PowerPoint Presentation</vt:lpstr>
      <vt:lpstr>How you Respond to Failure Matters.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Exploring the Role of Human Factors in Lean Management</dc:title>
  <dc:creator>Ryan, Bethany (GE Aerospace, US)</dc:creator>
  <cp:lastModifiedBy>Ryan, Bethany (GE Aerospace, US)</cp:lastModifiedBy>
  <cp:revision>19</cp:revision>
  <dcterms:created xsi:type="dcterms:W3CDTF">2025-01-13T11:23:06Z</dcterms:created>
  <dcterms:modified xsi:type="dcterms:W3CDTF">2025-02-06T12:28:44Z</dcterms:modified>
</cp:coreProperties>
</file>