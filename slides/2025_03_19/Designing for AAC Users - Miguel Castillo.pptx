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56" r:id="rId2"/>
    <p:sldId id="257" r:id="rId3"/>
    <p:sldId id="258" r:id="rId4"/>
    <p:sldId id="286" r:id="rId5"/>
    <p:sldId id="285" r:id="rId6"/>
    <p:sldId id="259" r:id="rId7"/>
    <p:sldId id="260" r:id="rId8"/>
    <p:sldId id="287" r:id="rId9"/>
    <p:sldId id="263" r:id="rId10"/>
    <p:sldId id="288" r:id="rId11"/>
    <p:sldId id="28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0"/>
    <p:restoredTop sz="69859"/>
  </p:normalViewPr>
  <p:slideViewPr>
    <p:cSldViewPr snapToGrid="0">
      <p:cViewPr varScale="1">
        <p:scale>
          <a:sx n="84" d="100"/>
          <a:sy n="84" d="100"/>
        </p:scale>
        <p:origin x="18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0D9852-4088-F84F-B7F8-F6C8C7F4609B}" type="datetimeFigureOut">
              <a:rPr lang="en-US" smtClean="0"/>
              <a:t>3/19/25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C2818-4D83-3D46-A72C-1E9C55334E7C}" type="slidenum">
              <a:rPr lang="en-US" smtClean="0"/>
              <a:t>‹#›</a:t>
            </a:fld>
            <a:endParaRPr lang="en-US"/>
          </a:p>
        </p:txBody>
      </p:sp>
    </p:spTree>
    <p:extLst>
      <p:ext uri="{BB962C8B-B14F-4D97-AF65-F5344CB8AC3E}">
        <p14:creationId xmlns:p14="http://schemas.microsoft.com/office/powerpoint/2010/main" val="61111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session, I’ll be presenting on </a:t>
            </a:r>
            <a:r>
              <a:rPr lang="en-US" b="0" i="1" u="none" strike="noStrike" dirty="0">
                <a:solidFill>
                  <a:srgbClr val="000000"/>
                </a:solidFill>
                <a:effectLst/>
              </a:rPr>
              <a:t>Designing for AAC Users</a:t>
            </a:r>
            <a:r>
              <a:rPr lang="en-US" b="0" i="0" u="none" strike="noStrike" dirty="0">
                <a:solidFill>
                  <a:srgbClr val="000000"/>
                </a:solidFill>
                <a:effectLst/>
              </a:rPr>
              <a:t>. My interest in this topic stems from conversations I often have with my partner, who is a Speech-Language Pathologist.</a:t>
            </a:r>
          </a:p>
          <a:p>
            <a:pPr algn="l"/>
            <a:endParaRPr lang="en-US" b="0" i="0" u="none" strike="noStrike" dirty="0">
              <a:solidFill>
                <a:srgbClr val="000000"/>
              </a:solidFill>
              <a:effectLst/>
            </a:endParaRPr>
          </a:p>
          <a:p>
            <a:pPr algn="l"/>
            <a:r>
              <a:rPr lang="en-US" b="0" i="0" u="none" strike="noStrike" dirty="0">
                <a:solidFill>
                  <a:srgbClr val="000000"/>
                </a:solidFill>
                <a:effectLst/>
              </a:rPr>
              <a:t>Through these conversations, I’ve come to understand how important—and even life-changing—AAC devices are for communication. However, I’ve also learned how challenging it can be to learn and accept these devices, not only for the primary users but also for those around them. Many of these challenges stem from the devices themselves, particularly the software. Since AAC devices are not widely mainstream, there has been limited effort to improve the user experience. Existing systems present many opportunities for enhancement.</a:t>
            </a:r>
          </a:p>
          <a:p>
            <a:pPr algn="l"/>
            <a:endParaRPr lang="en-US" b="0" i="0" u="none" strike="noStrike" dirty="0">
              <a:solidFill>
                <a:srgbClr val="000000"/>
              </a:solidFill>
              <a:effectLst/>
            </a:endParaRPr>
          </a:p>
          <a:p>
            <a:pPr algn="l"/>
            <a:r>
              <a:rPr lang="en-US" b="0" i="0" u="none" strike="noStrike" dirty="0">
                <a:solidFill>
                  <a:srgbClr val="000000"/>
                </a:solidFill>
                <a:effectLst/>
              </a:rPr>
              <a:t>A major contributing factor to this issue is the lack of involvement of actual AAC users in the development process. As highlighted in many presentations, engaging the people you are designing for is a fundamental principle of user-centered design.</a:t>
            </a:r>
          </a:p>
          <a:p>
            <a:pPr algn="l"/>
            <a:endParaRPr lang="en-US" b="0" i="0" u="none" strike="noStrike" dirty="0">
              <a:solidFill>
                <a:srgbClr val="000000"/>
              </a:solidFill>
              <a:effectLst/>
            </a:endParaRPr>
          </a:p>
          <a:p>
            <a:pPr algn="l"/>
            <a:r>
              <a:rPr lang="en-US" b="0" i="0" u="none" strike="noStrike" dirty="0">
                <a:solidFill>
                  <a:srgbClr val="000000"/>
                </a:solidFill>
                <a:effectLst/>
              </a:rPr>
              <a:t>I came across a couple of articles on this topic that I’d like to share. These articles explore ways to involve AAC users in the research stage, helping to ensure that their needs and experiences shape the design process, ultimately building a better system.</a:t>
            </a:r>
            <a:endParaRPr lang="en-US" dirty="0"/>
          </a:p>
        </p:txBody>
      </p:sp>
      <p:sp>
        <p:nvSpPr>
          <p:cNvPr id="4" name="Slide Number Placeholder 3"/>
          <p:cNvSpPr>
            <a:spLocks noGrp="1"/>
          </p:cNvSpPr>
          <p:nvPr>
            <p:ph type="sldNum" sz="quarter" idx="5"/>
          </p:nvPr>
        </p:nvSpPr>
        <p:spPr/>
        <p:txBody>
          <a:bodyPr/>
          <a:lstStyle/>
          <a:p>
            <a:fld id="{C64C2818-4D83-3D46-A72C-1E9C55334E7C}" type="slidenum">
              <a:rPr lang="en-US" smtClean="0"/>
              <a:t>1</a:t>
            </a:fld>
            <a:endParaRPr lang="en-US"/>
          </a:p>
        </p:txBody>
      </p:sp>
    </p:spTree>
    <p:extLst>
      <p:ext uri="{BB962C8B-B14F-4D97-AF65-F5344CB8AC3E}">
        <p14:creationId xmlns:p14="http://schemas.microsoft.com/office/powerpoint/2010/main" val="331834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AAC stands for Augmentative and Alternative Communication</a:t>
            </a:r>
          </a:p>
          <a:p>
            <a:pPr marL="628650" lvl="1" indent="-171450">
              <a:buFont typeface="Arial" panose="020B0604020202020204" pitchFamily="34" charset="0"/>
              <a:buChar char="•"/>
            </a:pPr>
            <a:r>
              <a:rPr lang="en-US" dirty="0"/>
              <a:t>Augmentative = add to or supplement speech </a:t>
            </a:r>
          </a:p>
          <a:p>
            <a:pPr marL="628650" lvl="1" indent="-171450">
              <a:buFont typeface="Arial" panose="020B0604020202020204" pitchFamily="34" charset="0"/>
              <a:buChar char="•"/>
            </a:pPr>
            <a:r>
              <a:rPr lang="en-US" dirty="0"/>
              <a:t>Alternative = different from speech</a:t>
            </a:r>
            <a:endParaRPr lang="en-US" i="0" dirty="0"/>
          </a:p>
          <a:p>
            <a:endParaRPr lang="en-US" dirty="0"/>
          </a:p>
          <a:p>
            <a:r>
              <a:rPr lang="en-US" dirty="0"/>
              <a:t>AAC are communication devices, systems, strategies and tools that replace or support spoken language. </a:t>
            </a:r>
          </a:p>
          <a:p>
            <a:endParaRPr lang="en-US" dirty="0"/>
          </a:p>
          <a:p>
            <a:r>
              <a:rPr lang="en-US" dirty="0"/>
              <a:t>These tools help a person communicate, when they cannot rely on speech. </a:t>
            </a:r>
          </a:p>
        </p:txBody>
      </p:sp>
      <p:sp>
        <p:nvSpPr>
          <p:cNvPr id="4" name="Slide Number Placeholder 3"/>
          <p:cNvSpPr>
            <a:spLocks noGrp="1"/>
          </p:cNvSpPr>
          <p:nvPr>
            <p:ph type="sldNum" sz="quarter" idx="5"/>
          </p:nvPr>
        </p:nvSpPr>
        <p:spPr/>
        <p:txBody>
          <a:bodyPr/>
          <a:lstStyle/>
          <a:p>
            <a:fld id="{C64C2818-4D83-3D46-A72C-1E9C55334E7C}" type="slidenum">
              <a:rPr lang="en-US" smtClean="0"/>
              <a:t>2</a:t>
            </a:fld>
            <a:endParaRPr lang="en-US"/>
          </a:p>
        </p:txBody>
      </p:sp>
    </p:spTree>
    <p:extLst>
      <p:ext uri="{BB962C8B-B14F-4D97-AF65-F5344CB8AC3E}">
        <p14:creationId xmlns:p14="http://schemas.microsoft.com/office/powerpoint/2010/main" val="2182147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Arial" panose="020B0604020202020204" pitchFamily="34" charset="0"/>
              <a:buNone/>
            </a:pPr>
            <a:r>
              <a:rPr lang="en-US" b="0" i="0" u="none" strike="noStrike" dirty="0">
                <a:solidFill>
                  <a:srgbClr val="000000"/>
                </a:solidFill>
                <a:effectLst/>
                <a:latin typeface="Open Sans" panose="020B0606030504020204" pitchFamily="34" charset="0"/>
              </a:rPr>
              <a:t>Here are some examples of AAC devices. </a:t>
            </a:r>
          </a:p>
          <a:p>
            <a:pPr algn="just">
              <a:buFont typeface="Arial" panose="020B0604020202020204" pitchFamily="34" charset="0"/>
              <a:buNone/>
            </a:pPr>
            <a:endParaRPr lang="en-US" b="0" i="0" u="none" strike="noStrike" dirty="0">
              <a:solidFill>
                <a:srgbClr val="000000"/>
              </a:solidFill>
              <a:effectLst/>
              <a:latin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Arial" panose="020B0604020202020204" pitchFamily="34" charset="0"/>
                <a:ea typeface="Times New Roman" panose="02020603050405020304" pitchFamily="18" charset="0"/>
              </a:rPr>
              <a:t>AAC can be aided or unaided meaning the person can either use their body (unaided) to communicate or external tools (aided) like paper (low tech) or an iPad (high tech – speech generating device). </a:t>
            </a:r>
            <a:endParaRPr lang="en-US" sz="1800" dirty="0">
              <a:effectLst/>
              <a:latin typeface="Times New Roman" panose="02020603050405020304" pitchFamily="18" charset="0"/>
              <a:ea typeface="Times New Roman" panose="02020603050405020304" pitchFamily="18" charset="0"/>
            </a:endParaRPr>
          </a:p>
          <a:p>
            <a:pPr algn="just">
              <a:buFont typeface="Arial" panose="020B0604020202020204" pitchFamily="34" charset="0"/>
              <a:buNone/>
            </a:pPr>
            <a:endParaRPr lang="en-US" b="0" i="0" u="none" strike="noStrike" dirty="0">
              <a:solidFill>
                <a:srgbClr val="000000"/>
              </a:solidFill>
              <a:effectLst/>
              <a:latin typeface="Open Sans" panose="020B0606030504020204" pitchFamily="34" charset="0"/>
            </a:endParaRPr>
          </a:p>
          <a:p>
            <a:pPr algn="just">
              <a:buFont typeface="Arial" panose="020B0604020202020204" pitchFamily="34" charset="0"/>
              <a:buNone/>
            </a:pPr>
            <a:r>
              <a:rPr lang="en-US" b="1" i="0" u="none" strike="noStrike" dirty="0">
                <a:solidFill>
                  <a:srgbClr val="000000"/>
                </a:solidFill>
                <a:effectLst/>
                <a:latin typeface="Open Sans" panose="020B0606030504020204" pitchFamily="34" charset="0"/>
              </a:rPr>
              <a:t>Non-tech to low tech</a:t>
            </a:r>
          </a:p>
          <a:p>
            <a:pPr algn="just">
              <a:buFont typeface="Arial" panose="020B0604020202020204" pitchFamily="34" charset="0"/>
              <a:buChar char="•"/>
            </a:pPr>
            <a:r>
              <a:rPr lang="en-US" b="0" i="0" u="none" strike="noStrike" dirty="0">
                <a:solidFill>
                  <a:srgbClr val="000000"/>
                </a:solidFill>
                <a:effectLst/>
                <a:latin typeface="Open Sans" panose="020B0606030504020204" pitchFamily="34" charset="0"/>
              </a:rPr>
              <a:t>gestures and facial expressions</a:t>
            </a:r>
          </a:p>
          <a:p>
            <a:pPr algn="just">
              <a:buFont typeface="Arial" panose="020B0604020202020204" pitchFamily="34" charset="0"/>
              <a:buChar char="•"/>
            </a:pPr>
            <a:r>
              <a:rPr lang="en-US" b="0" i="0" u="none" strike="noStrike" dirty="0">
                <a:solidFill>
                  <a:srgbClr val="000000"/>
                </a:solidFill>
                <a:effectLst/>
                <a:latin typeface="Open Sans" panose="020B0606030504020204" pitchFamily="34" charset="0"/>
              </a:rPr>
              <a:t>writing/drawing</a:t>
            </a:r>
          </a:p>
          <a:p>
            <a:pPr algn="just">
              <a:buFont typeface="Arial" panose="020B0604020202020204" pitchFamily="34" charset="0"/>
              <a:buChar char="•"/>
            </a:pPr>
            <a:r>
              <a:rPr lang="en-US" b="0" i="0" u="none" strike="noStrike" dirty="0">
                <a:solidFill>
                  <a:srgbClr val="000000"/>
                </a:solidFill>
                <a:effectLst/>
                <a:latin typeface="Open Sans" panose="020B0606030504020204" pitchFamily="34" charset="0"/>
              </a:rPr>
              <a:t>spelling words by pointing to letters</a:t>
            </a:r>
          </a:p>
          <a:p>
            <a:pPr algn="just">
              <a:buFont typeface="Arial" panose="020B0604020202020204" pitchFamily="34" charset="0"/>
              <a:buChar char="•"/>
            </a:pPr>
            <a:r>
              <a:rPr lang="en-US" b="0" i="0" u="none" strike="noStrike" dirty="0">
                <a:solidFill>
                  <a:srgbClr val="000000"/>
                </a:solidFill>
                <a:effectLst/>
                <a:latin typeface="Open Sans" panose="020B0606030504020204" pitchFamily="34" charset="0"/>
              </a:rPr>
              <a:t>using single pictures or visual sentences</a:t>
            </a:r>
          </a:p>
          <a:p>
            <a:pPr algn="just">
              <a:buFont typeface="Arial" panose="020B0604020202020204" pitchFamily="34" charset="0"/>
              <a:buNone/>
            </a:pPr>
            <a:endParaRPr lang="en-US" b="0" i="0" u="none" strike="noStrike" dirty="0">
              <a:solidFill>
                <a:srgbClr val="000000"/>
              </a:solidFill>
              <a:effectLst/>
              <a:latin typeface="Open Sans" panose="020B0606030504020204" pitchFamily="34" charset="0"/>
            </a:endParaRPr>
          </a:p>
          <a:p>
            <a:pPr algn="just">
              <a:buFont typeface="Arial" panose="020B0604020202020204" pitchFamily="34" charset="0"/>
              <a:buNone/>
            </a:pPr>
            <a:endParaRPr lang="en-US" b="0" i="0" u="none" strike="noStrike" dirty="0">
              <a:solidFill>
                <a:srgbClr val="000000"/>
              </a:solidFill>
              <a:effectLst/>
              <a:latin typeface="Open Sans" panose="020B0606030504020204" pitchFamily="34" charset="0"/>
            </a:endParaRPr>
          </a:p>
          <a:p>
            <a:pPr algn="just">
              <a:buFont typeface="Arial" panose="020B0604020202020204" pitchFamily="34" charset="0"/>
              <a:buNone/>
            </a:pPr>
            <a:endParaRPr lang="en-US" b="0" i="0" u="none" strike="noStrike" dirty="0">
              <a:solidFill>
                <a:srgbClr val="000000"/>
              </a:solidFill>
              <a:effectLst/>
              <a:latin typeface="Open Sans" panose="020B0606030504020204" pitchFamily="34" charset="0"/>
            </a:endParaRPr>
          </a:p>
          <a:p>
            <a:pPr algn="just">
              <a:buFont typeface="Arial" panose="020B0604020202020204" pitchFamily="34" charset="0"/>
              <a:buNone/>
            </a:pPr>
            <a:r>
              <a:rPr lang="en-US" b="1" i="0" u="none" strike="noStrike" dirty="0">
                <a:solidFill>
                  <a:srgbClr val="000000"/>
                </a:solidFill>
                <a:effectLst/>
                <a:latin typeface="Open Sans" panose="020B0606030504020204" pitchFamily="34" charset="0"/>
              </a:rPr>
              <a:t>High-tech </a:t>
            </a:r>
          </a:p>
          <a:p>
            <a:pPr algn="just">
              <a:buFont typeface="Arial" panose="020B0604020202020204" pitchFamily="34" charset="0"/>
              <a:buChar char="•"/>
            </a:pPr>
            <a:r>
              <a:rPr lang="en-US" b="0" i="0" u="none" strike="noStrike" dirty="0">
                <a:solidFill>
                  <a:srgbClr val="000000"/>
                </a:solidFill>
                <a:effectLst/>
                <a:latin typeface="Open Sans" panose="020B0606030504020204" pitchFamily="34" charset="0"/>
              </a:rPr>
              <a:t>using a communication  app on an iPad or tablet</a:t>
            </a:r>
          </a:p>
          <a:p>
            <a:pPr algn="just">
              <a:buFont typeface="Arial" panose="020B0604020202020204" pitchFamily="34" charset="0"/>
              <a:buChar char="•"/>
            </a:pPr>
            <a:r>
              <a:rPr lang="en-US" b="0" i="0" u="none" strike="noStrike" dirty="0">
                <a:solidFill>
                  <a:srgbClr val="000000"/>
                </a:solidFill>
                <a:effectLst/>
                <a:latin typeface="Open Sans" panose="020B0606030504020204" pitchFamily="34" charset="0"/>
              </a:rPr>
              <a:t>Using a keyboard (real or virtual) to type in messages to request, comment and/or share thoughts and ideas.</a:t>
            </a:r>
          </a:p>
          <a:p>
            <a:pPr algn="just">
              <a:buFont typeface="Arial" panose="020B0604020202020204" pitchFamily="34" charset="0"/>
              <a:buChar char="•"/>
            </a:pPr>
            <a:endParaRPr lang="en-US" b="0" i="0" u="none" strike="noStrike" dirty="0">
              <a:solidFill>
                <a:srgbClr val="000000"/>
              </a:solidFill>
              <a:effectLst/>
              <a:latin typeface="Open Sans" panose="020B0606030504020204" pitchFamily="34" charset="0"/>
            </a:endParaRPr>
          </a:p>
          <a:p>
            <a:pPr algn="just">
              <a:buFont typeface="Arial" panose="020B0604020202020204" pitchFamily="34" charset="0"/>
              <a:buChar char="•"/>
            </a:pPr>
            <a:endParaRPr lang="en-US" b="0" i="0" u="none" strike="noStrike" dirty="0">
              <a:solidFill>
                <a:srgbClr val="000000"/>
              </a:solidFill>
              <a:effectLst/>
              <a:latin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Arial" panose="020B0604020202020204" pitchFamily="34" charset="0"/>
                <a:ea typeface="Times New Roman" panose="02020603050405020304" pitchFamily="18" charset="0"/>
              </a:rPr>
              <a:t>Depending on the user’s profile needs (physical, linguistic, cognitive, contextual) a language system and tool can be recommended by an AAC Specialist. </a:t>
            </a:r>
            <a:endParaRPr lang="en-US" b="0" i="0" u="none" strike="noStrike" dirty="0">
              <a:solidFill>
                <a:srgbClr val="000000"/>
              </a:solidFill>
              <a:effectLst/>
              <a:latin typeface="Open Sans" panose="020B0606030504020204" pitchFamily="34" charset="0"/>
            </a:endParaRPr>
          </a:p>
          <a:p>
            <a:pPr algn="just">
              <a:buFont typeface="Arial" panose="020B0604020202020204" pitchFamily="34" charset="0"/>
              <a:buNone/>
            </a:pPr>
            <a:endParaRPr lang="en-US" b="1" i="0" u="none" strike="noStrike" dirty="0">
              <a:solidFill>
                <a:srgbClr val="000000"/>
              </a:solidFill>
              <a:effectLst/>
              <a:latin typeface="Open Sans" panose="020B0606030504020204" pitchFamily="34" charset="0"/>
            </a:endParaRPr>
          </a:p>
          <a:p>
            <a:pPr algn="just">
              <a:buFont typeface="Arial" panose="020B0604020202020204" pitchFamily="34" charset="0"/>
              <a:buNone/>
            </a:pPr>
            <a:endParaRPr lang="en-US" b="0" i="0" u="none" strike="noStrike" dirty="0">
              <a:solidFill>
                <a:srgbClr val="000000"/>
              </a:solidFill>
              <a:effectLst/>
              <a:latin typeface="Open Sans" panose="020B0606030504020204" pitchFamily="34" charset="0"/>
            </a:endParaRPr>
          </a:p>
        </p:txBody>
      </p:sp>
      <p:sp>
        <p:nvSpPr>
          <p:cNvPr id="4" name="Slide Number Placeholder 3"/>
          <p:cNvSpPr>
            <a:spLocks noGrp="1"/>
          </p:cNvSpPr>
          <p:nvPr>
            <p:ph type="sldNum" sz="quarter" idx="5"/>
          </p:nvPr>
        </p:nvSpPr>
        <p:spPr/>
        <p:txBody>
          <a:bodyPr/>
          <a:lstStyle/>
          <a:p>
            <a:fld id="{C64C2818-4D83-3D46-A72C-1E9C55334E7C}" type="slidenum">
              <a:rPr lang="en-US" smtClean="0"/>
              <a:t>3</a:t>
            </a:fld>
            <a:endParaRPr lang="en-US"/>
          </a:p>
        </p:txBody>
      </p:sp>
    </p:spTree>
    <p:extLst>
      <p:ext uri="{BB962C8B-B14F-4D97-AF65-F5344CB8AC3E}">
        <p14:creationId xmlns:p14="http://schemas.microsoft.com/office/powerpoint/2010/main" val="3999902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rgbClr val="000000"/>
                </a:solidFill>
                <a:effectLst/>
                <a:latin typeface="Arial" panose="020B0604020202020204" pitchFamily="34" charset="0"/>
              </a:rPr>
              <a:t>For this presentation, I will be focusing on High tech. </a:t>
            </a:r>
            <a:endParaRPr lang="en-US" sz="1800" dirty="0">
              <a:effectLst/>
              <a:latin typeface="Arial" panose="020B0604020202020204" pitchFamily="34" charset="0"/>
              <a:ea typeface="Times New Roman" panose="02020603050405020304" pitchFamily="18" charset="0"/>
            </a:endParaRPr>
          </a:p>
          <a:p>
            <a:pPr marL="0" marR="0">
              <a:spcBef>
                <a:spcPts val="0"/>
              </a:spcBef>
              <a:spcAft>
                <a:spcPts val="0"/>
              </a:spcAft>
            </a:pPr>
            <a:endParaRPr lang="en-US" sz="1800" dirty="0">
              <a:effectLst/>
              <a:latin typeface="Arial" panose="020B0604020202020204" pitchFamily="34" charset="0"/>
              <a:ea typeface="Times New Roman" panose="02020603050405020304" pitchFamily="18" charset="0"/>
            </a:endParaRPr>
          </a:p>
          <a:p>
            <a:pPr marL="0" marR="0">
              <a:spcBef>
                <a:spcPts val="0"/>
              </a:spcBef>
              <a:spcAft>
                <a:spcPts val="0"/>
              </a:spcAft>
            </a:pPr>
            <a:r>
              <a:rPr lang="en-US" sz="1800" dirty="0">
                <a:effectLst/>
                <a:latin typeface="Arial" panose="020B0604020202020204" pitchFamily="34" charset="0"/>
                <a:ea typeface="Times New Roman" panose="02020603050405020304" pitchFamily="18" charset="0"/>
              </a:rPr>
              <a:t>Here I have TouchChat WordPower 60 Basic’s main screen layout, which is a language system available on the TouchChat Discover iOS application. This language system is composed of core and fringe vocabulary designed to aid early language learners with difficulties communicating using speech and/or have expressive language disorders. This language system is composed of words, symbols, and pictures. It is designed this way as users may not yet read or spell.</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Arial" panose="020B0604020202020204" pitchFamily="34"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Arial" panose="020B0604020202020204" pitchFamily="34" charset="0"/>
                <a:ea typeface="Times New Roman" panose="02020603050405020304" pitchFamily="18" charset="0"/>
              </a:rPr>
              <a:t>This system allows for users to interact with it via touch, headtracking, and switch scanning. </a:t>
            </a:r>
          </a:p>
          <a:p>
            <a:pPr marL="0" marR="0">
              <a:spcBef>
                <a:spcPts val="0"/>
              </a:spcBef>
              <a:spcAft>
                <a:spcPts val="0"/>
              </a:spcAft>
            </a:pPr>
            <a:endParaRPr lang="en-US" sz="1800" b="1" i="0" u="none" strike="noStrike" dirty="0">
              <a:solidFill>
                <a:srgbClr val="000000"/>
              </a:solidFill>
              <a:effectLst/>
              <a:latin typeface="Arial" panose="020B0604020202020204" pitchFamily="34" charset="0"/>
            </a:endParaRPr>
          </a:p>
          <a:p>
            <a:pPr marL="0" marR="0">
              <a:spcBef>
                <a:spcPts val="0"/>
              </a:spcBef>
              <a:spcAft>
                <a:spcPts val="0"/>
              </a:spcAft>
            </a:pPr>
            <a:r>
              <a:rPr lang="en-US" sz="1800" b="0" i="0" u="none" strike="noStrike" dirty="0">
                <a:solidFill>
                  <a:srgbClr val="000000"/>
                </a:solidFill>
                <a:effectLst/>
                <a:latin typeface="Arial" panose="020B0604020202020204" pitchFamily="34" charset="0"/>
              </a:rPr>
              <a:t>This is commonly used on iPads.</a:t>
            </a:r>
          </a:p>
        </p:txBody>
      </p:sp>
      <p:sp>
        <p:nvSpPr>
          <p:cNvPr id="4" name="Slide Number Placeholder 3"/>
          <p:cNvSpPr>
            <a:spLocks noGrp="1"/>
          </p:cNvSpPr>
          <p:nvPr>
            <p:ph type="sldNum" sz="quarter" idx="5"/>
          </p:nvPr>
        </p:nvSpPr>
        <p:spPr/>
        <p:txBody>
          <a:bodyPr/>
          <a:lstStyle/>
          <a:p>
            <a:fld id="{C64C2818-4D83-3D46-A72C-1E9C55334E7C}" type="slidenum">
              <a:rPr lang="en-US" smtClean="0"/>
              <a:t>4</a:t>
            </a:fld>
            <a:endParaRPr lang="en-US"/>
          </a:p>
        </p:txBody>
      </p:sp>
    </p:spTree>
    <p:extLst>
      <p:ext uri="{BB962C8B-B14F-4D97-AF65-F5344CB8AC3E}">
        <p14:creationId xmlns:p14="http://schemas.microsoft.com/office/powerpoint/2010/main" val="731567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Open Sans" panose="020F0502020204030204" pitchFamily="34" charset="0"/>
              </a:rPr>
              <a:t>So, who are the users. </a:t>
            </a:r>
          </a:p>
          <a:p>
            <a:endParaRPr lang="en-US" b="0" i="0" u="none" strike="noStrike" dirty="0">
              <a:solidFill>
                <a:srgbClr val="000000"/>
              </a:solidFill>
              <a:effectLst/>
              <a:latin typeface="Open Sans" panose="020F0502020204030204" pitchFamily="34" charset="0"/>
            </a:endParaRPr>
          </a:p>
          <a:p>
            <a:r>
              <a:rPr lang="en-US" b="0" i="0" u="none" strike="noStrike" dirty="0">
                <a:solidFill>
                  <a:srgbClr val="000000"/>
                </a:solidFill>
                <a:effectLst/>
                <a:latin typeface="Open Sans" panose="020F0502020204030204" pitchFamily="34" charset="0"/>
              </a:rPr>
              <a:t>This can be a child or person whose speech is not developing within the realm of what is considered typical or is not likely to develop normal speech due to Autism, Down Syndrome, Cerebral Palsy. AAC can be used for persons who have Aphasia, Traumatic Brain Injury, Multiple Sclerosis or other progressive diseases such as ALS which would affect their communication. </a:t>
            </a:r>
          </a:p>
          <a:p>
            <a:endParaRPr lang="en-US" b="0" i="0" u="none" strike="noStrike" dirty="0">
              <a:solidFill>
                <a:srgbClr val="000000"/>
              </a:solidFill>
              <a:effectLst/>
              <a:latin typeface="Open Sans"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rgbClr val="000000"/>
                </a:solidFill>
                <a:effectLst/>
                <a:latin typeface="Open Sans" panose="020F0502020204030204" pitchFamily="34" charset="0"/>
                <a:ea typeface="Times New Roman" panose="02020603050405020304" pitchFamily="18" charset="0"/>
              </a:rPr>
              <a:t>In some cases, these </a:t>
            </a:r>
            <a:r>
              <a:rPr lang="en-US" sz="1800" dirty="0">
                <a:effectLst/>
                <a:latin typeface="Arial" panose="020B0604020202020204" pitchFamily="34" charset="0"/>
                <a:ea typeface="Times New Roman" panose="02020603050405020304" pitchFamily="18" charset="0"/>
              </a:rPr>
              <a:t>systems, particularly early language focused systems, required the ongoing assistance of communication partners to ensure the device is being used and language goals are being met. These encompass parents, family members, teachers, peers, and service providers (SLP, AAC specialist). AAC specialist evaluate and work with the users by training them on the AAC devices and setting their language goals.  </a:t>
            </a:r>
            <a:endParaRPr lang="en-US" sz="1800" dirty="0">
              <a:effectLst/>
              <a:latin typeface="Times New Roman" panose="02020603050405020304" pitchFamily="18" charset="0"/>
              <a:ea typeface="Times New Roman" panose="02020603050405020304" pitchFamily="18" charset="0"/>
            </a:endParaRPr>
          </a:p>
          <a:p>
            <a:endParaRPr lang="en-US" b="0" i="0" u="none" strike="noStrike" dirty="0">
              <a:solidFill>
                <a:srgbClr val="000000"/>
              </a:solidFill>
              <a:effectLst/>
              <a:latin typeface="Open Sans" panose="020F0502020204030204" pitchFamily="34" charset="0"/>
            </a:endParaRPr>
          </a:p>
          <a:p>
            <a:endParaRPr lang="en-US" b="0" i="0" u="none" strike="noStrike" dirty="0">
              <a:solidFill>
                <a:srgbClr val="000000"/>
              </a:solidFill>
              <a:effectLst/>
              <a:latin typeface="Open Sans" panose="020F0502020204030204" pitchFamily="34" charset="0"/>
            </a:endParaRPr>
          </a:p>
          <a:p>
            <a:r>
              <a:rPr lang="en-US" b="0" i="0" u="none" strike="noStrike" dirty="0">
                <a:solidFill>
                  <a:srgbClr val="000000"/>
                </a:solidFill>
                <a:effectLst/>
                <a:latin typeface="Open Sans" panose="020F0502020204030204" pitchFamily="34" charset="0"/>
              </a:rPr>
              <a:t>Overall, AAC has been shown to enhance a child or person’s ability to communicate and have better functional interactions with others.</a:t>
            </a:r>
            <a:endParaRPr lang="en-US" dirty="0"/>
          </a:p>
        </p:txBody>
      </p:sp>
      <p:sp>
        <p:nvSpPr>
          <p:cNvPr id="4" name="Slide Number Placeholder 3"/>
          <p:cNvSpPr>
            <a:spLocks noGrp="1"/>
          </p:cNvSpPr>
          <p:nvPr>
            <p:ph type="sldNum" sz="quarter" idx="5"/>
          </p:nvPr>
        </p:nvSpPr>
        <p:spPr/>
        <p:txBody>
          <a:bodyPr/>
          <a:lstStyle/>
          <a:p>
            <a:fld id="{C64C2818-4D83-3D46-A72C-1E9C55334E7C}" type="slidenum">
              <a:rPr lang="en-US" smtClean="0"/>
              <a:t>5</a:t>
            </a:fld>
            <a:endParaRPr lang="en-US"/>
          </a:p>
        </p:txBody>
      </p:sp>
    </p:spTree>
    <p:extLst>
      <p:ext uri="{BB962C8B-B14F-4D97-AF65-F5344CB8AC3E}">
        <p14:creationId xmlns:p14="http://schemas.microsoft.com/office/powerpoint/2010/main" val="3277659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Difficult Learning Curve:</a:t>
            </a:r>
            <a:r>
              <a:rPr lang="en-US" b="0" i="0" u="none" strike="noStrike" dirty="0">
                <a:solidFill>
                  <a:srgbClr val="000000"/>
                </a:solidFill>
                <a:effectLst/>
              </a:rPr>
              <a:t> AAC systems can be challenging to learn and use, not only for the primary user but also for caregivers, educators, and family members. Many secondary users receive inadequate training, leading to frustration and eventual abandonment of the device.</a:t>
            </a:r>
          </a:p>
          <a:p>
            <a:pPr algn="l"/>
            <a:r>
              <a:rPr lang="en-US" b="0" i="0" u="none" strike="noStrike" dirty="0">
                <a:solidFill>
                  <a:srgbClr val="000000"/>
                </a:solidFill>
                <a:effectLst/>
              </a:rPr>
              <a:t>This challenge is especially significant for early language learners who have difficulty communicating through speech or have expressive language disorders. They require ongoing support from communication partners to ensure the device is used effectively and that their language development goals are met.</a:t>
            </a:r>
          </a:p>
          <a:p>
            <a:endParaRPr lang="en-US" dirty="0"/>
          </a:p>
          <a:p>
            <a:r>
              <a:rPr lang="en-US" b="1" dirty="0"/>
              <a:t>Portability Issues</a:t>
            </a:r>
            <a:r>
              <a:rPr lang="en-US" dirty="0"/>
              <a:t>: Some AAC devices are bulky and inconvenient to carry, limiting their practicality in daily life.</a:t>
            </a:r>
          </a:p>
          <a:p>
            <a:endParaRPr lang="en-US" dirty="0"/>
          </a:p>
          <a:p>
            <a:r>
              <a:rPr lang="en-US" b="1" dirty="0"/>
              <a:t>Technological Barriers</a:t>
            </a:r>
            <a:r>
              <a:rPr lang="en-US" dirty="0"/>
              <a:t>: Frequent technical issues, such as software glitches, battery life concerns, or device malfunctions, can disrupt communication.</a:t>
            </a:r>
          </a:p>
          <a:p>
            <a:endParaRPr lang="en-US" dirty="0"/>
          </a:p>
          <a:p>
            <a:r>
              <a:rPr lang="en-US" b="1" dirty="0"/>
              <a:t>Social Stigma and Limited Opportunities</a:t>
            </a:r>
            <a:r>
              <a:rPr lang="en-US" dirty="0"/>
              <a:t>: AAC use can draw attention to a person’s disability rather than their abilities, reinforcing stereotypes and creating social barriers.</a:t>
            </a:r>
          </a:p>
          <a:p>
            <a:endParaRPr lang="en-US" dirty="0"/>
          </a:p>
          <a:p>
            <a:r>
              <a:rPr lang="en-US" b="1" dirty="0"/>
              <a:t>Language Limitations</a:t>
            </a:r>
            <a:r>
              <a:rPr lang="en-US" dirty="0"/>
              <a:t>: Many AAC systems primarily support English, making them less accessible for users who communicate in other languages.</a:t>
            </a:r>
          </a:p>
        </p:txBody>
      </p:sp>
      <p:sp>
        <p:nvSpPr>
          <p:cNvPr id="4" name="Slide Number Placeholder 3"/>
          <p:cNvSpPr>
            <a:spLocks noGrp="1"/>
          </p:cNvSpPr>
          <p:nvPr>
            <p:ph type="sldNum" sz="quarter" idx="5"/>
          </p:nvPr>
        </p:nvSpPr>
        <p:spPr/>
        <p:txBody>
          <a:bodyPr/>
          <a:lstStyle/>
          <a:p>
            <a:fld id="{C64C2818-4D83-3D46-A72C-1E9C55334E7C}" type="slidenum">
              <a:rPr lang="en-US" smtClean="0"/>
              <a:t>6</a:t>
            </a:fld>
            <a:endParaRPr lang="en-US"/>
          </a:p>
        </p:txBody>
      </p:sp>
    </p:spTree>
    <p:extLst>
      <p:ext uri="{BB962C8B-B14F-4D97-AF65-F5344CB8AC3E}">
        <p14:creationId xmlns:p14="http://schemas.microsoft.com/office/powerpoint/2010/main" val="3494055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covered in the other presentations</a:t>
            </a:r>
          </a:p>
          <a:p>
            <a:endParaRPr lang="en-US" dirty="0"/>
          </a:p>
          <a:p>
            <a:r>
              <a:rPr lang="en-US" dirty="0"/>
              <a:t>UCD </a:t>
            </a:r>
          </a:p>
          <a:p>
            <a:pPr lvl="1"/>
            <a:r>
              <a:rPr lang="en-US" dirty="0"/>
              <a:t>An iterative design process in which designers focus on the users and their needs in each phase of the design process. In UCD, design teams involve users throughout the design process via a variety of research and design techniques, to create highly usable and accessible products for them. </a:t>
            </a:r>
          </a:p>
          <a:p>
            <a:endParaRPr lang="en-US" dirty="0"/>
          </a:p>
          <a:p>
            <a:pPr marL="171450" indent="-171450">
              <a:buFont typeface="Arial" panose="020B0604020202020204" pitchFamily="34" charset="0"/>
              <a:buChar char="•"/>
            </a:pPr>
            <a:r>
              <a:rPr lang="en-US" dirty="0"/>
              <a:t>Participatory design </a:t>
            </a:r>
          </a:p>
          <a:p>
            <a:pPr marL="171450" indent="-171450">
              <a:buFont typeface="Arial" panose="020B0604020202020204" pitchFamily="34" charset="0"/>
              <a:buChar char="•"/>
            </a:pPr>
            <a:r>
              <a:rPr lang="en-US" dirty="0"/>
              <a:t>Contextual design </a:t>
            </a:r>
          </a:p>
          <a:p>
            <a:pPr marL="171450" indent="-171450">
              <a:buFont typeface="Arial" panose="020B0604020202020204" pitchFamily="34" charset="0"/>
              <a:buChar char="•"/>
            </a:pPr>
            <a:endParaRPr lang="en-US" dirty="0"/>
          </a:p>
          <a:p>
            <a:pPr algn="l"/>
            <a:r>
              <a:rPr lang="en-US" b="0" i="0" u="none" strike="noStrike" dirty="0">
                <a:solidFill>
                  <a:srgbClr val="000000"/>
                </a:solidFill>
                <a:effectLst/>
              </a:rPr>
              <a:t>However, AAC users are frequently excluded from the design process, resulting in systems that are difficult to use or fail to meet their needs. One critical area where users are often excluded is the research process, particularly in qualitative research. This is because qualitative methods, such as interviews or focus groups, typically assume that participants can communicate verbally. </a:t>
            </a:r>
          </a:p>
          <a:p>
            <a:pPr algn="l"/>
            <a:endParaRPr lang="en-US" b="0" i="0" u="none" strike="noStrike" dirty="0">
              <a:solidFill>
                <a:srgbClr val="000000"/>
              </a:solidFill>
              <a:effectLst/>
            </a:endParaRPr>
          </a:p>
          <a:p>
            <a:pPr algn="l"/>
            <a:r>
              <a:rPr lang="en-US" b="0" i="0" u="none" strike="noStrike" dirty="0">
                <a:solidFill>
                  <a:srgbClr val="000000"/>
                </a:solidFill>
                <a:effectLst/>
              </a:rPr>
              <a:t>This creates a challenge for researchers who may feel uncertain about the best practices for including AAC users in their studies.</a:t>
            </a:r>
          </a:p>
        </p:txBody>
      </p:sp>
      <p:sp>
        <p:nvSpPr>
          <p:cNvPr id="4" name="Slide Number Placeholder 3"/>
          <p:cNvSpPr>
            <a:spLocks noGrp="1"/>
          </p:cNvSpPr>
          <p:nvPr>
            <p:ph type="sldNum" sz="quarter" idx="5"/>
          </p:nvPr>
        </p:nvSpPr>
        <p:spPr/>
        <p:txBody>
          <a:bodyPr/>
          <a:lstStyle/>
          <a:p>
            <a:fld id="{C64C2818-4D83-3D46-A72C-1E9C55334E7C}" type="slidenum">
              <a:rPr lang="en-US" smtClean="0"/>
              <a:t>7</a:t>
            </a:fld>
            <a:endParaRPr lang="en-US"/>
          </a:p>
        </p:txBody>
      </p:sp>
    </p:spTree>
    <p:extLst>
      <p:ext uri="{BB962C8B-B14F-4D97-AF65-F5344CB8AC3E}">
        <p14:creationId xmlns:p14="http://schemas.microsoft.com/office/powerpoint/2010/main" val="2434430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best practices for conducting qualitative interviews with AAC users:  </a:t>
            </a:r>
          </a:p>
          <a:p>
            <a:endParaRPr lang="en-US" dirty="0"/>
          </a:p>
          <a:p>
            <a:r>
              <a:rPr lang="en-US" b="1" dirty="0"/>
              <a:t>Interviews – Considerations</a:t>
            </a:r>
          </a:p>
          <a:p>
            <a:endParaRPr lang="en-US" dirty="0"/>
          </a:p>
          <a:p>
            <a:r>
              <a:rPr lang="en-US" dirty="0"/>
              <a:t>Fatigue</a:t>
            </a:r>
          </a:p>
          <a:p>
            <a:r>
              <a:rPr lang="en-US" dirty="0"/>
              <a:t>- Depending on the AAC system a participant uses, repetitive movements—such as eye gazing—can be physically demanding. Conversely, some AAC users may have little to no movement, particularly during interviews where they remain seated for extended periods. Holding a single position for a long time while accessing a device can be tiring.  </a:t>
            </a:r>
          </a:p>
          <a:p>
            <a:endParaRPr lang="en-US" dirty="0"/>
          </a:p>
          <a:p>
            <a:r>
              <a:rPr lang="en-US" dirty="0"/>
              <a:t>Response Time and Length</a:t>
            </a:r>
          </a:p>
          <a:p>
            <a:r>
              <a:rPr lang="en-US" dirty="0"/>
              <a:t>- Responses may be shorter and take longer to produce. Many AAC systems require selecting words through eye-tracking, switch scanning, or touchscreen input, all of which take longer than speech.  </a:t>
            </a:r>
          </a:p>
          <a:p>
            <a:r>
              <a:rPr lang="en-US" dirty="0"/>
              <a:t>- Some users have limited dexterity, making navigation and selection slower.  </a:t>
            </a:r>
          </a:p>
          <a:p>
            <a:r>
              <a:rPr lang="en-US" dirty="0"/>
              <a:t>- Each word or phrase must be consciously selected, requiring additional cognitive effort.  </a:t>
            </a:r>
          </a:p>
          <a:p>
            <a:endParaRPr lang="en-US" dirty="0"/>
          </a:p>
          <a:p>
            <a:r>
              <a:rPr lang="en-US" dirty="0"/>
              <a:t>Despite these challenges, responses from AAC users are equally valid and valuable.  </a:t>
            </a:r>
          </a:p>
          <a:p>
            <a:endParaRPr lang="en-US" dirty="0"/>
          </a:p>
          <a:p>
            <a:r>
              <a:rPr lang="en-US" sz="2400" b="1" dirty="0"/>
              <a:t>Interviews - Suggestions</a:t>
            </a:r>
          </a:p>
          <a:p>
            <a:endParaRPr lang="en-US" dirty="0"/>
          </a:p>
          <a:p>
            <a:r>
              <a:rPr lang="en-US" dirty="0"/>
              <a:t>Ask Participants About Their Accessibility Needs</a:t>
            </a:r>
          </a:p>
          <a:p>
            <a:r>
              <a:rPr lang="en-US" dirty="0"/>
              <a:t>- Since AAC systems vary greatly, flexibility is key. The best way to accommodate a participant is to ask them directly what adjustments they need to make the research accessible.  </a:t>
            </a:r>
          </a:p>
          <a:p>
            <a:endParaRPr lang="en-US" dirty="0"/>
          </a:p>
          <a:p>
            <a:r>
              <a:rPr lang="en-US" dirty="0"/>
              <a:t>Provide Interview Format Options</a:t>
            </a:r>
          </a:p>
          <a:p>
            <a:r>
              <a:rPr lang="en-US" dirty="0"/>
              <a:t>- Offer asynchronous or synchronous interview sessions.  </a:t>
            </a:r>
          </a:p>
          <a:p>
            <a:r>
              <a:rPr lang="en-US" dirty="0"/>
              <a:t>  - For example, interviews can be conducted remotely or via email, allowing AAC users to respond at their own pace with thorough and detailed answers.  </a:t>
            </a:r>
          </a:p>
          <a:p>
            <a:r>
              <a:rPr lang="en-US" dirty="0"/>
              <a:t>  - AAC users should have control over how the interview is conducted. If they prefer an in-person interview, they may request to receive the questions in advance.  </a:t>
            </a:r>
          </a:p>
          <a:p>
            <a:endParaRPr lang="en-US" dirty="0"/>
          </a:p>
          <a:p>
            <a:r>
              <a:rPr lang="en-US" dirty="0"/>
              <a:t>Provide Questions in Advance</a:t>
            </a:r>
          </a:p>
          <a:p>
            <a:r>
              <a:rPr lang="en-US" dirty="0"/>
              <a:t>- Receiving questions ahead of time allows participants to:  </a:t>
            </a:r>
          </a:p>
          <a:p>
            <a:r>
              <a:rPr lang="en-US" dirty="0"/>
              <a:t>  - Read and understand the questions at their own pace.  </a:t>
            </a:r>
          </a:p>
          <a:p>
            <a:r>
              <a:rPr lang="en-US" dirty="0"/>
              <a:t>  - Ask for clarifications if needed.  </a:t>
            </a:r>
          </a:p>
          <a:p>
            <a:r>
              <a:rPr lang="en-US" dirty="0"/>
              <a:t>  - Prepare responses in advance, reducing cognitive load during the interview.  </a:t>
            </a:r>
          </a:p>
          <a:p>
            <a:endParaRPr lang="en-US" dirty="0"/>
          </a:p>
          <a:p>
            <a:r>
              <a:rPr lang="en-US" dirty="0"/>
              <a:t>Allow Ample Response Time</a:t>
            </a:r>
          </a:p>
          <a:p>
            <a:r>
              <a:rPr lang="en-US" dirty="0"/>
              <a:t>- Researchers should ensure participants have enough time to complete their responses without feeling rushed.  </a:t>
            </a:r>
          </a:p>
          <a:p>
            <a:r>
              <a:rPr lang="en-US" dirty="0"/>
              <a:t>- Questions should be designed to minimize fatigue by avoiding lengthy response requirements unless absolutely necessary.  </a:t>
            </a:r>
          </a:p>
          <a:p>
            <a:r>
              <a:rPr lang="en-US" dirty="0"/>
              <a:t>- Providing simpler response formats, such as single-choice answers or an emotional faces scale, can make participation easier. Selecting an image to represent an opinion can reduce the need for extensive typing.  </a:t>
            </a:r>
          </a:p>
          <a:p>
            <a:endParaRPr lang="en-US" dirty="0"/>
          </a:p>
          <a:p>
            <a:r>
              <a:rPr lang="en-US" dirty="0"/>
              <a:t>Involve Familiar Communication Partners (If Needed)</a:t>
            </a:r>
          </a:p>
          <a:p>
            <a:r>
              <a:rPr lang="en-US" dirty="0"/>
              <a:t>- Some AAC users rely on communication partners—people who assist in facilitating communication.  </a:t>
            </a:r>
          </a:p>
          <a:p>
            <a:r>
              <a:rPr lang="en-US" dirty="0"/>
              <a:t>- These partners are familiar with the AAC user’s facial expressions and gestures, helping provide context and clarification when needed.  </a:t>
            </a:r>
          </a:p>
          <a:p>
            <a:r>
              <a:rPr lang="en-US" dirty="0"/>
              <a:t>- However, communication partners should support the AAC user without assuming, speaking for them, or providing their own feedback.  </a:t>
            </a:r>
          </a:p>
          <a:p>
            <a:r>
              <a:rPr lang="en-US" dirty="0"/>
              <a:t>- Some communication partners may inadvertently rush responses or attempt to answer on behalf of the participant, so researchers should ensure they allow the AAC user sufficient time to respond independently.  </a:t>
            </a:r>
          </a:p>
          <a:p>
            <a:endParaRPr lang="en-US" dirty="0"/>
          </a:p>
          <a:p>
            <a:r>
              <a:rPr lang="en-US" dirty="0"/>
              <a:t>Conduct Member Checking</a:t>
            </a:r>
          </a:p>
          <a:p>
            <a:r>
              <a:rPr lang="en-US" dirty="0"/>
              <a:t>Member checking helps confirm that the participant’s responses have been accurately understood.  </a:t>
            </a:r>
          </a:p>
          <a:p>
            <a:r>
              <a:rPr lang="en-US" dirty="0"/>
              <a:t>- This provides opportunities for participants to amend, expand, or clarify their responses, confirming that the researcher has correctly interpreted their input.  </a:t>
            </a:r>
          </a:p>
          <a:p>
            <a:pPr marL="171450" indent="-171450">
              <a:buFontTx/>
              <a:buChar char="-"/>
            </a:pPr>
            <a:r>
              <a:rPr lang="en-US" dirty="0"/>
              <a:t>To do this </a:t>
            </a:r>
          </a:p>
          <a:p>
            <a:pPr marL="628650" lvl="1" indent="-171450">
              <a:buFontTx/>
              <a:buChar char="-"/>
            </a:pPr>
            <a:r>
              <a:rPr lang="en-US" dirty="0"/>
              <a:t>Sharing the transcript with participants on a different day for review.  </a:t>
            </a:r>
          </a:p>
          <a:p>
            <a:pPr marL="628650" lvl="1" indent="-171450">
              <a:buFontTx/>
              <a:buChar char="-"/>
            </a:pPr>
            <a:r>
              <a:rPr lang="en-US" dirty="0"/>
              <a:t>Presenting initial themes and asking participants to rate their agreement with them.  </a:t>
            </a:r>
          </a:p>
          <a:p>
            <a:endParaRPr lang="en-US" dirty="0"/>
          </a:p>
          <a:p>
            <a:r>
              <a:rPr lang="en-US" dirty="0"/>
              <a:t>Overall, by following these best practices, researchers can create a more inclusive and accessible interview process for AAC users.</a:t>
            </a:r>
          </a:p>
          <a:p>
            <a:endParaRPr lang="en-US" dirty="0"/>
          </a:p>
        </p:txBody>
      </p:sp>
      <p:sp>
        <p:nvSpPr>
          <p:cNvPr id="4" name="Slide Number Placeholder 3"/>
          <p:cNvSpPr>
            <a:spLocks noGrp="1"/>
          </p:cNvSpPr>
          <p:nvPr>
            <p:ph type="sldNum" sz="quarter" idx="5"/>
          </p:nvPr>
        </p:nvSpPr>
        <p:spPr/>
        <p:txBody>
          <a:bodyPr/>
          <a:lstStyle/>
          <a:p>
            <a:fld id="{C64C2818-4D83-3D46-A72C-1E9C55334E7C}" type="slidenum">
              <a:rPr lang="en-US" smtClean="0"/>
              <a:t>8</a:t>
            </a:fld>
            <a:endParaRPr lang="en-US"/>
          </a:p>
        </p:txBody>
      </p:sp>
    </p:spTree>
    <p:extLst>
      <p:ext uri="{BB962C8B-B14F-4D97-AF65-F5344CB8AC3E}">
        <p14:creationId xmlns:p14="http://schemas.microsoft.com/office/powerpoint/2010/main" val="3191822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To conduct your session, you first need to find participants. While this may seem straightforward, there are important considerations to keep in mind. It’s noted that AAC users may feel they are not invited to participate in research or may believe they are incapable of taking part due to past exclusions. It’s crucial to reassure AAC users that they are indeed invited to participate, that the research has been made accessible, and that necessary accommodations will be provided.</a:t>
            </a:r>
            <a:endParaRPr lang="en-US" dirty="0"/>
          </a:p>
        </p:txBody>
      </p:sp>
      <p:sp>
        <p:nvSpPr>
          <p:cNvPr id="4" name="Slide Number Placeholder 3"/>
          <p:cNvSpPr>
            <a:spLocks noGrp="1"/>
          </p:cNvSpPr>
          <p:nvPr>
            <p:ph type="sldNum" sz="quarter" idx="5"/>
          </p:nvPr>
        </p:nvSpPr>
        <p:spPr/>
        <p:txBody>
          <a:bodyPr/>
          <a:lstStyle/>
          <a:p>
            <a:fld id="{C64C2818-4D83-3D46-A72C-1E9C55334E7C}" type="slidenum">
              <a:rPr lang="en-US" smtClean="0"/>
              <a:t>9</a:t>
            </a:fld>
            <a:endParaRPr lang="en-US"/>
          </a:p>
        </p:txBody>
      </p:sp>
    </p:spTree>
    <p:extLst>
      <p:ext uri="{BB962C8B-B14F-4D97-AF65-F5344CB8AC3E}">
        <p14:creationId xmlns:p14="http://schemas.microsoft.com/office/powerpoint/2010/main" val="3806046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4C2818-4D83-3D46-A72C-1E9C55334E7C}" type="slidenum">
              <a:rPr lang="en-US" smtClean="0"/>
              <a:t>10</a:t>
            </a:fld>
            <a:endParaRPr lang="en-US"/>
          </a:p>
        </p:txBody>
      </p:sp>
    </p:spTree>
    <p:extLst>
      <p:ext uri="{BB962C8B-B14F-4D97-AF65-F5344CB8AC3E}">
        <p14:creationId xmlns:p14="http://schemas.microsoft.com/office/powerpoint/2010/main" val="1804765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4C2818-4D83-3D46-A72C-1E9C55334E7C}" type="slidenum">
              <a:rPr lang="en-US" smtClean="0"/>
              <a:t>11</a:t>
            </a:fld>
            <a:endParaRPr lang="en-US"/>
          </a:p>
        </p:txBody>
      </p:sp>
    </p:spTree>
    <p:extLst>
      <p:ext uri="{BB962C8B-B14F-4D97-AF65-F5344CB8AC3E}">
        <p14:creationId xmlns:p14="http://schemas.microsoft.com/office/powerpoint/2010/main" val="2121415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D79919-C370-6B4B-B746-7BCD7F2E6E52}" type="datetimeFigureOut">
              <a:rPr lang="en-US" smtClean="0"/>
              <a:t>3/19/25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4185778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D79919-C370-6B4B-B746-7BCD7F2E6E52}" type="datetimeFigureOut">
              <a:rPr lang="en-US" smtClean="0"/>
              <a:t>3/19/25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102144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D79919-C370-6B4B-B746-7BCD7F2E6E52}" type="datetimeFigureOut">
              <a:rPr lang="en-US" smtClean="0"/>
              <a:t>3/19/25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91638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D79919-C370-6B4B-B746-7BCD7F2E6E52}" type="datetimeFigureOut">
              <a:rPr lang="en-US" smtClean="0"/>
              <a:t>3/19/25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1933140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D79919-C370-6B4B-B746-7BCD7F2E6E52}" type="datetimeFigureOut">
              <a:rPr lang="en-US" smtClean="0"/>
              <a:t>3/19/25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381821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D79919-C370-6B4B-B746-7BCD7F2E6E52}" type="datetimeFigureOut">
              <a:rPr lang="en-US" smtClean="0"/>
              <a:t>3/19/25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1142430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D79919-C370-6B4B-B746-7BCD7F2E6E52}" type="datetimeFigureOut">
              <a:rPr lang="en-US" smtClean="0"/>
              <a:t>3/19/25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1566161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79919-C370-6B4B-B746-7BCD7F2E6E52}" type="datetimeFigureOut">
              <a:rPr lang="en-US" smtClean="0"/>
              <a:t>3/19/25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1949026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D0D79919-C370-6B4B-B746-7BCD7F2E6E52}" type="datetimeFigureOut">
              <a:rPr lang="en-US" smtClean="0"/>
              <a:t>3/19/25</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3376230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79919-C370-6B4B-B746-7BCD7F2E6E52}" type="datetimeFigureOut">
              <a:rPr lang="en-US" smtClean="0"/>
              <a:t>3/19/25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1688767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D0D79919-C370-6B4B-B746-7BCD7F2E6E52}" type="datetimeFigureOut">
              <a:rPr lang="en-US" smtClean="0"/>
              <a:t>3/19/25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354517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D0D79919-C370-6B4B-B746-7BCD7F2E6E52}" type="datetimeFigureOut">
              <a:rPr lang="en-US" smtClean="0"/>
              <a:t>3/19/25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789285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D79919-C370-6B4B-B746-7BCD7F2E6E52}" type="datetimeFigureOut">
              <a:rPr lang="en-US" smtClean="0"/>
              <a:t>3/19/25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3208519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D79919-C370-6B4B-B746-7BCD7F2E6E52}" type="datetimeFigureOut">
              <a:rPr lang="en-US" smtClean="0"/>
              <a:t>3/19/25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8351D3-0315-204E-A9B5-8304A90EFC7E}" type="slidenum">
              <a:rPr lang="en-US" smtClean="0"/>
              <a:t>‹#›</a:t>
            </a:fld>
            <a:endParaRPr lang="en-US"/>
          </a:p>
        </p:txBody>
      </p:sp>
    </p:spTree>
    <p:extLst>
      <p:ext uri="{BB962C8B-B14F-4D97-AF65-F5344CB8AC3E}">
        <p14:creationId xmlns:p14="http://schemas.microsoft.com/office/powerpoint/2010/main" val="1184725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D0D79919-C370-6B4B-B746-7BCD7F2E6E52}" type="datetimeFigureOut">
              <a:rPr lang="en-US" smtClean="0"/>
              <a:t>3/19/25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158351D3-0315-204E-A9B5-8304A90EFC7E}" type="slidenum">
              <a:rPr lang="en-US" smtClean="0"/>
              <a:t>‹#›</a:t>
            </a:fld>
            <a:endParaRPr lang="en-US"/>
          </a:p>
        </p:txBody>
      </p:sp>
    </p:spTree>
    <p:extLst>
      <p:ext uri="{BB962C8B-B14F-4D97-AF65-F5344CB8AC3E}">
        <p14:creationId xmlns:p14="http://schemas.microsoft.com/office/powerpoint/2010/main" val="15009996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hyperlink" Target="https://www.canva.com/p/drawntoaac/" TargetMode="External"/><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hyperlink" Target="https://www.system-concepts.com/insights/ability-groups-vs-needs/group-diverse-of-people-with-disabilities-work-together-in-office-disabled-different-people-stand-in-raw-and-communicate-with-mobile-phone-laptop-handicapped-persons-work-vector-illustration/" TargetMode="External"/><Relationship Id="rId5" Type="http://schemas.openxmlformats.org/officeDocument/2006/relationships/image" Target="../media/image7.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hyperlink" Target="https://www.vecteezy.com/vector-art/20150533-concept-of-hard-work-burden-or-obstacle-business-difficulty-struggle-challenge-to-success-motivation-or-persistence-concept-businessman-pushing-rock-uphill-all-the-way-to-the-top-of-the-mountain" TargetMode="External"/><Relationship Id="rId5" Type="http://schemas.openxmlformats.org/officeDocument/2006/relationships/image" Target="../media/image8.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hyperlink" Target="https://agentestudio.com/blog/user-centered-design-examples" TargetMode="External"/><Relationship Id="rId5" Type="http://schemas.openxmlformats.org/officeDocument/2006/relationships/image" Target="../media/image9.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hyperlink" Target="https://www.lynda.com/User-Experience-tutorials/Next-steps/546777/611892-4.html" TargetMode="External"/><Relationship Id="rId5" Type="http://schemas.openxmlformats.org/officeDocument/2006/relationships/image" Target="../media/image10.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hyperlink" Target="https://www.everystorymatters.eu/post/12-tips-for-more-inclusive-recruitment" TargetMode="External"/><Relationship Id="rId5" Type="http://schemas.openxmlformats.org/officeDocument/2006/relationships/image" Target="../media/image11.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mailto:cast4317@vandals.uidaho.edu" TargetMode="External"/><Relationship Id="rId5" Type="http://schemas.openxmlformats.org/officeDocument/2006/relationships/image" Target="../media/image12.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hyperlink" Target="https://ussaac.org/speakup/articles/key-aac-issues/#:~:text=The%20device%20may%20be%20laborious,limit%20the%20client&#8217;s%20verbal%20communication" TargetMode="External"/><Relationship Id="rId3" Type="http://schemas.openxmlformats.org/officeDocument/2006/relationships/hyperlink" Target="https://doi.org/10.1177/16094069241234190" TargetMode="External"/><Relationship Id="rId7" Type="http://schemas.openxmlformats.org/officeDocument/2006/relationships/hyperlink" Target="http://www.slaatt.com/blog/the-basics-of-alternative-and-augmentative-communication-aac-what-who-where-when-why"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assistiveware.com/learn-aac/what-is-aac" TargetMode="External"/><Relationship Id="rId5" Type="http://schemas.openxmlformats.org/officeDocument/2006/relationships/hyperlink" Target="https://doi.org/10.1177/2158244014537501" TargetMode="External"/><Relationship Id="rId4" Type="http://schemas.openxmlformats.org/officeDocument/2006/relationships/hyperlink" Target="https://doi.org/10.1145/3313831.33768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047A07-72EC-41BC-A55F-C264F639F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rawings on colorful paper">
            <a:extLst>
              <a:ext uri="{FF2B5EF4-FFF2-40B4-BE49-F238E27FC236}">
                <a16:creationId xmlns:a16="http://schemas.microsoft.com/office/drawing/2014/main" id="{A234400F-7BE5-B079-FBE2-3E26D1CE351D}"/>
              </a:ext>
            </a:extLst>
          </p:cNvPr>
          <p:cNvPicPr>
            <a:picLocks noChangeAspect="1"/>
          </p:cNvPicPr>
          <p:nvPr/>
        </p:nvPicPr>
        <p:blipFill>
          <a:blip r:embed="rId5">
            <a:alphaModFix amt="40000"/>
          </a:blip>
          <a:srcRect b="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45D3C409-0262-A17F-377B-9D242218E0E6}"/>
              </a:ext>
            </a:extLst>
          </p:cNvPr>
          <p:cNvSpPr>
            <a:spLocks noGrp="1"/>
          </p:cNvSpPr>
          <p:nvPr>
            <p:ph type="ctrTitle"/>
          </p:nvPr>
        </p:nvSpPr>
        <p:spPr>
          <a:xfrm>
            <a:off x="810001" y="1449147"/>
            <a:ext cx="10572000" cy="3732453"/>
          </a:xfrm>
        </p:spPr>
        <p:txBody>
          <a:bodyPr>
            <a:normAutofit/>
          </a:bodyPr>
          <a:lstStyle/>
          <a:p>
            <a:r>
              <a:rPr lang="en-US"/>
              <a:t>Designing for AAC Users</a:t>
            </a:r>
            <a:endParaRPr lang="en-US" dirty="0"/>
          </a:p>
        </p:txBody>
      </p:sp>
      <p:sp>
        <p:nvSpPr>
          <p:cNvPr id="3" name="Subtitle 2">
            <a:extLst>
              <a:ext uri="{FF2B5EF4-FFF2-40B4-BE49-F238E27FC236}">
                <a16:creationId xmlns:a16="http://schemas.microsoft.com/office/drawing/2014/main" id="{4A80E44D-08EB-7790-33A3-7E1DC3BD23AD}"/>
              </a:ext>
            </a:extLst>
          </p:cNvPr>
          <p:cNvSpPr>
            <a:spLocks noGrp="1"/>
          </p:cNvSpPr>
          <p:nvPr>
            <p:ph type="subTitle" idx="1"/>
          </p:nvPr>
        </p:nvSpPr>
        <p:spPr>
          <a:xfrm>
            <a:off x="810001" y="5280847"/>
            <a:ext cx="10572000" cy="434974"/>
          </a:xfrm>
        </p:spPr>
        <p:txBody>
          <a:bodyPr>
            <a:normAutofit/>
          </a:bodyPr>
          <a:lstStyle/>
          <a:p>
            <a:r>
              <a:rPr lang="en-US"/>
              <a:t>Miguel Castillo</a:t>
            </a:r>
            <a:endParaRPr lang="en-US" dirty="0"/>
          </a:p>
        </p:txBody>
      </p:sp>
      <p:pic>
        <p:nvPicPr>
          <p:cNvPr id="11" name="Audio 10">
            <a:hlinkClick r:id="" action="ppaction://media"/>
            <a:extLst>
              <a:ext uri="{FF2B5EF4-FFF2-40B4-BE49-F238E27FC236}">
                <a16:creationId xmlns:a16="http://schemas.microsoft.com/office/drawing/2014/main" id="{090EC5A8-157E-53E9-0EC7-13E066255C0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844884749"/>
      </p:ext>
    </p:extLst>
  </p:cSld>
  <p:clrMapOvr>
    <a:masterClrMapping/>
  </p:clrMapOvr>
  <mc:AlternateContent xmlns:mc="http://schemas.openxmlformats.org/markup-compatibility/2006">
    <mc:Choice xmlns:p14="http://schemas.microsoft.com/office/powerpoint/2010/main" Requires="p14">
      <p:transition spd="slow" p14:dur="2000" advTm="71957"/>
    </mc:Choice>
    <mc:Fallback>
      <p:transition spd="slow" advTm="719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person and a child playing with a tablet&#10;&#10;Description automatically generated">
            <a:extLst>
              <a:ext uri="{FF2B5EF4-FFF2-40B4-BE49-F238E27FC236}">
                <a16:creationId xmlns:a16="http://schemas.microsoft.com/office/drawing/2014/main" id="{FDF66C8E-0EC2-60D8-1908-D4C62A04233E}"/>
              </a:ext>
            </a:extLst>
          </p:cNvPr>
          <p:cNvPicPr>
            <a:picLocks noChangeAspect="1"/>
          </p:cNvPicPr>
          <p:nvPr/>
        </p:nvPicPr>
        <p:blipFill>
          <a:blip r:embed="rId5">
            <a:extLst>
              <a:ext uri="{837473B0-CC2E-450A-ABE3-18F120FF3D39}">
                <a1611:picAttrSrcUrl xmlns:a1611="http://schemas.microsoft.com/office/drawing/2016/11/main" r:id="rId6"/>
              </a:ext>
            </a:extLst>
          </a:blip>
          <a:srcRect l="8817" r="9267" b="3"/>
          <a:stretch/>
        </p:blipFill>
        <p:spPr>
          <a:xfrm>
            <a:off x="6108700" y="-1"/>
            <a:ext cx="6094450" cy="6858001"/>
          </a:xfrm>
          <a:prstGeom prst="rect">
            <a:avLst/>
          </a:prstGeom>
          <a:solidFill>
            <a:schemeClr val="tx1"/>
          </a:solidFill>
          <a:ln>
            <a:noFill/>
          </a:ln>
        </p:spPr>
      </p:pic>
      <p:sp>
        <p:nvSpPr>
          <p:cNvPr id="10" name="Freeform 16">
            <a:extLst>
              <a:ext uri="{FF2B5EF4-FFF2-40B4-BE49-F238E27FC236}">
                <a16:creationId xmlns:a16="http://schemas.microsoft.com/office/drawing/2014/main" id="{3994EE40-F54F-48E5-826B-B45158209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DC6320-05C3-64EA-665B-6DFE1EC2A808}"/>
              </a:ext>
            </a:extLst>
          </p:cNvPr>
          <p:cNvSpPr>
            <a:spLocks noGrp="1"/>
          </p:cNvSpPr>
          <p:nvPr>
            <p:ph type="title"/>
          </p:nvPr>
        </p:nvSpPr>
        <p:spPr>
          <a:xfrm>
            <a:off x="810000" y="447188"/>
            <a:ext cx="5070100" cy="1559412"/>
          </a:xfrm>
        </p:spPr>
        <p:txBody>
          <a:bodyPr>
            <a:normAutofit/>
          </a:bodyPr>
          <a:lstStyle/>
          <a:p>
            <a:r>
              <a:rPr lang="en-US" dirty="0"/>
              <a:t>What’s AAC?</a:t>
            </a:r>
          </a:p>
        </p:txBody>
      </p:sp>
      <p:sp>
        <p:nvSpPr>
          <p:cNvPr id="3" name="Content Placeholder 2">
            <a:extLst>
              <a:ext uri="{FF2B5EF4-FFF2-40B4-BE49-F238E27FC236}">
                <a16:creationId xmlns:a16="http://schemas.microsoft.com/office/drawing/2014/main" id="{9E366A22-E226-EFFC-FF73-4DED6D29B4F2}"/>
              </a:ext>
            </a:extLst>
          </p:cNvPr>
          <p:cNvSpPr>
            <a:spLocks noGrp="1"/>
          </p:cNvSpPr>
          <p:nvPr>
            <p:ph idx="1"/>
          </p:nvPr>
        </p:nvSpPr>
        <p:spPr>
          <a:xfrm>
            <a:off x="818712" y="2413000"/>
            <a:ext cx="5055923" cy="3632200"/>
          </a:xfrm>
        </p:spPr>
        <p:txBody>
          <a:bodyPr>
            <a:normAutofit/>
          </a:bodyPr>
          <a:lstStyle/>
          <a:p>
            <a:r>
              <a:rPr lang="en-US"/>
              <a:t>AAC = Augmentative and Alternative Communication</a:t>
            </a:r>
          </a:p>
          <a:p>
            <a:pPr lvl="1"/>
            <a:r>
              <a:rPr lang="en-US"/>
              <a:t>Augmentative = add to or supplement speech </a:t>
            </a:r>
          </a:p>
          <a:p>
            <a:pPr lvl="1"/>
            <a:r>
              <a:rPr lang="en-US"/>
              <a:t>Alternative = different from speech</a:t>
            </a:r>
          </a:p>
          <a:p>
            <a:r>
              <a:rPr lang="en-US"/>
              <a:t>Communication devices, systems, strategies and tools that replace or support spoken language.</a:t>
            </a:r>
          </a:p>
          <a:p>
            <a:r>
              <a:rPr lang="en-US"/>
              <a:t>These tools help a person communicate, when they cannot rely on speech. </a:t>
            </a:r>
          </a:p>
        </p:txBody>
      </p:sp>
      <p:pic>
        <p:nvPicPr>
          <p:cNvPr id="6" name="Audio 5">
            <a:hlinkClick r:id="" action="ppaction://media"/>
            <a:extLst>
              <a:ext uri="{FF2B5EF4-FFF2-40B4-BE49-F238E27FC236}">
                <a16:creationId xmlns:a16="http://schemas.microsoft.com/office/drawing/2014/main" id="{89C2B4FD-B65F-A286-69BE-49E54F0082BD}"/>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61707482"/>
      </p:ext>
    </p:extLst>
  </p:cSld>
  <p:clrMapOvr>
    <a:masterClrMapping/>
  </p:clrMapOvr>
  <mc:AlternateContent xmlns:mc="http://schemas.openxmlformats.org/markup-compatibility/2006">
    <mc:Choice xmlns:p14="http://schemas.microsoft.com/office/powerpoint/2010/main" Requires="p14">
      <p:transition spd="slow" p14:dur="2000" advTm="27925"/>
    </mc:Choice>
    <mc:Fallback>
      <p:transition spd="slow" advTm="279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EFF365-DD30-638F-F199-5EC5A9C536BD}"/>
              </a:ext>
            </a:extLst>
          </p:cNvPr>
          <p:cNvSpPr>
            <a:spLocks noGrp="1"/>
          </p:cNvSpPr>
          <p:nvPr>
            <p:ph type="title"/>
          </p:nvPr>
        </p:nvSpPr>
        <p:spPr>
          <a:xfrm>
            <a:off x="810001" y="447188"/>
            <a:ext cx="3413084" cy="1559412"/>
          </a:xfrm>
        </p:spPr>
        <p:txBody>
          <a:bodyPr>
            <a:normAutofit/>
          </a:bodyPr>
          <a:lstStyle/>
          <a:p>
            <a:r>
              <a:rPr lang="en-US" sz="3200"/>
              <a:t>AAC Examples</a:t>
            </a:r>
          </a:p>
        </p:txBody>
      </p:sp>
      <p:sp>
        <p:nvSpPr>
          <p:cNvPr id="5" name="Content Placeholder 2">
            <a:extLst>
              <a:ext uri="{FF2B5EF4-FFF2-40B4-BE49-F238E27FC236}">
                <a16:creationId xmlns:a16="http://schemas.microsoft.com/office/drawing/2014/main" id="{D2993517-224D-F2CE-94AB-E9368A75B971}"/>
              </a:ext>
            </a:extLst>
          </p:cNvPr>
          <p:cNvSpPr>
            <a:spLocks noGrp="1"/>
          </p:cNvSpPr>
          <p:nvPr>
            <p:ph idx="1"/>
          </p:nvPr>
        </p:nvSpPr>
        <p:spPr>
          <a:xfrm>
            <a:off x="818713" y="2413000"/>
            <a:ext cx="3404372" cy="3632200"/>
          </a:xfrm>
        </p:spPr>
        <p:txBody>
          <a:bodyPr>
            <a:normAutofit/>
          </a:bodyPr>
          <a:lstStyle/>
          <a:p>
            <a:r>
              <a:rPr lang="en-US" sz="1600"/>
              <a:t>Non Tech </a:t>
            </a:r>
          </a:p>
          <a:p>
            <a:r>
              <a:rPr lang="en-US" sz="1600"/>
              <a:t>Low Tech</a:t>
            </a:r>
          </a:p>
          <a:p>
            <a:r>
              <a:rPr lang="en-US" sz="1600"/>
              <a:t>High Tech</a:t>
            </a:r>
          </a:p>
        </p:txBody>
      </p:sp>
      <p:sp>
        <p:nvSpPr>
          <p:cNvPr id="14"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9E91629-9032-58E0-29B5-415EF2A8E467}"/>
              </a:ext>
            </a:extLst>
          </p:cNvPr>
          <p:cNvPicPr>
            <a:picLocks noChangeAspect="1"/>
          </p:cNvPicPr>
          <p:nvPr/>
        </p:nvPicPr>
        <p:blipFill>
          <a:blip r:embed="rId5"/>
          <a:srcRect l="1836" r="9614" b="1"/>
          <a:stretch/>
        </p:blipFill>
        <p:spPr>
          <a:xfrm>
            <a:off x="5603706" y="1258529"/>
            <a:ext cx="5638853" cy="4330205"/>
          </a:xfrm>
          <a:prstGeom prst="rect">
            <a:avLst/>
          </a:prstGeom>
        </p:spPr>
      </p:pic>
      <p:pic>
        <p:nvPicPr>
          <p:cNvPr id="6" name="Audio 5">
            <a:hlinkClick r:id="" action="ppaction://media"/>
            <a:extLst>
              <a:ext uri="{FF2B5EF4-FFF2-40B4-BE49-F238E27FC236}">
                <a16:creationId xmlns:a16="http://schemas.microsoft.com/office/drawing/2014/main" id="{BE91A340-FF9A-D17F-9F36-E3E53F19F61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808821109"/>
      </p:ext>
    </p:extLst>
  </p:cSld>
  <p:clrMapOvr>
    <a:masterClrMapping/>
  </p:clrMapOvr>
  <mc:AlternateContent xmlns:mc="http://schemas.openxmlformats.org/markup-compatibility/2006">
    <mc:Choice xmlns:p14="http://schemas.microsoft.com/office/powerpoint/2010/main" Requires="p14">
      <p:transition spd="slow" p14:dur="2000" advTm="68970"/>
    </mc:Choice>
    <mc:Fallback>
      <p:transition spd="slow" advTm="68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EFF365-DD30-638F-F199-5EC5A9C536BD}"/>
              </a:ext>
            </a:extLst>
          </p:cNvPr>
          <p:cNvSpPr>
            <a:spLocks noGrp="1"/>
          </p:cNvSpPr>
          <p:nvPr>
            <p:ph type="title"/>
          </p:nvPr>
        </p:nvSpPr>
        <p:spPr>
          <a:xfrm>
            <a:off x="810001" y="447188"/>
            <a:ext cx="3413084" cy="1559412"/>
          </a:xfrm>
        </p:spPr>
        <p:txBody>
          <a:bodyPr>
            <a:normAutofit/>
          </a:bodyPr>
          <a:lstStyle/>
          <a:p>
            <a:r>
              <a:rPr lang="en-US" sz="3200"/>
              <a:t>AAC Examples</a:t>
            </a:r>
          </a:p>
        </p:txBody>
      </p:sp>
      <p:sp>
        <p:nvSpPr>
          <p:cNvPr id="5" name="Content Placeholder 2">
            <a:extLst>
              <a:ext uri="{FF2B5EF4-FFF2-40B4-BE49-F238E27FC236}">
                <a16:creationId xmlns:a16="http://schemas.microsoft.com/office/drawing/2014/main" id="{D2993517-224D-F2CE-94AB-E9368A75B971}"/>
              </a:ext>
            </a:extLst>
          </p:cNvPr>
          <p:cNvSpPr>
            <a:spLocks noGrp="1"/>
          </p:cNvSpPr>
          <p:nvPr>
            <p:ph idx="1"/>
          </p:nvPr>
        </p:nvSpPr>
        <p:spPr>
          <a:xfrm>
            <a:off x="818713" y="2413000"/>
            <a:ext cx="3404372" cy="3632200"/>
          </a:xfrm>
        </p:spPr>
        <p:txBody>
          <a:bodyPr>
            <a:normAutofit/>
          </a:bodyPr>
          <a:lstStyle/>
          <a:p>
            <a:r>
              <a:rPr lang="en-US" sz="1600"/>
              <a:t>Non Tech </a:t>
            </a:r>
          </a:p>
          <a:p>
            <a:r>
              <a:rPr lang="en-US" sz="1600"/>
              <a:t>Low Tech</a:t>
            </a:r>
          </a:p>
          <a:p>
            <a:r>
              <a:rPr lang="en-US" sz="1600"/>
              <a:t>High Tech</a:t>
            </a:r>
          </a:p>
        </p:txBody>
      </p:sp>
      <p:sp>
        <p:nvSpPr>
          <p:cNvPr id="15"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game&#10;&#10;Description automatically generated">
            <a:extLst>
              <a:ext uri="{FF2B5EF4-FFF2-40B4-BE49-F238E27FC236}">
                <a16:creationId xmlns:a16="http://schemas.microsoft.com/office/drawing/2014/main" id="{96B9575D-793F-19C0-45D5-5DA66F7F6A14}"/>
              </a:ext>
            </a:extLst>
          </p:cNvPr>
          <p:cNvPicPr>
            <a:picLocks noChangeAspect="1"/>
          </p:cNvPicPr>
          <p:nvPr/>
        </p:nvPicPr>
        <p:blipFill>
          <a:blip r:embed="rId5" cstate="print">
            <a:extLst>
              <a:ext uri="{28A0092B-C50C-407E-A947-70E740481C1C}">
                <a14:useLocalDpi xmlns:a14="http://schemas.microsoft.com/office/drawing/2010/main" val="0"/>
              </a:ext>
            </a:extLst>
          </a:blip>
          <a:srcRect l="2009" r="14650" b="1"/>
          <a:stretch/>
        </p:blipFill>
        <p:spPr>
          <a:xfrm>
            <a:off x="5603706" y="1258529"/>
            <a:ext cx="5638853" cy="4330205"/>
          </a:xfrm>
          <a:prstGeom prst="rect">
            <a:avLst/>
          </a:prstGeom>
        </p:spPr>
      </p:pic>
      <p:pic>
        <p:nvPicPr>
          <p:cNvPr id="3" name="Audio 2">
            <a:hlinkClick r:id="" action="ppaction://media"/>
            <a:extLst>
              <a:ext uri="{FF2B5EF4-FFF2-40B4-BE49-F238E27FC236}">
                <a16:creationId xmlns:a16="http://schemas.microsoft.com/office/drawing/2014/main" id="{1B1194AE-986C-C2C2-8CF9-FAF4CF5D93D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527155130"/>
      </p:ext>
    </p:extLst>
  </p:cSld>
  <p:clrMapOvr>
    <a:masterClrMapping/>
  </p:clrMapOvr>
  <mc:AlternateContent xmlns:mc="http://schemas.openxmlformats.org/markup-compatibility/2006">
    <mc:Choice xmlns:p14="http://schemas.microsoft.com/office/powerpoint/2010/main" Requires="p14">
      <p:transition spd="slow" p14:dur="2000" advTm="51993"/>
    </mc:Choice>
    <mc:Fallback>
      <p:transition spd="slow" advTm="519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Picture 7" descr="A group of people standing next to each other&#10;&#10;Description automatically generated">
            <a:extLst>
              <a:ext uri="{FF2B5EF4-FFF2-40B4-BE49-F238E27FC236}">
                <a16:creationId xmlns:a16="http://schemas.microsoft.com/office/drawing/2014/main" id="{D527C1D6-8AC6-F175-D72C-5D06275074B3}"/>
              </a:ext>
            </a:extLst>
          </p:cNvPr>
          <p:cNvPicPr>
            <a:picLocks noChangeAspect="1"/>
          </p:cNvPicPr>
          <p:nvPr/>
        </p:nvPicPr>
        <p:blipFill>
          <a:blip r:embed="rId5">
            <a:extLst>
              <a:ext uri="{837473B0-CC2E-450A-ABE3-18F120FF3D39}">
                <a1611:picAttrSrcUrl xmlns:a1611="http://schemas.microsoft.com/office/drawing/2016/11/main" r:id="rId6"/>
              </a:ext>
            </a:extLst>
          </a:blip>
          <a:srcRect t="18182" r="9091"/>
          <a:stretch/>
        </p:blipFill>
        <p:spPr>
          <a:xfrm>
            <a:off x="20" y="10"/>
            <a:ext cx="12191980" cy="6857989"/>
          </a:xfrm>
          <a:prstGeom prst="rect">
            <a:avLst/>
          </a:prstGeom>
        </p:spPr>
      </p:pic>
      <p:sp>
        <p:nvSpPr>
          <p:cNvPr id="13"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DC6320-05C3-64EA-665B-6DFE1EC2A808}"/>
              </a:ext>
            </a:extLst>
          </p:cNvPr>
          <p:cNvSpPr>
            <a:spLocks noGrp="1"/>
          </p:cNvSpPr>
          <p:nvPr>
            <p:ph type="title"/>
          </p:nvPr>
        </p:nvSpPr>
        <p:spPr>
          <a:xfrm>
            <a:off x="810000" y="447188"/>
            <a:ext cx="4930400" cy="1559412"/>
          </a:xfrm>
        </p:spPr>
        <p:txBody>
          <a:bodyPr>
            <a:normAutofit/>
          </a:bodyPr>
          <a:lstStyle/>
          <a:p>
            <a:r>
              <a:rPr lang="en-US" dirty="0"/>
              <a:t>Who are the users?</a:t>
            </a:r>
          </a:p>
        </p:txBody>
      </p:sp>
      <p:sp>
        <p:nvSpPr>
          <p:cNvPr id="3" name="Content Placeholder 2">
            <a:extLst>
              <a:ext uri="{FF2B5EF4-FFF2-40B4-BE49-F238E27FC236}">
                <a16:creationId xmlns:a16="http://schemas.microsoft.com/office/drawing/2014/main" id="{9E366A22-E226-EFFC-FF73-4DED6D29B4F2}"/>
              </a:ext>
            </a:extLst>
          </p:cNvPr>
          <p:cNvSpPr>
            <a:spLocks noGrp="1"/>
          </p:cNvSpPr>
          <p:nvPr>
            <p:ph idx="1"/>
          </p:nvPr>
        </p:nvSpPr>
        <p:spPr>
          <a:xfrm>
            <a:off x="818712" y="2413000"/>
            <a:ext cx="4921687" cy="3632200"/>
          </a:xfrm>
        </p:spPr>
        <p:txBody>
          <a:bodyPr>
            <a:normAutofit fontScale="92500" lnSpcReduction="10000"/>
          </a:bodyPr>
          <a:lstStyle/>
          <a:p>
            <a:pPr>
              <a:lnSpc>
                <a:spcPct val="90000"/>
              </a:lnSpc>
            </a:pPr>
            <a:r>
              <a:rPr lang="en-US" sz="1700"/>
              <a:t>Primary users </a:t>
            </a:r>
          </a:p>
          <a:p>
            <a:pPr lvl="1">
              <a:lnSpc>
                <a:spcPct val="90000"/>
              </a:lnSpc>
            </a:pPr>
            <a:r>
              <a:rPr lang="en-US" sz="1700"/>
              <a:t>Child or person </a:t>
            </a:r>
          </a:p>
          <a:p>
            <a:pPr lvl="2">
              <a:lnSpc>
                <a:spcPct val="90000"/>
              </a:lnSpc>
            </a:pPr>
            <a:r>
              <a:rPr lang="en-US" sz="1700"/>
              <a:t>Autism</a:t>
            </a:r>
          </a:p>
          <a:p>
            <a:pPr lvl="2">
              <a:lnSpc>
                <a:spcPct val="90000"/>
              </a:lnSpc>
            </a:pPr>
            <a:r>
              <a:rPr lang="en-US" sz="1700"/>
              <a:t>Down syndrome</a:t>
            </a:r>
          </a:p>
          <a:p>
            <a:pPr lvl="2">
              <a:lnSpc>
                <a:spcPct val="90000"/>
              </a:lnSpc>
            </a:pPr>
            <a:r>
              <a:rPr lang="en-US" sz="1700"/>
              <a:t>Cerebral Palsy</a:t>
            </a:r>
          </a:p>
          <a:p>
            <a:pPr lvl="2">
              <a:lnSpc>
                <a:spcPct val="90000"/>
              </a:lnSpc>
            </a:pPr>
            <a:r>
              <a:rPr lang="en-US" sz="1700"/>
              <a:t>Apraxia &amp; dyspraxia </a:t>
            </a:r>
          </a:p>
          <a:p>
            <a:pPr lvl="1">
              <a:lnSpc>
                <a:spcPct val="90000"/>
              </a:lnSpc>
            </a:pPr>
            <a:endParaRPr lang="en-US" sz="1700"/>
          </a:p>
          <a:p>
            <a:pPr>
              <a:lnSpc>
                <a:spcPct val="90000"/>
              </a:lnSpc>
            </a:pPr>
            <a:r>
              <a:rPr lang="en-US" sz="1700"/>
              <a:t>Secondary users</a:t>
            </a:r>
          </a:p>
          <a:p>
            <a:pPr lvl="1">
              <a:lnSpc>
                <a:spcPct val="90000"/>
              </a:lnSpc>
            </a:pPr>
            <a:r>
              <a:rPr lang="en-US" sz="1700"/>
              <a:t>Parent or guardian </a:t>
            </a:r>
          </a:p>
          <a:p>
            <a:pPr lvl="1">
              <a:lnSpc>
                <a:spcPct val="90000"/>
              </a:lnSpc>
            </a:pPr>
            <a:r>
              <a:rPr lang="en-US" sz="1700"/>
              <a:t>Speech language pathologist </a:t>
            </a:r>
          </a:p>
          <a:p>
            <a:pPr lvl="1">
              <a:lnSpc>
                <a:spcPct val="90000"/>
              </a:lnSpc>
            </a:pPr>
            <a:r>
              <a:rPr lang="en-US" sz="1700"/>
              <a:t>Teachers, aids, friends, family </a:t>
            </a:r>
          </a:p>
        </p:txBody>
      </p:sp>
      <p:pic>
        <p:nvPicPr>
          <p:cNvPr id="4" name="Audio 3">
            <a:hlinkClick r:id="" action="ppaction://media"/>
            <a:extLst>
              <a:ext uri="{FF2B5EF4-FFF2-40B4-BE49-F238E27FC236}">
                <a16:creationId xmlns:a16="http://schemas.microsoft.com/office/drawing/2014/main" id="{1CDBC841-860E-792A-793D-F0FCD8D1D2D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06394246"/>
      </p:ext>
    </p:extLst>
  </p:cSld>
  <p:clrMapOvr>
    <a:masterClrMapping/>
  </p:clrMapOvr>
  <mc:AlternateContent xmlns:mc="http://schemas.openxmlformats.org/markup-compatibility/2006">
    <mc:Choice xmlns:p14="http://schemas.microsoft.com/office/powerpoint/2010/main" Requires="p14">
      <p:transition spd="slow" p14:dur="2000" advTm="68064"/>
    </mc:Choice>
    <mc:Fallback>
      <p:transition spd="slow" advTm="680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person climbing a mountain with a flag&#10;&#10;Description automatically generated">
            <a:extLst>
              <a:ext uri="{FF2B5EF4-FFF2-40B4-BE49-F238E27FC236}">
                <a16:creationId xmlns:a16="http://schemas.microsoft.com/office/drawing/2014/main" id="{89ECCDDB-3E61-2EFF-D57E-97BAC3C11E33}"/>
              </a:ext>
            </a:extLst>
          </p:cNvPr>
          <p:cNvPicPr>
            <a:picLocks noChangeAspect="1"/>
          </p:cNvPicPr>
          <p:nvPr/>
        </p:nvPicPr>
        <p:blipFill>
          <a:blip r:embed="rId5">
            <a:extLst>
              <a:ext uri="{837473B0-CC2E-450A-ABE3-18F120FF3D39}">
                <a1611:picAttrSrcUrl xmlns:a1611="http://schemas.microsoft.com/office/drawing/2016/11/main" r:id="rId6"/>
              </a:ext>
            </a:extLst>
          </a:blip>
          <a:srcRect l="11134"/>
          <a:stretch/>
        </p:blipFill>
        <p:spPr>
          <a:xfrm>
            <a:off x="6108700" y="-1"/>
            <a:ext cx="6094450" cy="6858001"/>
          </a:xfrm>
          <a:prstGeom prst="rect">
            <a:avLst/>
          </a:prstGeom>
        </p:spPr>
      </p:pic>
      <p:sp>
        <p:nvSpPr>
          <p:cNvPr id="10" name="Freeform 16">
            <a:extLst>
              <a:ext uri="{FF2B5EF4-FFF2-40B4-BE49-F238E27FC236}">
                <a16:creationId xmlns:a16="http://schemas.microsoft.com/office/drawing/2014/main" id="{3994EE40-F54F-48E5-826B-B45158209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2067F-20CC-F3C3-A978-7D35603B4D9B}"/>
              </a:ext>
            </a:extLst>
          </p:cNvPr>
          <p:cNvSpPr>
            <a:spLocks noGrp="1"/>
          </p:cNvSpPr>
          <p:nvPr>
            <p:ph type="title"/>
          </p:nvPr>
        </p:nvSpPr>
        <p:spPr>
          <a:xfrm>
            <a:off x="810000" y="447188"/>
            <a:ext cx="5070100" cy="1559412"/>
          </a:xfrm>
        </p:spPr>
        <p:txBody>
          <a:bodyPr>
            <a:normAutofit/>
          </a:bodyPr>
          <a:lstStyle/>
          <a:p>
            <a:pPr>
              <a:lnSpc>
                <a:spcPct val="90000"/>
              </a:lnSpc>
            </a:pPr>
            <a:r>
              <a:rPr lang="en-US" sz="3400" dirty="0"/>
              <a:t>Challenges Surrounding AAC Implementation</a:t>
            </a:r>
          </a:p>
        </p:txBody>
      </p:sp>
      <p:sp>
        <p:nvSpPr>
          <p:cNvPr id="3" name="Content Placeholder 2">
            <a:extLst>
              <a:ext uri="{FF2B5EF4-FFF2-40B4-BE49-F238E27FC236}">
                <a16:creationId xmlns:a16="http://schemas.microsoft.com/office/drawing/2014/main" id="{941393DD-A091-EDA5-493C-633C3AC21304}"/>
              </a:ext>
            </a:extLst>
          </p:cNvPr>
          <p:cNvSpPr>
            <a:spLocks noGrp="1"/>
          </p:cNvSpPr>
          <p:nvPr>
            <p:ph idx="1"/>
          </p:nvPr>
        </p:nvSpPr>
        <p:spPr>
          <a:xfrm>
            <a:off x="818712" y="2413000"/>
            <a:ext cx="5055923" cy="3632200"/>
          </a:xfrm>
        </p:spPr>
        <p:txBody>
          <a:bodyPr>
            <a:normAutofit/>
          </a:bodyPr>
          <a:lstStyle/>
          <a:p>
            <a:r>
              <a:rPr lang="en-US" dirty="0"/>
              <a:t>Difficult to learn and use </a:t>
            </a:r>
          </a:p>
          <a:p>
            <a:pPr lvl="1"/>
            <a:r>
              <a:rPr lang="en-US" dirty="0"/>
              <a:t>Requires a lot of training</a:t>
            </a:r>
          </a:p>
          <a:p>
            <a:r>
              <a:rPr lang="en-US" dirty="0"/>
              <a:t>Portability issues</a:t>
            </a:r>
          </a:p>
          <a:p>
            <a:r>
              <a:rPr lang="en-US" dirty="0"/>
              <a:t>Technological problems</a:t>
            </a:r>
          </a:p>
          <a:p>
            <a:r>
              <a:rPr lang="en-US" dirty="0"/>
              <a:t>Social stigma</a:t>
            </a:r>
          </a:p>
          <a:p>
            <a:r>
              <a:rPr lang="en-US" dirty="0"/>
              <a:t>Language limitations</a:t>
            </a:r>
          </a:p>
        </p:txBody>
      </p:sp>
      <p:pic>
        <p:nvPicPr>
          <p:cNvPr id="15" name="Audio 14">
            <a:hlinkClick r:id="" action="ppaction://media"/>
            <a:extLst>
              <a:ext uri="{FF2B5EF4-FFF2-40B4-BE49-F238E27FC236}">
                <a16:creationId xmlns:a16="http://schemas.microsoft.com/office/drawing/2014/main" id="{5AA93165-0FAD-DF53-0235-D461A58A682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785211652"/>
      </p:ext>
    </p:extLst>
  </p:cSld>
  <p:clrMapOvr>
    <a:masterClrMapping/>
  </p:clrMapOvr>
  <mc:AlternateContent xmlns:mc="http://schemas.openxmlformats.org/markup-compatibility/2006">
    <mc:Choice xmlns:p14="http://schemas.microsoft.com/office/powerpoint/2010/main" Requires="p14">
      <p:transition spd="slow" p14:dur="2000" advTm="157952"/>
    </mc:Choice>
    <mc:Fallback>
      <p:transition spd="slow" advTm="1579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close-up of arrows pointing to a person&#10;&#10;Description automatically generated">
            <a:extLst>
              <a:ext uri="{FF2B5EF4-FFF2-40B4-BE49-F238E27FC236}">
                <a16:creationId xmlns:a16="http://schemas.microsoft.com/office/drawing/2014/main" id="{31F0762D-8A75-6146-D514-6C562FEA0F0A}"/>
              </a:ext>
            </a:extLst>
          </p:cNvPr>
          <p:cNvPicPr>
            <a:picLocks noChangeAspect="1"/>
          </p:cNvPicPr>
          <p:nvPr/>
        </p:nvPicPr>
        <p:blipFill>
          <a:blip r:embed="rId5">
            <a:extLst>
              <a:ext uri="{837473B0-CC2E-450A-ABE3-18F120FF3D39}">
                <a1611:picAttrSrcUrl xmlns:a1611="http://schemas.microsoft.com/office/drawing/2016/11/main" r:id="rId6"/>
              </a:ext>
            </a:extLst>
          </a:blip>
          <a:srcRect l="9485" r="40528"/>
          <a:stretch/>
        </p:blipFill>
        <p:spPr>
          <a:xfrm>
            <a:off x="6108700" y="-1"/>
            <a:ext cx="6094450" cy="6858001"/>
          </a:xfrm>
          <a:prstGeom prst="rect">
            <a:avLst/>
          </a:prstGeom>
        </p:spPr>
      </p:pic>
      <p:sp>
        <p:nvSpPr>
          <p:cNvPr id="12" name="Freeform 16">
            <a:extLst>
              <a:ext uri="{FF2B5EF4-FFF2-40B4-BE49-F238E27FC236}">
                <a16:creationId xmlns:a16="http://schemas.microsoft.com/office/drawing/2014/main" id="{3994EE40-F54F-48E5-826B-B45158209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FE520C-543A-55D6-9D05-A78E3F10D58C}"/>
              </a:ext>
            </a:extLst>
          </p:cNvPr>
          <p:cNvSpPr>
            <a:spLocks noGrp="1"/>
          </p:cNvSpPr>
          <p:nvPr>
            <p:ph type="title"/>
          </p:nvPr>
        </p:nvSpPr>
        <p:spPr>
          <a:xfrm>
            <a:off x="810000" y="447188"/>
            <a:ext cx="5070100" cy="1559412"/>
          </a:xfrm>
        </p:spPr>
        <p:txBody>
          <a:bodyPr>
            <a:normAutofit/>
          </a:bodyPr>
          <a:lstStyle/>
          <a:p>
            <a:r>
              <a:rPr lang="en-US" dirty="0"/>
              <a:t>User Centered Design </a:t>
            </a:r>
          </a:p>
        </p:txBody>
      </p:sp>
      <p:sp>
        <p:nvSpPr>
          <p:cNvPr id="3" name="Content Placeholder 2">
            <a:extLst>
              <a:ext uri="{FF2B5EF4-FFF2-40B4-BE49-F238E27FC236}">
                <a16:creationId xmlns:a16="http://schemas.microsoft.com/office/drawing/2014/main" id="{E09CF9ED-28DD-DCDB-3C57-99691F62837B}"/>
              </a:ext>
            </a:extLst>
          </p:cNvPr>
          <p:cNvSpPr>
            <a:spLocks noGrp="1"/>
          </p:cNvSpPr>
          <p:nvPr>
            <p:ph idx="1"/>
          </p:nvPr>
        </p:nvSpPr>
        <p:spPr>
          <a:xfrm>
            <a:off x="818712" y="2413000"/>
            <a:ext cx="5055923" cy="3632200"/>
          </a:xfrm>
        </p:spPr>
        <p:txBody>
          <a:bodyPr>
            <a:normAutofit lnSpcReduction="10000"/>
          </a:bodyPr>
          <a:lstStyle/>
          <a:p>
            <a:pPr>
              <a:lnSpc>
                <a:spcPct val="90000"/>
              </a:lnSpc>
            </a:pPr>
            <a:r>
              <a:rPr lang="en-US" sz="1400"/>
              <a:t>UCD </a:t>
            </a:r>
          </a:p>
          <a:p>
            <a:pPr lvl="1">
              <a:lnSpc>
                <a:spcPct val="90000"/>
              </a:lnSpc>
            </a:pPr>
            <a:r>
              <a:rPr lang="en-US" sz="1400"/>
              <a:t>An iterative design process in which designers focus on the users and their needs in each phase of the design process. In UCD, design teams involve users throughout the design process via a variety of research and design techniques, to create highly usable and accessible products for them. </a:t>
            </a:r>
          </a:p>
          <a:p>
            <a:pPr lvl="1">
              <a:lnSpc>
                <a:spcPct val="90000"/>
              </a:lnSpc>
            </a:pPr>
            <a:endParaRPr lang="en-US" sz="1400"/>
          </a:p>
          <a:p>
            <a:pPr>
              <a:lnSpc>
                <a:spcPct val="90000"/>
              </a:lnSpc>
            </a:pPr>
            <a:r>
              <a:rPr lang="en-US" sz="1400"/>
              <a:t>AAC users are frequently excluded from design process</a:t>
            </a:r>
          </a:p>
          <a:p>
            <a:pPr lvl="1">
              <a:lnSpc>
                <a:spcPct val="90000"/>
              </a:lnSpc>
            </a:pPr>
            <a:r>
              <a:rPr lang="en-US" sz="1400"/>
              <a:t>Resulting in systems that are difficult to use, or do not meet the necessary needs </a:t>
            </a:r>
          </a:p>
          <a:p>
            <a:pPr lvl="1">
              <a:lnSpc>
                <a:spcPct val="90000"/>
              </a:lnSpc>
            </a:pPr>
            <a:endParaRPr lang="en-US" sz="1400"/>
          </a:p>
          <a:p>
            <a:pPr>
              <a:lnSpc>
                <a:spcPct val="90000"/>
              </a:lnSpc>
            </a:pPr>
            <a:r>
              <a:rPr lang="en-US" sz="1400"/>
              <a:t>Qualitative research methods assume participants can easily communicate verbally</a:t>
            </a:r>
          </a:p>
        </p:txBody>
      </p:sp>
      <p:pic>
        <p:nvPicPr>
          <p:cNvPr id="9" name="Audio 8">
            <a:hlinkClick r:id="" action="ppaction://media"/>
            <a:extLst>
              <a:ext uri="{FF2B5EF4-FFF2-40B4-BE49-F238E27FC236}">
                <a16:creationId xmlns:a16="http://schemas.microsoft.com/office/drawing/2014/main" id="{03DF31E3-9C90-F439-9910-D87CC753520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317577203"/>
      </p:ext>
    </p:extLst>
  </p:cSld>
  <p:clrMapOvr>
    <a:masterClrMapping/>
  </p:clrMapOvr>
  <mc:AlternateContent xmlns:mc="http://schemas.openxmlformats.org/markup-compatibility/2006">
    <mc:Choice xmlns:p14="http://schemas.microsoft.com/office/powerpoint/2010/main" Requires="p14">
      <p:transition spd="slow" p14:dur="2000" advTm="153600"/>
    </mc:Choice>
    <mc:Fallback>
      <p:transition spd="slow" advTm="153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8" name="Picture 17" descr="A person holding a piece of paper&#10;&#10;Description automatically generated">
            <a:extLst>
              <a:ext uri="{FF2B5EF4-FFF2-40B4-BE49-F238E27FC236}">
                <a16:creationId xmlns:a16="http://schemas.microsoft.com/office/drawing/2014/main" id="{E82C9B4A-7A97-CF3F-E496-2C113E93213A}"/>
              </a:ext>
            </a:extLst>
          </p:cNvPr>
          <p:cNvPicPr>
            <a:picLocks noChangeAspect="1"/>
          </p:cNvPicPr>
          <p:nvPr/>
        </p:nvPicPr>
        <p:blipFill>
          <a:blip r:embed="rId5">
            <a:extLst>
              <a:ext uri="{837473B0-CC2E-450A-ABE3-18F120FF3D39}">
                <a1611:picAttrSrcUrl xmlns:a1611="http://schemas.microsoft.com/office/drawing/2016/11/main" r:id="rId6"/>
              </a:ext>
            </a:extLst>
          </a:blip>
          <a:srcRect r="9091" b="9091"/>
          <a:stretch/>
        </p:blipFill>
        <p:spPr>
          <a:xfrm>
            <a:off x="20" y="10"/>
            <a:ext cx="12191980" cy="6857989"/>
          </a:xfrm>
          <a:prstGeom prst="rect">
            <a:avLst/>
          </a:prstGeom>
        </p:spPr>
      </p:pic>
      <p:sp>
        <p:nvSpPr>
          <p:cNvPr id="23"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0B9221-B1E7-3EE9-CA46-2E6CBE8B2379}"/>
              </a:ext>
            </a:extLst>
          </p:cNvPr>
          <p:cNvSpPr>
            <a:spLocks noGrp="1"/>
          </p:cNvSpPr>
          <p:nvPr>
            <p:ph type="title"/>
          </p:nvPr>
        </p:nvSpPr>
        <p:spPr>
          <a:xfrm>
            <a:off x="810000" y="447188"/>
            <a:ext cx="4930400" cy="1559412"/>
          </a:xfrm>
        </p:spPr>
        <p:txBody>
          <a:bodyPr>
            <a:normAutofit/>
          </a:bodyPr>
          <a:lstStyle/>
          <a:p>
            <a:pPr>
              <a:lnSpc>
                <a:spcPct val="90000"/>
              </a:lnSpc>
            </a:pPr>
            <a:r>
              <a:rPr lang="en-US" sz="2800"/>
              <a:t>Best Practices for Conducting Qualitative Interviews With AAC Users</a:t>
            </a:r>
          </a:p>
        </p:txBody>
      </p:sp>
      <p:sp>
        <p:nvSpPr>
          <p:cNvPr id="3" name="Content Placeholder 2">
            <a:extLst>
              <a:ext uri="{FF2B5EF4-FFF2-40B4-BE49-F238E27FC236}">
                <a16:creationId xmlns:a16="http://schemas.microsoft.com/office/drawing/2014/main" id="{0D2E899F-35AC-535B-B232-7A29C4ABAE04}"/>
              </a:ext>
            </a:extLst>
          </p:cNvPr>
          <p:cNvSpPr>
            <a:spLocks noGrp="1"/>
          </p:cNvSpPr>
          <p:nvPr>
            <p:ph idx="1"/>
          </p:nvPr>
        </p:nvSpPr>
        <p:spPr>
          <a:xfrm>
            <a:off x="818712" y="2413000"/>
            <a:ext cx="4921687" cy="3632200"/>
          </a:xfrm>
        </p:spPr>
        <p:txBody>
          <a:bodyPr>
            <a:normAutofit fontScale="92500" lnSpcReduction="20000"/>
          </a:bodyPr>
          <a:lstStyle/>
          <a:p>
            <a:pPr>
              <a:lnSpc>
                <a:spcPct val="90000"/>
              </a:lnSpc>
            </a:pPr>
            <a:r>
              <a:rPr lang="en-US" sz="1300" dirty="0"/>
              <a:t>Interviews </a:t>
            </a:r>
          </a:p>
          <a:p>
            <a:pPr lvl="1">
              <a:lnSpc>
                <a:spcPct val="90000"/>
              </a:lnSpc>
            </a:pPr>
            <a:r>
              <a:rPr lang="en-US" sz="1300" dirty="0"/>
              <a:t>Considerations </a:t>
            </a:r>
          </a:p>
          <a:p>
            <a:pPr lvl="2">
              <a:lnSpc>
                <a:spcPct val="90000"/>
              </a:lnSpc>
            </a:pPr>
            <a:r>
              <a:rPr lang="en-US" sz="1300" dirty="0"/>
              <a:t>Fatigue </a:t>
            </a:r>
          </a:p>
          <a:p>
            <a:pPr lvl="2">
              <a:lnSpc>
                <a:spcPct val="90000"/>
              </a:lnSpc>
            </a:pPr>
            <a:r>
              <a:rPr lang="en-US" sz="1300" dirty="0"/>
              <a:t>Responses may be shorter and take longer to produce </a:t>
            </a:r>
          </a:p>
          <a:p>
            <a:pPr lvl="1">
              <a:lnSpc>
                <a:spcPct val="90000"/>
              </a:lnSpc>
            </a:pPr>
            <a:r>
              <a:rPr lang="en-US" sz="1300" dirty="0"/>
              <a:t>Suggestions </a:t>
            </a:r>
          </a:p>
          <a:p>
            <a:pPr lvl="2">
              <a:lnSpc>
                <a:spcPct val="90000"/>
              </a:lnSpc>
            </a:pPr>
            <a:r>
              <a:rPr lang="en-US" sz="1300" dirty="0"/>
              <a:t>Ask the participants about their accessibility needs</a:t>
            </a:r>
          </a:p>
          <a:p>
            <a:pPr lvl="2">
              <a:lnSpc>
                <a:spcPct val="90000"/>
              </a:lnSpc>
            </a:pPr>
            <a:r>
              <a:rPr lang="en-US" sz="1300" dirty="0"/>
              <a:t>Provide options </a:t>
            </a:r>
          </a:p>
          <a:p>
            <a:pPr lvl="3">
              <a:lnSpc>
                <a:spcPct val="90000"/>
              </a:lnSpc>
            </a:pPr>
            <a:r>
              <a:rPr lang="en-US" sz="1300" dirty="0"/>
              <a:t>Asynchronous or synchronous interview sessions </a:t>
            </a:r>
          </a:p>
          <a:p>
            <a:pPr lvl="2">
              <a:lnSpc>
                <a:spcPct val="90000"/>
              </a:lnSpc>
            </a:pPr>
            <a:r>
              <a:rPr lang="en-US" sz="1300" dirty="0"/>
              <a:t>Provide interview questions ahead of time</a:t>
            </a:r>
          </a:p>
          <a:p>
            <a:pPr lvl="2">
              <a:lnSpc>
                <a:spcPct val="90000"/>
              </a:lnSpc>
            </a:pPr>
            <a:r>
              <a:rPr lang="en-US" sz="1300" dirty="0"/>
              <a:t>Provide ample time </a:t>
            </a:r>
          </a:p>
          <a:p>
            <a:pPr lvl="2">
              <a:lnSpc>
                <a:spcPct val="90000"/>
              </a:lnSpc>
            </a:pPr>
            <a:r>
              <a:rPr lang="en-US" sz="1300" dirty="0"/>
              <a:t>Provide single response answer, were possible  </a:t>
            </a:r>
          </a:p>
          <a:p>
            <a:pPr lvl="2">
              <a:lnSpc>
                <a:spcPct val="90000"/>
              </a:lnSpc>
            </a:pPr>
            <a:r>
              <a:rPr lang="en-US" sz="1300" dirty="0"/>
              <a:t>Involve communication partner </a:t>
            </a:r>
          </a:p>
          <a:p>
            <a:pPr lvl="2">
              <a:lnSpc>
                <a:spcPct val="90000"/>
              </a:lnSpc>
            </a:pPr>
            <a:r>
              <a:rPr lang="en-US" sz="1300" dirty="0"/>
              <a:t>Member checking </a:t>
            </a:r>
          </a:p>
          <a:p>
            <a:pPr lvl="1">
              <a:lnSpc>
                <a:spcPct val="90000"/>
              </a:lnSpc>
            </a:pPr>
            <a:endParaRPr lang="en-US" sz="1300" dirty="0"/>
          </a:p>
        </p:txBody>
      </p:sp>
      <p:pic>
        <p:nvPicPr>
          <p:cNvPr id="12" name="Audio 11">
            <a:hlinkClick r:id="" action="ppaction://media"/>
            <a:extLst>
              <a:ext uri="{FF2B5EF4-FFF2-40B4-BE49-F238E27FC236}">
                <a16:creationId xmlns:a16="http://schemas.microsoft.com/office/drawing/2014/main" id="{0CF786CF-50D2-AEA4-EBFA-B8A68524A50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38235006"/>
      </p:ext>
    </p:extLst>
  </p:cSld>
  <p:clrMapOvr>
    <a:masterClrMapping/>
  </p:clrMapOvr>
  <mc:AlternateContent xmlns:mc="http://schemas.openxmlformats.org/markup-compatibility/2006">
    <mc:Choice xmlns:p14="http://schemas.microsoft.com/office/powerpoint/2010/main" Requires="p14">
      <p:transition spd="slow" p14:dur="2000" advTm="443690"/>
    </mc:Choice>
    <mc:Fallback>
      <p:transition spd="slow" advTm="443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descr="A group of people's faces&#10;&#10;Description automatically generated">
            <a:extLst>
              <a:ext uri="{FF2B5EF4-FFF2-40B4-BE49-F238E27FC236}">
                <a16:creationId xmlns:a16="http://schemas.microsoft.com/office/drawing/2014/main" id="{D8ED2428-7D66-EBF0-3484-5EF51F87B1A7}"/>
              </a:ext>
            </a:extLst>
          </p:cNvPr>
          <p:cNvPicPr>
            <a:picLocks noChangeAspect="1"/>
          </p:cNvPicPr>
          <p:nvPr/>
        </p:nvPicPr>
        <p:blipFill>
          <a:blip r:embed="rId5">
            <a:extLst>
              <a:ext uri="{837473B0-CC2E-450A-ABE3-18F120FF3D39}">
                <a1611:picAttrSrcUrl xmlns:a1611="http://schemas.microsoft.com/office/drawing/2016/11/main" r:id="rId6"/>
              </a:ext>
            </a:extLst>
          </a:blip>
          <a:srcRect l="20689" r="29324"/>
          <a:stretch/>
        </p:blipFill>
        <p:spPr>
          <a:xfrm>
            <a:off x="6108700" y="-1"/>
            <a:ext cx="6094450" cy="6858001"/>
          </a:xfrm>
          <a:prstGeom prst="rect">
            <a:avLst/>
          </a:prstGeom>
        </p:spPr>
      </p:pic>
      <p:sp>
        <p:nvSpPr>
          <p:cNvPr id="15" name="Freeform 16">
            <a:extLst>
              <a:ext uri="{FF2B5EF4-FFF2-40B4-BE49-F238E27FC236}">
                <a16:creationId xmlns:a16="http://schemas.microsoft.com/office/drawing/2014/main" id="{3994EE40-F54F-48E5-826B-B45158209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0B9221-B1E7-3EE9-CA46-2E6CBE8B2379}"/>
              </a:ext>
            </a:extLst>
          </p:cNvPr>
          <p:cNvSpPr>
            <a:spLocks noGrp="1"/>
          </p:cNvSpPr>
          <p:nvPr>
            <p:ph type="title"/>
          </p:nvPr>
        </p:nvSpPr>
        <p:spPr>
          <a:xfrm>
            <a:off x="810000" y="447188"/>
            <a:ext cx="5070100" cy="1559412"/>
          </a:xfrm>
        </p:spPr>
        <p:txBody>
          <a:bodyPr>
            <a:normAutofit/>
          </a:bodyPr>
          <a:lstStyle/>
          <a:p>
            <a:r>
              <a:rPr lang="en-US" dirty="0"/>
              <a:t>Best Practices for Recruitment</a:t>
            </a:r>
          </a:p>
        </p:txBody>
      </p:sp>
      <p:sp>
        <p:nvSpPr>
          <p:cNvPr id="3" name="Content Placeholder 2">
            <a:extLst>
              <a:ext uri="{FF2B5EF4-FFF2-40B4-BE49-F238E27FC236}">
                <a16:creationId xmlns:a16="http://schemas.microsoft.com/office/drawing/2014/main" id="{0D2E899F-35AC-535B-B232-7A29C4ABAE04}"/>
              </a:ext>
            </a:extLst>
          </p:cNvPr>
          <p:cNvSpPr>
            <a:spLocks noGrp="1"/>
          </p:cNvSpPr>
          <p:nvPr>
            <p:ph idx="1"/>
          </p:nvPr>
        </p:nvSpPr>
        <p:spPr>
          <a:xfrm>
            <a:off x="818712" y="2413000"/>
            <a:ext cx="5055923" cy="3632200"/>
          </a:xfrm>
        </p:spPr>
        <p:txBody>
          <a:bodyPr>
            <a:normAutofit/>
          </a:bodyPr>
          <a:lstStyle/>
          <a:p>
            <a:pPr lvl="1"/>
            <a:r>
              <a:rPr lang="en-US" dirty="0"/>
              <a:t>Considerations </a:t>
            </a:r>
          </a:p>
          <a:p>
            <a:pPr lvl="2"/>
            <a:r>
              <a:rPr lang="en-US" dirty="0"/>
              <a:t>AAC users might think they are not invited </a:t>
            </a:r>
          </a:p>
          <a:p>
            <a:pPr lvl="2"/>
            <a:r>
              <a:rPr lang="en-US" dirty="0"/>
              <a:t>AAC users might think that people will talk down to them</a:t>
            </a:r>
          </a:p>
          <a:p>
            <a:pPr lvl="1"/>
            <a:r>
              <a:rPr lang="en-US" dirty="0"/>
              <a:t>Suggestions </a:t>
            </a:r>
          </a:p>
          <a:p>
            <a:pPr lvl="2"/>
            <a:r>
              <a:rPr lang="en-US" dirty="0"/>
              <a:t>Make it clear to AAC users that they are invited </a:t>
            </a:r>
          </a:p>
          <a:p>
            <a:pPr lvl="2"/>
            <a:r>
              <a:rPr lang="en-US" dirty="0"/>
              <a:t>Make it clear that research will be accessible </a:t>
            </a:r>
          </a:p>
        </p:txBody>
      </p:sp>
      <p:pic>
        <p:nvPicPr>
          <p:cNvPr id="4" name="Audio 3">
            <a:hlinkClick r:id="" action="ppaction://media"/>
            <a:extLst>
              <a:ext uri="{FF2B5EF4-FFF2-40B4-BE49-F238E27FC236}">
                <a16:creationId xmlns:a16="http://schemas.microsoft.com/office/drawing/2014/main" id="{C18AFCC2-DF02-7AC7-BBCD-222A9541EA5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787575872"/>
      </p:ext>
    </p:extLst>
  </p:cSld>
  <p:clrMapOvr>
    <a:masterClrMapping/>
  </p:clrMapOvr>
  <mc:AlternateContent xmlns:mc="http://schemas.openxmlformats.org/markup-compatibility/2006">
    <mc:Choice xmlns:p14="http://schemas.microsoft.com/office/powerpoint/2010/main" Requires="p14">
      <p:transition spd="slow" p14:dur="2000" advTm="76778"/>
    </mc:Choice>
    <mc:Fallback>
      <p:transition spd="slow" advTm="767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4">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unch of yellow smileys&#10;&#10;Description automatically generated">
            <a:extLst>
              <a:ext uri="{FF2B5EF4-FFF2-40B4-BE49-F238E27FC236}">
                <a16:creationId xmlns:a16="http://schemas.microsoft.com/office/drawing/2014/main" id="{FD4FACF1-316F-FD14-9555-5407F82AA036}"/>
              </a:ext>
            </a:extLst>
          </p:cNvPr>
          <p:cNvPicPr>
            <a:picLocks noChangeAspect="1"/>
          </p:cNvPicPr>
          <p:nvPr/>
        </p:nvPicPr>
        <p:blipFill>
          <a:blip r:embed="rId5">
            <a:alphaModFix amt="40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10000" y="447188"/>
            <a:ext cx="10571998" cy="970450"/>
          </a:xfrm>
        </p:spPr>
        <p:txBody>
          <a:bodyPr>
            <a:normAutofit/>
          </a:bodyPr>
          <a:lstStyle/>
          <a:p>
            <a:r>
              <a:rPr lang="en-US"/>
              <a:t>Thank you!</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18712" y="2222287"/>
            <a:ext cx="10554574" cy="3636511"/>
          </a:xfrm>
        </p:spPr>
        <p:txBody>
          <a:bodyPr>
            <a:normAutofit/>
          </a:bodyPr>
          <a:lstStyle/>
          <a:p>
            <a:pPr marL="0" indent="0">
              <a:buNone/>
            </a:pPr>
            <a:r>
              <a:rPr lang="en-US"/>
              <a:t>Thank you very much for your time! If you have any questions, please contact me via - </a:t>
            </a:r>
            <a:r>
              <a:rPr lang="en-US">
                <a:hlinkClick r:id="rId6"/>
              </a:rPr>
              <a:t>cast4317@vandals.uidaho.edu</a:t>
            </a:r>
            <a:endParaRPr lang="en-US"/>
          </a:p>
          <a:p>
            <a:pPr marL="0" indent="0">
              <a:buNone/>
            </a:pPr>
            <a:endParaRPr lang="en-US"/>
          </a:p>
        </p:txBody>
      </p:sp>
      <p:pic>
        <p:nvPicPr>
          <p:cNvPr id="7" name="Audio 6">
            <a:hlinkClick r:id="" action="ppaction://media"/>
            <a:extLst>
              <a:ext uri="{FF2B5EF4-FFF2-40B4-BE49-F238E27FC236}">
                <a16:creationId xmlns:a16="http://schemas.microsoft.com/office/drawing/2014/main" id="{C44F408E-2159-06DF-C9A8-1A70D06455C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59156367"/>
      </p:ext>
    </p:extLst>
  </p:cSld>
  <p:clrMapOvr>
    <a:masterClrMapping/>
  </p:clrMapOvr>
  <mc:AlternateContent xmlns:mc="http://schemas.openxmlformats.org/markup-compatibility/2006">
    <mc:Choice xmlns:p14="http://schemas.microsoft.com/office/powerpoint/2010/main" Requires="p14">
      <p:transition spd="slow" p14:dur="2000" advTm="16992"/>
    </mc:Choice>
    <mc:Fallback>
      <p:transition spd="slow" advTm="169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4">
            <a:extLst>
              <a:ext uri="{FF2B5EF4-FFF2-40B4-BE49-F238E27FC236}">
                <a16:creationId xmlns:a16="http://schemas.microsoft.com/office/drawing/2014/main" id="{874F1482-69C3-47D5-95FE-67C0FA2DF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10000" y="447188"/>
            <a:ext cx="10571998" cy="970450"/>
          </a:xfrm>
          <a:effectLst/>
        </p:spPr>
        <p:txBody>
          <a:bodyPr anchor="ctr">
            <a:normAutofit/>
          </a:bodyPr>
          <a:lstStyle/>
          <a:p>
            <a:pPr algn="ctr"/>
            <a:r>
              <a:rPr lang="en-US" sz="3200">
                <a:solidFill>
                  <a:schemeClr val="tx1"/>
                </a:solidFill>
              </a:rPr>
              <a:t>References</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18712" y="1610745"/>
            <a:ext cx="10554574" cy="3636511"/>
          </a:xfrm>
          <a:effectLst/>
        </p:spPr>
        <p:txBody>
          <a:bodyPr anchor="ctr">
            <a:normAutofit/>
          </a:bodyPr>
          <a:lstStyle/>
          <a:p>
            <a:pPr>
              <a:lnSpc>
                <a:spcPct val="90000"/>
              </a:lnSpc>
            </a:pPr>
            <a:r>
              <a:rPr lang="en-US" sz="1300"/>
              <a:t>Walsh, M., Harman, I., Manning, P., </a:t>
            </a:r>
            <a:r>
              <a:rPr lang="en-US" sz="1300" err="1"/>
              <a:t>Ponza</a:t>
            </a:r>
            <a:r>
              <a:rPr lang="en-US" sz="1300"/>
              <a:t>, B., Wong, S., Shaw, B., </a:t>
            </a:r>
            <a:r>
              <a:rPr lang="en-US" sz="1300" err="1"/>
              <a:t>Sellwood</a:t>
            </a:r>
            <a:r>
              <a:rPr lang="en-US" sz="1300"/>
              <a:t>, D., Anderson, K., </a:t>
            </a:r>
            <a:r>
              <a:rPr lang="en-US" sz="1300" err="1"/>
              <a:t>Reddihough</a:t>
            </a:r>
            <a:r>
              <a:rPr lang="en-US" sz="1300"/>
              <a:t>, D., &amp; Wallen, M. (2024). Including People Who Use Augmentative and Alternative Communication in Qualitative Research: Can You Hear Us? International Journal of Qualitative Methods, 23. </a:t>
            </a:r>
            <a:r>
              <a:rPr lang="en-US" sz="1300">
                <a:hlinkClick r:id="rId3"/>
              </a:rPr>
              <a:t>https://doi.org/10.1177/16094069241234190</a:t>
            </a:r>
            <a:endParaRPr lang="en-US" sz="1300"/>
          </a:p>
          <a:p>
            <a:pPr>
              <a:lnSpc>
                <a:spcPct val="90000"/>
              </a:lnSpc>
            </a:pPr>
            <a:r>
              <a:rPr lang="en-US" sz="1300"/>
              <a:t>Erin </a:t>
            </a:r>
            <a:r>
              <a:rPr lang="en-US" sz="1300" err="1"/>
              <a:t>Beneteau</a:t>
            </a:r>
            <a:r>
              <a:rPr lang="en-US" sz="1300"/>
              <a:t>. 2020. Who Are You Asking?: Qualitative Methods for Involving AAC Users as Primary Research Participants. In Proceedings of the 2020 CHI Conference on Human Factors in Computing Systems (CHI '20). Association for Computing Machinery, New York, NY, USA, 1–13. </a:t>
            </a:r>
            <a:r>
              <a:rPr lang="en-US" sz="1300">
                <a:hlinkClick r:id="rId4"/>
              </a:rPr>
              <a:t>https://doi.org/10.1145/3313831.3376883</a:t>
            </a:r>
            <a:endParaRPr lang="en-US" sz="1300"/>
          </a:p>
          <a:p>
            <a:pPr>
              <a:lnSpc>
                <a:spcPct val="90000"/>
              </a:lnSpc>
            </a:pPr>
            <a:r>
              <a:rPr lang="en-US" sz="1300" err="1"/>
              <a:t>Lubas</a:t>
            </a:r>
            <a:r>
              <a:rPr lang="en-US" sz="1300"/>
              <a:t>, M., Mitchell, J., &amp; De Leo, G. (2014). User-Centered Design and Augmentative and Alternative Communication Apps for Children With Autism Spectrum Disorders. SAGE Open, 4(2). </a:t>
            </a:r>
            <a:r>
              <a:rPr lang="en-US" sz="1300">
                <a:hlinkClick r:id="rId5"/>
              </a:rPr>
              <a:t>https://doi.org/10.1177/2158244014537501</a:t>
            </a:r>
            <a:endParaRPr lang="en-US" sz="1300"/>
          </a:p>
          <a:p>
            <a:pPr>
              <a:lnSpc>
                <a:spcPct val="90000"/>
              </a:lnSpc>
            </a:pPr>
            <a:r>
              <a:rPr lang="en-US" sz="1300"/>
              <a:t>Hartmann, A. (2024, October 18). What is AAC?. </a:t>
            </a:r>
            <a:r>
              <a:rPr lang="en-US" sz="1300" err="1"/>
              <a:t>AssistiveWare</a:t>
            </a:r>
            <a:r>
              <a:rPr lang="en-US" sz="1300"/>
              <a:t>. </a:t>
            </a:r>
            <a:r>
              <a:rPr lang="en-US" sz="1300">
                <a:hlinkClick r:id="rId6"/>
              </a:rPr>
              <a:t>https://www.assistiveware.com/learn-aac/what-is-aac</a:t>
            </a:r>
            <a:endParaRPr lang="en-US" sz="1300"/>
          </a:p>
          <a:p>
            <a:pPr>
              <a:lnSpc>
                <a:spcPct val="90000"/>
              </a:lnSpc>
            </a:pPr>
            <a:r>
              <a:rPr lang="en-US" sz="1300"/>
              <a:t>The  basics of alternative and Augmentative Communication (AAC) “what?” “who?” “where?” “when?” “</a:t>
            </a:r>
            <a:r>
              <a:rPr lang="en-US" sz="1300" err="1"/>
              <a:t>why?”Speech-Language</a:t>
            </a:r>
            <a:r>
              <a:rPr lang="en-US" sz="1300"/>
              <a:t> and Audiology Association of Trinidad and Tobago. (2021, October 25). </a:t>
            </a:r>
            <a:r>
              <a:rPr lang="en-US" sz="1300">
                <a:hlinkClick r:id="rId7"/>
              </a:rPr>
              <a:t>http://www.slaatt.com/blog/the-basics-of-alternative-and-augmentative-communication-aac-what-who-where-when-why</a:t>
            </a:r>
            <a:endParaRPr lang="en-US" sz="1300"/>
          </a:p>
          <a:p>
            <a:pPr>
              <a:lnSpc>
                <a:spcPct val="90000"/>
              </a:lnSpc>
            </a:pPr>
            <a:r>
              <a:rPr lang="en-US" sz="1300"/>
              <a:t>Key AAC issues. USSAAC. (2018, December 3). </a:t>
            </a:r>
            <a:r>
              <a:rPr lang="en-US" sz="1300">
                <a:hlinkClick r:id="rId8"/>
              </a:rPr>
              <a:t>https://ussaac.org/speakup/articles/key-aac-issues/#:~:text=The%20device%20may%20be%20laborious,limit%20the%20client’s%20verbal%20communication</a:t>
            </a:r>
            <a:r>
              <a:rPr lang="en-US" sz="1300"/>
              <a:t>.</a:t>
            </a:r>
          </a:p>
        </p:txBody>
      </p:sp>
      <p:sp>
        <p:nvSpPr>
          <p:cNvPr id="13" name="Freeform: Shape 16">
            <a:extLst>
              <a:ext uri="{FF2B5EF4-FFF2-40B4-BE49-F238E27FC236}">
                <a16:creationId xmlns:a16="http://schemas.microsoft.com/office/drawing/2014/main" id="{41CA5367-149E-428C-B4D8-C1ECC9EAF7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0800000">
            <a:off x="0" y="5388384"/>
            <a:ext cx="12192000" cy="1469616"/>
          </a:xfrm>
          <a:custGeom>
            <a:avLst/>
            <a:gdLst>
              <a:gd name="connsiteX0" fmla="*/ 6113881 w 12192000"/>
              <a:gd name="connsiteY0" fmla="*/ 1469616 h 1469616"/>
              <a:gd name="connsiteX1" fmla="*/ 6101181 w 12192000"/>
              <a:gd name="connsiteY1" fmla="*/ 1469616 h 1469616"/>
              <a:gd name="connsiteX2" fmla="*/ 6090598 w 12192000"/>
              <a:gd name="connsiteY2" fmla="*/ 1469616 h 1469616"/>
              <a:gd name="connsiteX3" fmla="*/ 6077897 w 12192000"/>
              <a:gd name="connsiteY3" fmla="*/ 1464854 h 1469616"/>
              <a:gd name="connsiteX4" fmla="*/ 6065198 w 12192000"/>
              <a:gd name="connsiteY4" fmla="*/ 1460091 h 1469616"/>
              <a:gd name="connsiteX5" fmla="*/ 6056731 w 12192000"/>
              <a:gd name="connsiteY5" fmla="*/ 1456916 h 1469616"/>
              <a:gd name="connsiteX6" fmla="*/ 5678033 w 12192000"/>
              <a:gd name="connsiteY6" fmla="*/ 1172892 h 1469616"/>
              <a:gd name="connsiteX7" fmla="*/ 0 w 12192000"/>
              <a:gd name="connsiteY7" fmla="*/ 1172892 h 1469616"/>
              <a:gd name="connsiteX8" fmla="*/ 0 w 12192000"/>
              <a:gd name="connsiteY8" fmla="*/ 1162370 h 1469616"/>
              <a:gd name="connsiteX9" fmla="*/ 0 w 12192000"/>
              <a:gd name="connsiteY9" fmla="*/ 403347 h 1469616"/>
              <a:gd name="connsiteX10" fmla="*/ 0 w 12192000"/>
              <a:gd name="connsiteY10" fmla="*/ 0 h 1469616"/>
              <a:gd name="connsiteX11" fmla="*/ 12192000 w 12192000"/>
              <a:gd name="connsiteY11" fmla="*/ 0 h 1469616"/>
              <a:gd name="connsiteX12" fmla="*/ 12192000 w 12192000"/>
              <a:gd name="connsiteY12" fmla="*/ 403347 h 1469616"/>
              <a:gd name="connsiteX13" fmla="*/ 12192000 w 12192000"/>
              <a:gd name="connsiteY13" fmla="*/ 1162370 h 1469616"/>
              <a:gd name="connsiteX14" fmla="*/ 12192000 w 12192000"/>
              <a:gd name="connsiteY14" fmla="*/ 1172892 h 1469616"/>
              <a:gd name="connsiteX15" fmla="*/ 6524330 w 12192000"/>
              <a:gd name="connsiteY15" fmla="*/ 1172892 h 1469616"/>
              <a:gd name="connsiteX16" fmla="*/ 6145631 w 12192000"/>
              <a:gd name="connsiteY16" fmla="*/ 1456916 h 1469616"/>
              <a:gd name="connsiteX17" fmla="*/ 6137163 w 12192000"/>
              <a:gd name="connsiteY17" fmla="*/ 1460091 h 1469616"/>
              <a:gd name="connsiteX18" fmla="*/ 6124463 w 12192000"/>
              <a:gd name="connsiteY18" fmla="*/ 1464854 h 1469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1469616">
                <a:moveTo>
                  <a:pt x="6113881" y="1469616"/>
                </a:moveTo>
                <a:lnTo>
                  <a:pt x="6101181" y="1469616"/>
                </a:lnTo>
                <a:lnTo>
                  <a:pt x="6090598" y="1469616"/>
                </a:lnTo>
                <a:lnTo>
                  <a:pt x="6077897" y="1464854"/>
                </a:lnTo>
                <a:lnTo>
                  <a:pt x="6065198" y="1460091"/>
                </a:lnTo>
                <a:lnTo>
                  <a:pt x="6056731" y="1456916"/>
                </a:lnTo>
                <a:lnTo>
                  <a:pt x="5678033" y="1172892"/>
                </a:lnTo>
                <a:lnTo>
                  <a:pt x="0" y="1172892"/>
                </a:lnTo>
                <a:lnTo>
                  <a:pt x="0" y="1162370"/>
                </a:lnTo>
                <a:lnTo>
                  <a:pt x="0" y="403347"/>
                </a:lnTo>
                <a:lnTo>
                  <a:pt x="0" y="0"/>
                </a:lnTo>
                <a:lnTo>
                  <a:pt x="12192000" y="0"/>
                </a:lnTo>
                <a:lnTo>
                  <a:pt x="12192000" y="403347"/>
                </a:lnTo>
                <a:lnTo>
                  <a:pt x="12192000" y="1162370"/>
                </a:lnTo>
                <a:lnTo>
                  <a:pt x="12192000" y="1172892"/>
                </a:lnTo>
                <a:lnTo>
                  <a:pt x="6524330" y="1172892"/>
                </a:lnTo>
                <a:lnTo>
                  <a:pt x="6145631" y="1456916"/>
                </a:lnTo>
                <a:lnTo>
                  <a:pt x="6137163" y="1460091"/>
                </a:lnTo>
                <a:lnTo>
                  <a:pt x="6124463" y="1464854"/>
                </a:lnTo>
                <a:close/>
              </a:path>
            </a:pathLst>
          </a:custGeom>
          <a:ln>
            <a:noFill/>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438380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{257426B9-8C31-0849-92AF-223646F067DB}tf10001121_mac</Template>
  <TotalTime>2511</TotalTime>
  <Words>2362</Words>
  <Application>Microsoft Macintosh PowerPoint</Application>
  <PresentationFormat>Widescreen</PresentationFormat>
  <Paragraphs>202</Paragraphs>
  <Slides>11</Slides>
  <Notes>11</Notes>
  <HiddenSlides>0</HiddenSlides>
  <MMClips>10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-webkit-standard</vt:lpstr>
      <vt:lpstr>Arial</vt:lpstr>
      <vt:lpstr>Calibri</vt:lpstr>
      <vt:lpstr>Century Gothic</vt:lpstr>
      <vt:lpstr>Open Sans</vt:lpstr>
      <vt:lpstr>Times New Roman</vt:lpstr>
      <vt:lpstr>Wingdings 2</vt:lpstr>
      <vt:lpstr>Quotable</vt:lpstr>
      <vt:lpstr>Designing for AAC Users</vt:lpstr>
      <vt:lpstr>What’s AAC?</vt:lpstr>
      <vt:lpstr>AAC Examples</vt:lpstr>
      <vt:lpstr>AAC Examples</vt:lpstr>
      <vt:lpstr>Who are the users?</vt:lpstr>
      <vt:lpstr>Challenges Surrounding AAC Implementation</vt:lpstr>
      <vt:lpstr>User Centered Design </vt:lpstr>
      <vt:lpstr>Best Practices for Conducting Qualitative Interviews With AAC Users</vt:lpstr>
      <vt:lpstr>Best Practices for Recruitment</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With ACC Users</dc:title>
  <dc:creator>Castillo Perez, Miguel (cast4317@vandals.uidaho.edu)</dc:creator>
  <cp:lastModifiedBy>Castillo Perez, Miguel (cast4317@vandals.uidaho.edu)</cp:lastModifiedBy>
  <cp:revision>16</cp:revision>
  <dcterms:created xsi:type="dcterms:W3CDTF">2025-03-17T18:24:11Z</dcterms:created>
  <dcterms:modified xsi:type="dcterms:W3CDTF">2025-03-19T21:06:20Z</dcterms:modified>
</cp:coreProperties>
</file>