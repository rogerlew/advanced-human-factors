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43" r:id="rId1"/>
  </p:sldMasterIdLst>
  <p:notesMasterIdLst>
    <p:notesMasterId r:id="rId13"/>
  </p:notesMasterIdLst>
  <p:sldIdLst>
    <p:sldId id="256" r:id="rId2"/>
    <p:sldId id="257" r:id="rId3"/>
    <p:sldId id="258" r:id="rId4"/>
    <p:sldId id="259" r:id="rId5"/>
    <p:sldId id="263" r:id="rId6"/>
    <p:sldId id="264" r:id="rId7"/>
    <p:sldId id="265" r:id="rId8"/>
    <p:sldId id="260" r:id="rId9"/>
    <p:sldId id="267" r:id="rId10"/>
    <p:sldId id="266" r:id="rId11"/>
    <p:sldId id="26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29"/>
    <p:restoredTop sz="86774"/>
  </p:normalViewPr>
  <p:slideViewPr>
    <p:cSldViewPr snapToGrid="0">
      <p:cViewPr>
        <p:scale>
          <a:sx n="91" d="100"/>
          <a:sy n="91" d="100"/>
        </p:scale>
        <p:origin x="97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ata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ata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5F7479-ED7F-450C-B9BC-5A85D0B466F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F1AC666-8B1A-4BA5-924F-520704EC848E}">
      <dgm:prSet/>
      <dgm:spPr/>
      <dgm:t>
        <a:bodyPr/>
        <a:lstStyle/>
        <a:p>
          <a:r>
            <a:rPr lang="en-US"/>
            <a:t>Co-creation </a:t>
          </a:r>
        </a:p>
      </dgm:t>
    </dgm:pt>
    <dgm:pt modelId="{0F5FD4FF-A7FD-4F8B-957D-AA3E88C18DC6}" type="parTrans" cxnId="{441C9AE3-0B06-4F3C-BF34-7206B02DFF8A}">
      <dgm:prSet/>
      <dgm:spPr/>
      <dgm:t>
        <a:bodyPr/>
        <a:lstStyle/>
        <a:p>
          <a:endParaRPr lang="en-US"/>
        </a:p>
      </dgm:t>
    </dgm:pt>
    <dgm:pt modelId="{27F415C7-D1C8-4295-BAD7-FC15B0363031}" type="sibTrans" cxnId="{441C9AE3-0B06-4F3C-BF34-7206B02DFF8A}">
      <dgm:prSet/>
      <dgm:spPr/>
      <dgm:t>
        <a:bodyPr/>
        <a:lstStyle/>
        <a:p>
          <a:endParaRPr lang="en-US"/>
        </a:p>
      </dgm:t>
    </dgm:pt>
    <dgm:pt modelId="{584455CE-673D-41D5-A595-24EA76AB6FAB}">
      <dgm:prSet/>
      <dgm:spPr/>
      <dgm:t>
        <a:bodyPr/>
        <a:lstStyle/>
        <a:p>
          <a:r>
            <a:rPr lang="en-US"/>
            <a:t>Democratization of design </a:t>
          </a:r>
        </a:p>
      </dgm:t>
    </dgm:pt>
    <dgm:pt modelId="{0DFE81CA-334C-4425-B4D2-00A900BCDEB7}" type="parTrans" cxnId="{868E020D-E6C4-4ECE-AAFA-16154240CC8D}">
      <dgm:prSet/>
      <dgm:spPr/>
      <dgm:t>
        <a:bodyPr/>
        <a:lstStyle/>
        <a:p>
          <a:endParaRPr lang="en-US"/>
        </a:p>
      </dgm:t>
    </dgm:pt>
    <dgm:pt modelId="{DF671389-1222-400F-A291-5506D441AA5D}" type="sibTrans" cxnId="{868E020D-E6C4-4ECE-AAFA-16154240CC8D}">
      <dgm:prSet/>
      <dgm:spPr/>
      <dgm:t>
        <a:bodyPr/>
        <a:lstStyle/>
        <a:p>
          <a:endParaRPr lang="en-US"/>
        </a:p>
      </dgm:t>
    </dgm:pt>
    <dgm:pt modelId="{726A6FDB-8A85-446B-928A-A659CBD7F32C}">
      <dgm:prSet/>
      <dgm:spPr/>
      <dgm:t>
        <a:bodyPr/>
        <a:lstStyle/>
        <a:p>
          <a:r>
            <a:rPr lang="en-US"/>
            <a:t>Empathy and understanding </a:t>
          </a:r>
        </a:p>
      </dgm:t>
    </dgm:pt>
    <dgm:pt modelId="{6C16A99A-6F3E-4DDE-8B09-69E7C055B41A}" type="parTrans" cxnId="{E04B6D30-5727-4D59-8B20-C8F5BBAED52C}">
      <dgm:prSet/>
      <dgm:spPr/>
      <dgm:t>
        <a:bodyPr/>
        <a:lstStyle/>
        <a:p>
          <a:endParaRPr lang="en-US"/>
        </a:p>
      </dgm:t>
    </dgm:pt>
    <dgm:pt modelId="{39B09BCA-28FF-496D-853B-A4AF70782248}" type="sibTrans" cxnId="{E04B6D30-5727-4D59-8B20-C8F5BBAED52C}">
      <dgm:prSet/>
      <dgm:spPr/>
      <dgm:t>
        <a:bodyPr/>
        <a:lstStyle/>
        <a:p>
          <a:endParaRPr lang="en-US"/>
        </a:p>
      </dgm:t>
    </dgm:pt>
    <dgm:pt modelId="{BA0F83FC-01FD-4F68-BCB7-6EC79DD45658}">
      <dgm:prSet/>
      <dgm:spPr/>
      <dgm:t>
        <a:bodyPr/>
        <a:lstStyle/>
        <a:p>
          <a:r>
            <a:rPr lang="en-US"/>
            <a:t>Iterative process</a:t>
          </a:r>
        </a:p>
      </dgm:t>
    </dgm:pt>
    <dgm:pt modelId="{9BB35B06-BE90-4528-A35E-52E2399AF331}" type="parTrans" cxnId="{9B814BD5-66F5-4E2A-B94C-65ED1CB8FE64}">
      <dgm:prSet/>
      <dgm:spPr/>
      <dgm:t>
        <a:bodyPr/>
        <a:lstStyle/>
        <a:p>
          <a:endParaRPr lang="en-US"/>
        </a:p>
      </dgm:t>
    </dgm:pt>
    <dgm:pt modelId="{B9C02BED-ABAF-45F2-B7D8-EB29B1F89954}" type="sibTrans" cxnId="{9B814BD5-66F5-4E2A-B94C-65ED1CB8FE64}">
      <dgm:prSet/>
      <dgm:spPr/>
      <dgm:t>
        <a:bodyPr/>
        <a:lstStyle/>
        <a:p>
          <a:endParaRPr lang="en-US"/>
        </a:p>
      </dgm:t>
    </dgm:pt>
    <dgm:pt modelId="{F80AA4BE-F78D-40A3-98D5-EFBF9611FB5A}">
      <dgm:prSet/>
      <dgm:spPr/>
      <dgm:t>
        <a:bodyPr/>
        <a:lstStyle/>
        <a:p>
          <a:r>
            <a:rPr lang="en-US"/>
            <a:t>Transparency </a:t>
          </a:r>
        </a:p>
      </dgm:t>
    </dgm:pt>
    <dgm:pt modelId="{35D21063-CCF7-43AE-AFEB-87E1FD6FC703}" type="parTrans" cxnId="{9C628B92-F4F4-4B92-8E58-4755D4244251}">
      <dgm:prSet/>
      <dgm:spPr/>
      <dgm:t>
        <a:bodyPr/>
        <a:lstStyle/>
        <a:p>
          <a:endParaRPr lang="en-US"/>
        </a:p>
      </dgm:t>
    </dgm:pt>
    <dgm:pt modelId="{9F186E2F-B113-4CCA-B2C6-5A2D112E707A}" type="sibTrans" cxnId="{9C628B92-F4F4-4B92-8E58-4755D4244251}">
      <dgm:prSet/>
      <dgm:spPr/>
      <dgm:t>
        <a:bodyPr/>
        <a:lstStyle/>
        <a:p>
          <a:endParaRPr lang="en-US"/>
        </a:p>
      </dgm:t>
    </dgm:pt>
    <dgm:pt modelId="{F95643AF-DEF6-4B81-8888-B210164A7564}">
      <dgm:prSet/>
      <dgm:spPr/>
      <dgm:t>
        <a:bodyPr/>
        <a:lstStyle/>
        <a:p>
          <a:r>
            <a:rPr lang="en-US"/>
            <a:t>Flexibility</a:t>
          </a:r>
        </a:p>
      </dgm:t>
    </dgm:pt>
    <dgm:pt modelId="{97310C7E-9E52-4281-86EB-9B9F586F2B23}" type="parTrans" cxnId="{3EBA5CBA-DF50-443E-9439-2E68CBE77D38}">
      <dgm:prSet/>
      <dgm:spPr/>
      <dgm:t>
        <a:bodyPr/>
        <a:lstStyle/>
        <a:p>
          <a:endParaRPr lang="en-US"/>
        </a:p>
      </dgm:t>
    </dgm:pt>
    <dgm:pt modelId="{69ABD6CE-C18B-42C4-A74E-65476021C359}" type="sibTrans" cxnId="{3EBA5CBA-DF50-443E-9439-2E68CBE77D38}">
      <dgm:prSet/>
      <dgm:spPr/>
      <dgm:t>
        <a:bodyPr/>
        <a:lstStyle/>
        <a:p>
          <a:endParaRPr lang="en-US"/>
        </a:p>
      </dgm:t>
    </dgm:pt>
    <dgm:pt modelId="{9A3D4200-A693-4996-ACC4-0F8A1B4D5128}" type="pres">
      <dgm:prSet presAssocID="{C55F7479-ED7F-450C-B9BC-5A85D0B466FB}" presName="root" presStyleCnt="0">
        <dgm:presLayoutVars>
          <dgm:dir/>
          <dgm:resizeHandles val="exact"/>
        </dgm:presLayoutVars>
      </dgm:prSet>
      <dgm:spPr/>
    </dgm:pt>
    <dgm:pt modelId="{8E6DF099-0101-4C7E-B2D5-23235F65EA16}" type="pres">
      <dgm:prSet presAssocID="{FF1AC666-8B1A-4BA5-924F-520704EC848E}" presName="compNode" presStyleCnt="0"/>
      <dgm:spPr/>
    </dgm:pt>
    <dgm:pt modelId="{4F75A544-A6EA-4F11-9B52-AF4F0AE2A8B4}" type="pres">
      <dgm:prSet presAssocID="{FF1AC666-8B1A-4BA5-924F-520704EC848E}" presName="bgRect" presStyleLbl="bgShp" presStyleIdx="0" presStyleCnt="6"/>
      <dgm:spPr/>
    </dgm:pt>
    <dgm:pt modelId="{8D274A7D-3279-4344-BEE9-EECE6F74FF26}" type="pres">
      <dgm:prSet presAssocID="{FF1AC666-8B1A-4BA5-924F-520704EC848E}"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9F94E37B-464A-4833-8F45-8079C247312B}" type="pres">
      <dgm:prSet presAssocID="{FF1AC666-8B1A-4BA5-924F-520704EC848E}" presName="spaceRect" presStyleCnt="0"/>
      <dgm:spPr/>
    </dgm:pt>
    <dgm:pt modelId="{86788AFA-94CB-4FC9-9DAE-4E48F45B5E3E}" type="pres">
      <dgm:prSet presAssocID="{FF1AC666-8B1A-4BA5-924F-520704EC848E}" presName="parTx" presStyleLbl="revTx" presStyleIdx="0" presStyleCnt="6">
        <dgm:presLayoutVars>
          <dgm:chMax val="0"/>
          <dgm:chPref val="0"/>
        </dgm:presLayoutVars>
      </dgm:prSet>
      <dgm:spPr/>
    </dgm:pt>
    <dgm:pt modelId="{7DECA140-9C13-4466-8A6E-32D3ECA88872}" type="pres">
      <dgm:prSet presAssocID="{27F415C7-D1C8-4295-BAD7-FC15B0363031}" presName="sibTrans" presStyleCnt="0"/>
      <dgm:spPr/>
    </dgm:pt>
    <dgm:pt modelId="{538BE0D2-054E-4FEA-8B50-33AB2DD989D7}" type="pres">
      <dgm:prSet presAssocID="{584455CE-673D-41D5-A595-24EA76AB6FAB}" presName="compNode" presStyleCnt="0"/>
      <dgm:spPr/>
    </dgm:pt>
    <dgm:pt modelId="{2A5D1123-2CD7-4A65-8855-729BE75CC304}" type="pres">
      <dgm:prSet presAssocID="{584455CE-673D-41D5-A595-24EA76AB6FAB}" presName="bgRect" presStyleLbl="bgShp" presStyleIdx="1" presStyleCnt="6"/>
      <dgm:spPr/>
    </dgm:pt>
    <dgm:pt modelId="{68A9B4C1-E1E0-4DBD-8093-9CF49BD52AFC}" type="pres">
      <dgm:prSet presAssocID="{584455CE-673D-41D5-A595-24EA76AB6FAB}"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ecturer"/>
        </a:ext>
      </dgm:extLst>
    </dgm:pt>
    <dgm:pt modelId="{1C53890F-6A38-4584-B07F-EFA4BE63D14F}" type="pres">
      <dgm:prSet presAssocID="{584455CE-673D-41D5-A595-24EA76AB6FAB}" presName="spaceRect" presStyleCnt="0"/>
      <dgm:spPr/>
    </dgm:pt>
    <dgm:pt modelId="{6F2A538A-CC7F-4F19-AEDA-F88D9BCA44A8}" type="pres">
      <dgm:prSet presAssocID="{584455CE-673D-41D5-A595-24EA76AB6FAB}" presName="parTx" presStyleLbl="revTx" presStyleIdx="1" presStyleCnt="6">
        <dgm:presLayoutVars>
          <dgm:chMax val="0"/>
          <dgm:chPref val="0"/>
        </dgm:presLayoutVars>
      </dgm:prSet>
      <dgm:spPr/>
    </dgm:pt>
    <dgm:pt modelId="{B2A9DE7B-DF99-46CE-892A-A111C9432C08}" type="pres">
      <dgm:prSet presAssocID="{DF671389-1222-400F-A291-5506D441AA5D}" presName="sibTrans" presStyleCnt="0"/>
      <dgm:spPr/>
    </dgm:pt>
    <dgm:pt modelId="{114B43D1-8916-46C4-8008-1BAB6D391DCF}" type="pres">
      <dgm:prSet presAssocID="{726A6FDB-8A85-446B-928A-A659CBD7F32C}" presName="compNode" presStyleCnt="0"/>
      <dgm:spPr/>
    </dgm:pt>
    <dgm:pt modelId="{D42CCE8D-9715-4633-A5D9-5EAAF86FB286}" type="pres">
      <dgm:prSet presAssocID="{726A6FDB-8A85-446B-928A-A659CBD7F32C}" presName="bgRect" presStyleLbl="bgShp" presStyleIdx="2" presStyleCnt="6"/>
      <dgm:spPr/>
    </dgm:pt>
    <dgm:pt modelId="{51E17C76-ACA2-4F60-B85B-EB9E632B2291}" type="pres">
      <dgm:prSet presAssocID="{726A6FDB-8A85-446B-928A-A659CBD7F32C}"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Handshake outline"/>
        </a:ext>
      </dgm:extLst>
    </dgm:pt>
    <dgm:pt modelId="{BF7ACBAC-53C2-4E50-9106-D4F9672EB657}" type="pres">
      <dgm:prSet presAssocID="{726A6FDB-8A85-446B-928A-A659CBD7F32C}" presName="spaceRect" presStyleCnt="0"/>
      <dgm:spPr/>
    </dgm:pt>
    <dgm:pt modelId="{4EBB3DFF-3DE2-4E48-A9E3-D16E2178BD73}" type="pres">
      <dgm:prSet presAssocID="{726A6FDB-8A85-446B-928A-A659CBD7F32C}" presName="parTx" presStyleLbl="revTx" presStyleIdx="2" presStyleCnt="6">
        <dgm:presLayoutVars>
          <dgm:chMax val="0"/>
          <dgm:chPref val="0"/>
        </dgm:presLayoutVars>
      </dgm:prSet>
      <dgm:spPr/>
    </dgm:pt>
    <dgm:pt modelId="{A1D3CD30-F953-40EA-94D1-576033E01DBD}" type="pres">
      <dgm:prSet presAssocID="{39B09BCA-28FF-496D-853B-A4AF70782248}" presName="sibTrans" presStyleCnt="0"/>
      <dgm:spPr/>
    </dgm:pt>
    <dgm:pt modelId="{35684AC3-78FD-4D8E-82F3-BE88ABB88C3B}" type="pres">
      <dgm:prSet presAssocID="{BA0F83FC-01FD-4F68-BCB7-6EC79DD45658}" presName="compNode" presStyleCnt="0"/>
      <dgm:spPr/>
    </dgm:pt>
    <dgm:pt modelId="{30231412-ABED-40DC-B407-4D81F475AB97}" type="pres">
      <dgm:prSet presAssocID="{BA0F83FC-01FD-4F68-BCB7-6EC79DD45658}" presName="bgRect" presStyleLbl="bgShp" presStyleIdx="3" presStyleCnt="6"/>
      <dgm:spPr/>
    </dgm:pt>
    <dgm:pt modelId="{62CF02EE-603C-4C9B-85CA-A128143BB5DC}" type="pres">
      <dgm:prSet presAssocID="{BA0F83FC-01FD-4F68-BCB7-6EC79DD4565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eat"/>
        </a:ext>
      </dgm:extLst>
    </dgm:pt>
    <dgm:pt modelId="{C09EDE0D-BAEF-472B-A4B0-BB0531BDE946}" type="pres">
      <dgm:prSet presAssocID="{BA0F83FC-01FD-4F68-BCB7-6EC79DD45658}" presName="spaceRect" presStyleCnt="0"/>
      <dgm:spPr/>
    </dgm:pt>
    <dgm:pt modelId="{46AB47B2-257C-4CC0-B306-91C88E070DD1}" type="pres">
      <dgm:prSet presAssocID="{BA0F83FC-01FD-4F68-BCB7-6EC79DD45658}" presName="parTx" presStyleLbl="revTx" presStyleIdx="3" presStyleCnt="6">
        <dgm:presLayoutVars>
          <dgm:chMax val="0"/>
          <dgm:chPref val="0"/>
        </dgm:presLayoutVars>
      </dgm:prSet>
      <dgm:spPr/>
    </dgm:pt>
    <dgm:pt modelId="{95F28515-E016-4653-8D23-A99CB2FF2CB6}" type="pres">
      <dgm:prSet presAssocID="{B9C02BED-ABAF-45F2-B7D8-EB29B1F89954}" presName="sibTrans" presStyleCnt="0"/>
      <dgm:spPr/>
    </dgm:pt>
    <dgm:pt modelId="{BA5C0146-4A5D-4089-917C-B2D4D0AB2812}" type="pres">
      <dgm:prSet presAssocID="{F80AA4BE-F78D-40A3-98D5-EFBF9611FB5A}" presName="compNode" presStyleCnt="0"/>
      <dgm:spPr/>
    </dgm:pt>
    <dgm:pt modelId="{372C6720-B5B4-4520-826C-081F3FB65F90}" type="pres">
      <dgm:prSet presAssocID="{F80AA4BE-F78D-40A3-98D5-EFBF9611FB5A}" presName="bgRect" presStyleLbl="bgShp" presStyleIdx="4" presStyleCnt="6"/>
      <dgm:spPr/>
    </dgm:pt>
    <dgm:pt modelId="{918D1F26-DDBD-4370-B9A3-45C00EAB9F21}" type="pres">
      <dgm:prSet presAssocID="{F80AA4BE-F78D-40A3-98D5-EFBF9611FB5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8EDD1D79-2923-4D19-AFBD-A1F6C57A4EFB}" type="pres">
      <dgm:prSet presAssocID="{F80AA4BE-F78D-40A3-98D5-EFBF9611FB5A}" presName="spaceRect" presStyleCnt="0"/>
      <dgm:spPr/>
    </dgm:pt>
    <dgm:pt modelId="{3093FE59-CDD5-4AFD-A632-557751D4A1E2}" type="pres">
      <dgm:prSet presAssocID="{F80AA4BE-F78D-40A3-98D5-EFBF9611FB5A}" presName="parTx" presStyleLbl="revTx" presStyleIdx="4" presStyleCnt="6">
        <dgm:presLayoutVars>
          <dgm:chMax val="0"/>
          <dgm:chPref val="0"/>
        </dgm:presLayoutVars>
      </dgm:prSet>
      <dgm:spPr/>
    </dgm:pt>
    <dgm:pt modelId="{62F22EBE-31D8-4479-AD84-81E2DDE8AD97}" type="pres">
      <dgm:prSet presAssocID="{9F186E2F-B113-4CCA-B2C6-5A2D112E707A}" presName="sibTrans" presStyleCnt="0"/>
      <dgm:spPr/>
    </dgm:pt>
    <dgm:pt modelId="{983553F1-862F-42B9-85FE-36AE4A4CE907}" type="pres">
      <dgm:prSet presAssocID="{F95643AF-DEF6-4B81-8888-B210164A7564}" presName="compNode" presStyleCnt="0"/>
      <dgm:spPr/>
    </dgm:pt>
    <dgm:pt modelId="{D34ED71A-CA5A-4492-80B2-3C6F3E31F249}" type="pres">
      <dgm:prSet presAssocID="{F95643AF-DEF6-4B81-8888-B210164A7564}" presName="bgRect" presStyleLbl="bgShp" presStyleIdx="5" presStyleCnt="6"/>
      <dgm:spPr/>
    </dgm:pt>
    <dgm:pt modelId="{C3F1BAD2-3FE2-4998-856F-5607C3BE532A}" type="pres">
      <dgm:prSet presAssocID="{F95643AF-DEF6-4B81-8888-B210164A7564}"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Run"/>
        </a:ext>
      </dgm:extLst>
    </dgm:pt>
    <dgm:pt modelId="{09BAC541-E825-4157-B4E1-99CDDEA1CC7C}" type="pres">
      <dgm:prSet presAssocID="{F95643AF-DEF6-4B81-8888-B210164A7564}" presName="spaceRect" presStyleCnt="0"/>
      <dgm:spPr/>
    </dgm:pt>
    <dgm:pt modelId="{E06A113B-AB49-4D24-AD18-788EE54C3EAD}" type="pres">
      <dgm:prSet presAssocID="{F95643AF-DEF6-4B81-8888-B210164A7564}" presName="parTx" presStyleLbl="revTx" presStyleIdx="5" presStyleCnt="6">
        <dgm:presLayoutVars>
          <dgm:chMax val="0"/>
          <dgm:chPref val="0"/>
        </dgm:presLayoutVars>
      </dgm:prSet>
      <dgm:spPr/>
    </dgm:pt>
  </dgm:ptLst>
  <dgm:cxnLst>
    <dgm:cxn modelId="{53E9B707-E956-4CF6-A634-C8677FC4C7AD}" type="presOf" srcId="{C55F7479-ED7F-450C-B9BC-5A85D0B466FB}" destId="{9A3D4200-A693-4996-ACC4-0F8A1B4D5128}" srcOrd="0" destOrd="0" presId="urn:microsoft.com/office/officeart/2018/2/layout/IconVerticalSolidList"/>
    <dgm:cxn modelId="{9F5EC108-BE3B-4722-B9B5-0DC597ED01B0}" type="presOf" srcId="{726A6FDB-8A85-446B-928A-A659CBD7F32C}" destId="{4EBB3DFF-3DE2-4E48-A9E3-D16E2178BD73}" srcOrd="0" destOrd="0" presId="urn:microsoft.com/office/officeart/2018/2/layout/IconVerticalSolidList"/>
    <dgm:cxn modelId="{868E020D-E6C4-4ECE-AAFA-16154240CC8D}" srcId="{C55F7479-ED7F-450C-B9BC-5A85D0B466FB}" destId="{584455CE-673D-41D5-A595-24EA76AB6FAB}" srcOrd="1" destOrd="0" parTransId="{0DFE81CA-334C-4425-B4D2-00A900BCDEB7}" sibTransId="{DF671389-1222-400F-A291-5506D441AA5D}"/>
    <dgm:cxn modelId="{4850F81F-1F55-4698-8E77-3D7986C1A5E4}" type="presOf" srcId="{F80AA4BE-F78D-40A3-98D5-EFBF9611FB5A}" destId="{3093FE59-CDD5-4AFD-A632-557751D4A1E2}" srcOrd="0" destOrd="0" presId="urn:microsoft.com/office/officeart/2018/2/layout/IconVerticalSolidList"/>
    <dgm:cxn modelId="{D680E729-E926-461D-BAF1-0F048EDA2D05}" type="presOf" srcId="{F95643AF-DEF6-4B81-8888-B210164A7564}" destId="{E06A113B-AB49-4D24-AD18-788EE54C3EAD}" srcOrd="0" destOrd="0" presId="urn:microsoft.com/office/officeart/2018/2/layout/IconVerticalSolidList"/>
    <dgm:cxn modelId="{E04B6D30-5727-4D59-8B20-C8F5BBAED52C}" srcId="{C55F7479-ED7F-450C-B9BC-5A85D0B466FB}" destId="{726A6FDB-8A85-446B-928A-A659CBD7F32C}" srcOrd="2" destOrd="0" parTransId="{6C16A99A-6F3E-4DDE-8B09-69E7C055B41A}" sibTransId="{39B09BCA-28FF-496D-853B-A4AF70782248}"/>
    <dgm:cxn modelId="{EC16CB44-4D20-420F-9463-3C28BA0F13FB}" type="presOf" srcId="{BA0F83FC-01FD-4F68-BCB7-6EC79DD45658}" destId="{46AB47B2-257C-4CC0-B306-91C88E070DD1}" srcOrd="0" destOrd="0" presId="urn:microsoft.com/office/officeart/2018/2/layout/IconVerticalSolidList"/>
    <dgm:cxn modelId="{D128D24C-ADEF-48C2-879D-572E55C5A0BD}" type="presOf" srcId="{584455CE-673D-41D5-A595-24EA76AB6FAB}" destId="{6F2A538A-CC7F-4F19-AEDA-F88D9BCA44A8}" srcOrd="0" destOrd="0" presId="urn:microsoft.com/office/officeart/2018/2/layout/IconVerticalSolidList"/>
    <dgm:cxn modelId="{DFB36D8A-3565-4BFF-A6BA-E2037A030B62}" type="presOf" srcId="{FF1AC666-8B1A-4BA5-924F-520704EC848E}" destId="{86788AFA-94CB-4FC9-9DAE-4E48F45B5E3E}" srcOrd="0" destOrd="0" presId="urn:microsoft.com/office/officeart/2018/2/layout/IconVerticalSolidList"/>
    <dgm:cxn modelId="{9C628B92-F4F4-4B92-8E58-4755D4244251}" srcId="{C55F7479-ED7F-450C-B9BC-5A85D0B466FB}" destId="{F80AA4BE-F78D-40A3-98D5-EFBF9611FB5A}" srcOrd="4" destOrd="0" parTransId="{35D21063-CCF7-43AE-AFEB-87E1FD6FC703}" sibTransId="{9F186E2F-B113-4CCA-B2C6-5A2D112E707A}"/>
    <dgm:cxn modelId="{3EBA5CBA-DF50-443E-9439-2E68CBE77D38}" srcId="{C55F7479-ED7F-450C-B9BC-5A85D0B466FB}" destId="{F95643AF-DEF6-4B81-8888-B210164A7564}" srcOrd="5" destOrd="0" parTransId="{97310C7E-9E52-4281-86EB-9B9F586F2B23}" sibTransId="{69ABD6CE-C18B-42C4-A74E-65476021C359}"/>
    <dgm:cxn modelId="{9B814BD5-66F5-4E2A-B94C-65ED1CB8FE64}" srcId="{C55F7479-ED7F-450C-B9BC-5A85D0B466FB}" destId="{BA0F83FC-01FD-4F68-BCB7-6EC79DD45658}" srcOrd="3" destOrd="0" parTransId="{9BB35B06-BE90-4528-A35E-52E2399AF331}" sibTransId="{B9C02BED-ABAF-45F2-B7D8-EB29B1F89954}"/>
    <dgm:cxn modelId="{441C9AE3-0B06-4F3C-BF34-7206B02DFF8A}" srcId="{C55F7479-ED7F-450C-B9BC-5A85D0B466FB}" destId="{FF1AC666-8B1A-4BA5-924F-520704EC848E}" srcOrd="0" destOrd="0" parTransId="{0F5FD4FF-A7FD-4F8B-957D-AA3E88C18DC6}" sibTransId="{27F415C7-D1C8-4295-BAD7-FC15B0363031}"/>
    <dgm:cxn modelId="{FA43338D-6E66-49CA-AA98-9D4B05899609}" type="presParOf" srcId="{9A3D4200-A693-4996-ACC4-0F8A1B4D5128}" destId="{8E6DF099-0101-4C7E-B2D5-23235F65EA16}" srcOrd="0" destOrd="0" presId="urn:microsoft.com/office/officeart/2018/2/layout/IconVerticalSolidList"/>
    <dgm:cxn modelId="{906B3783-2F30-4BBA-88C4-4B1E56C8CEBF}" type="presParOf" srcId="{8E6DF099-0101-4C7E-B2D5-23235F65EA16}" destId="{4F75A544-A6EA-4F11-9B52-AF4F0AE2A8B4}" srcOrd="0" destOrd="0" presId="urn:microsoft.com/office/officeart/2018/2/layout/IconVerticalSolidList"/>
    <dgm:cxn modelId="{9909211E-EF33-4B92-B87C-68DA6DE61BA4}" type="presParOf" srcId="{8E6DF099-0101-4C7E-B2D5-23235F65EA16}" destId="{8D274A7D-3279-4344-BEE9-EECE6F74FF26}" srcOrd="1" destOrd="0" presId="urn:microsoft.com/office/officeart/2018/2/layout/IconVerticalSolidList"/>
    <dgm:cxn modelId="{A9C410B1-9F11-4F27-A77A-E67CD90C7D0A}" type="presParOf" srcId="{8E6DF099-0101-4C7E-B2D5-23235F65EA16}" destId="{9F94E37B-464A-4833-8F45-8079C247312B}" srcOrd="2" destOrd="0" presId="urn:microsoft.com/office/officeart/2018/2/layout/IconVerticalSolidList"/>
    <dgm:cxn modelId="{89799DC8-CCD4-49F0-889E-9DCF07D13F9B}" type="presParOf" srcId="{8E6DF099-0101-4C7E-B2D5-23235F65EA16}" destId="{86788AFA-94CB-4FC9-9DAE-4E48F45B5E3E}" srcOrd="3" destOrd="0" presId="urn:microsoft.com/office/officeart/2018/2/layout/IconVerticalSolidList"/>
    <dgm:cxn modelId="{5ADFC326-1E17-4F1E-8DD5-781CA3CB7369}" type="presParOf" srcId="{9A3D4200-A693-4996-ACC4-0F8A1B4D5128}" destId="{7DECA140-9C13-4466-8A6E-32D3ECA88872}" srcOrd="1" destOrd="0" presId="urn:microsoft.com/office/officeart/2018/2/layout/IconVerticalSolidList"/>
    <dgm:cxn modelId="{77F0C895-AF3F-47C6-8E6E-168465074CE5}" type="presParOf" srcId="{9A3D4200-A693-4996-ACC4-0F8A1B4D5128}" destId="{538BE0D2-054E-4FEA-8B50-33AB2DD989D7}" srcOrd="2" destOrd="0" presId="urn:microsoft.com/office/officeart/2018/2/layout/IconVerticalSolidList"/>
    <dgm:cxn modelId="{42EFF858-7110-4F0F-B9F6-8C1A939FB630}" type="presParOf" srcId="{538BE0D2-054E-4FEA-8B50-33AB2DD989D7}" destId="{2A5D1123-2CD7-4A65-8855-729BE75CC304}" srcOrd="0" destOrd="0" presId="urn:microsoft.com/office/officeart/2018/2/layout/IconVerticalSolidList"/>
    <dgm:cxn modelId="{67CD921C-4024-427B-B3E3-481D7DE215F5}" type="presParOf" srcId="{538BE0D2-054E-4FEA-8B50-33AB2DD989D7}" destId="{68A9B4C1-E1E0-4DBD-8093-9CF49BD52AFC}" srcOrd="1" destOrd="0" presId="urn:microsoft.com/office/officeart/2018/2/layout/IconVerticalSolidList"/>
    <dgm:cxn modelId="{497B7687-B6AA-413D-9B59-2615482F7B78}" type="presParOf" srcId="{538BE0D2-054E-4FEA-8B50-33AB2DD989D7}" destId="{1C53890F-6A38-4584-B07F-EFA4BE63D14F}" srcOrd="2" destOrd="0" presId="urn:microsoft.com/office/officeart/2018/2/layout/IconVerticalSolidList"/>
    <dgm:cxn modelId="{3BB49CEF-1494-4DF9-B7D6-79A2565438BC}" type="presParOf" srcId="{538BE0D2-054E-4FEA-8B50-33AB2DD989D7}" destId="{6F2A538A-CC7F-4F19-AEDA-F88D9BCA44A8}" srcOrd="3" destOrd="0" presId="urn:microsoft.com/office/officeart/2018/2/layout/IconVerticalSolidList"/>
    <dgm:cxn modelId="{030DC012-E110-4DA5-8A0A-93C50F239233}" type="presParOf" srcId="{9A3D4200-A693-4996-ACC4-0F8A1B4D5128}" destId="{B2A9DE7B-DF99-46CE-892A-A111C9432C08}" srcOrd="3" destOrd="0" presId="urn:microsoft.com/office/officeart/2018/2/layout/IconVerticalSolidList"/>
    <dgm:cxn modelId="{6FB61997-D816-4871-9B51-ADB57C911828}" type="presParOf" srcId="{9A3D4200-A693-4996-ACC4-0F8A1B4D5128}" destId="{114B43D1-8916-46C4-8008-1BAB6D391DCF}" srcOrd="4" destOrd="0" presId="urn:microsoft.com/office/officeart/2018/2/layout/IconVerticalSolidList"/>
    <dgm:cxn modelId="{D8B57B65-524B-4B6E-87D5-0F3DE7693F0D}" type="presParOf" srcId="{114B43D1-8916-46C4-8008-1BAB6D391DCF}" destId="{D42CCE8D-9715-4633-A5D9-5EAAF86FB286}" srcOrd="0" destOrd="0" presId="urn:microsoft.com/office/officeart/2018/2/layout/IconVerticalSolidList"/>
    <dgm:cxn modelId="{31E1A189-691D-4278-823E-8C84FC6B36F0}" type="presParOf" srcId="{114B43D1-8916-46C4-8008-1BAB6D391DCF}" destId="{51E17C76-ACA2-4F60-B85B-EB9E632B2291}" srcOrd="1" destOrd="0" presId="urn:microsoft.com/office/officeart/2018/2/layout/IconVerticalSolidList"/>
    <dgm:cxn modelId="{C82228AF-E1F5-47BD-89AB-84F598D1BBF2}" type="presParOf" srcId="{114B43D1-8916-46C4-8008-1BAB6D391DCF}" destId="{BF7ACBAC-53C2-4E50-9106-D4F9672EB657}" srcOrd="2" destOrd="0" presId="urn:microsoft.com/office/officeart/2018/2/layout/IconVerticalSolidList"/>
    <dgm:cxn modelId="{D57ECCD2-41F8-40A0-9080-510C25D0E210}" type="presParOf" srcId="{114B43D1-8916-46C4-8008-1BAB6D391DCF}" destId="{4EBB3DFF-3DE2-4E48-A9E3-D16E2178BD73}" srcOrd="3" destOrd="0" presId="urn:microsoft.com/office/officeart/2018/2/layout/IconVerticalSolidList"/>
    <dgm:cxn modelId="{5E56A374-A8B3-4141-80E1-398B83DD449D}" type="presParOf" srcId="{9A3D4200-A693-4996-ACC4-0F8A1B4D5128}" destId="{A1D3CD30-F953-40EA-94D1-576033E01DBD}" srcOrd="5" destOrd="0" presId="urn:microsoft.com/office/officeart/2018/2/layout/IconVerticalSolidList"/>
    <dgm:cxn modelId="{43E4CE6F-1E56-411E-ADF5-3585DC22B247}" type="presParOf" srcId="{9A3D4200-A693-4996-ACC4-0F8A1B4D5128}" destId="{35684AC3-78FD-4D8E-82F3-BE88ABB88C3B}" srcOrd="6" destOrd="0" presId="urn:microsoft.com/office/officeart/2018/2/layout/IconVerticalSolidList"/>
    <dgm:cxn modelId="{140E2B77-2DAC-424A-88B8-1CCE370B4229}" type="presParOf" srcId="{35684AC3-78FD-4D8E-82F3-BE88ABB88C3B}" destId="{30231412-ABED-40DC-B407-4D81F475AB97}" srcOrd="0" destOrd="0" presId="urn:microsoft.com/office/officeart/2018/2/layout/IconVerticalSolidList"/>
    <dgm:cxn modelId="{0E387625-6C6B-4946-B923-B1BC386EAF2A}" type="presParOf" srcId="{35684AC3-78FD-4D8E-82F3-BE88ABB88C3B}" destId="{62CF02EE-603C-4C9B-85CA-A128143BB5DC}" srcOrd="1" destOrd="0" presId="urn:microsoft.com/office/officeart/2018/2/layout/IconVerticalSolidList"/>
    <dgm:cxn modelId="{D6B415DD-C43F-46B8-97BE-94128A231EDD}" type="presParOf" srcId="{35684AC3-78FD-4D8E-82F3-BE88ABB88C3B}" destId="{C09EDE0D-BAEF-472B-A4B0-BB0531BDE946}" srcOrd="2" destOrd="0" presId="urn:microsoft.com/office/officeart/2018/2/layout/IconVerticalSolidList"/>
    <dgm:cxn modelId="{94FA4C00-1A27-49F7-A0C9-4487D30D3C90}" type="presParOf" srcId="{35684AC3-78FD-4D8E-82F3-BE88ABB88C3B}" destId="{46AB47B2-257C-4CC0-B306-91C88E070DD1}" srcOrd="3" destOrd="0" presId="urn:microsoft.com/office/officeart/2018/2/layout/IconVerticalSolidList"/>
    <dgm:cxn modelId="{EF5ADF0A-95B7-4D48-8EB0-6841972A2F91}" type="presParOf" srcId="{9A3D4200-A693-4996-ACC4-0F8A1B4D5128}" destId="{95F28515-E016-4653-8D23-A99CB2FF2CB6}" srcOrd="7" destOrd="0" presId="urn:microsoft.com/office/officeart/2018/2/layout/IconVerticalSolidList"/>
    <dgm:cxn modelId="{CC58EF4C-C2F0-4B3A-93B7-ED4540331536}" type="presParOf" srcId="{9A3D4200-A693-4996-ACC4-0F8A1B4D5128}" destId="{BA5C0146-4A5D-4089-917C-B2D4D0AB2812}" srcOrd="8" destOrd="0" presId="urn:microsoft.com/office/officeart/2018/2/layout/IconVerticalSolidList"/>
    <dgm:cxn modelId="{2BC223F1-2B20-47CC-8E4A-79FAFB3E4DD5}" type="presParOf" srcId="{BA5C0146-4A5D-4089-917C-B2D4D0AB2812}" destId="{372C6720-B5B4-4520-826C-081F3FB65F90}" srcOrd="0" destOrd="0" presId="urn:microsoft.com/office/officeart/2018/2/layout/IconVerticalSolidList"/>
    <dgm:cxn modelId="{663029D0-23AA-4490-8B1F-14A1F943980F}" type="presParOf" srcId="{BA5C0146-4A5D-4089-917C-B2D4D0AB2812}" destId="{918D1F26-DDBD-4370-B9A3-45C00EAB9F21}" srcOrd="1" destOrd="0" presId="urn:microsoft.com/office/officeart/2018/2/layout/IconVerticalSolidList"/>
    <dgm:cxn modelId="{EBF1186F-08FC-4D2E-BA89-CDE4CA45ABB7}" type="presParOf" srcId="{BA5C0146-4A5D-4089-917C-B2D4D0AB2812}" destId="{8EDD1D79-2923-4D19-AFBD-A1F6C57A4EFB}" srcOrd="2" destOrd="0" presId="urn:microsoft.com/office/officeart/2018/2/layout/IconVerticalSolidList"/>
    <dgm:cxn modelId="{5E94B93A-A69C-4059-8943-08A9093C724E}" type="presParOf" srcId="{BA5C0146-4A5D-4089-917C-B2D4D0AB2812}" destId="{3093FE59-CDD5-4AFD-A632-557751D4A1E2}" srcOrd="3" destOrd="0" presId="urn:microsoft.com/office/officeart/2018/2/layout/IconVerticalSolidList"/>
    <dgm:cxn modelId="{41F22D47-E8D2-4E7D-93D9-3E27338900CE}" type="presParOf" srcId="{9A3D4200-A693-4996-ACC4-0F8A1B4D5128}" destId="{62F22EBE-31D8-4479-AD84-81E2DDE8AD97}" srcOrd="9" destOrd="0" presId="urn:microsoft.com/office/officeart/2018/2/layout/IconVerticalSolidList"/>
    <dgm:cxn modelId="{001E7F16-4BCE-4AA5-A903-238F86175976}" type="presParOf" srcId="{9A3D4200-A693-4996-ACC4-0F8A1B4D5128}" destId="{983553F1-862F-42B9-85FE-36AE4A4CE907}" srcOrd="10" destOrd="0" presId="urn:microsoft.com/office/officeart/2018/2/layout/IconVerticalSolidList"/>
    <dgm:cxn modelId="{141A3057-114A-4398-A4FF-78F08EEEBDBC}" type="presParOf" srcId="{983553F1-862F-42B9-85FE-36AE4A4CE907}" destId="{D34ED71A-CA5A-4492-80B2-3C6F3E31F249}" srcOrd="0" destOrd="0" presId="urn:microsoft.com/office/officeart/2018/2/layout/IconVerticalSolidList"/>
    <dgm:cxn modelId="{9BF8DDF8-6DD7-4527-ACDF-16B17A42318B}" type="presParOf" srcId="{983553F1-862F-42B9-85FE-36AE4A4CE907}" destId="{C3F1BAD2-3FE2-4998-856F-5607C3BE532A}" srcOrd="1" destOrd="0" presId="urn:microsoft.com/office/officeart/2018/2/layout/IconVerticalSolidList"/>
    <dgm:cxn modelId="{8B632339-EC69-4406-A2F5-6679771E51ED}" type="presParOf" srcId="{983553F1-862F-42B9-85FE-36AE4A4CE907}" destId="{09BAC541-E825-4157-B4E1-99CDDEA1CC7C}" srcOrd="2" destOrd="0" presId="urn:microsoft.com/office/officeart/2018/2/layout/IconVerticalSolidList"/>
    <dgm:cxn modelId="{A0B4C686-BE59-4DDC-B13C-FA87C37D1006}" type="presParOf" srcId="{983553F1-862F-42B9-85FE-36AE4A4CE907}" destId="{E06A113B-AB49-4D24-AD18-788EE54C3EAD}"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4DD3C0-4AB3-4DD6-8127-EC102C94B8C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4E3874E-AA74-44B4-B113-11BFC59E91BE}">
      <dgm:prSet/>
      <dgm:spPr/>
      <dgm:t>
        <a:bodyPr/>
        <a:lstStyle/>
        <a:p>
          <a:pPr>
            <a:lnSpc>
              <a:spcPct val="100000"/>
            </a:lnSpc>
          </a:pPr>
          <a:r>
            <a:rPr lang="en-US" b="0" i="0"/>
            <a:t>Improve user satisfaction </a:t>
          </a:r>
          <a:endParaRPr lang="en-US"/>
        </a:p>
      </dgm:t>
    </dgm:pt>
    <dgm:pt modelId="{C013F278-3678-4EE7-83C4-A1E1935EDFCE}" type="parTrans" cxnId="{306435AA-C92F-4687-9BDE-9B48BB1FB4A5}">
      <dgm:prSet/>
      <dgm:spPr/>
      <dgm:t>
        <a:bodyPr/>
        <a:lstStyle/>
        <a:p>
          <a:endParaRPr lang="en-US"/>
        </a:p>
      </dgm:t>
    </dgm:pt>
    <dgm:pt modelId="{EC7FFC20-1EB8-4BC7-9DD8-8394088D1323}" type="sibTrans" cxnId="{306435AA-C92F-4687-9BDE-9B48BB1FB4A5}">
      <dgm:prSet/>
      <dgm:spPr/>
      <dgm:t>
        <a:bodyPr/>
        <a:lstStyle/>
        <a:p>
          <a:endParaRPr lang="en-US"/>
        </a:p>
      </dgm:t>
    </dgm:pt>
    <dgm:pt modelId="{D084FB66-1258-432B-86AE-FF07B5120E03}">
      <dgm:prSet/>
      <dgm:spPr/>
      <dgm:t>
        <a:bodyPr/>
        <a:lstStyle/>
        <a:p>
          <a:pPr>
            <a:lnSpc>
              <a:spcPct val="100000"/>
            </a:lnSpc>
          </a:pPr>
          <a:r>
            <a:rPr lang="en-US" b="0" i="0" dirty="0"/>
            <a:t>Increased user engagement </a:t>
          </a:r>
          <a:endParaRPr lang="en-US" dirty="0"/>
        </a:p>
      </dgm:t>
    </dgm:pt>
    <dgm:pt modelId="{D5104FAC-DB3B-4C0B-A565-EAD080D2EBE5}" type="parTrans" cxnId="{FE5B71BD-1192-4534-B550-F8F828A9E4EB}">
      <dgm:prSet/>
      <dgm:spPr/>
      <dgm:t>
        <a:bodyPr/>
        <a:lstStyle/>
        <a:p>
          <a:endParaRPr lang="en-US"/>
        </a:p>
      </dgm:t>
    </dgm:pt>
    <dgm:pt modelId="{E8D3B430-B4C4-4292-8643-8B2C6758E95C}" type="sibTrans" cxnId="{FE5B71BD-1192-4534-B550-F8F828A9E4EB}">
      <dgm:prSet/>
      <dgm:spPr/>
      <dgm:t>
        <a:bodyPr/>
        <a:lstStyle/>
        <a:p>
          <a:endParaRPr lang="en-US"/>
        </a:p>
      </dgm:t>
    </dgm:pt>
    <dgm:pt modelId="{183FA050-F490-4EAA-BA2A-96EE0EA5C5C2}">
      <dgm:prSet/>
      <dgm:spPr/>
      <dgm:t>
        <a:bodyPr/>
        <a:lstStyle/>
        <a:p>
          <a:pPr>
            <a:lnSpc>
              <a:spcPct val="100000"/>
            </a:lnSpc>
          </a:pPr>
          <a:r>
            <a:rPr lang="en-US" b="0" i="0" dirty="0"/>
            <a:t>Improved innovation</a:t>
          </a:r>
          <a:endParaRPr lang="en-US" dirty="0"/>
        </a:p>
      </dgm:t>
    </dgm:pt>
    <dgm:pt modelId="{CE36FB62-1651-480F-8F55-A22AB9E114D6}" type="parTrans" cxnId="{5148B353-308D-4636-ADDE-8E68D456372A}">
      <dgm:prSet/>
      <dgm:spPr/>
      <dgm:t>
        <a:bodyPr/>
        <a:lstStyle/>
        <a:p>
          <a:endParaRPr lang="en-US"/>
        </a:p>
      </dgm:t>
    </dgm:pt>
    <dgm:pt modelId="{68691E3E-76CE-436B-B3BF-F7BF3E650562}" type="sibTrans" cxnId="{5148B353-308D-4636-ADDE-8E68D456372A}">
      <dgm:prSet/>
      <dgm:spPr/>
      <dgm:t>
        <a:bodyPr/>
        <a:lstStyle/>
        <a:p>
          <a:endParaRPr lang="en-US"/>
        </a:p>
      </dgm:t>
    </dgm:pt>
    <dgm:pt modelId="{1D91D749-F266-4AB8-9313-6455627DA75F}">
      <dgm:prSet/>
      <dgm:spPr/>
      <dgm:t>
        <a:bodyPr/>
        <a:lstStyle/>
        <a:p>
          <a:pPr>
            <a:lnSpc>
              <a:spcPct val="100000"/>
            </a:lnSpc>
          </a:pPr>
          <a:r>
            <a:rPr lang="en-US" b="0" i="0"/>
            <a:t>Increased social inclusion</a:t>
          </a:r>
          <a:endParaRPr lang="en-US"/>
        </a:p>
      </dgm:t>
    </dgm:pt>
    <dgm:pt modelId="{58249B68-1DC5-4A72-A405-927276C4496D}" type="parTrans" cxnId="{615E32D2-2DFA-4A00-AABF-9822FA51137F}">
      <dgm:prSet/>
      <dgm:spPr/>
      <dgm:t>
        <a:bodyPr/>
        <a:lstStyle/>
        <a:p>
          <a:endParaRPr lang="en-US"/>
        </a:p>
      </dgm:t>
    </dgm:pt>
    <dgm:pt modelId="{351B4078-D46D-457D-BCC6-256ABFCCAD90}" type="sibTrans" cxnId="{615E32D2-2DFA-4A00-AABF-9822FA51137F}">
      <dgm:prSet/>
      <dgm:spPr/>
      <dgm:t>
        <a:bodyPr/>
        <a:lstStyle/>
        <a:p>
          <a:endParaRPr lang="en-US"/>
        </a:p>
      </dgm:t>
    </dgm:pt>
    <dgm:pt modelId="{A00A2784-4342-5441-B7D4-62A54671E57A}">
      <dgm:prSet/>
      <dgm:spPr/>
      <dgm:t>
        <a:bodyPr/>
        <a:lstStyle/>
        <a:p>
          <a:pPr>
            <a:lnSpc>
              <a:spcPct val="100000"/>
            </a:lnSpc>
          </a:pPr>
          <a:r>
            <a:rPr lang="en-US" dirty="0"/>
            <a:t>Reduce development cost</a:t>
          </a:r>
        </a:p>
      </dgm:t>
    </dgm:pt>
    <dgm:pt modelId="{84D99B7B-C49B-A542-BBB0-5E1E1475237B}" type="parTrans" cxnId="{6972FF23-8A48-D64B-8CDB-501A74C84CF2}">
      <dgm:prSet/>
      <dgm:spPr/>
      <dgm:t>
        <a:bodyPr/>
        <a:lstStyle/>
        <a:p>
          <a:endParaRPr lang="en-US"/>
        </a:p>
      </dgm:t>
    </dgm:pt>
    <dgm:pt modelId="{563ECBE9-042A-5043-80B9-EB9CCF6026C9}" type="sibTrans" cxnId="{6972FF23-8A48-D64B-8CDB-501A74C84CF2}">
      <dgm:prSet/>
      <dgm:spPr/>
      <dgm:t>
        <a:bodyPr/>
        <a:lstStyle/>
        <a:p>
          <a:endParaRPr lang="en-US"/>
        </a:p>
      </dgm:t>
    </dgm:pt>
    <dgm:pt modelId="{D683A2AF-5F96-4465-8BFD-8ED5EDD3B360}" type="pres">
      <dgm:prSet presAssocID="{234DD3C0-4AB3-4DD6-8127-EC102C94B8C6}" presName="root" presStyleCnt="0">
        <dgm:presLayoutVars>
          <dgm:dir/>
          <dgm:resizeHandles val="exact"/>
        </dgm:presLayoutVars>
      </dgm:prSet>
      <dgm:spPr/>
    </dgm:pt>
    <dgm:pt modelId="{3D991FC5-A943-408A-8E50-E111F137F6F9}" type="pres">
      <dgm:prSet presAssocID="{24E3874E-AA74-44B4-B113-11BFC59E91BE}" presName="compNode" presStyleCnt="0"/>
      <dgm:spPr/>
    </dgm:pt>
    <dgm:pt modelId="{3CE0E8F9-2F9A-4720-8955-82C5A5C35004}" type="pres">
      <dgm:prSet presAssocID="{24E3874E-AA74-44B4-B113-11BFC59E91BE}" presName="bgRect" presStyleLbl="bgShp" presStyleIdx="0" presStyleCnt="5"/>
      <dgm:spPr/>
    </dgm:pt>
    <dgm:pt modelId="{6F4118A6-BE61-47FB-9AB7-41CC6093B731}" type="pres">
      <dgm:prSet presAssocID="{24E3874E-AA74-44B4-B113-11BFC59E91B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FC115B83-F135-4649-9E57-94B643E12940}" type="pres">
      <dgm:prSet presAssocID="{24E3874E-AA74-44B4-B113-11BFC59E91BE}" presName="spaceRect" presStyleCnt="0"/>
      <dgm:spPr/>
    </dgm:pt>
    <dgm:pt modelId="{9316B83B-88E3-47DA-9FE5-7B5A9D80B8CA}" type="pres">
      <dgm:prSet presAssocID="{24E3874E-AA74-44B4-B113-11BFC59E91BE}" presName="parTx" presStyleLbl="revTx" presStyleIdx="0" presStyleCnt="5">
        <dgm:presLayoutVars>
          <dgm:chMax val="0"/>
          <dgm:chPref val="0"/>
        </dgm:presLayoutVars>
      </dgm:prSet>
      <dgm:spPr/>
    </dgm:pt>
    <dgm:pt modelId="{CA2D0DF4-A330-4411-870C-22EEA93484A6}" type="pres">
      <dgm:prSet presAssocID="{EC7FFC20-1EB8-4BC7-9DD8-8394088D1323}" presName="sibTrans" presStyleCnt="0"/>
      <dgm:spPr/>
    </dgm:pt>
    <dgm:pt modelId="{1AA2478E-2374-4D00-A6B5-14B56565A409}" type="pres">
      <dgm:prSet presAssocID="{D084FB66-1258-432B-86AE-FF07B5120E03}" presName="compNode" presStyleCnt="0"/>
      <dgm:spPr/>
    </dgm:pt>
    <dgm:pt modelId="{F5E65235-80DC-4C88-A8F6-F01493474E29}" type="pres">
      <dgm:prSet presAssocID="{D084FB66-1258-432B-86AE-FF07B5120E03}" presName="bgRect" presStyleLbl="bgShp" presStyleIdx="1" presStyleCnt="5"/>
      <dgm:spPr/>
    </dgm:pt>
    <dgm:pt modelId="{709B5513-E845-4D9D-AE46-21F3C37C461A}" type="pres">
      <dgm:prSet presAssocID="{D084FB66-1258-432B-86AE-FF07B5120E0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7D5FADC9-8264-4E1A-86F2-075993E42D94}" type="pres">
      <dgm:prSet presAssocID="{D084FB66-1258-432B-86AE-FF07B5120E03}" presName="spaceRect" presStyleCnt="0"/>
      <dgm:spPr/>
    </dgm:pt>
    <dgm:pt modelId="{6CDF2C57-092B-4242-BFA3-71830FDD8B5E}" type="pres">
      <dgm:prSet presAssocID="{D084FB66-1258-432B-86AE-FF07B5120E03}" presName="parTx" presStyleLbl="revTx" presStyleIdx="1" presStyleCnt="5">
        <dgm:presLayoutVars>
          <dgm:chMax val="0"/>
          <dgm:chPref val="0"/>
        </dgm:presLayoutVars>
      </dgm:prSet>
      <dgm:spPr/>
    </dgm:pt>
    <dgm:pt modelId="{E563B3C9-58D9-43DB-A849-F12A7EF3EAAE}" type="pres">
      <dgm:prSet presAssocID="{E8D3B430-B4C4-4292-8643-8B2C6758E95C}" presName="sibTrans" presStyleCnt="0"/>
      <dgm:spPr/>
    </dgm:pt>
    <dgm:pt modelId="{F09D4ED4-883D-4147-9E08-065347622786}" type="pres">
      <dgm:prSet presAssocID="{A00A2784-4342-5441-B7D4-62A54671E57A}" presName="compNode" presStyleCnt="0"/>
      <dgm:spPr/>
    </dgm:pt>
    <dgm:pt modelId="{DAEEBCF7-388A-5F40-A7E0-139359DD2DA7}" type="pres">
      <dgm:prSet presAssocID="{A00A2784-4342-5441-B7D4-62A54671E57A}" presName="bgRect" presStyleLbl="bgShp" presStyleIdx="2" presStyleCnt="5"/>
      <dgm:spPr/>
    </dgm:pt>
    <dgm:pt modelId="{1B5E8888-1936-D746-B796-789C28DEAE10}" type="pres">
      <dgm:prSet presAssocID="{A00A2784-4342-5441-B7D4-62A54671E57A}"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Downstairs with solid fill"/>
        </a:ext>
      </dgm:extLst>
    </dgm:pt>
    <dgm:pt modelId="{77ABF8EE-9EA8-D547-9807-458679A5E44B}" type="pres">
      <dgm:prSet presAssocID="{A00A2784-4342-5441-B7D4-62A54671E57A}" presName="spaceRect" presStyleCnt="0"/>
      <dgm:spPr/>
    </dgm:pt>
    <dgm:pt modelId="{0B544495-AF6C-6345-AEC9-DAB7F70E71F2}" type="pres">
      <dgm:prSet presAssocID="{A00A2784-4342-5441-B7D4-62A54671E57A}" presName="parTx" presStyleLbl="revTx" presStyleIdx="2" presStyleCnt="5">
        <dgm:presLayoutVars>
          <dgm:chMax val="0"/>
          <dgm:chPref val="0"/>
        </dgm:presLayoutVars>
      </dgm:prSet>
      <dgm:spPr/>
    </dgm:pt>
    <dgm:pt modelId="{08498B73-FA1F-F149-83B6-5336CC2C408E}" type="pres">
      <dgm:prSet presAssocID="{563ECBE9-042A-5043-80B9-EB9CCF6026C9}" presName="sibTrans" presStyleCnt="0"/>
      <dgm:spPr/>
    </dgm:pt>
    <dgm:pt modelId="{A60CD819-8591-4D6E-B1C4-C14901D58FD4}" type="pres">
      <dgm:prSet presAssocID="{183FA050-F490-4EAA-BA2A-96EE0EA5C5C2}" presName="compNode" presStyleCnt="0"/>
      <dgm:spPr/>
    </dgm:pt>
    <dgm:pt modelId="{A1668ED7-F24B-41E9-BF4D-8CDD07B9873B}" type="pres">
      <dgm:prSet presAssocID="{183FA050-F490-4EAA-BA2A-96EE0EA5C5C2}" presName="bgRect" presStyleLbl="bgShp" presStyleIdx="3" presStyleCnt="5"/>
      <dgm:spPr/>
    </dgm:pt>
    <dgm:pt modelId="{DD655336-D303-4E55-BFCA-8893BC64571E}" type="pres">
      <dgm:prSet presAssocID="{183FA050-F490-4EAA-BA2A-96EE0EA5C5C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bulb"/>
        </a:ext>
      </dgm:extLst>
    </dgm:pt>
    <dgm:pt modelId="{E2EB7EAA-BFA2-4C22-9435-60BB67CD236C}" type="pres">
      <dgm:prSet presAssocID="{183FA050-F490-4EAA-BA2A-96EE0EA5C5C2}" presName="spaceRect" presStyleCnt="0"/>
      <dgm:spPr/>
    </dgm:pt>
    <dgm:pt modelId="{A358F0C1-54C4-4E80-BE41-E40B86FFFC82}" type="pres">
      <dgm:prSet presAssocID="{183FA050-F490-4EAA-BA2A-96EE0EA5C5C2}" presName="parTx" presStyleLbl="revTx" presStyleIdx="3" presStyleCnt="5">
        <dgm:presLayoutVars>
          <dgm:chMax val="0"/>
          <dgm:chPref val="0"/>
        </dgm:presLayoutVars>
      </dgm:prSet>
      <dgm:spPr/>
    </dgm:pt>
    <dgm:pt modelId="{91F316D2-CF95-4F8D-84E8-9C6C12B516AD}" type="pres">
      <dgm:prSet presAssocID="{68691E3E-76CE-436B-B3BF-F7BF3E650562}" presName="sibTrans" presStyleCnt="0"/>
      <dgm:spPr/>
    </dgm:pt>
    <dgm:pt modelId="{EA0E3223-BAA3-46CA-9899-AB1577BAE0E6}" type="pres">
      <dgm:prSet presAssocID="{1D91D749-F266-4AB8-9313-6455627DA75F}" presName="compNode" presStyleCnt="0"/>
      <dgm:spPr/>
    </dgm:pt>
    <dgm:pt modelId="{C3183EDF-8EDF-42E6-B560-B7960712A8D2}" type="pres">
      <dgm:prSet presAssocID="{1D91D749-F266-4AB8-9313-6455627DA75F}" presName="bgRect" presStyleLbl="bgShp" presStyleIdx="4" presStyleCnt="5"/>
      <dgm:spPr/>
    </dgm:pt>
    <dgm:pt modelId="{A0AE3A12-E614-47DE-A164-1A06516D148E}" type="pres">
      <dgm:prSet presAssocID="{1D91D749-F266-4AB8-9313-6455627DA75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roup"/>
        </a:ext>
      </dgm:extLst>
    </dgm:pt>
    <dgm:pt modelId="{81F5C774-A3E1-4089-9928-8C39850D7659}" type="pres">
      <dgm:prSet presAssocID="{1D91D749-F266-4AB8-9313-6455627DA75F}" presName="spaceRect" presStyleCnt="0"/>
      <dgm:spPr/>
    </dgm:pt>
    <dgm:pt modelId="{ADA7230B-C437-4257-B93D-0810F067F145}" type="pres">
      <dgm:prSet presAssocID="{1D91D749-F266-4AB8-9313-6455627DA75F}" presName="parTx" presStyleLbl="revTx" presStyleIdx="4" presStyleCnt="5">
        <dgm:presLayoutVars>
          <dgm:chMax val="0"/>
          <dgm:chPref val="0"/>
        </dgm:presLayoutVars>
      </dgm:prSet>
      <dgm:spPr/>
    </dgm:pt>
  </dgm:ptLst>
  <dgm:cxnLst>
    <dgm:cxn modelId="{6972FF23-8A48-D64B-8CDB-501A74C84CF2}" srcId="{234DD3C0-4AB3-4DD6-8127-EC102C94B8C6}" destId="{A00A2784-4342-5441-B7D4-62A54671E57A}" srcOrd="2" destOrd="0" parTransId="{84D99B7B-C49B-A542-BBB0-5E1E1475237B}" sibTransId="{563ECBE9-042A-5043-80B9-EB9CCF6026C9}"/>
    <dgm:cxn modelId="{F6D20A34-9FC8-49F2-AE56-C858E6C4F49D}" type="presOf" srcId="{24E3874E-AA74-44B4-B113-11BFC59E91BE}" destId="{9316B83B-88E3-47DA-9FE5-7B5A9D80B8CA}" srcOrd="0" destOrd="0" presId="urn:microsoft.com/office/officeart/2018/2/layout/IconVerticalSolidList"/>
    <dgm:cxn modelId="{5148B353-308D-4636-ADDE-8E68D456372A}" srcId="{234DD3C0-4AB3-4DD6-8127-EC102C94B8C6}" destId="{183FA050-F490-4EAA-BA2A-96EE0EA5C5C2}" srcOrd="3" destOrd="0" parTransId="{CE36FB62-1651-480F-8F55-A22AB9E114D6}" sibTransId="{68691E3E-76CE-436B-B3BF-F7BF3E650562}"/>
    <dgm:cxn modelId="{28B15160-2F53-1D4D-BDB9-9114E3198125}" type="presOf" srcId="{A00A2784-4342-5441-B7D4-62A54671E57A}" destId="{0B544495-AF6C-6345-AEC9-DAB7F70E71F2}" srcOrd="0" destOrd="0" presId="urn:microsoft.com/office/officeart/2018/2/layout/IconVerticalSolidList"/>
    <dgm:cxn modelId="{6D981172-F7AE-40FC-9C23-887DDEB008C0}" type="presOf" srcId="{234DD3C0-4AB3-4DD6-8127-EC102C94B8C6}" destId="{D683A2AF-5F96-4465-8BFD-8ED5EDD3B360}" srcOrd="0" destOrd="0" presId="urn:microsoft.com/office/officeart/2018/2/layout/IconVerticalSolidList"/>
    <dgm:cxn modelId="{306435AA-C92F-4687-9BDE-9B48BB1FB4A5}" srcId="{234DD3C0-4AB3-4DD6-8127-EC102C94B8C6}" destId="{24E3874E-AA74-44B4-B113-11BFC59E91BE}" srcOrd="0" destOrd="0" parTransId="{C013F278-3678-4EE7-83C4-A1E1935EDFCE}" sibTransId="{EC7FFC20-1EB8-4BC7-9DD8-8394088D1323}"/>
    <dgm:cxn modelId="{FE5B71BD-1192-4534-B550-F8F828A9E4EB}" srcId="{234DD3C0-4AB3-4DD6-8127-EC102C94B8C6}" destId="{D084FB66-1258-432B-86AE-FF07B5120E03}" srcOrd="1" destOrd="0" parTransId="{D5104FAC-DB3B-4C0B-A565-EAD080D2EBE5}" sibTransId="{E8D3B430-B4C4-4292-8643-8B2C6758E95C}"/>
    <dgm:cxn modelId="{A97F0CCF-0FC9-476D-AACC-C0610A2CD192}" type="presOf" srcId="{1D91D749-F266-4AB8-9313-6455627DA75F}" destId="{ADA7230B-C437-4257-B93D-0810F067F145}" srcOrd="0" destOrd="0" presId="urn:microsoft.com/office/officeart/2018/2/layout/IconVerticalSolidList"/>
    <dgm:cxn modelId="{615E32D2-2DFA-4A00-AABF-9822FA51137F}" srcId="{234DD3C0-4AB3-4DD6-8127-EC102C94B8C6}" destId="{1D91D749-F266-4AB8-9313-6455627DA75F}" srcOrd="4" destOrd="0" parTransId="{58249B68-1DC5-4A72-A405-927276C4496D}" sibTransId="{351B4078-D46D-457D-BCC6-256ABFCCAD90}"/>
    <dgm:cxn modelId="{B68302FA-44B5-4821-ABE0-F0382AEB05CF}" type="presOf" srcId="{D084FB66-1258-432B-86AE-FF07B5120E03}" destId="{6CDF2C57-092B-4242-BFA3-71830FDD8B5E}" srcOrd="0" destOrd="0" presId="urn:microsoft.com/office/officeart/2018/2/layout/IconVerticalSolidList"/>
    <dgm:cxn modelId="{DAF8C4FF-769B-4C67-8CB0-0438DB4213B1}" type="presOf" srcId="{183FA050-F490-4EAA-BA2A-96EE0EA5C5C2}" destId="{A358F0C1-54C4-4E80-BE41-E40B86FFFC82}" srcOrd="0" destOrd="0" presId="urn:microsoft.com/office/officeart/2018/2/layout/IconVerticalSolidList"/>
    <dgm:cxn modelId="{611A0E84-A35C-406C-A9DD-E0ACD933EF24}" type="presParOf" srcId="{D683A2AF-5F96-4465-8BFD-8ED5EDD3B360}" destId="{3D991FC5-A943-408A-8E50-E111F137F6F9}" srcOrd="0" destOrd="0" presId="urn:microsoft.com/office/officeart/2018/2/layout/IconVerticalSolidList"/>
    <dgm:cxn modelId="{9CC8BCCC-D8B6-44D4-A1D0-3BFE9AC0E2A0}" type="presParOf" srcId="{3D991FC5-A943-408A-8E50-E111F137F6F9}" destId="{3CE0E8F9-2F9A-4720-8955-82C5A5C35004}" srcOrd="0" destOrd="0" presId="urn:microsoft.com/office/officeart/2018/2/layout/IconVerticalSolidList"/>
    <dgm:cxn modelId="{84708088-A98D-48E1-8431-3390C992C63A}" type="presParOf" srcId="{3D991FC5-A943-408A-8E50-E111F137F6F9}" destId="{6F4118A6-BE61-47FB-9AB7-41CC6093B731}" srcOrd="1" destOrd="0" presId="urn:microsoft.com/office/officeart/2018/2/layout/IconVerticalSolidList"/>
    <dgm:cxn modelId="{C39CECCF-E525-47D0-8164-F118F9E71333}" type="presParOf" srcId="{3D991FC5-A943-408A-8E50-E111F137F6F9}" destId="{FC115B83-F135-4649-9E57-94B643E12940}" srcOrd="2" destOrd="0" presId="urn:microsoft.com/office/officeart/2018/2/layout/IconVerticalSolidList"/>
    <dgm:cxn modelId="{6D5E1C52-C3C5-439B-B4D7-A48591D2E7E8}" type="presParOf" srcId="{3D991FC5-A943-408A-8E50-E111F137F6F9}" destId="{9316B83B-88E3-47DA-9FE5-7B5A9D80B8CA}" srcOrd="3" destOrd="0" presId="urn:microsoft.com/office/officeart/2018/2/layout/IconVerticalSolidList"/>
    <dgm:cxn modelId="{EF6653F0-151E-4AE3-89ED-4E33B3B1F053}" type="presParOf" srcId="{D683A2AF-5F96-4465-8BFD-8ED5EDD3B360}" destId="{CA2D0DF4-A330-4411-870C-22EEA93484A6}" srcOrd="1" destOrd="0" presId="urn:microsoft.com/office/officeart/2018/2/layout/IconVerticalSolidList"/>
    <dgm:cxn modelId="{EA148F5E-A37D-444E-BD9A-E8045220813A}" type="presParOf" srcId="{D683A2AF-5F96-4465-8BFD-8ED5EDD3B360}" destId="{1AA2478E-2374-4D00-A6B5-14B56565A409}" srcOrd="2" destOrd="0" presId="urn:microsoft.com/office/officeart/2018/2/layout/IconVerticalSolidList"/>
    <dgm:cxn modelId="{91544944-FE28-41CC-B6AD-3E550020D6B0}" type="presParOf" srcId="{1AA2478E-2374-4D00-A6B5-14B56565A409}" destId="{F5E65235-80DC-4C88-A8F6-F01493474E29}" srcOrd="0" destOrd="0" presId="urn:microsoft.com/office/officeart/2018/2/layout/IconVerticalSolidList"/>
    <dgm:cxn modelId="{EBFB45EF-A045-4023-96DB-35B4A09FC577}" type="presParOf" srcId="{1AA2478E-2374-4D00-A6B5-14B56565A409}" destId="{709B5513-E845-4D9D-AE46-21F3C37C461A}" srcOrd="1" destOrd="0" presId="urn:microsoft.com/office/officeart/2018/2/layout/IconVerticalSolidList"/>
    <dgm:cxn modelId="{07197BB0-F03B-454C-A7AA-AB2F900AA4C3}" type="presParOf" srcId="{1AA2478E-2374-4D00-A6B5-14B56565A409}" destId="{7D5FADC9-8264-4E1A-86F2-075993E42D94}" srcOrd="2" destOrd="0" presId="urn:microsoft.com/office/officeart/2018/2/layout/IconVerticalSolidList"/>
    <dgm:cxn modelId="{5ED16987-E3C2-4ABA-9287-0B9530D98F94}" type="presParOf" srcId="{1AA2478E-2374-4D00-A6B5-14B56565A409}" destId="{6CDF2C57-092B-4242-BFA3-71830FDD8B5E}" srcOrd="3" destOrd="0" presId="urn:microsoft.com/office/officeart/2018/2/layout/IconVerticalSolidList"/>
    <dgm:cxn modelId="{BB2B2FB8-E12E-411F-8ACD-A08D44CE08A7}" type="presParOf" srcId="{D683A2AF-5F96-4465-8BFD-8ED5EDD3B360}" destId="{E563B3C9-58D9-43DB-A849-F12A7EF3EAAE}" srcOrd="3" destOrd="0" presId="urn:microsoft.com/office/officeart/2018/2/layout/IconVerticalSolidList"/>
    <dgm:cxn modelId="{FFD2C617-9E6D-3D45-99BD-A078F52E0F8D}" type="presParOf" srcId="{D683A2AF-5F96-4465-8BFD-8ED5EDD3B360}" destId="{F09D4ED4-883D-4147-9E08-065347622786}" srcOrd="4" destOrd="0" presId="urn:microsoft.com/office/officeart/2018/2/layout/IconVerticalSolidList"/>
    <dgm:cxn modelId="{AC7CCFC1-0DCA-5B45-BF65-DE753EE2EA15}" type="presParOf" srcId="{F09D4ED4-883D-4147-9E08-065347622786}" destId="{DAEEBCF7-388A-5F40-A7E0-139359DD2DA7}" srcOrd="0" destOrd="0" presId="urn:microsoft.com/office/officeart/2018/2/layout/IconVerticalSolidList"/>
    <dgm:cxn modelId="{18264305-8E6E-B640-A472-20FC25D06430}" type="presParOf" srcId="{F09D4ED4-883D-4147-9E08-065347622786}" destId="{1B5E8888-1936-D746-B796-789C28DEAE10}" srcOrd="1" destOrd="0" presId="urn:microsoft.com/office/officeart/2018/2/layout/IconVerticalSolidList"/>
    <dgm:cxn modelId="{519059AE-1D7A-E443-BDE5-15E089F0975D}" type="presParOf" srcId="{F09D4ED4-883D-4147-9E08-065347622786}" destId="{77ABF8EE-9EA8-D547-9807-458679A5E44B}" srcOrd="2" destOrd="0" presId="urn:microsoft.com/office/officeart/2018/2/layout/IconVerticalSolidList"/>
    <dgm:cxn modelId="{74310C64-73BD-F149-93D4-7AB7A73E21CF}" type="presParOf" srcId="{F09D4ED4-883D-4147-9E08-065347622786}" destId="{0B544495-AF6C-6345-AEC9-DAB7F70E71F2}" srcOrd="3" destOrd="0" presId="urn:microsoft.com/office/officeart/2018/2/layout/IconVerticalSolidList"/>
    <dgm:cxn modelId="{9DC249BB-AFDB-5A4F-BBE8-FFAF07E64DF5}" type="presParOf" srcId="{D683A2AF-5F96-4465-8BFD-8ED5EDD3B360}" destId="{08498B73-FA1F-F149-83B6-5336CC2C408E}" srcOrd="5" destOrd="0" presId="urn:microsoft.com/office/officeart/2018/2/layout/IconVerticalSolidList"/>
    <dgm:cxn modelId="{EAF8C82B-DDD0-4BFC-881F-2BF822027D9F}" type="presParOf" srcId="{D683A2AF-5F96-4465-8BFD-8ED5EDD3B360}" destId="{A60CD819-8591-4D6E-B1C4-C14901D58FD4}" srcOrd="6" destOrd="0" presId="urn:microsoft.com/office/officeart/2018/2/layout/IconVerticalSolidList"/>
    <dgm:cxn modelId="{A9B31700-C474-41EC-A1BA-CAA1D1046244}" type="presParOf" srcId="{A60CD819-8591-4D6E-B1C4-C14901D58FD4}" destId="{A1668ED7-F24B-41E9-BF4D-8CDD07B9873B}" srcOrd="0" destOrd="0" presId="urn:microsoft.com/office/officeart/2018/2/layout/IconVerticalSolidList"/>
    <dgm:cxn modelId="{CAF69FC2-DDFA-457F-BB02-D996FED0D2EB}" type="presParOf" srcId="{A60CD819-8591-4D6E-B1C4-C14901D58FD4}" destId="{DD655336-D303-4E55-BFCA-8893BC64571E}" srcOrd="1" destOrd="0" presId="urn:microsoft.com/office/officeart/2018/2/layout/IconVerticalSolidList"/>
    <dgm:cxn modelId="{9769288F-F36F-49AC-9B76-1B0F6642D656}" type="presParOf" srcId="{A60CD819-8591-4D6E-B1C4-C14901D58FD4}" destId="{E2EB7EAA-BFA2-4C22-9435-60BB67CD236C}" srcOrd="2" destOrd="0" presId="urn:microsoft.com/office/officeart/2018/2/layout/IconVerticalSolidList"/>
    <dgm:cxn modelId="{87410BC8-D118-4137-9BED-F87211449893}" type="presParOf" srcId="{A60CD819-8591-4D6E-B1C4-C14901D58FD4}" destId="{A358F0C1-54C4-4E80-BE41-E40B86FFFC82}" srcOrd="3" destOrd="0" presId="urn:microsoft.com/office/officeart/2018/2/layout/IconVerticalSolidList"/>
    <dgm:cxn modelId="{75CBFD3C-ED5F-4D2A-B18D-E4B1C09D82C7}" type="presParOf" srcId="{D683A2AF-5F96-4465-8BFD-8ED5EDD3B360}" destId="{91F316D2-CF95-4F8D-84E8-9C6C12B516AD}" srcOrd="7" destOrd="0" presId="urn:microsoft.com/office/officeart/2018/2/layout/IconVerticalSolidList"/>
    <dgm:cxn modelId="{2A1650F3-A1B7-4983-8983-EF34EFD7987E}" type="presParOf" srcId="{D683A2AF-5F96-4465-8BFD-8ED5EDD3B360}" destId="{EA0E3223-BAA3-46CA-9899-AB1577BAE0E6}" srcOrd="8" destOrd="0" presId="urn:microsoft.com/office/officeart/2018/2/layout/IconVerticalSolidList"/>
    <dgm:cxn modelId="{7F61897E-10B3-4EAB-9E94-E1C8B8C5B93A}" type="presParOf" srcId="{EA0E3223-BAA3-46CA-9899-AB1577BAE0E6}" destId="{C3183EDF-8EDF-42E6-B560-B7960712A8D2}" srcOrd="0" destOrd="0" presId="urn:microsoft.com/office/officeart/2018/2/layout/IconVerticalSolidList"/>
    <dgm:cxn modelId="{3BF2D370-106D-4A57-8C5C-EA9605118E07}" type="presParOf" srcId="{EA0E3223-BAA3-46CA-9899-AB1577BAE0E6}" destId="{A0AE3A12-E614-47DE-A164-1A06516D148E}" srcOrd="1" destOrd="0" presId="urn:microsoft.com/office/officeart/2018/2/layout/IconVerticalSolidList"/>
    <dgm:cxn modelId="{18DE0A87-D3F9-4A5A-BBFE-7FD2107E24E5}" type="presParOf" srcId="{EA0E3223-BAA3-46CA-9899-AB1577BAE0E6}" destId="{81F5C774-A3E1-4089-9928-8C39850D7659}" srcOrd="2" destOrd="0" presId="urn:microsoft.com/office/officeart/2018/2/layout/IconVerticalSolidList"/>
    <dgm:cxn modelId="{40514DF6-9F1E-47F8-AABC-8D2E3C5647FB}" type="presParOf" srcId="{EA0E3223-BAA3-46CA-9899-AB1577BAE0E6}" destId="{ADA7230B-C437-4257-B93D-0810F067F145}"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E04941-8D2A-4E04-90F0-EAEEFDBEF16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8349EED-BAD5-49B9-998D-77CF3982FBDF}">
      <dgm:prSet/>
      <dgm:spPr/>
      <dgm:t>
        <a:bodyPr/>
        <a:lstStyle/>
        <a:p>
          <a:r>
            <a:rPr lang="en-US" b="0" i="0"/>
            <a:t>Effective Communication </a:t>
          </a:r>
          <a:endParaRPr lang="en-US"/>
        </a:p>
      </dgm:t>
    </dgm:pt>
    <dgm:pt modelId="{169688EF-5B3E-4109-A2F0-A95470D34C84}" type="parTrans" cxnId="{0EA1C1E6-BDF4-412B-BEAD-D9428E63D20C}">
      <dgm:prSet/>
      <dgm:spPr/>
      <dgm:t>
        <a:bodyPr/>
        <a:lstStyle/>
        <a:p>
          <a:endParaRPr lang="en-US"/>
        </a:p>
      </dgm:t>
    </dgm:pt>
    <dgm:pt modelId="{E0CFFAB9-E283-47A8-B451-409428D065B7}" type="sibTrans" cxnId="{0EA1C1E6-BDF4-412B-BEAD-D9428E63D20C}">
      <dgm:prSet/>
      <dgm:spPr/>
      <dgm:t>
        <a:bodyPr/>
        <a:lstStyle/>
        <a:p>
          <a:endParaRPr lang="en-US"/>
        </a:p>
      </dgm:t>
    </dgm:pt>
    <dgm:pt modelId="{59E4E42E-003F-45FF-89CD-D64388698CC8}">
      <dgm:prSet/>
      <dgm:spPr/>
      <dgm:t>
        <a:bodyPr/>
        <a:lstStyle/>
        <a:p>
          <a:r>
            <a:rPr lang="en-US" b="0" i="0"/>
            <a:t>Balancing expertise and user input </a:t>
          </a:r>
          <a:endParaRPr lang="en-US"/>
        </a:p>
      </dgm:t>
    </dgm:pt>
    <dgm:pt modelId="{57B0C64B-9606-4BC0-B06D-B6DA435C963F}" type="parTrans" cxnId="{9CACD0A9-8E66-4C70-B848-96D82FDC7B26}">
      <dgm:prSet/>
      <dgm:spPr/>
      <dgm:t>
        <a:bodyPr/>
        <a:lstStyle/>
        <a:p>
          <a:endParaRPr lang="en-US"/>
        </a:p>
      </dgm:t>
    </dgm:pt>
    <dgm:pt modelId="{5ECBDA8B-A211-4430-A632-8182ACFA65B2}" type="sibTrans" cxnId="{9CACD0A9-8E66-4C70-B848-96D82FDC7B26}">
      <dgm:prSet/>
      <dgm:spPr/>
      <dgm:t>
        <a:bodyPr/>
        <a:lstStyle/>
        <a:p>
          <a:endParaRPr lang="en-US"/>
        </a:p>
      </dgm:t>
    </dgm:pt>
    <dgm:pt modelId="{9A07CBCA-A323-4989-953E-516277D718A0}">
      <dgm:prSet/>
      <dgm:spPr/>
      <dgm:t>
        <a:bodyPr/>
        <a:lstStyle/>
        <a:p>
          <a:r>
            <a:rPr lang="en-US" b="0" i="0"/>
            <a:t>Representation</a:t>
          </a:r>
          <a:endParaRPr lang="en-US"/>
        </a:p>
      </dgm:t>
    </dgm:pt>
    <dgm:pt modelId="{EECA5234-E47F-42B3-806E-808B767A9221}" type="parTrans" cxnId="{FB810807-3C3D-4272-872D-4646B49997AA}">
      <dgm:prSet/>
      <dgm:spPr/>
      <dgm:t>
        <a:bodyPr/>
        <a:lstStyle/>
        <a:p>
          <a:endParaRPr lang="en-US"/>
        </a:p>
      </dgm:t>
    </dgm:pt>
    <dgm:pt modelId="{4562A64B-BF30-4737-AB0F-914338D5E34E}" type="sibTrans" cxnId="{FB810807-3C3D-4272-872D-4646B49997AA}">
      <dgm:prSet/>
      <dgm:spPr/>
      <dgm:t>
        <a:bodyPr/>
        <a:lstStyle/>
        <a:p>
          <a:endParaRPr lang="en-US"/>
        </a:p>
      </dgm:t>
    </dgm:pt>
    <dgm:pt modelId="{CBA7CF6E-6197-468A-B51E-15B42A4B3216}">
      <dgm:prSet/>
      <dgm:spPr/>
      <dgm:t>
        <a:bodyPr/>
        <a:lstStyle/>
        <a:p>
          <a:r>
            <a:rPr lang="en-US" b="0" i="0"/>
            <a:t>Time and resources</a:t>
          </a:r>
          <a:endParaRPr lang="en-US"/>
        </a:p>
      </dgm:t>
    </dgm:pt>
    <dgm:pt modelId="{09435F9A-FDAF-4F6F-A53B-503078370138}" type="parTrans" cxnId="{90C50134-5AE2-482B-BB7F-11741F7ABCFE}">
      <dgm:prSet/>
      <dgm:spPr/>
      <dgm:t>
        <a:bodyPr/>
        <a:lstStyle/>
        <a:p>
          <a:endParaRPr lang="en-US"/>
        </a:p>
      </dgm:t>
    </dgm:pt>
    <dgm:pt modelId="{26786389-C9B5-445C-9011-4575521F086F}" type="sibTrans" cxnId="{90C50134-5AE2-482B-BB7F-11741F7ABCFE}">
      <dgm:prSet/>
      <dgm:spPr/>
      <dgm:t>
        <a:bodyPr/>
        <a:lstStyle/>
        <a:p>
          <a:endParaRPr lang="en-US"/>
        </a:p>
      </dgm:t>
    </dgm:pt>
    <dgm:pt modelId="{AC558811-B901-41D3-919A-ABA2F5D1C95E}" type="pres">
      <dgm:prSet presAssocID="{77E04941-8D2A-4E04-90F0-EAEEFDBEF16B}" presName="root" presStyleCnt="0">
        <dgm:presLayoutVars>
          <dgm:dir/>
          <dgm:resizeHandles val="exact"/>
        </dgm:presLayoutVars>
      </dgm:prSet>
      <dgm:spPr/>
    </dgm:pt>
    <dgm:pt modelId="{38AD64E3-D0D9-46AB-9B16-FD653572CCDF}" type="pres">
      <dgm:prSet presAssocID="{B8349EED-BAD5-49B9-998D-77CF3982FBDF}" presName="compNode" presStyleCnt="0"/>
      <dgm:spPr/>
    </dgm:pt>
    <dgm:pt modelId="{28324548-F86F-4BAA-8A34-A984B06E3FDF}" type="pres">
      <dgm:prSet presAssocID="{B8349EED-BAD5-49B9-998D-77CF3982FBDF}" presName="bgRect" presStyleLbl="bgShp" presStyleIdx="0" presStyleCnt="4"/>
      <dgm:spPr/>
    </dgm:pt>
    <dgm:pt modelId="{9D582D48-6F82-4FE1-B7F2-79CE31496C31}" type="pres">
      <dgm:prSet presAssocID="{B8349EED-BAD5-49B9-998D-77CF3982FBD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0554C4E0-A768-488E-BA5A-8A0C4720A779}" type="pres">
      <dgm:prSet presAssocID="{B8349EED-BAD5-49B9-998D-77CF3982FBDF}" presName="spaceRect" presStyleCnt="0"/>
      <dgm:spPr/>
    </dgm:pt>
    <dgm:pt modelId="{028B4BF2-789B-4C25-8A5A-0FB1F8C2BE12}" type="pres">
      <dgm:prSet presAssocID="{B8349EED-BAD5-49B9-998D-77CF3982FBDF}" presName="parTx" presStyleLbl="revTx" presStyleIdx="0" presStyleCnt="4">
        <dgm:presLayoutVars>
          <dgm:chMax val="0"/>
          <dgm:chPref val="0"/>
        </dgm:presLayoutVars>
      </dgm:prSet>
      <dgm:spPr/>
    </dgm:pt>
    <dgm:pt modelId="{78E8A541-C727-4483-A79F-62106A4D78C0}" type="pres">
      <dgm:prSet presAssocID="{E0CFFAB9-E283-47A8-B451-409428D065B7}" presName="sibTrans" presStyleCnt="0"/>
      <dgm:spPr/>
    </dgm:pt>
    <dgm:pt modelId="{F8581329-5476-4D00-8D37-F9410F7AB013}" type="pres">
      <dgm:prSet presAssocID="{59E4E42E-003F-45FF-89CD-D64388698CC8}" presName="compNode" presStyleCnt="0"/>
      <dgm:spPr/>
    </dgm:pt>
    <dgm:pt modelId="{087E221B-6C58-4FC2-A3E0-17DD298DE696}" type="pres">
      <dgm:prSet presAssocID="{59E4E42E-003F-45FF-89CD-D64388698CC8}" presName="bgRect" presStyleLbl="bgShp" presStyleIdx="1" presStyleCnt="4"/>
      <dgm:spPr/>
    </dgm:pt>
    <dgm:pt modelId="{9F277140-F75C-4917-8A75-0E0C24F3C763}" type="pres">
      <dgm:prSet presAssocID="{59E4E42E-003F-45FF-89CD-D64388698CC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85828837-01B9-497E-BE49-4FC42C7F230B}" type="pres">
      <dgm:prSet presAssocID="{59E4E42E-003F-45FF-89CD-D64388698CC8}" presName="spaceRect" presStyleCnt="0"/>
      <dgm:spPr/>
    </dgm:pt>
    <dgm:pt modelId="{06D8F5EA-E2F2-4040-B6D1-8CB225727450}" type="pres">
      <dgm:prSet presAssocID="{59E4E42E-003F-45FF-89CD-D64388698CC8}" presName="parTx" presStyleLbl="revTx" presStyleIdx="1" presStyleCnt="4">
        <dgm:presLayoutVars>
          <dgm:chMax val="0"/>
          <dgm:chPref val="0"/>
        </dgm:presLayoutVars>
      </dgm:prSet>
      <dgm:spPr/>
    </dgm:pt>
    <dgm:pt modelId="{C47FDE20-0C7F-48CE-B7C8-50766FD692C2}" type="pres">
      <dgm:prSet presAssocID="{5ECBDA8B-A211-4430-A632-8182ACFA65B2}" presName="sibTrans" presStyleCnt="0"/>
      <dgm:spPr/>
    </dgm:pt>
    <dgm:pt modelId="{9F9B609B-E418-4063-BA4E-68A51DA231B0}" type="pres">
      <dgm:prSet presAssocID="{9A07CBCA-A323-4989-953E-516277D718A0}" presName="compNode" presStyleCnt="0"/>
      <dgm:spPr/>
    </dgm:pt>
    <dgm:pt modelId="{315C8490-62D9-40A2-88C3-3FF32F8C4A4C}" type="pres">
      <dgm:prSet presAssocID="{9A07CBCA-A323-4989-953E-516277D718A0}" presName="bgRect" presStyleLbl="bgShp" presStyleIdx="2" presStyleCnt="4"/>
      <dgm:spPr/>
    </dgm:pt>
    <dgm:pt modelId="{A07AA474-373F-4671-8270-9CAEBB4E6CB2}" type="pres">
      <dgm:prSet presAssocID="{9A07CBCA-A323-4989-953E-516277D718A0}"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Users outline"/>
        </a:ext>
      </dgm:extLst>
    </dgm:pt>
    <dgm:pt modelId="{F94C468B-0EFB-4FB2-8456-AC0B5FB89C77}" type="pres">
      <dgm:prSet presAssocID="{9A07CBCA-A323-4989-953E-516277D718A0}" presName="spaceRect" presStyleCnt="0"/>
      <dgm:spPr/>
    </dgm:pt>
    <dgm:pt modelId="{E352AC3E-F04E-434C-B7D8-2F7DF9D414FE}" type="pres">
      <dgm:prSet presAssocID="{9A07CBCA-A323-4989-953E-516277D718A0}" presName="parTx" presStyleLbl="revTx" presStyleIdx="2" presStyleCnt="4">
        <dgm:presLayoutVars>
          <dgm:chMax val="0"/>
          <dgm:chPref val="0"/>
        </dgm:presLayoutVars>
      </dgm:prSet>
      <dgm:spPr/>
    </dgm:pt>
    <dgm:pt modelId="{0FD377D1-1C62-404C-AB1E-CDD17044104C}" type="pres">
      <dgm:prSet presAssocID="{4562A64B-BF30-4737-AB0F-914338D5E34E}" presName="sibTrans" presStyleCnt="0"/>
      <dgm:spPr/>
    </dgm:pt>
    <dgm:pt modelId="{6A1F6798-CF56-4A04-8136-3A5A4E1F10A5}" type="pres">
      <dgm:prSet presAssocID="{CBA7CF6E-6197-468A-B51E-15B42A4B3216}" presName="compNode" presStyleCnt="0"/>
      <dgm:spPr/>
    </dgm:pt>
    <dgm:pt modelId="{2653C7EF-C8B5-4C05-BA34-80B4C64ACDC1}" type="pres">
      <dgm:prSet presAssocID="{CBA7CF6E-6197-468A-B51E-15B42A4B3216}" presName="bgRect" presStyleLbl="bgShp" presStyleIdx="3" presStyleCnt="4"/>
      <dgm:spPr/>
    </dgm:pt>
    <dgm:pt modelId="{7B3C77E8-C44E-43D5-A5B3-71E34BE1BB0C}" type="pres">
      <dgm:prSet presAssocID="{CBA7CF6E-6197-468A-B51E-15B42A4B321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watch"/>
        </a:ext>
      </dgm:extLst>
    </dgm:pt>
    <dgm:pt modelId="{F6257210-9AD3-4C08-91B8-E6D84EDC4F2D}" type="pres">
      <dgm:prSet presAssocID="{CBA7CF6E-6197-468A-B51E-15B42A4B3216}" presName="spaceRect" presStyleCnt="0"/>
      <dgm:spPr/>
    </dgm:pt>
    <dgm:pt modelId="{5F8598FC-52DB-40BD-9CD8-43DF95C539A7}" type="pres">
      <dgm:prSet presAssocID="{CBA7CF6E-6197-468A-B51E-15B42A4B3216}" presName="parTx" presStyleLbl="revTx" presStyleIdx="3" presStyleCnt="4">
        <dgm:presLayoutVars>
          <dgm:chMax val="0"/>
          <dgm:chPref val="0"/>
        </dgm:presLayoutVars>
      </dgm:prSet>
      <dgm:spPr/>
    </dgm:pt>
  </dgm:ptLst>
  <dgm:cxnLst>
    <dgm:cxn modelId="{FB810807-3C3D-4272-872D-4646B49997AA}" srcId="{77E04941-8D2A-4E04-90F0-EAEEFDBEF16B}" destId="{9A07CBCA-A323-4989-953E-516277D718A0}" srcOrd="2" destOrd="0" parTransId="{EECA5234-E47F-42B3-806E-808B767A9221}" sibTransId="{4562A64B-BF30-4737-AB0F-914338D5E34E}"/>
    <dgm:cxn modelId="{A91B4410-877C-4059-95FB-4BAC6273011E}" type="presOf" srcId="{77E04941-8D2A-4E04-90F0-EAEEFDBEF16B}" destId="{AC558811-B901-41D3-919A-ABA2F5D1C95E}" srcOrd="0" destOrd="0" presId="urn:microsoft.com/office/officeart/2018/2/layout/IconVerticalSolidList"/>
    <dgm:cxn modelId="{90C50134-5AE2-482B-BB7F-11741F7ABCFE}" srcId="{77E04941-8D2A-4E04-90F0-EAEEFDBEF16B}" destId="{CBA7CF6E-6197-468A-B51E-15B42A4B3216}" srcOrd="3" destOrd="0" parTransId="{09435F9A-FDAF-4F6F-A53B-503078370138}" sibTransId="{26786389-C9B5-445C-9011-4575521F086F}"/>
    <dgm:cxn modelId="{743FFF53-49F4-41D9-A1E4-8FE8CD6D3300}" type="presOf" srcId="{59E4E42E-003F-45FF-89CD-D64388698CC8}" destId="{06D8F5EA-E2F2-4040-B6D1-8CB225727450}" srcOrd="0" destOrd="0" presId="urn:microsoft.com/office/officeart/2018/2/layout/IconVerticalSolidList"/>
    <dgm:cxn modelId="{744B516F-6A2D-4D16-B4E5-31FE04C7B92C}" type="presOf" srcId="{CBA7CF6E-6197-468A-B51E-15B42A4B3216}" destId="{5F8598FC-52DB-40BD-9CD8-43DF95C539A7}" srcOrd="0" destOrd="0" presId="urn:microsoft.com/office/officeart/2018/2/layout/IconVerticalSolidList"/>
    <dgm:cxn modelId="{3E658688-A024-4A08-A0BC-1C0F62CE7B12}" type="presOf" srcId="{B8349EED-BAD5-49B9-998D-77CF3982FBDF}" destId="{028B4BF2-789B-4C25-8A5A-0FB1F8C2BE12}" srcOrd="0" destOrd="0" presId="urn:microsoft.com/office/officeart/2018/2/layout/IconVerticalSolidList"/>
    <dgm:cxn modelId="{FA698F8B-5F51-4175-8D6C-7D30D7F5CCCF}" type="presOf" srcId="{9A07CBCA-A323-4989-953E-516277D718A0}" destId="{E352AC3E-F04E-434C-B7D8-2F7DF9D414FE}" srcOrd="0" destOrd="0" presId="urn:microsoft.com/office/officeart/2018/2/layout/IconVerticalSolidList"/>
    <dgm:cxn modelId="{9CACD0A9-8E66-4C70-B848-96D82FDC7B26}" srcId="{77E04941-8D2A-4E04-90F0-EAEEFDBEF16B}" destId="{59E4E42E-003F-45FF-89CD-D64388698CC8}" srcOrd="1" destOrd="0" parTransId="{57B0C64B-9606-4BC0-B06D-B6DA435C963F}" sibTransId="{5ECBDA8B-A211-4430-A632-8182ACFA65B2}"/>
    <dgm:cxn modelId="{0EA1C1E6-BDF4-412B-BEAD-D9428E63D20C}" srcId="{77E04941-8D2A-4E04-90F0-EAEEFDBEF16B}" destId="{B8349EED-BAD5-49B9-998D-77CF3982FBDF}" srcOrd="0" destOrd="0" parTransId="{169688EF-5B3E-4109-A2F0-A95470D34C84}" sibTransId="{E0CFFAB9-E283-47A8-B451-409428D065B7}"/>
    <dgm:cxn modelId="{482C7C7E-8F5A-4D3E-B7BD-06A40F813E04}" type="presParOf" srcId="{AC558811-B901-41D3-919A-ABA2F5D1C95E}" destId="{38AD64E3-D0D9-46AB-9B16-FD653572CCDF}" srcOrd="0" destOrd="0" presId="urn:microsoft.com/office/officeart/2018/2/layout/IconVerticalSolidList"/>
    <dgm:cxn modelId="{311D6DAC-DBC6-442C-8D49-1ECCD9DF8A23}" type="presParOf" srcId="{38AD64E3-D0D9-46AB-9B16-FD653572CCDF}" destId="{28324548-F86F-4BAA-8A34-A984B06E3FDF}" srcOrd="0" destOrd="0" presId="urn:microsoft.com/office/officeart/2018/2/layout/IconVerticalSolidList"/>
    <dgm:cxn modelId="{F998B90C-B4D9-4684-8E5F-AECE24F8623C}" type="presParOf" srcId="{38AD64E3-D0D9-46AB-9B16-FD653572CCDF}" destId="{9D582D48-6F82-4FE1-B7F2-79CE31496C31}" srcOrd="1" destOrd="0" presId="urn:microsoft.com/office/officeart/2018/2/layout/IconVerticalSolidList"/>
    <dgm:cxn modelId="{B3129F83-B00A-4C8D-8FC4-CB2FC2DA0E26}" type="presParOf" srcId="{38AD64E3-D0D9-46AB-9B16-FD653572CCDF}" destId="{0554C4E0-A768-488E-BA5A-8A0C4720A779}" srcOrd="2" destOrd="0" presId="urn:microsoft.com/office/officeart/2018/2/layout/IconVerticalSolidList"/>
    <dgm:cxn modelId="{B8881107-8FD0-4878-BE10-1AC1F68AC338}" type="presParOf" srcId="{38AD64E3-D0D9-46AB-9B16-FD653572CCDF}" destId="{028B4BF2-789B-4C25-8A5A-0FB1F8C2BE12}" srcOrd="3" destOrd="0" presId="urn:microsoft.com/office/officeart/2018/2/layout/IconVerticalSolidList"/>
    <dgm:cxn modelId="{7D4E098F-19D4-4391-AB08-08CEFA927EEB}" type="presParOf" srcId="{AC558811-B901-41D3-919A-ABA2F5D1C95E}" destId="{78E8A541-C727-4483-A79F-62106A4D78C0}" srcOrd="1" destOrd="0" presId="urn:microsoft.com/office/officeart/2018/2/layout/IconVerticalSolidList"/>
    <dgm:cxn modelId="{A9B03A52-8B88-4E71-B207-E81B2F827824}" type="presParOf" srcId="{AC558811-B901-41D3-919A-ABA2F5D1C95E}" destId="{F8581329-5476-4D00-8D37-F9410F7AB013}" srcOrd="2" destOrd="0" presId="urn:microsoft.com/office/officeart/2018/2/layout/IconVerticalSolidList"/>
    <dgm:cxn modelId="{6B0ABB44-B505-4A5C-8BBA-E545CA12243E}" type="presParOf" srcId="{F8581329-5476-4D00-8D37-F9410F7AB013}" destId="{087E221B-6C58-4FC2-A3E0-17DD298DE696}" srcOrd="0" destOrd="0" presId="urn:microsoft.com/office/officeart/2018/2/layout/IconVerticalSolidList"/>
    <dgm:cxn modelId="{9F811181-6E38-479B-A781-D944C00C7F55}" type="presParOf" srcId="{F8581329-5476-4D00-8D37-F9410F7AB013}" destId="{9F277140-F75C-4917-8A75-0E0C24F3C763}" srcOrd="1" destOrd="0" presId="urn:microsoft.com/office/officeart/2018/2/layout/IconVerticalSolidList"/>
    <dgm:cxn modelId="{4B83F00C-18CB-4FF6-ABD6-32F649320316}" type="presParOf" srcId="{F8581329-5476-4D00-8D37-F9410F7AB013}" destId="{85828837-01B9-497E-BE49-4FC42C7F230B}" srcOrd="2" destOrd="0" presId="urn:microsoft.com/office/officeart/2018/2/layout/IconVerticalSolidList"/>
    <dgm:cxn modelId="{E32CBE64-E965-420D-BE96-CEDF285705DA}" type="presParOf" srcId="{F8581329-5476-4D00-8D37-F9410F7AB013}" destId="{06D8F5EA-E2F2-4040-B6D1-8CB225727450}" srcOrd="3" destOrd="0" presId="urn:microsoft.com/office/officeart/2018/2/layout/IconVerticalSolidList"/>
    <dgm:cxn modelId="{F92274D3-A798-49AD-A423-494981D7FFCB}" type="presParOf" srcId="{AC558811-B901-41D3-919A-ABA2F5D1C95E}" destId="{C47FDE20-0C7F-48CE-B7C8-50766FD692C2}" srcOrd="3" destOrd="0" presId="urn:microsoft.com/office/officeart/2018/2/layout/IconVerticalSolidList"/>
    <dgm:cxn modelId="{9706BA98-672A-4296-B187-4F8DC7F46FDD}" type="presParOf" srcId="{AC558811-B901-41D3-919A-ABA2F5D1C95E}" destId="{9F9B609B-E418-4063-BA4E-68A51DA231B0}" srcOrd="4" destOrd="0" presId="urn:microsoft.com/office/officeart/2018/2/layout/IconVerticalSolidList"/>
    <dgm:cxn modelId="{FE2C0419-EEE4-4962-ADDE-990A0F6640DE}" type="presParOf" srcId="{9F9B609B-E418-4063-BA4E-68A51DA231B0}" destId="{315C8490-62D9-40A2-88C3-3FF32F8C4A4C}" srcOrd="0" destOrd="0" presId="urn:microsoft.com/office/officeart/2018/2/layout/IconVerticalSolidList"/>
    <dgm:cxn modelId="{B754D9C8-C136-4C81-A763-4B6C86C3E313}" type="presParOf" srcId="{9F9B609B-E418-4063-BA4E-68A51DA231B0}" destId="{A07AA474-373F-4671-8270-9CAEBB4E6CB2}" srcOrd="1" destOrd="0" presId="urn:microsoft.com/office/officeart/2018/2/layout/IconVerticalSolidList"/>
    <dgm:cxn modelId="{77DB1537-8B20-412B-B277-D69427EC6DEF}" type="presParOf" srcId="{9F9B609B-E418-4063-BA4E-68A51DA231B0}" destId="{F94C468B-0EFB-4FB2-8456-AC0B5FB89C77}" srcOrd="2" destOrd="0" presId="urn:microsoft.com/office/officeart/2018/2/layout/IconVerticalSolidList"/>
    <dgm:cxn modelId="{D7DCD969-F8F8-43A1-9785-10B8EFFD8AFD}" type="presParOf" srcId="{9F9B609B-E418-4063-BA4E-68A51DA231B0}" destId="{E352AC3E-F04E-434C-B7D8-2F7DF9D414FE}" srcOrd="3" destOrd="0" presId="urn:microsoft.com/office/officeart/2018/2/layout/IconVerticalSolidList"/>
    <dgm:cxn modelId="{0A9D0F76-B30F-43ED-BED3-CCA54E25A083}" type="presParOf" srcId="{AC558811-B901-41D3-919A-ABA2F5D1C95E}" destId="{0FD377D1-1C62-404C-AB1E-CDD17044104C}" srcOrd="5" destOrd="0" presId="urn:microsoft.com/office/officeart/2018/2/layout/IconVerticalSolidList"/>
    <dgm:cxn modelId="{B4F9EEB3-AE16-41C2-B22E-3425D8DFFA8C}" type="presParOf" srcId="{AC558811-B901-41D3-919A-ABA2F5D1C95E}" destId="{6A1F6798-CF56-4A04-8136-3A5A4E1F10A5}" srcOrd="6" destOrd="0" presId="urn:microsoft.com/office/officeart/2018/2/layout/IconVerticalSolidList"/>
    <dgm:cxn modelId="{AA8CCDE6-2A22-44E6-85AA-C0F51591E4E6}" type="presParOf" srcId="{6A1F6798-CF56-4A04-8136-3A5A4E1F10A5}" destId="{2653C7EF-C8B5-4C05-BA34-80B4C64ACDC1}" srcOrd="0" destOrd="0" presId="urn:microsoft.com/office/officeart/2018/2/layout/IconVerticalSolidList"/>
    <dgm:cxn modelId="{B8C97075-66E0-4D5B-8859-CDB8F65635EE}" type="presParOf" srcId="{6A1F6798-CF56-4A04-8136-3A5A4E1F10A5}" destId="{7B3C77E8-C44E-43D5-A5B3-71E34BE1BB0C}" srcOrd="1" destOrd="0" presId="urn:microsoft.com/office/officeart/2018/2/layout/IconVerticalSolidList"/>
    <dgm:cxn modelId="{2EF0AFF2-C9F9-4934-B931-5ACB344DDA9A}" type="presParOf" srcId="{6A1F6798-CF56-4A04-8136-3A5A4E1F10A5}" destId="{F6257210-9AD3-4C08-91B8-E6D84EDC4F2D}" srcOrd="2" destOrd="0" presId="urn:microsoft.com/office/officeart/2018/2/layout/IconVerticalSolidList"/>
    <dgm:cxn modelId="{D53208B5-EC65-4751-A97F-110732CC93F5}" type="presParOf" srcId="{6A1F6798-CF56-4A04-8136-3A5A4E1F10A5}" destId="{5F8598FC-52DB-40BD-9CD8-43DF95C539A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75A544-A6EA-4F11-9B52-AF4F0AE2A8B4}">
      <dsp:nvSpPr>
        <dsp:cNvPr id="0" name=""/>
        <dsp:cNvSpPr/>
      </dsp:nvSpPr>
      <dsp:spPr>
        <a:xfrm>
          <a:off x="0" y="1478"/>
          <a:ext cx="6496050"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74A7D-3279-4344-BEE9-EECE6F74FF26}">
      <dsp:nvSpPr>
        <dsp:cNvPr id="0" name=""/>
        <dsp:cNvSpPr/>
      </dsp:nvSpPr>
      <dsp:spPr>
        <a:xfrm>
          <a:off x="190639" y="143276"/>
          <a:ext cx="346616" cy="3466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6788AFA-94CB-4FC9-9DAE-4E48F45B5E3E}">
      <dsp:nvSpPr>
        <dsp:cNvPr id="0" name=""/>
        <dsp:cNvSpPr/>
      </dsp:nvSpPr>
      <dsp:spPr>
        <a:xfrm>
          <a:off x="727895" y="1478"/>
          <a:ext cx="5768154"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844550">
            <a:lnSpc>
              <a:spcPct val="90000"/>
            </a:lnSpc>
            <a:spcBef>
              <a:spcPct val="0"/>
            </a:spcBef>
            <a:spcAft>
              <a:spcPct val="35000"/>
            </a:spcAft>
            <a:buNone/>
          </a:pPr>
          <a:r>
            <a:rPr lang="en-US" sz="1900" kern="1200"/>
            <a:t>Co-creation </a:t>
          </a:r>
        </a:p>
      </dsp:txBody>
      <dsp:txXfrm>
        <a:off x="727895" y="1478"/>
        <a:ext cx="5768154" cy="630212"/>
      </dsp:txXfrm>
    </dsp:sp>
    <dsp:sp modelId="{2A5D1123-2CD7-4A65-8855-729BE75CC304}">
      <dsp:nvSpPr>
        <dsp:cNvPr id="0" name=""/>
        <dsp:cNvSpPr/>
      </dsp:nvSpPr>
      <dsp:spPr>
        <a:xfrm>
          <a:off x="0" y="789244"/>
          <a:ext cx="6496050"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A9B4C1-E1E0-4DBD-8093-9CF49BD52AFC}">
      <dsp:nvSpPr>
        <dsp:cNvPr id="0" name=""/>
        <dsp:cNvSpPr/>
      </dsp:nvSpPr>
      <dsp:spPr>
        <a:xfrm>
          <a:off x="190639" y="931042"/>
          <a:ext cx="346616" cy="3466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F2A538A-CC7F-4F19-AEDA-F88D9BCA44A8}">
      <dsp:nvSpPr>
        <dsp:cNvPr id="0" name=""/>
        <dsp:cNvSpPr/>
      </dsp:nvSpPr>
      <dsp:spPr>
        <a:xfrm>
          <a:off x="727895" y="789244"/>
          <a:ext cx="5768154"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844550">
            <a:lnSpc>
              <a:spcPct val="90000"/>
            </a:lnSpc>
            <a:spcBef>
              <a:spcPct val="0"/>
            </a:spcBef>
            <a:spcAft>
              <a:spcPct val="35000"/>
            </a:spcAft>
            <a:buNone/>
          </a:pPr>
          <a:r>
            <a:rPr lang="en-US" sz="1900" kern="1200"/>
            <a:t>Democratization of design </a:t>
          </a:r>
        </a:p>
      </dsp:txBody>
      <dsp:txXfrm>
        <a:off x="727895" y="789244"/>
        <a:ext cx="5768154" cy="630212"/>
      </dsp:txXfrm>
    </dsp:sp>
    <dsp:sp modelId="{D42CCE8D-9715-4633-A5D9-5EAAF86FB286}">
      <dsp:nvSpPr>
        <dsp:cNvPr id="0" name=""/>
        <dsp:cNvSpPr/>
      </dsp:nvSpPr>
      <dsp:spPr>
        <a:xfrm>
          <a:off x="0" y="1577010"/>
          <a:ext cx="6496050"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E17C76-ACA2-4F60-B85B-EB9E632B2291}">
      <dsp:nvSpPr>
        <dsp:cNvPr id="0" name=""/>
        <dsp:cNvSpPr/>
      </dsp:nvSpPr>
      <dsp:spPr>
        <a:xfrm>
          <a:off x="190639" y="1718808"/>
          <a:ext cx="346616" cy="34661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BB3DFF-3DE2-4E48-A9E3-D16E2178BD73}">
      <dsp:nvSpPr>
        <dsp:cNvPr id="0" name=""/>
        <dsp:cNvSpPr/>
      </dsp:nvSpPr>
      <dsp:spPr>
        <a:xfrm>
          <a:off x="727895" y="1577010"/>
          <a:ext cx="5768154"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844550">
            <a:lnSpc>
              <a:spcPct val="90000"/>
            </a:lnSpc>
            <a:spcBef>
              <a:spcPct val="0"/>
            </a:spcBef>
            <a:spcAft>
              <a:spcPct val="35000"/>
            </a:spcAft>
            <a:buNone/>
          </a:pPr>
          <a:r>
            <a:rPr lang="en-US" sz="1900" kern="1200"/>
            <a:t>Empathy and understanding </a:t>
          </a:r>
        </a:p>
      </dsp:txBody>
      <dsp:txXfrm>
        <a:off x="727895" y="1577010"/>
        <a:ext cx="5768154" cy="630212"/>
      </dsp:txXfrm>
    </dsp:sp>
    <dsp:sp modelId="{30231412-ABED-40DC-B407-4D81F475AB97}">
      <dsp:nvSpPr>
        <dsp:cNvPr id="0" name=""/>
        <dsp:cNvSpPr/>
      </dsp:nvSpPr>
      <dsp:spPr>
        <a:xfrm>
          <a:off x="0" y="2364776"/>
          <a:ext cx="6496050"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CF02EE-603C-4C9B-85CA-A128143BB5DC}">
      <dsp:nvSpPr>
        <dsp:cNvPr id="0" name=""/>
        <dsp:cNvSpPr/>
      </dsp:nvSpPr>
      <dsp:spPr>
        <a:xfrm>
          <a:off x="190639" y="2506574"/>
          <a:ext cx="346616" cy="3466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6AB47B2-257C-4CC0-B306-91C88E070DD1}">
      <dsp:nvSpPr>
        <dsp:cNvPr id="0" name=""/>
        <dsp:cNvSpPr/>
      </dsp:nvSpPr>
      <dsp:spPr>
        <a:xfrm>
          <a:off x="727895" y="2364776"/>
          <a:ext cx="5768154"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844550">
            <a:lnSpc>
              <a:spcPct val="90000"/>
            </a:lnSpc>
            <a:spcBef>
              <a:spcPct val="0"/>
            </a:spcBef>
            <a:spcAft>
              <a:spcPct val="35000"/>
            </a:spcAft>
            <a:buNone/>
          </a:pPr>
          <a:r>
            <a:rPr lang="en-US" sz="1900" kern="1200"/>
            <a:t>Iterative process</a:t>
          </a:r>
        </a:p>
      </dsp:txBody>
      <dsp:txXfrm>
        <a:off x="727895" y="2364776"/>
        <a:ext cx="5768154" cy="630212"/>
      </dsp:txXfrm>
    </dsp:sp>
    <dsp:sp modelId="{372C6720-B5B4-4520-826C-081F3FB65F90}">
      <dsp:nvSpPr>
        <dsp:cNvPr id="0" name=""/>
        <dsp:cNvSpPr/>
      </dsp:nvSpPr>
      <dsp:spPr>
        <a:xfrm>
          <a:off x="0" y="3152542"/>
          <a:ext cx="6496050"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8D1F26-DDBD-4370-B9A3-45C00EAB9F21}">
      <dsp:nvSpPr>
        <dsp:cNvPr id="0" name=""/>
        <dsp:cNvSpPr/>
      </dsp:nvSpPr>
      <dsp:spPr>
        <a:xfrm>
          <a:off x="190639" y="3294340"/>
          <a:ext cx="346616" cy="3466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093FE59-CDD5-4AFD-A632-557751D4A1E2}">
      <dsp:nvSpPr>
        <dsp:cNvPr id="0" name=""/>
        <dsp:cNvSpPr/>
      </dsp:nvSpPr>
      <dsp:spPr>
        <a:xfrm>
          <a:off x="727895" y="3152542"/>
          <a:ext cx="5768154"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844550">
            <a:lnSpc>
              <a:spcPct val="90000"/>
            </a:lnSpc>
            <a:spcBef>
              <a:spcPct val="0"/>
            </a:spcBef>
            <a:spcAft>
              <a:spcPct val="35000"/>
            </a:spcAft>
            <a:buNone/>
          </a:pPr>
          <a:r>
            <a:rPr lang="en-US" sz="1900" kern="1200"/>
            <a:t>Transparency </a:t>
          </a:r>
        </a:p>
      </dsp:txBody>
      <dsp:txXfrm>
        <a:off x="727895" y="3152542"/>
        <a:ext cx="5768154" cy="630212"/>
      </dsp:txXfrm>
    </dsp:sp>
    <dsp:sp modelId="{D34ED71A-CA5A-4492-80B2-3C6F3E31F249}">
      <dsp:nvSpPr>
        <dsp:cNvPr id="0" name=""/>
        <dsp:cNvSpPr/>
      </dsp:nvSpPr>
      <dsp:spPr>
        <a:xfrm>
          <a:off x="0" y="3940308"/>
          <a:ext cx="6496050"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F1BAD2-3FE2-4998-856F-5607C3BE532A}">
      <dsp:nvSpPr>
        <dsp:cNvPr id="0" name=""/>
        <dsp:cNvSpPr/>
      </dsp:nvSpPr>
      <dsp:spPr>
        <a:xfrm>
          <a:off x="190639" y="4082106"/>
          <a:ext cx="346616" cy="3466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6A113B-AB49-4D24-AD18-788EE54C3EAD}">
      <dsp:nvSpPr>
        <dsp:cNvPr id="0" name=""/>
        <dsp:cNvSpPr/>
      </dsp:nvSpPr>
      <dsp:spPr>
        <a:xfrm>
          <a:off x="727895" y="3940308"/>
          <a:ext cx="5768154"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844550">
            <a:lnSpc>
              <a:spcPct val="90000"/>
            </a:lnSpc>
            <a:spcBef>
              <a:spcPct val="0"/>
            </a:spcBef>
            <a:spcAft>
              <a:spcPct val="35000"/>
            </a:spcAft>
            <a:buNone/>
          </a:pPr>
          <a:r>
            <a:rPr lang="en-US" sz="1900" kern="1200"/>
            <a:t>Flexibility</a:t>
          </a:r>
        </a:p>
      </dsp:txBody>
      <dsp:txXfrm>
        <a:off x="727895" y="3940308"/>
        <a:ext cx="5768154" cy="6302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E0E8F9-2F9A-4720-8955-82C5A5C35004}">
      <dsp:nvSpPr>
        <dsp:cNvPr id="0" name=""/>
        <dsp:cNvSpPr/>
      </dsp:nvSpPr>
      <dsp:spPr>
        <a:xfrm>
          <a:off x="0" y="3571"/>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4118A6-BE61-47FB-9AB7-41CC6093B731}">
      <dsp:nvSpPr>
        <dsp:cNvPr id="0" name=""/>
        <dsp:cNvSpPr/>
      </dsp:nvSpPr>
      <dsp:spPr>
        <a:xfrm>
          <a:off x="230144" y="174753"/>
          <a:ext cx="418445" cy="4184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316B83B-88E3-47DA-9FE5-7B5A9D80B8CA}">
      <dsp:nvSpPr>
        <dsp:cNvPr id="0" name=""/>
        <dsp:cNvSpPr/>
      </dsp:nvSpPr>
      <dsp:spPr>
        <a:xfrm>
          <a:off x="878734" y="3571"/>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100000"/>
            </a:lnSpc>
            <a:spcBef>
              <a:spcPct val="0"/>
            </a:spcBef>
            <a:spcAft>
              <a:spcPct val="35000"/>
            </a:spcAft>
            <a:buNone/>
          </a:pPr>
          <a:r>
            <a:rPr lang="en-US" sz="1900" b="0" i="0" kern="1200"/>
            <a:t>Improve user satisfaction </a:t>
          </a:r>
          <a:endParaRPr lang="en-US" sz="1900" kern="1200"/>
        </a:p>
      </dsp:txBody>
      <dsp:txXfrm>
        <a:off x="878734" y="3571"/>
        <a:ext cx="5617315" cy="760809"/>
      </dsp:txXfrm>
    </dsp:sp>
    <dsp:sp modelId="{F5E65235-80DC-4C88-A8F6-F01493474E29}">
      <dsp:nvSpPr>
        <dsp:cNvPr id="0" name=""/>
        <dsp:cNvSpPr/>
      </dsp:nvSpPr>
      <dsp:spPr>
        <a:xfrm>
          <a:off x="0" y="954583"/>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9B5513-E845-4D9D-AE46-21F3C37C461A}">
      <dsp:nvSpPr>
        <dsp:cNvPr id="0" name=""/>
        <dsp:cNvSpPr/>
      </dsp:nvSpPr>
      <dsp:spPr>
        <a:xfrm>
          <a:off x="230144" y="1125765"/>
          <a:ext cx="418445" cy="4184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CDF2C57-092B-4242-BFA3-71830FDD8B5E}">
      <dsp:nvSpPr>
        <dsp:cNvPr id="0" name=""/>
        <dsp:cNvSpPr/>
      </dsp:nvSpPr>
      <dsp:spPr>
        <a:xfrm>
          <a:off x="878734" y="954583"/>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100000"/>
            </a:lnSpc>
            <a:spcBef>
              <a:spcPct val="0"/>
            </a:spcBef>
            <a:spcAft>
              <a:spcPct val="35000"/>
            </a:spcAft>
            <a:buNone/>
          </a:pPr>
          <a:r>
            <a:rPr lang="en-US" sz="1900" b="0" i="0" kern="1200" dirty="0"/>
            <a:t>Increased user engagement </a:t>
          </a:r>
          <a:endParaRPr lang="en-US" sz="1900" kern="1200" dirty="0"/>
        </a:p>
      </dsp:txBody>
      <dsp:txXfrm>
        <a:off x="878734" y="954583"/>
        <a:ext cx="5617315" cy="760809"/>
      </dsp:txXfrm>
    </dsp:sp>
    <dsp:sp modelId="{DAEEBCF7-388A-5F40-A7E0-139359DD2DA7}">
      <dsp:nvSpPr>
        <dsp:cNvPr id="0" name=""/>
        <dsp:cNvSpPr/>
      </dsp:nvSpPr>
      <dsp:spPr>
        <a:xfrm>
          <a:off x="0" y="1905595"/>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5E8888-1936-D746-B796-789C28DEAE10}">
      <dsp:nvSpPr>
        <dsp:cNvPr id="0" name=""/>
        <dsp:cNvSpPr/>
      </dsp:nvSpPr>
      <dsp:spPr>
        <a:xfrm>
          <a:off x="230144" y="2076777"/>
          <a:ext cx="418445" cy="41844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544495-AF6C-6345-AEC9-DAB7F70E71F2}">
      <dsp:nvSpPr>
        <dsp:cNvPr id="0" name=""/>
        <dsp:cNvSpPr/>
      </dsp:nvSpPr>
      <dsp:spPr>
        <a:xfrm>
          <a:off x="878734" y="1905595"/>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100000"/>
            </a:lnSpc>
            <a:spcBef>
              <a:spcPct val="0"/>
            </a:spcBef>
            <a:spcAft>
              <a:spcPct val="35000"/>
            </a:spcAft>
            <a:buNone/>
          </a:pPr>
          <a:r>
            <a:rPr lang="en-US" sz="1900" kern="1200" dirty="0"/>
            <a:t>Reduce development cost</a:t>
          </a:r>
        </a:p>
      </dsp:txBody>
      <dsp:txXfrm>
        <a:off x="878734" y="1905595"/>
        <a:ext cx="5617315" cy="760809"/>
      </dsp:txXfrm>
    </dsp:sp>
    <dsp:sp modelId="{A1668ED7-F24B-41E9-BF4D-8CDD07B9873B}">
      <dsp:nvSpPr>
        <dsp:cNvPr id="0" name=""/>
        <dsp:cNvSpPr/>
      </dsp:nvSpPr>
      <dsp:spPr>
        <a:xfrm>
          <a:off x="0" y="2856607"/>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655336-D303-4E55-BFCA-8893BC64571E}">
      <dsp:nvSpPr>
        <dsp:cNvPr id="0" name=""/>
        <dsp:cNvSpPr/>
      </dsp:nvSpPr>
      <dsp:spPr>
        <a:xfrm>
          <a:off x="230144" y="3027789"/>
          <a:ext cx="418445" cy="4184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58F0C1-54C4-4E80-BE41-E40B86FFFC82}">
      <dsp:nvSpPr>
        <dsp:cNvPr id="0" name=""/>
        <dsp:cNvSpPr/>
      </dsp:nvSpPr>
      <dsp:spPr>
        <a:xfrm>
          <a:off x="878734" y="2856607"/>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100000"/>
            </a:lnSpc>
            <a:spcBef>
              <a:spcPct val="0"/>
            </a:spcBef>
            <a:spcAft>
              <a:spcPct val="35000"/>
            </a:spcAft>
            <a:buNone/>
          </a:pPr>
          <a:r>
            <a:rPr lang="en-US" sz="1900" b="0" i="0" kern="1200" dirty="0"/>
            <a:t>Improved innovation</a:t>
          </a:r>
          <a:endParaRPr lang="en-US" sz="1900" kern="1200" dirty="0"/>
        </a:p>
      </dsp:txBody>
      <dsp:txXfrm>
        <a:off x="878734" y="2856607"/>
        <a:ext cx="5617315" cy="760809"/>
      </dsp:txXfrm>
    </dsp:sp>
    <dsp:sp modelId="{C3183EDF-8EDF-42E6-B560-B7960712A8D2}">
      <dsp:nvSpPr>
        <dsp:cNvPr id="0" name=""/>
        <dsp:cNvSpPr/>
      </dsp:nvSpPr>
      <dsp:spPr>
        <a:xfrm>
          <a:off x="0" y="3807618"/>
          <a:ext cx="6496050"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AE3A12-E614-47DE-A164-1A06516D148E}">
      <dsp:nvSpPr>
        <dsp:cNvPr id="0" name=""/>
        <dsp:cNvSpPr/>
      </dsp:nvSpPr>
      <dsp:spPr>
        <a:xfrm>
          <a:off x="230144" y="3978800"/>
          <a:ext cx="418445" cy="4184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A7230B-C437-4257-B93D-0810F067F145}">
      <dsp:nvSpPr>
        <dsp:cNvPr id="0" name=""/>
        <dsp:cNvSpPr/>
      </dsp:nvSpPr>
      <dsp:spPr>
        <a:xfrm>
          <a:off x="878734" y="3807618"/>
          <a:ext cx="5617315"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100000"/>
            </a:lnSpc>
            <a:spcBef>
              <a:spcPct val="0"/>
            </a:spcBef>
            <a:spcAft>
              <a:spcPct val="35000"/>
            </a:spcAft>
            <a:buNone/>
          </a:pPr>
          <a:r>
            <a:rPr lang="en-US" sz="1900" b="0" i="0" kern="1200"/>
            <a:t>Increased social inclusion</a:t>
          </a:r>
          <a:endParaRPr lang="en-US" sz="1900" kern="1200"/>
        </a:p>
      </dsp:txBody>
      <dsp:txXfrm>
        <a:off x="878734" y="3807618"/>
        <a:ext cx="5617315" cy="7608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24548-F86F-4BAA-8A34-A984B06E3FDF}">
      <dsp:nvSpPr>
        <dsp:cNvPr id="0" name=""/>
        <dsp:cNvSpPr/>
      </dsp:nvSpPr>
      <dsp:spPr>
        <a:xfrm>
          <a:off x="0" y="1897"/>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582D48-6F82-4FE1-B7F2-79CE31496C31}">
      <dsp:nvSpPr>
        <dsp:cNvPr id="0" name=""/>
        <dsp:cNvSpPr/>
      </dsp:nvSpPr>
      <dsp:spPr>
        <a:xfrm>
          <a:off x="290922" y="218286"/>
          <a:ext cx="528950" cy="5289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28B4BF2-789B-4C25-8A5A-0FB1F8C2BE12}">
      <dsp:nvSpPr>
        <dsp:cNvPr id="0" name=""/>
        <dsp:cNvSpPr/>
      </dsp:nvSpPr>
      <dsp:spPr>
        <a:xfrm>
          <a:off x="1110795" y="1897"/>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n-US" sz="2200" b="0" i="0" kern="1200"/>
            <a:t>Effective Communication </a:t>
          </a:r>
          <a:endParaRPr lang="en-US" sz="2200" kern="1200"/>
        </a:p>
      </dsp:txBody>
      <dsp:txXfrm>
        <a:off x="1110795" y="1897"/>
        <a:ext cx="5385254" cy="961727"/>
      </dsp:txXfrm>
    </dsp:sp>
    <dsp:sp modelId="{087E221B-6C58-4FC2-A3E0-17DD298DE696}">
      <dsp:nvSpPr>
        <dsp:cNvPr id="0" name=""/>
        <dsp:cNvSpPr/>
      </dsp:nvSpPr>
      <dsp:spPr>
        <a:xfrm>
          <a:off x="0" y="1204056"/>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277140-F75C-4917-8A75-0E0C24F3C763}">
      <dsp:nvSpPr>
        <dsp:cNvPr id="0" name=""/>
        <dsp:cNvSpPr/>
      </dsp:nvSpPr>
      <dsp:spPr>
        <a:xfrm>
          <a:off x="290922" y="1420445"/>
          <a:ext cx="528950" cy="5289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8F5EA-E2F2-4040-B6D1-8CB225727450}">
      <dsp:nvSpPr>
        <dsp:cNvPr id="0" name=""/>
        <dsp:cNvSpPr/>
      </dsp:nvSpPr>
      <dsp:spPr>
        <a:xfrm>
          <a:off x="1110795" y="1204056"/>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n-US" sz="2200" b="0" i="0" kern="1200"/>
            <a:t>Balancing expertise and user input </a:t>
          </a:r>
          <a:endParaRPr lang="en-US" sz="2200" kern="1200"/>
        </a:p>
      </dsp:txBody>
      <dsp:txXfrm>
        <a:off x="1110795" y="1204056"/>
        <a:ext cx="5385254" cy="961727"/>
      </dsp:txXfrm>
    </dsp:sp>
    <dsp:sp modelId="{315C8490-62D9-40A2-88C3-3FF32F8C4A4C}">
      <dsp:nvSpPr>
        <dsp:cNvPr id="0" name=""/>
        <dsp:cNvSpPr/>
      </dsp:nvSpPr>
      <dsp:spPr>
        <a:xfrm>
          <a:off x="0" y="2406215"/>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7AA474-373F-4671-8270-9CAEBB4E6CB2}">
      <dsp:nvSpPr>
        <dsp:cNvPr id="0" name=""/>
        <dsp:cNvSpPr/>
      </dsp:nvSpPr>
      <dsp:spPr>
        <a:xfrm>
          <a:off x="290922" y="2622604"/>
          <a:ext cx="528950" cy="52895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352AC3E-F04E-434C-B7D8-2F7DF9D414FE}">
      <dsp:nvSpPr>
        <dsp:cNvPr id="0" name=""/>
        <dsp:cNvSpPr/>
      </dsp:nvSpPr>
      <dsp:spPr>
        <a:xfrm>
          <a:off x="1110795" y="2406215"/>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n-US" sz="2200" b="0" i="0" kern="1200"/>
            <a:t>Representation</a:t>
          </a:r>
          <a:endParaRPr lang="en-US" sz="2200" kern="1200"/>
        </a:p>
      </dsp:txBody>
      <dsp:txXfrm>
        <a:off x="1110795" y="2406215"/>
        <a:ext cx="5385254" cy="961727"/>
      </dsp:txXfrm>
    </dsp:sp>
    <dsp:sp modelId="{2653C7EF-C8B5-4C05-BA34-80B4C64ACDC1}">
      <dsp:nvSpPr>
        <dsp:cNvPr id="0" name=""/>
        <dsp:cNvSpPr/>
      </dsp:nvSpPr>
      <dsp:spPr>
        <a:xfrm>
          <a:off x="0" y="3608375"/>
          <a:ext cx="6496050"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3C77E8-C44E-43D5-A5B3-71E34BE1BB0C}">
      <dsp:nvSpPr>
        <dsp:cNvPr id="0" name=""/>
        <dsp:cNvSpPr/>
      </dsp:nvSpPr>
      <dsp:spPr>
        <a:xfrm>
          <a:off x="290922" y="3824763"/>
          <a:ext cx="528950" cy="5289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F8598FC-52DB-40BD-9CD8-43DF95C539A7}">
      <dsp:nvSpPr>
        <dsp:cNvPr id="0" name=""/>
        <dsp:cNvSpPr/>
      </dsp:nvSpPr>
      <dsp:spPr>
        <a:xfrm>
          <a:off x="1110795" y="3608375"/>
          <a:ext cx="5385254"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977900">
            <a:lnSpc>
              <a:spcPct val="90000"/>
            </a:lnSpc>
            <a:spcBef>
              <a:spcPct val="0"/>
            </a:spcBef>
            <a:spcAft>
              <a:spcPct val="35000"/>
            </a:spcAft>
            <a:buNone/>
          </a:pPr>
          <a:r>
            <a:rPr lang="en-US" sz="2200" b="0" i="0" kern="1200"/>
            <a:t>Time and resources</a:t>
          </a:r>
          <a:endParaRPr lang="en-US" sz="2200" kern="1200"/>
        </a:p>
      </dsp:txBody>
      <dsp:txXfrm>
        <a:off x="1110795" y="3608375"/>
        <a:ext cx="5385254" cy="9617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68E1CC-7E59-F142-AF8D-8A914C80DE98}" type="datetimeFigureOut">
              <a:rPr lang="en-US" smtClean="0"/>
              <a:t>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6F21C-4A47-964E-8036-CEAF99901AB0}" type="slidenum">
              <a:rPr lang="en-US" smtClean="0"/>
              <a:t>‹#›</a:t>
            </a:fld>
            <a:endParaRPr lang="en-US"/>
          </a:p>
        </p:txBody>
      </p:sp>
    </p:spTree>
    <p:extLst>
      <p:ext uri="{BB962C8B-B14F-4D97-AF65-F5344CB8AC3E}">
        <p14:creationId xmlns:p14="http://schemas.microsoft.com/office/powerpoint/2010/main" val="3528908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interaction-design.org/literature/topics/codesign"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interaction-design.org/literature/topics/creative-problem-solving"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interaction-design.org/literature/topics/accessibility"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Hi everyone, thank you for being here today. In this session, I'll be presenting on </a:t>
            </a:r>
            <a:r>
              <a:rPr lang="en-US" b="1" i="0" u="none" strike="noStrike" dirty="0">
                <a:solidFill>
                  <a:srgbClr val="000000"/>
                </a:solidFill>
                <a:effectLst/>
              </a:rPr>
              <a:t>Participatory Design</a:t>
            </a:r>
            <a:r>
              <a:rPr lang="en-US" b="0" i="0" u="none" strike="noStrike" dirty="0">
                <a:solidFill>
                  <a:srgbClr val="000000"/>
                </a:solidFill>
                <a:effectLst/>
              </a:rPr>
              <a:t>. As you may recall my previous presentation focused on </a:t>
            </a:r>
            <a:r>
              <a:rPr lang="en-US" b="1" i="0" u="none" strike="noStrike" dirty="0">
                <a:solidFill>
                  <a:srgbClr val="000000"/>
                </a:solidFill>
                <a:effectLst/>
              </a:rPr>
              <a:t>Contextual Design</a:t>
            </a:r>
            <a:r>
              <a:rPr lang="en-US" b="0" i="0" u="none" strike="noStrike" dirty="0">
                <a:solidFill>
                  <a:srgbClr val="000000"/>
                </a:solidFill>
                <a:effectLst/>
              </a:rPr>
              <a:t>, so I’d like to continue exploring design approaches. In this presentation, I’ll provide an overview of </a:t>
            </a:r>
            <a:r>
              <a:rPr lang="en-US" b="1" i="0" u="none" strike="noStrike" dirty="0">
                <a:solidFill>
                  <a:srgbClr val="000000"/>
                </a:solidFill>
                <a:effectLst/>
              </a:rPr>
              <a:t>Participatory Design</a:t>
            </a:r>
            <a:r>
              <a:rPr lang="en-US" b="0" i="0" u="none" strike="noStrike" dirty="0">
                <a:solidFill>
                  <a:srgbClr val="000000"/>
                </a:solidFill>
                <a:effectLst/>
              </a:rPr>
              <a:t>—its background, key principles, and practical applications. </a:t>
            </a:r>
          </a:p>
        </p:txBody>
      </p:sp>
      <p:sp>
        <p:nvSpPr>
          <p:cNvPr id="4" name="Slide Number Placeholder 3"/>
          <p:cNvSpPr>
            <a:spLocks noGrp="1"/>
          </p:cNvSpPr>
          <p:nvPr>
            <p:ph type="sldNum" sz="quarter" idx="5"/>
          </p:nvPr>
        </p:nvSpPr>
        <p:spPr/>
        <p:txBody>
          <a:bodyPr/>
          <a:lstStyle/>
          <a:p>
            <a:fld id="{1CF6F21C-4A47-964E-8036-CEAF99901AB0}" type="slidenum">
              <a:rPr lang="en-US" smtClean="0"/>
              <a:t>1</a:t>
            </a:fld>
            <a:endParaRPr lang="en-US"/>
          </a:p>
        </p:txBody>
      </p:sp>
    </p:spTree>
    <p:extLst>
      <p:ext uri="{BB962C8B-B14F-4D97-AF65-F5344CB8AC3E}">
        <p14:creationId xmlns:p14="http://schemas.microsoft.com/office/powerpoint/2010/main" val="4003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Gathered this definition from the IDF website, just like I did for Contextual Design. I found that this website overall provided clear and direct definitions. By the way, it's a great resource for any other design and research topics or content.</a:t>
            </a:r>
          </a:p>
          <a:p>
            <a:endParaRPr lang="en-US" b="0" i="0" u="none" strike="noStrike" dirty="0">
              <a:solidFill>
                <a:srgbClr val="2B2B2B"/>
              </a:solidFill>
              <a:effectLst/>
              <a:latin typeface="Merriweather" pitchFamily="2" charset="77"/>
            </a:endParaRPr>
          </a:p>
          <a:p>
            <a:r>
              <a:rPr lang="en-US" b="0" i="0" u="none" strike="noStrike" dirty="0">
                <a:solidFill>
                  <a:srgbClr val="2B2B2B"/>
                </a:solidFill>
                <a:effectLst/>
                <a:latin typeface="Merriweather" pitchFamily="2" charset="77"/>
              </a:rPr>
              <a:t>So the way they define, Participatory design, is as a </a:t>
            </a:r>
            <a:r>
              <a:rPr lang="en-US" b="0" i="0" u="sng" dirty="0">
                <a:effectLst/>
                <a:latin typeface="Merriweather" pitchFamily="2" charset="77"/>
                <a:hlinkClick r:id="rId3" tooltip="What is Codesign?"/>
              </a:rPr>
              <a:t>collaborative design</a:t>
            </a:r>
            <a:r>
              <a:rPr lang="en-US" b="0" i="0" u="none" strike="noStrike" dirty="0">
                <a:solidFill>
                  <a:srgbClr val="2B2B2B"/>
                </a:solidFill>
                <a:effectLst/>
                <a:latin typeface="Merriweather" pitchFamily="2" charset="77"/>
              </a:rPr>
              <a:t> approach that involves end-users in the design process. Its aim is to create products and services that better meet the needs and expectations of users by applying their knowledge and experiences.</a:t>
            </a:r>
          </a:p>
          <a:p>
            <a:endParaRPr lang="en-US" b="0" i="0" u="none" strike="noStrike" dirty="0">
              <a:solidFill>
                <a:srgbClr val="2B2B2B"/>
              </a:solidFill>
              <a:effectLst/>
              <a:latin typeface="Merriweather" pitchFamily="2" charset="77"/>
            </a:endParaRPr>
          </a:p>
          <a:p>
            <a:r>
              <a:rPr lang="en-US" b="0" i="0" u="none" strike="noStrike" dirty="0">
                <a:solidFill>
                  <a:srgbClr val="2B2B2B"/>
                </a:solidFill>
                <a:effectLst/>
                <a:latin typeface="Merriweather" pitchFamily="2" charset="77"/>
              </a:rPr>
              <a:t>This may sound similar to contextual design and/or user centered design, covered last week. </a:t>
            </a:r>
          </a:p>
          <a:p>
            <a:endParaRPr lang="en-US" b="0" i="0" u="none" strike="noStrike" dirty="0">
              <a:solidFill>
                <a:srgbClr val="2B2B2B"/>
              </a:solidFill>
              <a:effectLst/>
              <a:latin typeface="Merriweather" pitchFamily="2" charset="77"/>
            </a:endParaRPr>
          </a:p>
          <a:p>
            <a:r>
              <a:rPr lang="en-US" b="0" i="0" u="none" strike="noStrike" dirty="0">
                <a:solidFill>
                  <a:srgbClr val="2B2B2B"/>
                </a:solidFill>
                <a:effectLst/>
                <a:latin typeface="Merriweather" pitchFamily="2" charset="77"/>
              </a:rPr>
              <a:t>However</a:t>
            </a:r>
            <a:r>
              <a:rPr lang="en-US" b="0" i="0" u="none" strike="noStrike" dirty="0">
                <a:solidFill>
                  <a:srgbClr val="000000"/>
                </a:solidFill>
                <a:effectLst/>
                <a:latin typeface="-webkit-standard"/>
              </a:rPr>
              <a:t>, in this approach, users take an active role in the design process, rather than just testing solutions (that have been solely developed by designers), being observed</a:t>
            </a:r>
            <a:r>
              <a:rPr lang="en-US" dirty="0">
                <a:solidFill>
                  <a:srgbClr val="000000"/>
                </a:solidFill>
                <a:latin typeface="-webkit-standard"/>
              </a:rPr>
              <a:t> or</a:t>
            </a:r>
            <a:r>
              <a:rPr lang="en-US" b="0" i="0" u="none" strike="noStrike" dirty="0">
                <a:solidFill>
                  <a:srgbClr val="000000"/>
                </a:solidFill>
                <a:effectLst/>
                <a:latin typeface="-webkit-standard"/>
              </a:rPr>
              <a:t> interviewed (by researchers to gather insights). Participatory Design gives users the opportunity to help figure out and co-design solutions, most commonly during the design stage.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000000"/>
              </a:solidFill>
              <a:effectLst/>
              <a:latin typeface="-webkit-standard"/>
            </a:endParaRPr>
          </a:p>
          <a:p>
            <a:r>
              <a:rPr lang="en-US" b="0" i="0" u="none" strike="noStrike" dirty="0">
                <a:solidFill>
                  <a:srgbClr val="000000"/>
                </a:solidFill>
                <a:effectLst/>
                <a:latin typeface="-webkit-standard"/>
              </a:rPr>
              <a:t>Participatory Design is not just about bringing users to do the work of the designer, but rather it’s another way to help designers understand the users with the end g</a:t>
            </a:r>
            <a:r>
              <a:rPr lang="en-US" b="0" i="0" u="none" strike="noStrike" dirty="0">
                <a:solidFill>
                  <a:srgbClr val="2B2B2B"/>
                </a:solidFill>
                <a:effectLst/>
                <a:latin typeface="Merriweather" pitchFamily="2" charset="77"/>
              </a:rPr>
              <a:t>oal  of creating products and services that accommodate their needs and help them achieve their objectives.</a:t>
            </a:r>
          </a:p>
          <a:p>
            <a:endParaRPr lang="en-US" b="0" i="0" u="none" strike="noStrike" dirty="0">
              <a:solidFill>
                <a:srgbClr val="2B2B2B"/>
              </a:solidFill>
              <a:effectLst/>
              <a:latin typeface="Merriweather"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approach helps bring in more diversity—and more expertise—to the design process. In addition, it can help build buy-in among end users, and it can lead to higher satisfaction and confidence in the end product as the users get to see their feedback and suggestions come alive. </a:t>
            </a:r>
          </a:p>
          <a:p>
            <a:endParaRPr lang="en-US" b="0" i="0" u="none" strike="noStrike" dirty="0">
              <a:solidFill>
                <a:srgbClr val="000000"/>
              </a:solidFill>
              <a:effectLst/>
              <a:latin typeface="-webkit-standard"/>
            </a:endParaRPr>
          </a:p>
          <a:p>
            <a:endParaRPr lang="en-US" b="0" i="0" u="none" strike="noStrike" dirty="0">
              <a:solidFill>
                <a:srgbClr val="000000"/>
              </a:solidFill>
              <a:effectLst/>
              <a:latin typeface="-webkit-standard"/>
            </a:endParaRPr>
          </a:p>
          <a:p>
            <a:endParaRPr lang="en-US" b="0" i="0" u="none" strike="noStrike" dirty="0">
              <a:solidFill>
                <a:srgbClr val="000000"/>
              </a:solidFill>
              <a:effectLst/>
              <a:latin typeface="-webkit-standard"/>
            </a:endParaRPr>
          </a:p>
          <a:p>
            <a:endParaRPr lang="en-US" b="0" i="0" u="none" strike="noStrike" dirty="0">
              <a:solidFill>
                <a:srgbClr val="2B2B2B"/>
              </a:solidFill>
              <a:effectLst/>
              <a:latin typeface="Merriweather" pitchFamily="2" charset="77"/>
            </a:endParaRPr>
          </a:p>
        </p:txBody>
      </p:sp>
      <p:sp>
        <p:nvSpPr>
          <p:cNvPr id="4" name="Slide Number Placeholder 3"/>
          <p:cNvSpPr>
            <a:spLocks noGrp="1"/>
          </p:cNvSpPr>
          <p:nvPr>
            <p:ph type="sldNum" sz="quarter" idx="5"/>
          </p:nvPr>
        </p:nvSpPr>
        <p:spPr/>
        <p:txBody>
          <a:bodyPr/>
          <a:lstStyle/>
          <a:p>
            <a:fld id="{1CF6F21C-4A47-964E-8036-CEAF99901AB0}" type="slidenum">
              <a:rPr lang="en-US" smtClean="0"/>
              <a:t>2</a:t>
            </a:fld>
            <a:endParaRPr lang="en-US"/>
          </a:p>
        </p:txBody>
      </p:sp>
    </p:spTree>
    <p:extLst>
      <p:ext uri="{BB962C8B-B14F-4D97-AF65-F5344CB8AC3E}">
        <p14:creationId xmlns:p14="http://schemas.microsoft.com/office/powerpoint/2010/main" val="2104132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design approach emerged in Scandinavia in the 1970s</a:t>
            </a:r>
            <a:r>
              <a:rPr lang="en-US" sz="1800" b="0" i="0" u="none" strike="noStrik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b="0" i="0" u="none" strike="noStrike" dirty="0">
                <a:solidFill>
                  <a:srgbClr val="0A2738"/>
                </a:solidFill>
                <a:effectLst/>
                <a:latin typeface="IBM Plex Sans" panose="020F0502020204030204" pitchFamily="34" charset="0"/>
              </a:rPr>
              <a:t>This movement came as a response to traditional top-down approaches to design, which often resulted in products that did not address the needs and preferences of end-users.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0" i="0" u="none" strike="noStrike" dirty="0">
              <a:solidFill>
                <a:srgbClr val="0A2738"/>
              </a:solidFill>
              <a:effectLst/>
              <a:latin typeface="IBM Plex Sans" panose="020B050305020300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dirty="0">
                <a:solidFill>
                  <a:srgbClr val="0A2738"/>
                </a:solidFill>
                <a:effectLst/>
                <a:latin typeface="IBM Plex Sans" panose="020B0503050203000203" pitchFamily="34" charset="0"/>
              </a:rPr>
              <a:t>The goal was to create more humane and efficient work systems that catered to the needs of the workers, rather than forcing them to adapt to poorly designed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0" i="0" u="none" strike="noStrike" dirty="0">
              <a:solidFill>
                <a:srgbClr val="0A2738"/>
              </a:solidFill>
              <a:effectLst/>
              <a:latin typeface="IBM Plex Sans" panose="020B050305020300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b="0" i="0" u="none" strike="noStrike" dirty="0">
                <a:solidFill>
                  <a:srgbClr val="0A2738"/>
                </a:solidFill>
                <a:effectLst/>
                <a:latin typeface="IBM Plex Sans" panose="020B0503050203000203" pitchFamily="34" charset="0"/>
              </a:rPr>
              <a:t>Over time, participatory design has evolved to encompass a wide range of industries, </a:t>
            </a:r>
            <a:r>
              <a:rPr lang="en-US" sz="5400" b="0" i="0" u="none" strike="noStrike" dirty="0">
                <a:solidFill>
                  <a:srgbClr val="0A2738"/>
                </a:solidFill>
                <a:effectLst/>
                <a:latin typeface="IBM Plex Sans" panose="020B0503050203000203" pitchFamily="34" charset="0"/>
              </a:rPr>
              <a:t> including software and product design, urban planning, architecture, graphic design, and even healthcare</a:t>
            </a:r>
            <a:r>
              <a:rPr lang="en-US" sz="4000" b="0" i="0" u="none" strike="noStrike" dirty="0">
                <a:solidFill>
                  <a:srgbClr val="0A2738"/>
                </a:solidFill>
                <a:effectLst/>
                <a:latin typeface="IBM Plex Sans" panose="020B0503050203000203"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b="0" i="0" u="none" strike="noStrike" dirty="0">
              <a:solidFill>
                <a:srgbClr val="0A2738"/>
              </a:solidFill>
              <a:effectLst/>
              <a:latin typeface="IBM Plex Sans" panose="020B050305020300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b="0" i="0" u="none" strike="noStrike" dirty="0">
                <a:solidFill>
                  <a:srgbClr val="0A2738"/>
                </a:solidFill>
                <a:effectLst/>
                <a:latin typeface="IBM Plex Sans" panose="020B0503050203000203" pitchFamily="34" charset="0"/>
              </a:rPr>
              <a:t>Now, that is not to say that this approach of involving users in the design process was not done before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b="0" i="0" u="none" strike="noStrike" dirty="0">
              <a:solidFill>
                <a:srgbClr val="0A2738"/>
              </a:solidFill>
              <a:effectLst/>
              <a:latin typeface="IBM Plex Sans" panose="020B050305020300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5400" b="0" i="0" u="none" strike="noStrike" dirty="0">
                <a:solidFill>
                  <a:srgbClr val="2B2B2B"/>
                </a:solidFill>
                <a:effectLst/>
                <a:latin typeface="Merriweather" pitchFamily="2" charset="77"/>
              </a:rPr>
              <a:t>Research Design lead from NASA suggests  "..in many ways, participatory design is how humans naturally go about solutions. In one way or another, it has been around as long as humans have."</a:t>
            </a:r>
            <a:endParaRPr lang="en-US" sz="4000" b="0" i="0" u="none" strike="noStrike" dirty="0">
              <a:solidFill>
                <a:srgbClr val="0A2738"/>
              </a:solidFill>
              <a:effectLst/>
              <a:latin typeface="IBM Plex Sans" panose="020B0503050203000203" pitchFamily="34" charset="0"/>
            </a:endParaRPr>
          </a:p>
        </p:txBody>
      </p:sp>
      <p:sp>
        <p:nvSpPr>
          <p:cNvPr id="4" name="Slide Number Placeholder 3"/>
          <p:cNvSpPr>
            <a:spLocks noGrp="1"/>
          </p:cNvSpPr>
          <p:nvPr>
            <p:ph type="sldNum" sz="quarter" idx="5"/>
          </p:nvPr>
        </p:nvSpPr>
        <p:spPr/>
        <p:txBody>
          <a:bodyPr/>
          <a:lstStyle/>
          <a:p>
            <a:fld id="{1CF6F21C-4A47-964E-8036-CEAF99901AB0}" type="slidenum">
              <a:rPr lang="en-US" smtClean="0"/>
              <a:t>3</a:t>
            </a:fld>
            <a:endParaRPr lang="en-US"/>
          </a:p>
        </p:txBody>
      </p:sp>
    </p:spTree>
    <p:extLst>
      <p:ext uri="{BB962C8B-B14F-4D97-AF65-F5344CB8AC3E}">
        <p14:creationId xmlns:p14="http://schemas.microsoft.com/office/powerpoint/2010/main" val="2058681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Moving on, we have the key principles designers should adhere to for participatory design </a:t>
            </a:r>
          </a:p>
          <a:p>
            <a:pPr marL="0" marR="0">
              <a:spcBef>
                <a:spcPts val="0"/>
              </a:spcBef>
              <a:spcAft>
                <a:spcPts val="0"/>
              </a:spcAft>
            </a:pP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Co-creation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Designers and users work together to identify problems and develop solutions, ensuring that the final product meets user needs effectively.</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Democratization of design</a:t>
            </a:r>
            <a:r>
              <a:rPr lang="en-US" sz="1800" dirty="0">
                <a:effectLst/>
                <a:latin typeface="Calibri" panose="020F0502020204030204" pitchFamily="34" charset="0"/>
                <a:ea typeface="Calibri" panose="020F0502020204030204" pitchFamily="34" charset="0"/>
                <a:cs typeface="Times New Roman" panose="02020603050405020304" pitchFamily="18" charset="0"/>
              </a:rPr>
              <a:t>: This principle gives all stakeholders, especially users, a voice in the design process, challenging the traditional notion that design decisions should solely rest with professionals.</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Empathy and understanding</a:t>
            </a:r>
            <a:r>
              <a:rPr lang="en-US" sz="1800" dirty="0">
                <a:effectLst/>
                <a:latin typeface="Calibri" panose="020F0502020204030204" pitchFamily="34" charset="0"/>
                <a:ea typeface="Calibri" panose="020F0502020204030204" pitchFamily="34" charset="0"/>
                <a:cs typeface="Times New Roman" panose="02020603050405020304" pitchFamily="18" charset="0"/>
              </a:rPr>
              <a:t>: Understanding users' experiences, needs, and contexts through direct engagement, fosters a deep empathy that informs design choices.</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Iterative process</a:t>
            </a:r>
            <a:r>
              <a:rPr lang="en-US" sz="1800" dirty="0">
                <a:effectLst/>
                <a:latin typeface="Calibri" panose="020F0502020204030204" pitchFamily="34" charset="0"/>
                <a:ea typeface="Calibri" panose="020F0502020204030204" pitchFamily="34" charset="0"/>
                <a:cs typeface="Times New Roman" panose="02020603050405020304" pitchFamily="18" charset="0"/>
              </a:rPr>
              <a:t>: Ideas are continuously refined and tested with users, allowing for adjustments based on feedback.</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Transparency</a:t>
            </a:r>
            <a:r>
              <a:rPr lang="en-US" sz="1800" dirty="0">
                <a:effectLst/>
                <a:latin typeface="Calibri" panose="020F0502020204030204" pitchFamily="34" charset="0"/>
                <a:ea typeface="Calibri" panose="020F0502020204030204" pitchFamily="34" charset="0"/>
                <a:cs typeface="Times New Roman" panose="02020603050405020304" pitchFamily="18" charset="0"/>
              </a:rPr>
              <a:t>: Participants understand how decisions are made, fostering trust and collaboration.</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Flexibility</a:t>
            </a:r>
            <a:r>
              <a:rPr lang="en-US" sz="1800" dirty="0">
                <a:effectLst/>
                <a:latin typeface="Calibri" panose="020F0502020204030204" pitchFamily="34" charset="0"/>
                <a:ea typeface="Calibri" panose="020F0502020204030204" pitchFamily="34" charset="0"/>
                <a:cs typeface="Times New Roman" panose="02020603050405020304" pitchFamily="18" charset="0"/>
              </a:rPr>
              <a:t>: Design remains flexible to adapt to new insights and challenges that arise during the process.</a:t>
            </a:r>
          </a:p>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4</a:t>
            </a:fld>
            <a:endParaRPr lang="en-US"/>
          </a:p>
        </p:txBody>
      </p:sp>
    </p:spTree>
    <p:extLst>
      <p:ext uri="{BB962C8B-B14F-4D97-AF65-F5344CB8AC3E}">
        <p14:creationId xmlns:p14="http://schemas.microsoft.com/office/powerpoint/2010/main" val="3541082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u="none" strike="noStrike" dirty="0">
                <a:solidFill>
                  <a:srgbClr val="000000"/>
                </a:solidFill>
                <a:effectLst/>
                <a:latin typeface="-webkit-standard"/>
              </a:rPr>
              <a:t>Now, just like with any design approach, you have your benefits and challenges.</a:t>
            </a:r>
          </a:p>
          <a:p>
            <a:pPr algn="l">
              <a:buFont typeface="Arial" panose="020B0604020202020204" pitchFamily="34" charset="0"/>
              <a:buNone/>
            </a:pPr>
            <a:endParaRPr lang="en-US" b="1" i="0" u="none" strike="noStrike" dirty="0">
              <a:solidFill>
                <a:srgbClr val="2B2B2B"/>
              </a:solidFill>
              <a:effectLst/>
              <a:latin typeface="var(--font-serif)"/>
            </a:endParaRPr>
          </a:p>
          <a:p>
            <a:pPr algn="l">
              <a:buFont typeface="Arial" panose="020B0604020202020204" pitchFamily="34" charset="0"/>
              <a:buNone/>
            </a:pPr>
            <a:r>
              <a:rPr lang="en-US" b="1" i="0" u="none" strike="noStrike" dirty="0">
                <a:solidFill>
                  <a:srgbClr val="2B2B2B"/>
                </a:solidFill>
                <a:effectLst/>
                <a:latin typeface="var(--font-serif)"/>
              </a:rPr>
              <a:t>Improved user satisfaction:</a:t>
            </a:r>
            <a:r>
              <a:rPr lang="en-US" b="0" i="0" u="none" strike="noStrike" dirty="0">
                <a:solidFill>
                  <a:srgbClr val="2B2B2B"/>
                </a:solidFill>
                <a:effectLst/>
                <a:latin typeface="var(--font-serif)"/>
              </a:rPr>
              <a:t> When designers involve users in the design process, they get a deeper understanding of user needs and preferences that they may have otherwise overlooked, which can lead to a better user experience.</a:t>
            </a:r>
          </a:p>
          <a:p>
            <a:pPr algn="l">
              <a:buFont typeface="Arial" panose="020B0604020202020204" pitchFamily="34" charset="0"/>
              <a:buNone/>
            </a:pPr>
            <a:endParaRPr lang="en-US" b="0" i="0" u="none" strike="noStrike" dirty="0">
              <a:solidFill>
                <a:srgbClr val="2B2B2B"/>
              </a:solidFill>
              <a:effectLst/>
              <a:latin typeface="var(--font-serif)"/>
            </a:endParaRPr>
          </a:p>
          <a:p>
            <a:pPr algn="l">
              <a:buFont typeface="Arial" panose="020B0604020202020204" pitchFamily="34" charset="0"/>
              <a:buNone/>
            </a:pPr>
            <a:r>
              <a:rPr lang="en-US" b="1" i="0" u="none" strike="noStrike" dirty="0">
                <a:solidFill>
                  <a:srgbClr val="2B2B2B"/>
                </a:solidFill>
                <a:effectLst/>
                <a:latin typeface="var(--font-serif)"/>
              </a:rPr>
              <a:t>Increased user engagement:</a:t>
            </a:r>
            <a:r>
              <a:rPr lang="en-US" b="0" i="0" u="none" strike="noStrike" dirty="0">
                <a:solidFill>
                  <a:srgbClr val="2B2B2B"/>
                </a:solidFill>
                <a:effectLst/>
                <a:latin typeface="var(--font-serif)"/>
              </a:rPr>
              <a:t> When users participate in the design process, they are more likely to feel invested in the final product, service, or system. This participation can lead to increased user engagement and greater ownership over the outcome.</a:t>
            </a:r>
          </a:p>
          <a:p>
            <a:pPr algn="l">
              <a:buFont typeface="Arial" panose="020B0604020202020204" pitchFamily="34" charset="0"/>
              <a:buNone/>
            </a:pPr>
            <a:endParaRPr lang="en-US" b="0" i="0" u="none" strike="noStrike" dirty="0">
              <a:solidFill>
                <a:srgbClr val="2B2B2B"/>
              </a:solidFill>
              <a:effectLst/>
              <a:latin typeface="var(--font-serif)"/>
            </a:endParaRPr>
          </a:p>
          <a:p>
            <a:pPr algn="l">
              <a:buFont typeface="Arial" panose="020B0604020202020204" pitchFamily="34" charset="0"/>
              <a:buNone/>
            </a:pPr>
            <a:r>
              <a:rPr lang="en-US" b="1" i="0" u="none" strike="noStrike" dirty="0">
                <a:solidFill>
                  <a:srgbClr val="2B2B2B"/>
                </a:solidFill>
                <a:effectLst/>
                <a:latin typeface="var(--font-serif)"/>
              </a:rPr>
              <a:t>Reduced development costs:</a:t>
            </a:r>
            <a:r>
              <a:rPr lang="en-US" b="0" i="0" u="none" strike="noStrike" dirty="0">
                <a:solidFill>
                  <a:srgbClr val="2B2B2B"/>
                </a:solidFill>
                <a:effectLst/>
                <a:latin typeface="var(--font-serif)"/>
              </a:rPr>
              <a:t> Users involved in the design process will help designers catch potential issues before they become costly problems. Participatory design can help identify design flaws early in the process, saving time and money in the long run. </a:t>
            </a:r>
          </a:p>
          <a:p>
            <a:pPr algn="l">
              <a:buFont typeface="Arial" panose="020B0604020202020204" pitchFamily="34" charset="0"/>
              <a:buNone/>
            </a:pPr>
            <a:endParaRPr lang="en-US" b="0" i="0" u="none" strike="noStrike" dirty="0">
              <a:solidFill>
                <a:srgbClr val="2B2B2B"/>
              </a:solidFill>
              <a:effectLst/>
              <a:latin typeface="var(--font-serif)"/>
            </a:endParaRPr>
          </a:p>
          <a:p>
            <a:pPr algn="l">
              <a:buFont typeface="Arial" panose="020B0604020202020204" pitchFamily="34" charset="0"/>
              <a:buNone/>
            </a:pPr>
            <a:r>
              <a:rPr lang="en-US" b="1" i="0" u="none" strike="noStrike" dirty="0">
                <a:solidFill>
                  <a:srgbClr val="2B2B2B"/>
                </a:solidFill>
                <a:effectLst/>
                <a:latin typeface="var(--font-serif)"/>
              </a:rPr>
              <a:t>Improved innovation:</a:t>
            </a:r>
            <a:r>
              <a:rPr lang="en-US" b="0" i="0" u="none" strike="noStrike" dirty="0">
                <a:solidFill>
                  <a:srgbClr val="2B2B2B"/>
                </a:solidFill>
                <a:effectLst/>
                <a:latin typeface="var(--font-serif)"/>
              </a:rPr>
              <a:t> Users often have unique perspectives and ideas that can lead to breakthroughs in design. Participatory design helps designers gain insights into new and </a:t>
            </a:r>
            <a:r>
              <a:rPr lang="en-US" b="0" i="0" u="sng" strike="noStrike" dirty="0">
                <a:solidFill>
                  <a:srgbClr val="2B2B2B"/>
                </a:solidFill>
                <a:effectLst/>
                <a:latin typeface="var(--font-serif)"/>
                <a:hlinkClick r:id="rId3" tooltip="What is Creative Problem Solving?"/>
              </a:rPr>
              <a:t>innovative problem-solving</a:t>
            </a:r>
            <a:r>
              <a:rPr lang="en-US" b="0" i="0" u="none" strike="noStrike" dirty="0">
                <a:solidFill>
                  <a:srgbClr val="2B2B2B"/>
                </a:solidFill>
                <a:effectLst/>
                <a:latin typeface="var(--font-serif)"/>
              </a:rPr>
              <a:t> methods..</a:t>
            </a:r>
          </a:p>
          <a:p>
            <a:pPr algn="l">
              <a:buFont typeface="Arial" panose="020B0604020202020204" pitchFamily="34" charset="0"/>
              <a:buNone/>
            </a:pPr>
            <a:endParaRPr lang="en-US" b="0" i="0" u="none" strike="noStrike" dirty="0">
              <a:solidFill>
                <a:srgbClr val="2B2B2B"/>
              </a:solidFill>
              <a:effectLst/>
              <a:latin typeface="var(--font-serif)"/>
            </a:endParaRPr>
          </a:p>
          <a:p>
            <a:pPr algn="l">
              <a:buFont typeface="Arial" panose="020B0604020202020204" pitchFamily="34" charset="0"/>
              <a:buNone/>
            </a:pPr>
            <a:r>
              <a:rPr lang="en-US" b="1" i="0" u="none" strike="noStrike" dirty="0">
                <a:solidFill>
                  <a:srgbClr val="2B2B2B"/>
                </a:solidFill>
                <a:effectLst/>
                <a:latin typeface="var(--font-serif)"/>
              </a:rPr>
              <a:t>Increased social inclusion:</a:t>
            </a:r>
            <a:r>
              <a:rPr lang="en-US" b="0" i="0" u="none" strike="noStrike" dirty="0">
                <a:solidFill>
                  <a:srgbClr val="2B2B2B"/>
                </a:solidFill>
                <a:effectLst/>
                <a:latin typeface="var(--font-serif)"/>
              </a:rPr>
              <a:t> Participatory design can help to ensure that products, services, or systems are </a:t>
            </a:r>
            <a:r>
              <a:rPr lang="en-US" b="0" i="0" u="sng" strike="noStrike" dirty="0">
                <a:solidFill>
                  <a:srgbClr val="2B2B2B"/>
                </a:solidFill>
                <a:effectLst/>
                <a:latin typeface="var(--font-serif)"/>
                <a:hlinkClick r:id="rId4" tooltip="What is Accessibility?"/>
              </a:rPr>
              <a:t>accessible</a:t>
            </a:r>
            <a:r>
              <a:rPr lang="en-US" b="0" i="0" u="none" strike="noStrike" dirty="0">
                <a:solidFill>
                  <a:srgbClr val="2B2B2B"/>
                </a:solidFill>
                <a:effectLst/>
                <a:latin typeface="var(--font-serif)"/>
              </a:rPr>
              <a:t> and inclusive to all users, including those who might otherwise be marginalized or excluded.</a:t>
            </a:r>
          </a:p>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5</a:t>
            </a:fld>
            <a:endParaRPr lang="en-US"/>
          </a:p>
        </p:txBody>
      </p:sp>
    </p:spTree>
    <p:extLst>
      <p:ext uri="{BB962C8B-B14F-4D97-AF65-F5344CB8AC3E}">
        <p14:creationId xmlns:p14="http://schemas.microsoft.com/office/powerpoint/2010/main" val="2087716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2B2B2B"/>
                </a:solidFill>
                <a:effectLst/>
                <a:latin typeface="Merriweather" pitchFamily="2" charset="77"/>
              </a:rPr>
              <a:t>Effective communication</a:t>
            </a:r>
            <a:r>
              <a:rPr lang="en-US" b="0" i="0" u="none" strike="noStrike" dirty="0">
                <a:solidFill>
                  <a:srgbClr val="2B2B2B"/>
                </a:solidFill>
                <a:effectLst/>
                <a:latin typeface="Merriweather" pitchFamily="2" charset="77"/>
              </a:rPr>
              <a:t>: Establish clear communication channels and guidelines to manage and harmonize diverse opinions and expectations from various stakeholders.</a:t>
            </a:r>
          </a:p>
          <a:p>
            <a:pPr algn="l"/>
            <a:endParaRPr lang="en-US" b="0" i="0" u="none" strike="noStrike" dirty="0">
              <a:solidFill>
                <a:srgbClr val="2B2B2B"/>
              </a:solidFill>
              <a:effectLst/>
              <a:latin typeface="Merriweather"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u="none" strike="noStrike" dirty="0">
                <a:solidFill>
                  <a:srgbClr val="2B2B2B"/>
                </a:solidFill>
                <a:effectLst/>
                <a:latin typeface="Merriweather" pitchFamily="2" charset="77"/>
              </a:rPr>
              <a:t>Balance expertise and input</a:t>
            </a:r>
            <a:r>
              <a:rPr lang="en-US" b="0" i="0" u="none" strike="noStrike" dirty="0">
                <a:solidFill>
                  <a:srgbClr val="2B2B2B"/>
                </a:solidFill>
                <a:effectLst/>
                <a:latin typeface="Merriweather" pitchFamily="2" charset="77"/>
              </a:rPr>
              <a:t>: Value each participant's input, but also guide the process with professional expertise to maintain focus and direction.</a:t>
            </a:r>
          </a:p>
          <a:p>
            <a:pPr algn="l"/>
            <a:endParaRPr lang="en-US" b="0" i="0" u="none" strike="noStrike" dirty="0">
              <a:solidFill>
                <a:srgbClr val="2B2B2B"/>
              </a:solidFill>
              <a:effectLst/>
              <a:latin typeface="Merriweather" pitchFamily="2" charset="77"/>
            </a:endParaRPr>
          </a:p>
          <a:p>
            <a:pPr algn="l"/>
            <a:r>
              <a:rPr lang="en-US" b="1" i="0" u="none" strike="noStrike" dirty="0">
                <a:solidFill>
                  <a:srgbClr val="2B2B2B"/>
                </a:solidFill>
                <a:effectLst/>
                <a:latin typeface="Merriweather" pitchFamily="2" charset="77"/>
              </a:rPr>
              <a:t>Representation</a:t>
            </a:r>
            <a:r>
              <a:rPr lang="en-US" b="0" i="0" u="none" strike="noStrike" dirty="0">
                <a:solidFill>
                  <a:srgbClr val="2B2B2B"/>
                </a:solidFill>
                <a:effectLst/>
                <a:latin typeface="Merriweather" pitchFamily="2" charset="77"/>
              </a:rPr>
              <a:t>: Carefully select participants to ensure a broad representation of user types. Avoiding bias towards any particular group. This diversity helps to address a wide range of needs and perspectives.</a:t>
            </a:r>
          </a:p>
          <a:p>
            <a:pPr algn="l"/>
            <a:endParaRPr lang="en-US" b="0" i="0" u="none" strike="noStrike" dirty="0">
              <a:solidFill>
                <a:srgbClr val="2B2B2B"/>
              </a:solidFill>
              <a:effectLst/>
              <a:latin typeface="Merriweather" pitchFamily="2" charset="77"/>
            </a:endParaRPr>
          </a:p>
          <a:p>
            <a:pPr algn="l"/>
            <a:r>
              <a:rPr lang="en-US" b="1" i="0" u="none" strike="noStrike" dirty="0">
                <a:solidFill>
                  <a:srgbClr val="2B2B2B"/>
                </a:solidFill>
                <a:effectLst/>
                <a:latin typeface="Merriweather" pitchFamily="2" charset="77"/>
              </a:rPr>
              <a:t>Time and resources</a:t>
            </a:r>
            <a:r>
              <a:rPr lang="en-US" b="0" i="0" u="none" strike="noStrike" dirty="0">
                <a:solidFill>
                  <a:srgbClr val="2B2B2B"/>
                </a:solidFill>
                <a:effectLst/>
                <a:latin typeface="Merriweather" pitchFamily="2" charset="77"/>
              </a:rPr>
              <a:t>: Plan for the extra time and resources participatory design may require. This may involve setting realistic timelines and budgets that account for the iterative nature of participatory processes.</a:t>
            </a:r>
          </a:p>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6</a:t>
            </a:fld>
            <a:endParaRPr lang="en-US"/>
          </a:p>
        </p:txBody>
      </p:sp>
    </p:spTree>
    <p:extLst>
      <p:ext uri="{BB962C8B-B14F-4D97-AF65-F5344CB8AC3E}">
        <p14:creationId xmlns:p14="http://schemas.microsoft.com/office/powerpoint/2010/main" val="4080268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mentioned, t</a:t>
            </a:r>
            <a:r>
              <a:rPr lang="en-US" b="0" i="0" u="none" strike="noStrike" dirty="0">
                <a:effectLst/>
                <a:latin typeface="LL Circular Pro Web"/>
              </a:rPr>
              <a:t>he most common use of participatory design is during the design phase, but you can co-design with users during any stage, including in the discovery phase. </a:t>
            </a:r>
          </a:p>
          <a:p>
            <a:endParaRPr lang="en-US" b="0" i="0" u="none" strike="noStrike" dirty="0">
              <a:effectLst/>
              <a:latin typeface="LL Circular Pro Web"/>
            </a:endParaRPr>
          </a:p>
          <a:p>
            <a:r>
              <a:rPr lang="en-US" b="0" i="0" u="none" strike="noStrike" dirty="0">
                <a:effectLst/>
                <a:latin typeface="LL Circular Pro Web"/>
              </a:rPr>
              <a:t>When involving users in the design phase, there’s a general understanding of the issue that needs to be solved, and a solution needs to be developed. </a:t>
            </a:r>
          </a:p>
          <a:p>
            <a:endParaRPr lang="en-US" b="0" i="0" u="none" strike="noStrike" dirty="0">
              <a:effectLst/>
              <a:latin typeface="LL Circular Pro Web"/>
            </a:endParaRPr>
          </a:p>
          <a:p>
            <a:r>
              <a:rPr lang="en-US" b="0" i="0" u="none" strike="noStrike" dirty="0">
                <a:effectLst/>
                <a:latin typeface="LL Circular Pro Web"/>
              </a:rPr>
              <a:t>There are many approaches and activities within co-designing, each one with different outcomes. </a:t>
            </a:r>
          </a:p>
          <a:p>
            <a:endParaRPr lang="en-US" b="0" i="0" u="none" strike="noStrike" dirty="0">
              <a:effectLst/>
              <a:latin typeface="LL Circular Pro Web"/>
            </a:endParaRPr>
          </a:p>
          <a:p>
            <a:r>
              <a:rPr lang="en-US" b="0" i="0" u="none" strike="noStrike" dirty="0">
                <a:solidFill>
                  <a:srgbClr val="000000"/>
                </a:solidFill>
                <a:effectLst/>
                <a:latin typeface="-webkit-standard"/>
              </a:rPr>
              <a:t>Depending on what do you want to learn or achieve (e.g., generate ideas, generate prototype, validate concepts, refine prototypes) – the process will look different</a:t>
            </a:r>
            <a:endParaRPr lang="en-US" b="0" i="0" u="none" strike="noStrike" dirty="0">
              <a:effectLst/>
              <a:latin typeface="LL Circular Pro Web"/>
            </a:endParaRPr>
          </a:p>
          <a:p>
            <a:endParaRPr lang="en-US" b="0" i="0" u="none" strike="noStrike" dirty="0">
              <a:effectLst/>
              <a:latin typeface="LL Circular Pro Web"/>
            </a:endParaRPr>
          </a:p>
          <a:p>
            <a:r>
              <a:rPr lang="en-US" b="0" i="0" u="none" strike="noStrike" dirty="0">
                <a:effectLst/>
                <a:latin typeface="LL Circular Pro Web"/>
              </a:rPr>
              <a:t>The general idea is to bring users together along designers in shared </a:t>
            </a:r>
            <a:r>
              <a:rPr lang="en-US" b="0" i="0" u="none" strike="noStrike" dirty="0">
                <a:solidFill>
                  <a:srgbClr val="54544B"/>
                </a:solidFill>
                <a:effectLst/>
                <a:latin typeface="Nunito" panose="020F0502020204030204" pitchFamily="34" charset="0"/>
              </a:rPr>
              <a:t>spaces where they can collaborate </a:t>
            </a:r>
          </a:p>
          <a:p>
            <a:endParaRPr lang="en-US" b="0" i="0" u="none" strike="noStrike" dirty="0">
              <a:solidFill>
                <a:srgbClr val="54544B"/>
              </a:solidFill>
              <a:effectLst/>
              <a:latin typeface="Nunito" panose="020F0502020204030204" pitchFamily="34" charset="0"/>
            </a:endParaRPr>
          </a:p>
          <a:p>
            <a:r>
              <a:rPr lang="en-US" b="0" i="0" u="none" strike="noStrike" dirty="0">
                <a:solidFill>
                  <a:srgbClr val="54544B"/>
                </a:solidFill>
                <a:effectLst/>
                <a:latin typeface="Nunito" panose="020F0502020204030204" pitchFamily="34" charset="0"/>
              </a:rPr>
              <a:t>A couple ways to do so is via focus group sessions, workshops, or co-design sessions</a:t>
            </a:r>
          </a:p>
          <a:p>
            <a:r>
              <a:rPr lang="en-US" b="0" i="0" u="none" strike="noStrike" dirty="0">
                <a:solidFill>
                  <a:srgbClr val="54544B"/>
                </a:solidFill>
                <a:effectLst/>
                <a:latin typeface="Nunito" panose="020F0502020204030204" pitchFamily="34" charset="0"/>
              </a:rPr>
              <a:t>Here: </a:t>
            </a:r>
            <a:endParaRPr lang="en-US" b="0" i="0" u="none" strike="noStrike" dirty="0">
              <a:effectLst/>
              <a:latin typeface="LL Circular Pro Web"/>
            </a:endParaRPr>
          </a:p>
          <a:p>
            <a:endParaRPr lang="en-US" b="0" i="0" u="none" strike="noStrike" dirty="0">
              <a:solidFill>
                <a:srgbClr val="2B2B2B"/>
              </a:solidFill>
              <a:effectLst/>
              <a:latin typeface="LL Circular Pro Web"/>
            </a:endParaRPr>
          </a:p>
          <a:p>
            <a:r>
              <a:rPr lang="en-US" b="0" i="0" u="none" strike="noStrike" dirty="0">
                <a:solidFill>
                  <a:srgbClr val="2B2B2B"/>
                </a:solidFill>
                <a:effectLst/>
                <a:latin typeface="LL Circular Pro Web"/>
              </a:rPr>
              <a:t>Users and designers can </a:t>
            </a:r>
            <a:r>
              <a:rPr lang="en-US" b="0" i="0" u="none" strike="noStrike" dirty="0">
                <a:solidFill>
                  <a:srgbClr val="2B2B2B"/>
                </a:solidFill>
                <a:effectLst/>
                <a:latin typeface="Merriweather" pitchFamily="2" charset="77"/>
              </a:rPr>
              <a:t>collaborate to explore ideas and solutions. These can include brainstorming solutions, coming up with sketches/concepts, or even developing journey maps and or storyboards</a:t>
            </a:r>
          </a:p>
          <a:p>
            <a:endParaRPr lang="en-US" dirty="0"/>
          </a:p>
          <a:p>
            <a:r>
              <a:rPr lang="en-US" b="0" i="0" u="none" strike="noStrike" dirty="0">
                <a:solidFill>
                  <a:srgbClr val="000000"/>
                </a:solidFill>
                <a:effectLst/>
                <a:latin typeface="Roboto" panose="02000000000000000000" pitchFamily="2" charset="0"/>
              </a:rPr>
              <a:t>Understanding how users would solve a challenge they face directly often surfaces new insights about their experiences. Either by validating or invalidating any ideas </a:t>
            </a:r>
          </a:p>
          <a:p>
            <a:endParaRPr lang="en-US" dirty="0"/>
          </a:p>
          <a:p>
            <a:r>
              <a:rPr lang="en-US" dirty="0"/>
              <a:t>As an example, with journey maps: </a:t>
            </a:r>
          </a:p>
          <a:p>
            <a:endParaRPr lang="en-US" dirty="0"/>
          </a:p>
          <a:p>
            <a:r>
              <a:rPr lang="en-US" dirty="0"/>
              <a:t>Journey maps: </a:t>
            </a:r>
          </a:p>
          <a:p>
            <a:r>
              <a:rPr lang="en-US" b="0" i="0" u="none" strike="noStrike" dirty="0">
                <a:solidFill>
                  <a:srgbClr val="000000"/>
                </a:solidFill>
                <a:effectLst/>
                <a:latin typeface="Roboto" panose="02000000000000000000" pitchFamily="2" charset="0"/>
              </a:rPr>
              <a:t>Users can map out their current experiences or provide input into a journey map developed from previous research to get richer information by extracting it within the context of an entire experience, rather than asking about the issues as a standalone exercise.</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7</a:t>
            </a:fld>
            <a:endParaRPr lang="en-US"/>
          </a:p>
        </p:txBody>
      </p:sp>
    </p:spTree>
    <p:extLst>
      <p:ext uri="{BB962C8B-B14F-4D97-AF65-F5344CB8AC3E}">
        <p14:creationId xmlns:p14="http://schemas.microsoft.com/office/powerpoint/2010/main" val="1810146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8</a:t>
            </a:fld>
            <a:endParaRPr lang="en-US"/>
          </a:p>
        </p:txBody>
      </p:sp>
    </p:spTree>
    <p:extLst>
      <p:ext uri="{BB962C8B-B14F-4D97-AF65-F5344CB8AC3E}">
        <p14:creationId xmlns:p14="http://schemas.microsoft.com/office/powerpoint/2010/main" val="3523909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participatory design, doesn’t only apply to the development of digital products and it’s not a linear rigid step by step process. </a:t>
            </a:r>
          </a:p>
        </p:txBody>
      </p:sp>
      <p:sp>
        <p:nvSpPr>
          <p:cNvPr id="4" name="Slide Number Placeholder 3"/>
          <p:cNvSpPr>
            <a:spLocks noGrp="1"/>
          </p:cNvSpPr>
          <p:nvPr>
            <p:ph type="sldNum" sz="quarter" idx="5"/>
          </p:nvPr>
        </p:nvSpPr>
        <p:spPr/>
        <p:txBody>
          <a:bodyPr/>
          <a:lstStyle/>
          <a:p>
            <a:fld id="{1CF6F21C-4A47-964E-8036-CEAF99901AB0}" type="slidenum">
              <a:rPr lang="en-US" smtClean="0"/>
              <a:t>9</a:t>
            </a:fld>
            <a:endParaRPr lang="en-US"/>
          </a:p>
        </p:txBody>
      </p:sp>
    </p:spTree>
    <p:extLst>
      <p:ext uri="{BB962C8B-B14F-4D97-AF65-F5344CB8AC3E}">
        <p14:creationId xmlns:p14="http://schemas.microsoft.com/office/powerpoint/2010/main" val="2828673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10</a:t>
            </a:fld>
            <a:endParaRPr lang="en-US"/>
          </a:p>
        </p:txBody>
      </p:sp>
    </p:spTree>
    <p:extLst>
      <p:ext uri="{BB962C8B-B14F-4D97-AF65-F5344CB8AC3E}">
        <p14:creationId xmlns:p14="http://schemas.microsoft.com/office/powerpoint/2010/main" val="4279312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6F21C-4A47-964E-8036-CEAF99901AB0}" type="slidenum">
              <a:rPr lang="en-US" smtClean="0"/>
              <a:t>11</a:t>
            </a:fld>
            <a:endParaRPr lang="en-US"/>
          </a:p>
        </p:txBody>
      </p:sp>
    </p:spTree>
    <p:extLst>
      <p:ext uri="{BB962C8B-B14F-4D97-AF65-F5344CB8AC3E}">
        <p14:creationId xmlns:p14="http://schemas.microsoft.com/office/powerpoint/2010/main" val="842756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056835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381439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81971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3BEBF9-1257-1748-A6E1-B12AC28C9220}" type="datetimeFigureOut">
              <a:rPr lang="en-US" smtClean="0"/>
              <a:t>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133526997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3BEBF9-1257-1748-A6E1-B12AC28C9220}" type="datetimeFigureOut">
              <a:rPr lang="en-US" smtClean="0"/>
              <a:t>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377247943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584306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46009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127023595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3BEBF9-1257-1748-A6E1-B12AC28C9220}" type="datetimeFigureOut">
              <a:rPr lang="en-US" smtClean="0"/>
              <a:t>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089553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3BEBF9-1257-1748-A6E1-B12AC28C9220}" type="datetimeFigureOut">
              <a:rPr lang="en-US" smtClean="0"/>
              <a:t>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1439267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864561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76483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892671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249540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3693781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8757724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3BEBF9-1257-1748-A6E1-B12AC28C9220}"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02B89-5DD3-D946-AE65-55A5CCD4D9F7}" type="slidenum">
              <a:rPr lang="en-US" smtClean="0"/>
              <a:t>‹#›</a:t>
            </a:fld>
            <a:endParaRPr lang="en-US"/>
          </a:p>
        </p:txBody>
      </p:sp>
    </p:spTree>
    <p:extLst>
      <p:ext uri="{BB962C8B-B14F-4D97-AF65-F5344CB8AC3E}">
        <p14:creationId xmlns:p14="http://schemas.microsoft.com/office/powerpoint/2010/main" val="2963479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23BEBF9-1257-1748-A6E1-B12AC28C9220}" type="datetimeFigureOut">
              <a:rPr lang="en-US" smtClean="0"/>
              <a:t>2/4/25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2C02B89-5DD3-D946-AE65-55A5CCD4D9F7}" type="slidenum">
              <a:rPr lang="en-US" smtClean="0"/>
              <a:t>‹#›</a:t>
            </a:fld>
            <a:endParaRPr lang="en-US"/>
          </a:p>
        </p:txBody>
      </p:sp>
    </p:spTree>
    <p:extLst>
      <p:ext uri="{BB962C8B-B14F-4D97-AF65-F5344CB8AC3E}">
        <p14:creationId xmlns:p14="http://schemas.microsoft.com/office/powerpoint/2010/main" val="1632416079"/>
      </p:ext>
    </p:extLst>
  </p:cSld>
  <p:clrMap bg1="dk1" tx1="lt1" bg2="dk2" tx2="lt2" accent1="accent1" accent2="accent2" accent3="accent3" accent4="accent4" accent5="accent5" accent6="accent6" hlink="hlink" folHlink="folHlink"/>
  <p:sldLayoutIdLst>
    <p:sldLayoutId id="2147484044"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 id="2147484055" r:id="rId12"/>
    <p:sldLayoutId id="2147484056" r:id="rId13"/>
    <p:sldLayoutId id="2147484057" r:id="rId14"/>
    <p:sldLayoutId id="2147484058" r:id="rId15"/>
    <p:sldLayoutId id="2147484059" r:id="rId16"/>
    <p:sldLayoutId id="214748406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8.jpeg"/><Relationship Id="rId5" Type="http://schemas.openxmlformats.org/officeDocument/2006/relationships/image" Target="../media/image1.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7.png"/><Relationship Id="rId5" Type="http://schemas.openxmlformats.org/officeDocument/2006/relationships/image" Target="../media/image1.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7.png"/><Relationship Id="rId4" Type="http://schemas.openxmlformats.org/officeDocument/2006/relationships/notesSlide" Target="../notesSlides/notesSlide4.xml"/><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2.xml"/><Relationship Id="rId7" Type="http://schemas.openxmlformats.org/officeDocument/2006/relationships/diagramQuickStyle" Target="../diagrams/quickStyle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7.png"/><Relationship Id="rId4" Type="http://schemas.openxmlformats.org/officeDocument/2006/relationships/notesSlide" Target="../notesSlides/notesSlide5.xml"/><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slideLayout" Target="../slideLayouts/slideLayout2.xml"/><Relationship Id="rId7" Type="http://schemas.openxmlformats.org/officeDocument/2006/relationships/diagramQuickStyle" Target="../diagrams/quickStyle3.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7.png"/><Relationship Id="rId4" Type="http://schemas.openxmlformats.org/officeDocument/2006/relationships/notesSlide" Target="../notesSlides/notesSlide6.xml"/><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9.jpeg"/><Relationship Id="rId5" Type="http://schemas.openxmlformats.org/officeDocument/2006/relationships/image" Target="../media/image1.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ideo" Target="https://www.youtube.com/embed/PmLUOptcxzg?feature=oembed" TargetMode="Externa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41.png"/><Relationship Id="rId4" Type="http://schemas.openxmlformats.org/officeDocument/2006/relationships/notesSlide" Target="../notesSlides/notesSlide9.xml"/><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xml"/><Relationship Id="rId7" Type="http://schemas.openxmlformats.org/officeDocument/2006/relationships/hyperlink" Target="mailto:cast4317@vandals.uidaho.edu" TargetMode="Externa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42.jpeg"/><Relationship Id="rId5" Type="http://schemas.openxmlformats.org/officeDocument/2006/relationships/image" Target="../media/image1.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hyperlink" Target="https://www.youtube.com/watch?v=PmLUOptcxzg" TargetMode="External"/><Relationship Id="rId3" Type="http://schemas.openxmlformats.org/officeDocument/2006/relationships/hyperlink" Target="https://www.interaction-design.org/literature/topics/participatory-design" TargetMode="External"/><Relationship Id="rId7" Type="http://schemas.openxmlformats.org/officeDocument/2006/relationships/hyperlink" Target="https://blog.uxtweak.com/participatory-desig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uxmag.com/articles/participatory-design-in-practice" TargetMode="External"/><Relationship Id="rId5" Type="http://schemas.openxmlformats.org/officeDocument/2006/relationships/hyperlink" Target="https://pointjupiter.com/what-is-participatory-design-what-makes-it-great/" TargetMode="External"/><Relationship Id="rId4" Type="http://schemas.openxmlformats.org/officeDocument/2006/relationships/hyperlink" Target="https://dscout.com/people-nerds/participatory-design#:~:text=The%20most%20common%20use%20of,the%20best%20tools%20to%20u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People doing teamwork illustration">
            <a:extLst>
              <a:ext uri="{FF2B5EF4-FFF2-40B4-BE49-F238E27FC236}">
                <a16:creationId xmlns:a16="http://schemas.microsoft.com/office/drawing/2014/main" id="{7FFED2F1-BA9D-B434-CAAF-3D356D4DD223}"/>
              </a:ext>
            </a:extLst>
          </p:cNvPr>
          <p:cNvPicPr>
            <a:picLocks noChangeAspect="1"/>
          </p:cNvPicPr>
          <p:nvPr/>
        </p:nvPicPr>
        <p:blipFill>
          <a:blip r:embed="rId5">
            <a:alphaModFix amt="40000"/>
          </a:blip>
          <a:srcRect t="11067"/>
          <a:stretch/>
        </p:blipFill>
        <p:spPr>
          <a:xfrm>
            <a:off x="20" y="10"/>
            <a:ext cx="12191980" cy="6857990"/>
          </a:xfrm>
          <a:prstGeom prst="rect">
            <a:avLst/>
          </a:prstGeom>
        </p:spPr>
      </p:pic>
      <p:sp>
        <p:nvSpPr>
          <p:cNvPr id="2" name="Title 1">
            <a:extLst>
              <a:ext uri="{FF2B5EF4-FFF2-40B4-BE49-F238E27FC236}">
                <a16:creationId xmlns:a16="http://schemas.microsoft.com/office/drawing/2014/main" id="{D1C31569-A644-6C2C-F643-34E03C65E222}"/>
              </a:ext>
            </a:extLst>
          </p:cNvPr>
          <p:cNvSpPr>
            <a:spLocks noGrp="1"/>
          </p:cNvSpPr>
          <p:nvPr>
            <p:ph type="ctrTitle"/>
          </p:nvPr>
        </p:nvSpPr>
        <p:spPr>
          <a:xfrm>
            <a:off x="1154955" y="1447800"/>
            <a:ext cx="8825658" cy="3329581"/>
          </a:xfrm>
        </p:spPr>
        <p:txBody>
          <a:bodyPr>
            <a:normAutofit/>
          </a:bodyPr>
          <a:lstStyle/>
          <a:p>
            <a:r>
              <a:rPr lang="en-US">
                <a:solidFill>
                  <a:schemeClr val="tx1"/>
                </a:solidFill>
              </a:rPr>
              <a:t>Participatory Design</a:t>
            </a:r>
          </a:p>
        </p:txBody>
      </p:sp>
      <p:sp>
        <p:nvSpPr>
          <p:cNvPr id="3" name="Subtitle 2">
            <a:extLst>
              <a:ext uri="{FF2B5EF4-FFF2-40B4-BE49-F238E27FC236}">
                <a16:creationId xmlns:a16="http://schemas.microsoft.com/office/drawing/2014/main" id="{50C1A9DC-9E5F-72DB-8295-CAF2A2BDD21A}"/>
              </a:ext>
            </a:extLst>
          </p:cNvPr>
          <p:cNvSpPr>
            <a:spLocks noGrp="1"/>
          </p:cNvSpPr>
          <p:nvPr>
            <p:ph type="subTitle" idx="1"/>
          </p:nvPr>
        </p:nvSpPr>
        <p:spPr>
          <a:xfrm>
            <a:off x="1154955" y="4777380"/>
            <a:ext cx="8825658" cy="861420"/>
          </a:xfrm>
        </p:spPr>
        <p:txBody>
          <a:bodyPr>
            <a:normAutofit/>
          </a:bodyPr>
          <a:lstStyle/>
          <a:p>
            <a:r>
              <a:rPr lang="en-US">
                <a:solidFill>
                  <a:schemeClr val="tx1"/>
                </a:solidFill>
              </a:rPr>
              <a:t>Miguel Castillo</a:t>
            </a:r>
          </a:p>
        </p:txBody>
      </p:sp>
      <p:pic>
        <p:nvPicPr>
          <p:cNvPr id="5" name="Audio 4">
            <a:hlinkClick r:id="" action="ppaction://media"/>
            <a:extLst>
              <a:ext uri="{FF2B5EF4-FFF2-40B4-BE49-F238E27FC236}">
                <a16:creationId xmlns:a16="http://schemas.microsoft.com/office/drawing/2014/main" id="{B7D4F1A4-E9C4-2CF3-21D6-229077C6E17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1487616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0693"/>
    </mc:Choice>
    <mc:Fallback>
      <p:transition spd="slow" advTm="206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E03F0F-1DBC-5346-0D0C-7A7EE724FF35}"/>
              </a:ext>
            </a:extLst>
          </p:cNvPr>
          <p:cNvSpPr>
            <a:spLocks noGrp="1"/>
          </p:cNvSpPr>
          <p:nvPr>
            <p:ph type="title"/>
          </p:nvPr>
        </p:nvSpPr>
        <p:spPr>
          <a:xfrm>
            <a:off x="648930" y="629266"/>
            <a:ext cx="6188190" cy="1622321"/>
          </a:xfrm>
        </p:spPr>
        <p:txBody>
          <a:bodyPr>
            <a:normAutofit/>
          </a:bodyPr>
          <a:lstStyle/>
          <a:p>
            <a:r>
              <a:rPr lang="en-US">
                <a:solidFill>
                  <a:srgbClr val="EBEBEB"/>
                </a:solidFill>
              </a:rPr>
              <a:t>What is Participatory Design?</a:t>
            </a:r>
          </a:p>
        </p:txBody>
      </p:sp>
      <p:sp>
        <p:nvSpPr>
          <p:cNvPr id="3" name="Content Placeholder 2">
            <a:extLst>
              <a:ext uri="{FF2B5EF4-FFF2-40B4-BE49-F238E27FC236}">
                <a16:creationId xmlns:a16="http://schemas.microsoft.com/office/drawing/2014/main" id="{1A773C2E-EA47-6758-A13E-D25D9DC7F2F4}"/>
              </a:ext>
            </a:extLst>
          </p:cNvPr>
          <p:cNvSpPr>
            <a:spLocks noGrp="1"/>
          </p:cNvSpPr>
          <p:nvPr>
            <p:ph idx="1"/>
          </p:nvPr>
        </p:nvSpPr>
        <p:spPr>
          <a:xfrm>
            <a:off x="648930" y="2438400"/>
            <a:ext cx="6188189" cy="3785419"/>
          </a:xfrm>
        </p:spPr>
        <p:txBody>
          <a:bodyPr>
            <a:normAutofit/>
          </a:bodyPr>
          <a:lstStyle/>
          <a:p>
            <a:pPr>
              <a:lnSpc>
                <a:spcPct val="90000"/>
              </a:lnSpc>
            </a:pPr>
            <a:r>
              <a:rPr lang="en-US" sz="1700">
                <a:solidFill>
                  <a:srgbClr val="FFFFFF"/>
                </a:solidFill>
              </a:rPr>
              <a:t>A collaborative design approach that involves end users in the design process.</a:t>
            </a:r>
          </a:p>
          <a:p>
            <a:pPr lvl="1">
              <a:lnSpc>
                <a:spcPct val="90000"/>
              </a:lnSpc>
            </a:pPr>
            <a:r>
              <a:rPr lang="en-US" sz="1700" b="0" i="0" u="none" strike="noStrike">
                <a:solidFill>
                  <a:srgbClr val="FFFFFF"/>
                </a:solidFill>
                <a:effectLst/>
                <a:latin typeface="-webkit-standard"/>
              </a:rPr>
              <a:t>Users take an active role in the design process, rather than just testing solutions, being observed, </a:t>
            </a:r>
            <a:r>
              <a:rPr lang="en-US" sz="1700">
                <a:solidFill>
                  <a:srgbClr val="FFFFFF"/>
                </a:solidFill>
                <a:latin typeface="-webkit-standard"/>
              </a:rPr>
              <a:t>or</a:t>
            </a:r>
            <a:r>
              <a:rPr lang="en-US" sz="1700" b="0" i="0" u="none" strike="noStrike">
                <a:solidFill>
                  <a:srgbClr val="FFFFFF"/>
                </a:solidFill>
                <a:effectLst/>
                <a:latin typeface="-webkit-standard"/>
              </a:rPr>
              <a:t> interviewed.</a:t>
            </a:r>
          </a:p>
          <a:p>
            <a:pPr lvl="1">
              <a:lnSpc>
                <a:spcPct val="90000"/>
              </a:lnSpc>
            </a:pPr>
            <a:r>
              <a:rPr lang="en-US" sz="1700">
                <a:solidFill>
                  <a:srgbClr val="FFFFFF"/>
                </a:solidFill>
                <a:latin typeface="-webkit-standard"/>
              </a:rPr>
              <a:t>Users bring more diversity and expertise</a:t>
            </a:r>
          </a:p>
          <a:p>
            <a:pPr lvl="1">
              <a:lnSpc>
                <a:spcPct val="90000"/>
              </a:lnSpc>
            </a:pPr>
            <a:r>
              <a:rPr lang="en-US" sz="1700">
                <a:solidFill>
                  <a:srgbClr val="FFFFFF"/>
                </a:solidFill>
                <a:latin typeface="-webkit-standard"/>
              </a:rPr>
              <a:t>Helps build buy in, satisfaction, and confidence among end users</a:t>
            </a:r>
            <a:endParaRPr lang="en-US" sz="1700">
              <a:solidFill>
                <a:srgbClr val="FFFFFF"/>
              </a:solidFill>
            </a:endParaRPr>
          </a:p>
          <a:p>
            <a:pPr>
              <a:lnSpc>
                <a:spcPct val="90000"/>
              </a:lnSpc>
            </a:pPr>
            <a:r>
              <a:rPr lang="en-US" sz="1700">
                <a:solidFill>
                  <a:srgbClr val="FFFFFF"/>
                </a:solidFill>
              </a:rPr>
              <a:t>Aka</a:t>
            </a:r>
          </a:p>
          <a:p>
            <a:pPr lvl="1">
              <a:lnSpc>
                <a:spcPct val="90000"/>
              </a:lnSpc>
            </a:pPr>
            <a:r>
              <a:rPr lang="en-US" sz="1700">
                <a:solidFill>
                  <a:srgbClr val="FFFFFF"/>
                </a:solidFill>
              </a:rPr>
              <a:t>Co-design </a:t>
            </a:r>
          </a:p>
          <a:p>
            <a:pPr lvl="1">
              <a:lnSpc>
                <a:spcPct val="90000"/>
              </a:lnSpc>
            </a:pPr>
            <a:r>
              <a:rPr lang="en-US" sz="1700">
                <a:solidFill>
                  <a:srgbClr val="FFFFFF"/>
                </a:solidFill>
              </a:rPr>
              <a:t>Cooperative design</a:t>
            </a:r>
          </a:p>
          <a:p>
            <a:pPr lvl="1">
              <a:lnSpc>
                <a:spcPct val="90000"/>
              </a:lnSpc>
            </a:pPr>
            <a:r>
              <a:rPr lang="en-US" sz="1700">
                <a:solidFill>
                  <a:srgbClr val="FFFFFF"/>
                </a:solidFill>
              </a:rPr>
              <a:t>Community design</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People at the meeting desk">
            <a:extLst>
              <a:ext uri="{FF2B5EF4-FFF2-40B4-BE49-F238E27FC236}">
                <a16:creationId xmlns:a16="http://schemas.microsoft.com/office/drawing/2014/main" id="{F4575D4E-09B3-EF7D-9C06-DE0C23887A67}"/>
              </a:ext>
            </a:extLst>
          </p:cNvPr>
          <p:cNvPicPr>
            <a:picLocks noChangeAspect="1"/>
          </p:cNvPicPr>
          <p:nvPr/>
        </p:nvPicPr>
        <p:blipFill>
          <a:blip r:embed="rId6"/>
          <a:srcRect l="24944" r="34347"/>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pic>
        <p:nvPicPr>
          <p:cNvPr id="19" name="Audio 18">
            <a:hlinkClick r:id="" action="ppaction://media"/>
            <a:extLst>
              <a:ext uri="{FF2B5EF4-FFF2-40B4-BE49-F238E27FC236}">
                <a16:creationId xmlns:a16="http://schemas.microsoft.com/office/drawing/2014/main" id="{94042A6E-48AE-2ECC-52E3-3C625D5D9B79}"/>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775082215"/>
      </p:ext>
    </p:extLst>
  </p:cSld>
  <p:clrMapOvr>
    <a:masterClrMapping/>
  </p:clrMapOvr>
  <mc:AlternateContent xmlns:mc="http://schemas.openxmlformats.org/markup-compatibility/2006">
    <mc:Choice xmlns:p14="http://schemas.microsoft.com/office/powerpoint/2010/main" Requires="p14">
      <p:transition spd="slow" p14:dur="2000" advTm="151989"/>
    </mc:Choice>
    <mc:Fallback>
      <p:transition spd="slow" advTm="1519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3" name="Freeform: Shape 22">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4FD2ACB-C2F6-519C-164E-BBA03A827520}"/>
              </a:ext>
            </a:extLst>
          </p:cNvPr>
          <p:cNvSpPr>
            <a:spLocks noGrp="1"/>
          </p:cNvSpPr>
          <p:nvPr>
            <p:ph type="title"/>
          </p:nvPr>
        </p:nvSpPr>
        <p:spPr>
          <a:xfrm>
            <a:off x="653143" y="1645920"/>
            <a:ext cx="3522879" cy="4470821"/>
          </a:xfrm>
        </p:spPr>
        <p:txBody>
          <a:bodyPr>
            <a:normAutofit/>
          </a:bodyPr>
          <a:lstStyle/>
          <a:p>
            <a:pPr algn="r"/>
            <a:r>
              <a:rPr lang="en-US">
                <a:solidFill>
                  <a:schemeClr val="bg2"/>
                </a:solidFill>
              </a:rPr>
              <a:t>Background</a:t>
            </a:r>
          </a:p>
        </p:txBody>
      </p:sp>
      <p:sp>
        <p:nvSpPr>
          <p:cNvPr id="3" name="Content Placeholder 2">
            <a:extLst>
              <a:ext uri="{FF2B5EF4-FFF2-40B4-BE49-F238E27FC236}">
                <a16:creationId xmlns:a16="http://schemas.microsoft.com/office/drawing/2014/main" id="{36B6E5B8-034A-F9CF-AC3C-61108E246FB4}"/>
              </a:ext>
            </a:extLst>
          </p:cNvPr>
          <p:cNvSpPr>
            <a:spLocks noGrp="1"/>
          </p:cNvSpPr>
          <p:nvPr>
            <p:ph idx="1"/>
          </p:nvPr>
        </p:nvSpPr>
        <p:spPr>
          <a:xfrm>
            <a:off x="5204109" y="1645920"/>
            <a:ext cx="6269434" cy="4470821"/>
          </a:xfrm>
        </p:spPr>
        <p:txBody>
          <a:bodyPr>
            <a:normAutofit/>
          </a:bodyPr>
          <a:lstStyle/>
          <a:p>
            <a:r>
              <a:rPr lang="en-US" dirty="0"/>
              <a:t>Emerged in Scandinavia in the 1970s</a:t>
            </a:r>
          </a:p>
          <a:p>
            <a:pPr lvl="1"/>
            <a:r>
              <a:rPr lang="en-US" dirty="0"/>
              <a:t>In response to top-down approach </a:t>
            </a:r>
          </a:p>
          <a:p>
            <a:pPr lvl="1"/>
            <a:r>
              <a:rPr lang="en-US" dirty="0"/>
              <a:t>Involve workers in designing and organizing their work environment</a:t>
            </a:r>
          </a:p>
          <a:p>
            <a:pPr lvl="1"/>
            <a:r>
              <a:rPr lang="en-US" dirty="0"/>
              <a:t>Create more humane and efficient work systems</a:t>
            </a:r>
          </a:p>
          <a:p>
            <a:pPr marL="457200" lvl="1" indent="0">
              <a:buNone/>
            </a:pPr>
            <a:endParaRPr lang="en-US" dirty="0"/>
          </a:p>
          <a:p>
            <a:pPr marL="457200" lvl="1" indent="0">
              <a:buNone/>
            </a:pPr>
            <a:r>
              <a:rPr lang="en-US" dirty="0"/>
              <a:t>"..in many ways, participatory design is how humans naturally go about solutions. In one way or another, it has been around as long as humans have.” - Victor </a:t>
            </a:r>
            <a:r>
              <a:rPr lang="en-US" dirty="0" err="1"/>
              <a:t>Udoewa</a:t>
            </a:r>
            <a:r>
              <a:rPr lang="en-US" dirty="0"/>
              <a:t>, </a:t>
            </a:r>
            <a:r>
              <a:rPr lang="en-US" i="1" dirty="0"/>
              <a:t>Research Design Lead at NASA</a:t>
            </a:r>
          </a:p>
        </p:txBody>
      </p:sp>
      <p:pic>
        <p:nvPicPr>
          <p:cNvPr id="43" name="Audio 42">
            <a:hlinkClick r:id="" action="ppaction://media"/>
            <a:extLst>
              <a:ext uri="{FF2B5EF4-FFF2-40B4-BE49-F238E27FC236}">
                <a16:creationId xmlns:a16="http://schemas.microsoft.com/office/drawing/2014/main" id="{22F18331-A855-ACE6-5FC5-427A82BF2B9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76924324"/>
      </p:ext>
    </p:extLst>
  </p:cSld>
  <p:clrMapOvr>
    <a:masterClrMapping/>
  </p:clrMapOvr>
  <mc:AlternateContent xmlns:mc="http://schemas.openxmlformats.org/markup-compatibility/2006">
    <mc:Choice xmlns:p14="http://schemas.microsoft.com/office/powerpoint/2010/main" Requires="p14">
      <p:transition spd="slow" p14:dur="2000" advTm="92586"/>
    </mc:Choice>
    <mc:Fallback>
      <p:transition spd="slow" advTm="925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8C8217-45F9-7F56-5C6C-0A38F06FB0E0}"/>
              </a:ext>
            </a:extLst>
          </p:cNvPr>
          <p:cNvSpPr>
            <a:spLocks noGrp="1"/>
          </p:cNvSpPr>
          <p:nvPr>
            <p:ph type="title"/>
          </p:nvPr>
        </p:nvSpPr>
        <p:spPr>
          <a:xfrm>
            <a:off x="643855" y="1447800"/>
            <a:ext cx="3108626" cy="4572000"/>
          </a:xfrm>
        </p:spPr>
        <p:txBody>
          <a:bodyPr anchor="ctr">
            <a:normAutofit/>
          </a:bodyPr>
          <a:lstStyle/>
          <a:p>
            <a:r>
              <a:rPr lang="en-US" sz="3200">
                <a:solidFill>
                  <a:srgbClr val="F2F2F2"/>
                </a:solidFill>
              </a:rPr>
              <a:t>Key Principles</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D474860A-DDCD-CC87-1485-BBC3354E68FE}"/>
              </a:ext>
            </a:extLst>
          </p:cNvPr>
          <p:cNvGraphicFramePr>
            <a:graphicFrameLocks noGrp="1"/>
          </p:cNvGraphicFramePr>
          <p:nvPr>
            <p:ph idx="1"/>
            <p:extLst>
              <p:ext uri="{D42A27DB-BD31-4B8C-83A1-F6EECF244321}">
                <p14:modId xmlns:p14="http://schemas.microsoft.com/office/powerpoint/2010/main" val="2602997662"/>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6" name="Audio 25">
            <a:hlinkClick r:id="" action="ppaction://media"/>
            <a:extLst>
              <a:ext uri="{FF2B5EF4-FFF2-40B4-BE49-F238E27FC236}">
                <a16:creationId xmlns:a16="http://schemas.microsoft.com/office/drawing/2014/main" id="{57BE920C-119D-504E-9411-762BF52FF55B}"/>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3115444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74826"/>
    </mc:Choice>
    <mc:Fallback>
      <p:transition spd="slow" advTm="748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3B1AC7-E119-0F6A-FF5B-4DF8EB45BD1A}"/>
              </a:ext>
            </a:extLst>
          </p:cNvPr>
          <p:cNvSpPr>
            <a:spLocks noGrp="1"/>
          </p:cNvSpPr>
          <p:nvPr>
            <p:ph type="title"/>
          </p:nvPr>
        </p:nvSpPr>
        <p:spPr>
          <a:xfrm>
            <a:off x="643855" y="1447800"/>
            <a:ext cx="3108626" cy="4572000"/>
          </a:xfrm>
        </p:spPr>
        <p:txBody>
          <a:bodyPr anchor="ctr">
            <a:normAutofit/>
          </a:bodyPr>
          <a:lstStyle/>
          <a:p>
            <a:r>
              <a:rPr lang="en-US" sz="3200">
                <a:solidFill>
                  <a:srgbClr val="F2F2F2"/>
                </a:solidFill>
              </a:rPr>
              <a:t>Participatory Design Benefits</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67D1540D-7C37-DC86-0DC7-8DFFB70E5C7F}"/>
              </a:ext>
            </a:extLst>
          </p:cNvPr>
          <p:cNvGraphicFramePr>
            <a:graphicFrameLocks noGrp="1"/>
          </p:cNvGraphicFramePr>
          <p:nvPr>
            <p:ph idx="1"/>
            <p:extLst>
              <p:ext uri="{D42A27DB-BD31-4B8C-83A1-F6EECF244321}">
                <p14:modId xmlns:p14="http://schemas.microsoft.com/office/powerpoint/2010/main" val="3712619730"/>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0" name="Audio 29">
            <a:hlinkClick r:id="" action="ppaction://media"/>
            <a:extLst>
              <a:ext uri="{FF2B5EF4-FFF2-40B4-BE49-F238E27FC236}">
                <a16:creationId xmlns:a16="http://schemas.microsoft.com/office/drawing/2014/main" id="{D5E7B629-B993-EE7F-6C2F-3C9B0B038549}"/>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99913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158976"/>
    </mc:Choice>
    <mc:Fallback>
      <p:transition spd="slow" advTm="1589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EE9AA-9AF0-D962-AF46-413D7E4E2F25}"/>
              </a:ext>
            </a:extLst>
          </p:cNvPr>
          <p:cNvSpPr>
            <a:spLocks noGrp="1"/>
          </p:cNvSpPr>
          <p:nvPr>
            <p:ph type="title"/>
          </p:nvPr>
        </p:nvSpPr>
        <p:spPr>
          <a:xfrm>
            <a:off x="643855" y="1447800"/>
            <a:ext cx="3108626" cy="4572000"/>
          </a:xfrm>
        </p:spPr>
        <p:txBody>
          <a:bodyPr anchor="ctr">
            <a:normAutofit/>
          </a:bodyPr>
          <a:lstStyle/>
          <a:p>
            <a:r>
              <a:rPr lang="en-US" sz="3200">
                <a:solidFill>
                  <a:srgbClr val="F2F2F2"/>
                </a:solidFill>
              </a:rPr>
              <a:t>Participatory Design Challenges</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E571CDD5-58C9-0A41-9B0E-1D08DA70D46A}"/>
              </a:ext>
            </a:extLst>
          </p:cNvPr>
          <p:cNvGraphicFramePr>
            <a:graphicFrameLocks noGrp="1"/>
          </p:cNvGraphicFramePr>
          <p:nvPr>
            <p:ph idx="1"/>
            <p:extLst>
              <p:ext uri="{D42A27DB-BD31-4B8C-83A1-F6EECF244321}">
                <p14:modId xmlns:p14="http://schemas.microsoft.com/office/powerpoint/2010/main" val="614909591"/>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9" name="Audio 18">
            <a:hlinkClick r:id="" action="ppaction://media"/>
            <a:extLst>
              <a:ext uri="{FF2B5EF4-FFF2-40B4-BE49-F238E27FC236}">
                <a16:creationId xmlns:a16="http://schemas.microsoft.com/office/drawing/2014/main" id="{97EF789F-67F4-C006-3064-6B95E6738E91}"/>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85054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162666"/>
    </mc:Choice>
    <mc:Fallback>
      <p:transition spd="slow" advTm="1626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2"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AFA62-45FD-DF1A-0D2B-796A8349574B}"/>
              </a:ext>
            </a:extLst>
          </p:cNvPr>
          <p:cNvSpPr>
            <a:spLocks noGrp="1"/>
          </p:cNvSpPr>
          <p:nvPr>
            <p:ph type="title"/>
          </p:nvPr>
        </p:nvSpPr>
        <p:spPr>
          <a:xfrm>
            <a:off x="648930" y="629266"/>
            <a:ext cx="6188190" cy="1622321"/>
          </a:xfrm>
        </p:spPr>
        <p:txBody>
          <a:bodyPr>
            <a:normAutofit/>
          </a:bodyPr>
          <a:lstStyle/>
          <a:p>
            <a:r>
              <a:rPr lang="en-US">
                <a:solidFill>
                  <a:srgbClr val="EBEBEB"/>
                </a:solidFill>
              </a:rPr>
              <a:t>Implementing Participatory Design</a:t>
            </a:r>
          </a:p>
        </p:txBody>
      </p:sp>
      <p:sp>
        <p:nvSpPr>
          <p:cNvPr id="3" name="Content Placeholder 2">
            <a:extLst>
              <a:ext uri="{FF2B5EF4-FFF2-40B4-BE49-F238E27FC236}">
                <a16:creationId xmlns:a16="http://schemas.microsoft.com/office/drawing/2014/main" id="{50C638A0-DF1F-30A8-AF7B-1D13BCD945BE}"/>
              </a:ext>
            </a:extLst>
          </p:cNvPr>
          <p:cNvSpPr>
            <a:spLocks noGrp="1"/>
          </p:cNvSpPr>
          <p:nvPr>
            <p:ph idx="1"/>
          </p:nvPr>
        </p:nvSpPr>
        <p:spPr>
          <a:xfrm>
            <a:off x="648930" y="2438400"/>
            <a:ext cx="6188189" cy="3785419"/>
          </a:xfrm>
        </p:spPr>
        <p:txBody>
          <a:bodyPr>
            <a:normAutofit/>
          </a:bodyPr>
          <a:lstStyle/>
          <a:p>
            <a:r>
              <a:rPr lang="en-US">
                <a:solidFill>
                  <a:srgbClr val="FFFFFF"/>
                </a:solidFill>
              </a:rPr>
              <a:t>Focus groups, workshops, co-design sessions </a:t>
            </a:r>
          </a:p>
          <a:p>
            <a:pPr lvl="1"/>
            <a:r>
              <a:rPr lang="en-US">
                <a:solidFill>
                  <a:srgbClr val="FFFFFF"/>
                </a:solidFill>
              </a:rPr>
              <a:t>Brainstorming ideas </a:t>
            </a:r>
          </a:p>
          <a:p>
            <a:pPr lvl="1"/>
            <a:r>
              <a:rPr lang="en-US">
                <a:solidFill>
                  <a:srgbClr val="FFFFFF"/>
                </a:solidFill>
              </a:rPr>
              <a:t>Co-designing concepts</a:t>
            </a:r>
          </a:p>
          <a:p>
            <a:pPr lvl="1"/>
            <a:r>
              <a:rPr lang="en-US">
                <a:solidFill>
                  <a:srgbClr val="FFFFFF"/>
                </a:solidFill>
              </a:rPr>
              <a:t>Journey maps </a:t>
            </a:r>
          </a:p>
          <a:p>
            <a:pPr lvl="1"/>
            <a:r>
              <a:rPr lang="en-US">
                <a:solidFill>
                  <a:srgbClr val="FFFFFF"/>
                </a:solidFill>
              </a:rPr>
              <a:t>Storyboards </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3" name="Picture 4">
            <a:extLst>
              <a:ext uri="{FF2B5EF4-FFF2-40B4-BE49-F238E27FC236}">
                <a16:creationId xmlns:a16="http://schemas.microsoft.com/office/drawing/2014/main" id="{AE72C26F-10F5-6C4D-B43E-E63B1ECE814F}"/>
              </a:ext>
            </a:extLst>
          </p:cNvPr>
          <p:cNvPicPr>
            <a:picLocks noChangeAspect="1"/>
          </p:cNvPicPr>
          <p:nvPr/>
        </p:nvPicPr>
        <p:blipFill>
          <a:blip r:embed="rId6"/>
          <a:srcRect l="31946" r="27345"/>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pic>
        <p:nvPicPr>
          <p:cNvPr id="4" name="Audio 3">
            <a:hlinkClick r:id="" action="ppaction://media"/>
            <a:extLst>
              <a:ext uri="{FF2B5EF4-FFF2-40B4-BE49-F238E27FC236}">
                <a16:creationId xmlns:a16="http://schemas.microsoft.com/office/drawing/2014/main" id="{FFA9FF73-F1FB-D7F8-2E08-0339E642558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576292215"/>
      </p:ext>
    </p:extLst>
  </p:cSld>
  <p:clrMapOvr>
    <a:masterClrMapping/>
  </p:clrMapOvr>
  <mc:AlternateContent xmlns:mc="http://schemas.openxmlformats.org/markup-compatibility/2006">
    <mc:Choice xmlns:p14="http://schemas.microsoft.com/office/powerpoint/2010/main" Requires="p14">
      <p:transition spd="slow" p14:dur="2000" advTm="228875"/>
    </mc:Choice>
    <mc:Fallback>
      <p:transition spd="slow" advTm="2288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D67CA421-FA2B-47ED-A101-F8BBEBB2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AFA62-45FD-DF1A-0D2B-796A8349574B}"/>
              </a:ext>
            </a:extLst>
          </p:cNvPr>
          <p:cNvSpPr>
            <a:spLocks noGrp="1"/>
          </p:cNvSpPr>
          <p:nvPr>
            <p:ph type="title"/>
          </p:nvPr>
        </p:nvSpPr>
        <p:spPr>
          <a:xfrm>
            <a:off x="8200279" y="1325880"/>
            <a:ext cx="3344020" cy="3066507"/>
          </a:xfrm>
        </p:spPr>
        <p:txBody>
          <a:bodyPr vert="horz" lIns="91440" tIns="45720" rIns="91440" bIns="45720" rtlCol="0" anchor="b">
            <a:normAutofit/>
          </a:bodyPr>
          <a:lstStyle/>
          <a:p>
            <a:pPr>
              <a:lnSpc>
                <a:spcPct val="90000"/>
              </a:lnSpc>
            </a:pPr>
            <a:r>
              <a:rPr lang="en-US" sz="3800" b="0" i="0" kern="1200">
                <a:solidFill>
                  <a:srgbClr val="EBEBEB"/>
                </a:solidFill>
                <a:latin typeface="+mj-lt"/>
                <a:ea typeface="+mj-ea"/>
                <a:cs typeface="+mj-cs"/>
              </a:rPr>
              <a:t>Participatory Design Example</a:t>
            </a:r>
          </a:p>
        </p:txBody>
      </p:sp>
      <p:sp useBgFill="1">
        <p:nvSpPr>
          <p:cNvPr id="23" name="Rectangle 22">
            <a:extLst>
              <a:ext uri="{FF2B5EF4-FFF2-40B4-BE49-F238E27FC236}">
                <a16:creationId xmlns:a16="http://schemas.microsoft.com/office/drawing/2014/main" id="{12425D82-CD5E-45A4-9542-70951E59F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21DB897-A621-4D5F-AC81-91199AC43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Online Media 3">
            <a:hlinkClick r:id="" action="ppaction://media"/>
            <a:extLst>
              <a:ext uri="{FF2B5EF4-FFF2-40B4-BE49-F238E27FC236}">
                <a16:creationId xmlns:a16="http://schemas.microsoft.com/office/drawing/2014/main" id="{01352F5A-3D48-2DDE-EEC7-79F0C3025EFB}"/>
              </a:ext>
            </a:extLst>
          </p:cNvPr>
          <p:cNvPicPr>
            <a:picLocks noGrp="1" noRot="1" noChangeAspect="1"/>
          </p:cNvPicPr>
          <p:nvPr>
            <p:ph idx="1"/>
            <a:videoFile r:link="rId1"/>
          </p:nvPr>
        </p:nvPicPr>
        <p:blipFill>
          <a:blip r:embed="rId8"/>
          <a:stretch>
            <a:fillRect/>
          </a:stretch>
        </p:blipFill>
        <p:spPr>
          <a:xfrm>
            <a:off x="956954" y="1656147"/>
            <a:ext cx="6275584" cy="3545704"/>
          </a:xfrm>
          <a:prstGeom prst="rect">
            <a:avLst/>
          </a:prstGeom>
          <a:effectLst/>
        </p:spPr>
      </p:pic>
    </p:spTree>
    <p:extLst>
      <p:ext uri="{BB962C8B-B14F-4D97-AF65-F5344CB8AC3E}">
        <p14:creationId xmlns:p14="http://schemas.microsoft.com/office/powerpoint/2010/main" val="371360280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D67CA421-FA2B-47ED-A101-F8BBEBB2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AFA62-45FD-DF1A-0D2B-796A8349574B}"/>
              </a:ext>
            </a:extLst>
          </p:cNvPr>
          <p:cNvSpPr>
            <a:spLocks noGrp="1"/>
          </p:cNvSpPr>
          <p:nvPr>
            <p:ph type="title"/>
          </p:nvPr>
        </p:nvSpPr>
        <p:spPr>
          <a:xfrm>
            <a:off x="8200279" y="1325880"/>
            <a:ext cx="3344020" cy="3066507"/>
          </a:xfrm>
        </p:spPr>
        <p:txBody>
          <a:bodyPr vert="horz" lIns="91440" tIns="45720" rIns="91440" bIns="45720" rtlCol="0" anchor="b">
            <a:normAutofit/>
          </a:bodyPr>
          <a:lstStyle/>
          <a:p>
            <a:pPr>
              <a:lnSpc>
                <a:spcPct val="90000"/>
              </a:lnSpc>
            </a:pPr>
            <a:r>
              <a:rPr lang="en-US" sz="3800" b="0" i="0" kern="1200">
                <a:solidFill>
                  <a:srgbClr val="EBEBEB"/>
                </a:solidFill>
                <a:latin typeface="+mj-lt"/>
                <a:ea typeface="+mj-ea"/>
                <a:cs typeface="+mj-cs"/>
              </a:rPr>
              <a:t>Participatory Design Example</a:t>
            </a:r>
          </a:p>
        </p:txBody>
      </p:sp>
      <p:sp useBgFill="1">
        <p:nvSpPr>
          <p:cNvPr id="23" name="Rectangle 22">
            <a:extLst>
              <a:ext uri="{FF2B5EF4-FFF2-40B4-BE49-F238E27FC236}">
                <a16:creationId xmlns:a16="http://schemas.microsoft.com/office/drawing/2014/main" id="{12425D82-CD5E-45A4-9542-70951E59F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21DB897-A621-4D5F-AC81-91199AC43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Audio 5">
            <a:hlinkClick r:id="" action="ppaction://media"/>
            <a:extLst>
              <a:ext uri="{FF2B5EF4-FFF2-40B4-BE49-F238E27FC236}">
                <a16:creationId xmlns:a16="http://schemas.microsoft.com/office/drawing/2014/main" id="{D83832E8-7F47-5A74-3C00-C1104617624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pic>
        <p:nvPicPr>
          <p:cNvPr id="12" name="Content Placeholder 11" descr="A video game with a play button&#10;&#10;Description automatically generated">
            <a:extLst>
              <a:ext uri="{FF2B5EF4-FFF2-40B4-BE49-F238E27FC236}">
                <a16:creationId xmlns:a16="http://schemas.microsoft.com/office/drawing/2014/main" id="{0EE896C2-EF04-4B21-B1A0-3C83BCAB06DD}"/>
              </a:ext>
            </a:extLst>
          </p:cNvPr>
          <p:cNvPicPr>
            <a:picLocks noGrp="1" noChangeAspect="1"/>
          </p:cNvPicPr>
          <p:nvPr>
            <p:ph idx="1"/>
          </p:nvPr>
        </p:nvPicPr>
        <p:blipFill>
          <a:blip r:embed="rId10"/>
          <a:stretch>
            <a:fillRect/>
          </a:stretch>
        </p:blipFill>
        <p:spPr>
          <a:xfrm>
            <a:off x="872672" y="1645076"/>
            <a:ext cx="6328680" cy="3567846"/>
          </a:xfrm>
        </p:spPr>
      </p:pic>
    </p:spTree>
    <p:extLst>
      <p:ext uri="{BB962C8B-B14F-4D97-AF65-F5344CB8AC3E}">
        <p14:creationId xmlns:p14="http://schemas.microsoft.com/office/powerpoint/2010/main" val="2120364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56160"/>
    </mc:Choice>
    <mc:Fallback>
      <p:transition spd="slow" advTm="56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34CA6E-E889-B4B9-EE90-7D22C1C60B9F}"/>
              </a:ext>
            </a:extLst>
          </p:cNvPr>
          <p:cNvSpPr>
            <a:spLocks noGrp="1"/>
          </p:cNvSpPr>
          <p:nvPr>
            <p:ph type="title"/>
          </p:nvPr>
        </p:nvSpPr>
        <p:spPr>
          <a:xfrm>
            <a:off x="5411931" y="452718"/>
            <a:ext cx="4638903" cy="1400530"/>
          </a:xfrm>
        </p:spPr>
        <p:txBody>
          <a:bodyPr>
            <a:normAutofit/>
          </a:bodyPr>
          <a:lstStyle/>
          <a:p>
            <a:r>
              <a:rPr lang="en-US" dirty="0"/>
              <a:t>Thank You</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a:extLst>
              <a:ext uri="{FF2B5EF4-FFF2-40B4-BE49-F238E27FC236}">
                <a16:creationId xmlns:a16="http://schemas.microsoft.com/office/drawing/2014/main" id="{0E13CC2F-42DD-BBA7-6AA6-4EC9E921BB7C}"/>
              </a:ext>
            </a:extLst>
          </p:cNvPr>
          <p:cNvPicPr>
            <a:picLocks noChangeAspect="1"/>
          </p:cNvPicPr>
          <p:nvPr/>
        </p:nvPicPr>
        <p:blipFill>
          <a:blip r:embed="rId6"/>
          <a:srcRect l="5576" r="53634"/>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3" name="Rectangle 1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92F99417-413E-AD2E-15DD-9679D5AFEF39}"/>
              </a:ext>
            </a:extLst>
          </p:cNvPr>
          <p:cNvSpPr>
            <a:spLocks noGrp="1"/>
          </p:cNvSpPr>
          <p:nvPr>
            <p:ph idx="1"/>
          </p:nvPr>
        </p:nvSpPr>
        <p:spPr>
          <a:xfrm>
            <a:off x="5410950" y="2052918"/>
            <a:ext cx="4638903" cy="4195481"/>
          </a:xfrm>
        </p:spPr>
        <p:txBody>
          <a:bodyPr>
            <a:normAutofit/>
          </a:bodyPr>
          <a:lstStyle/>
          <a:p>
            <a:r>
              <a:rPr lang="en-US" dirty="0"/>
              <a:t>Thank you very much for your time! If you have any questions, please contact me via - </a:t>
            </a:r>
            <a:r>
              <a:rPr lang="en-US" dirty="0">
                <a:hlinkClick r:id="rId7"/>
              </a:rPr>
              <a:t>cast4317@vandals.uidaho.edu</a:t>
            </a:r>
            <a:endParaRPr lang="en-US" dirty="0"/>
          </a:p>
        </p:txBody>
      </p:sp>
      <p:pic>
        <p:nvPicPr>
          <p:cNvPr id="7" name="Audio 6">
            <a:hlinkClick r:id="" action="ppaction://media"/>
            <a:extLst>
              <a:ext uri="{FF2B5EF4-FFF2-40B4-BE49-F238E27FC236}">
                <a16:creationId xmlns:a16="http://schemas.microsoft.com/office/drawing/2014/main" id="{CBCAE030-D800-5A92-F39E-218E8823C20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22339554"/>
      </p:ext>
    </p:extLst>
  </p:cSld>
  <p:clrMapOvr>
    <a:masterClrMapping/>
  </p:clrMapOvr>
  <mc:AlternateContent xmlns:mc="http://schemas.openxmlformats.org/markup-compatibility/2006">
    <mc:Choice xmlns:p14="http://schemas.microsoft.com/office/powerpoint/2010/main" Requires="p14">
      <p:transition spd="slow" p14:dur="2000" advTm="20256"/>
    </mc:Choice>
    <mc:Fallback>
      <p:transition spd="slow" advTm="202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788AB-F41D-FF74-7279-3A4BC617CD2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849638C-8AA1-1DF8-8333-C40EE828DE3E}"/>
              </a:ext>
            </a:extLst>
          </p:cNvPr>
          <p:cNvSpPr>
            <a:spLocks noGrp="1"/>
          </p:cNvSpPr>
          <p:nvPr>
            <p:ph idx="1"/>
          </p:nvPr>
        </p:nvSpPr>
        <p:spPr/>
        <p:txBody>
          <a:bodyPr>
            <a:normAutofit fontScale="85000" lnSpcReduction="20000"/>
          </a:bodyPr>
          <a:lstStyle/>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Interaction Design Foundation - </a:t>
            </a:r>
            <a:r>
              <a:rPr lang="en-US" sz="1800" dirty="0" err="1">
                <a:effectLst/>
                <a:ea typeface="Calibri" panose="020F0502020204030204" pitchFamily="34" charset="0"/>
                <a:cs typeface="Times New Roman" panose="02020603050405020304" pitchFamily="18" charset="0"/>
              </a:rPr>
              <a:t>IxDF</a:t>
            </a:r>
            <a:r>
              <a:rPr lang="en-US" sz="1800" dirty="0">
                <a:effectLst/>
                <a:ea typeface="Calibri" panose="020F0502020204030204" pitchFamily="34" charset="0"/>
                <a:cs typeface="Times New Roman" panose="02020603050405020304" pitchFamily="18" charset="0"/>
              </a:rPr>
              <a:t>. (2023, March 17). What is Participatory Design?. Interaction Design Foundation - </a:t>
            </a:r>
            <a:r>
              <a:rPr lang="en-US" sz="1800" dirty="0" err="1">
                <a:effectLst/>
                <a:ea typeface="Calibri" panose="020F0502020204030204" pitchFamily="34" charset="0"/>
                <a:cs typeface="Times New Roman" panose="02020603050405020304" pitchFamily="18" charset="0"/>
              </a:rPr>
              <a:t>IxDF</a:t>
            </a:r>
            <a:r>
              <a:rPr lang="en-US" sz="1800" dirty="0">
                <a:effectLst/>
                <a:ea typeface="Calibri" panose="020F0502020204030204" pitchFamily="34" charset="0"/>
                <a:cs typeface="Times New Roman" panose="02020603050405020304" pitchFamily="18" charset="0"/>
              </a:rPr>
              <a:t>. </a:t>
            </a:r>
            <a:r>
              <a:rPr lang="en-US" sz="1800" u="sng" dirty="0">
                <a:solidFill>
                  <a:srgbClr val="0563C1"/>
                </a:solidFill>
                <a:effectLst/>
                <a:ea typeface="Calibri" panose="020F0502020204030204" pitchFamily="34" charset="0"/>
                <a:cs typeface="Times New Roman" panose="02020603050405020304" pitchFamily="18" charset="0"/>
                <a:hlinkClick r:id="rId3"/>
              </a:rPr>
              <a:t>https://www.interaction-design.org/literature/topics/participatory-design</a:t>
            </a:r>
            <a:endParaRPr lang="en-US" sz="1800" dirty="0">
              <a:effectLst/>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800"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Anderson-</a:t>
            </a:r>
            <a:r>
              <a:rPr lang="en-US" sz="1800" dirty="0" err="1">
                <a:effectLst/>
                <a:ea typeface="Calibri" panose="020F0502020204030204" pitchFamily="34" charset="0"/>
                <a:cs typeface="Times New Roman" panose="02020603050405020304" pitchFamily="18" charset="0"/>
              </a:rPr>
              <a:t>stanier</a:t>
            </a:r>
            <a:r>
              <a:rPr lang="en-US" sz="1800" dirty="0">
                <a:effectLst/>
                <a:ea typeface="Calibri" panose="020F0502020204030204" pitchFamily="34" charset="0"/>
                <a:cs typeface="Times New Roman" panose="02020603050405020304" pitchFamily="18" charset="0"/>
              </a:rPr>
              <a:t>, n. (2021, December 16). </a:t>
            </a:r>
            <a:r>
              <a:rPr lang="en-US" sz="1800" i="1" dirty="0">
                <a:effectLst/>
                <a:ea typeface="Calibri" panose="020F0502020204030204" pitchFamily="34" charset="0"/>
                <a:cs typeface="Times New Roman" panose="02020603050405020304" pitchFamily="18" charset="0"/>
              </a:rPr>
              <a:t>Come together: including participatory design in your research process</a:t>
            </a:r>
            <a:r>
              <a:rPr lang="en-US" sz="1800" dirty="0">
                <a:effectLst/>
                <a:ea typeface="Calibri" panose="020F0502020204030204" pitchFamily="34" charset="0"/>
                <a:cs typeface="Times New Roman" panose="02020603050405020304" pitchFamily="18" charset="0"/>
              </a:rPr>
              <a:t>. </a:t>
            </a:r>
            <a:r>
              <a:rPr lang="en-US" sz="1800" dirty="0" err="1">
                <a:effectLst/>
                <a:ea typeface="Calibri" panose="020F0502020204030204" pitchFamily="34" charset="0"/>
                <a:cs typeface="Times New Roman" panose="02020603050405020304" pitchFamily="18" charset="0"/>
              </a:rPr>
              <a:t>dscout.com</a:t>
            </a:r>
            <a:r>
              <a:rPr lang="en-US" sz="1800" dirty="0">
                <a:effectLst/>
                <a:ea typeface="Calibri" panose="020F0502020204030204" pitchFamily="34" charset="0"/>
                <a:cs typeface="Times New Roman" panose="02020603050405020304" pitchFamily="18" charset="0"/>
              </a:rPr>
              <a:t>. </a:t>
            </a:r>
            <a:r>
              <a:rPr lang="en-US" sz="1800" u="sng" dirty="0">
                <a:solidFill>
                  <a:srgbClr val="0563C1"/>
                </a:solidFill>
                <a:effectLst/>
                <a:ea typeface="Calibri" panose="020F0502020204030204" pitchFamily="34" charset="0"/>
                <a:cs typeface="Times New Roman" panose="02020603050405020304" pitchFamily="18" charset="0"/>
                <a:hlinkClick r:id="rId4"/>
              </a:rPr>
              <a:t>https://dscout.com/people-nerds/participatory-design#:~:text=The%20most%20common%20use%20of,the%20best%20tools%20to%20use</a:t>
            </a:r>
            <a:r>
              <a:rPr lang="en-US" sz="1800" dirty="0">
                <a:effectLst/>
                <a:ea typeface="Calibri" panose="020F0502020204030204" pitchFamily="34" charset="0"/>
                <a:cs typeface="Times New Roman" panose="02020603050405020304" pitchFamily="18" charset="0"/>
              </a:rPr>
              <a:t>.</a:t>
            </a:r>
          </a:p>
          <a:p>
            <a:pPr marL="0" marR="0" indent="0">
              <a:spcBef>
                <a:spcPts val="0"/>
              </a:spcBef>
              <a:spcAft>
                <a:spcPts val="0"/>
              </a:spcAft>
              <a:buNone/>
            </a:pPr>
            <a:endParaRPr lang="en-US" sz="1800"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sz="1800" dirty="0" err="1">
                <a:effectLst/>
                <a:ea typeface="Calibri" panose="020F0502020204030204" pitchFamily="34" charset="0"/>
                <a:cs typeface="Times New Roman" panose="02020603050405020304" pitchFamily="18" charset="0"/>
              </a:rPr>
              <a:t>Cipan</a:t>
            </a:r>
            <a:r>
              <a:rPr lang="en-US" sz="1800" dirty="0">
                <a:effectLst/>
                <a:ea typeface="Calibri" panose="020F0502020204030204" pitchFamily="34" charset="0"/>
                <a:cs typeface="Times New Roman" panose="02020603050405020304" pitchFamily="18" charset="0"/>
              </a:rPr>
              <a:t>, V., &amp; </a:t>
            </a:r>
            <a:r>
              <a:rPr lang="en-US" sz="1800" dirty="0" err="1">
                <a:effectLst/>
                <a:ea typeface="Calibri" panose="020F0502020204030204" pitchFamily="34" charset="0"/>
                <a:cs typeface="Times New Roman" panose="02020603050405020304" pitchFamily="18" charset="0"/>
              </a:rPr>
              <a:t>Anic</a:t>
            </a:r>
            <a:r>
              <a:rPr lang="en-US" sz="1800" dirty="0">
                <a:effectLst/>
                <a:ea typeface="Calibri" panose="020F0502020204030204" pitchFamily="34" charset="0"/>
                <a:cs typeface="Times New Roman" panose="02020603050405020304" pitchFamily="18" charset="0"/>
              </a:rPr>
              <a:t>, I. (2023, March 29). </a:t>
            </a:r>
            <a:r>
              <a:rPr lang="en-US" sz="1800" i="1" dirty="0">
                <a:effectLst/>
                <a:ea typeface="Calibri" panose="020F0502020204030204" pitchFamily="34" charset="0"/>
                <a:cs typeface="Times New Roman" panose="02020603050405020304" pitchFamily="18" charset="0"/>
              </a:rPr>
              <a:t>Participatory design: everything you need to know about it and how to use it</a:t>
            </a:r>
            <a:r>
              <a:rPr lang="en-US" sz="1800" dirty="0">
                <a:effectLst/>
                <a:ea typeface="Calibri" panose="020F0502020204030204" pitchFamily="34" charset="0"/>
                <a:cs typeface="Times New Roman" panose="02020603050405020304" pitchFamily="18" charset="0"/>
              </a:rPr>
              <a:t>. Point Jupiter. </a:t>
            </a:r>
            <a:r>
              <a:rPr lang="en-US" sz="1800" u="sng" dirty="0">
                <a:solidFill>
                  <a:srgbClr val="0563C1"/>
                </a:solidFill>
                <a:effectLst/>
                <a:ea typeface="Calibri" panose="020F0502020204030204" pitchFamily="34" charset="0"/>
                <a:cs typeface="Times New Roman" panose="02020603050405020304" pitchFamily="18" charset="0"/>
                <a:hlinkClick r:id="rId5"/>
              </a:rPr>
              <a:t>https://pointjupiter.com/what-is-participatory-design-what-makes-it-great/</a:t>
            </a:r>
            <a:endParaRPr lang="en-US" sz="1800" dirty="0">
              <a:effectLst/>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800"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sz="1800" dirty="0" err="1">
                <a:effectLst/>
                <a:ea typeface="Calibri" panose="020F0502020204030204" pitchFamily="34" charset="0"/>
                <a:cs typeface="Times New Roman" panose="02020603050405020304" pitchFamily="18" charset="0"/>
              </a:rPr>
              <a:t>Elizarova</a:t>
            </a:r>
            <a:r>
              <a:rPr lang="en-US" sz="1800" dirty="0">
                <a:effectLst/>
                <a:ea typeface="Calibri" panose="020F0502020204030204" pitchFamily="34" charset="0"/>
                <a:cs typeface="Times New Roman" panose="02020603050405020304" pitchFamily="18" charset="0"/>
              </a:rPr>
              <a:t>, O., &amp; Dowd, K. (2017, December 14). </a:t>
            </a:r>
            <a:r>
              <a:rPr lang="en-US" sz="1800" i="1" dirty="0">
                <a:effectLst/>
                <a:ea typeface="Calibri" panose="020F0502020204030204" pitchFamily="34" charset="0"/>
                <a:cs typeface="Times New Roman" panose="02020603050405020304" pitchFamily="18" charset="0"/>
              </a:rPr>
              <a:t>Participatory design in practice</a:t>
            </a:r>
            <a:r>
              <a:rPr lang="en-US" sz="1800" dirty="0">
                <a:effectLst/>
                <a:ea typeface="Calibri" panose="020F0502020204030204" pitchFamily="34" charset="0"/>
                <a:cs typeface="Times New Roman" panose="02020603050405020304" pitchFamily="18" charset="0"/>
              </a:rPr>
              <a:t>. UX Magazine. </a:t>
            </a:r>
            <a:r>
              <a:rPr lang="en-US" sz="1800" u="sng" dirty="0">
                <a:solidFill>
                  <a:srgbClr val="0563C1"/>
                </a:solidFill>
                <a:effectLst/>
                <a:ea typeface="Calibri" panose="020F0502020204030204" pitchFamily="34" charset="0"/>
                <a:cs typeface="Times New Roman" panose="02020603050405020304" pitchFamily="18" charset="0"/>
                <a:hlinkClick r:id="rId6"/>
              </a:rPr>
              <a:t>https://uxmag.com/articles/participatory-design-in-practice</a:t>
            </a:r>
            <a:endParaRPr lang="en-US" sz="1800" dirty="0">
              <a:effectLst/>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800"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sz="1800" dirty="0" err="1">
                <a:effectLst/>
                <a:ea typeface="Calibri" panose="020F0502020204030204" pitchFamily="34" charset="0"/>
                <a:cs typeface="Times New Roman" panose="02020603050405020304" pitchFamily="18" charset="0"/>
              </a:rPr>
              <a:t>Krasovskaya</a:t>
            </a:r>
            <a:r>
              <a:rPr lang="en-US" sz="1800" dirty="0">
                <a:effectLst/>
                <a:ea typeface="Calibri" panose="020F0502020204030204" pitchFamily="34" charset="0"/>
                <a:cs typeface="Times New Roman" panose="02020603050405020304" pitchFamily="18" charset="0"/>
              </a:rPr>
              <a:t>, D. (2024, September 8). </a:t>
            </a:r>
            <a:r>
              <a:rPr lang="en-US" sz="1800" i="1" dirty="0">
                <a:effectLst/>
                <a:ea typeface="Calibri" panose="020F0502020204030204" pitchFamily="34" charset="0"/>
                <a:cs typeface="Times New Roman" panose="02020603050405020304" pitchFamily="18" charset="0"/>
              </a:rPr>
              <a:t>Participatory Design: The Complete guide</a:t>
            </a:r>
            <a:r>
              <a:rPr lang="en-US" sz="1800" dirty="0">
                <a:effectLst/>
                <a:ea typeface="Calibri" panose="020F0502020204030204" pitchFamily="34" charset="0"/>
                <a:cs typeface="Times New Roman" panose="02020603050405020304" pitchFamily="18" charset="0"/>
              </a:rPr>
              <a:t>. </a:t>
            </a:r>
            <a:r>
              <a:rPr lang="en-US" sz="1800" dirty="0" err="1">
                <a:effectLst/>
                <a:ea typeface="Calibri" panose="020F0502020204030204" pitchFamily="34" charset="0"/>
                <a:cs typeface="Times New Roman" panose="02020603050405020304" pitchFamily="18" charset="0"/>
              </a:rPr>
              <a:t>UXtweak</a:t>
            </a:r>
            <a:r>
              <a:rPr lang="en-US" sz="1800" dirty="0">
                <a:effectLst/>
                <a:ea typeface="Calibri" panose="020F0502020204030204" pitchFamily="34" charset="0"/>
                <a:cs typeface="Times New Roman" panose="02020603050405020304" pitchFamily="18" charset="0"/>
              </a:rPr>
              <a:t>. </a:t>
            </a:r>
            <a:r>
              <a:rPr lang="en-US" sz="1800" u="sng" dirty="0">
                <a:solidFill>
                  <a:srgbClr val="0563C1"/>
                </a:solidFill>
                <a:effectLst/>
                <a:ea typeface="Calibri" panose="020F0502020204030204" pitchFamily="34" charset="0"/>
                <a:cs typeface="Times New Roman" panose="02020603050405020304" pitchFamily="18" charset="0"/>
                <a:hlinkClick r:id="rId7"/>
              </a:rPr>
              <a:t>https://blog.uxtweak.com/participatory-design/</a:t>
            </a:r>
            <a:endParaRPr lang="en-US" sz="1800" dirty="0">
              <a:effectLst/>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800" dirty="0">
              <a:effectLst/>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Our SG - Home of Forward SG. (2022, August 31). </a:t>
            </a:r>
            <a:r>
              <a:rPr lang="en-US" sz="1800" i="1" dirty="0">
                <a:effectLst/>
                <a:ea typeface="Calibri" panose="020F0502020204030204" pitchFamily="34" charset="0"/>
                <a:cs typeface="Times New Roman" panose="02020603050405020304" pitchFamily="18" charset="0"/>
              </a:rPr>
              <a:t>Help shape our city with participatory design</a:t>
            </a:r>
            <a:r>
              <a:rPr lang="en-US" sz="1800" dirty="0">
                <a:effectLst/>
                <a:ea typeface="Calibri" panose="020F0502020204030204" pitchFamily="34" charset="0"/>
                <a:cs typeface="Times New Roman" panose="02020603050405020304" pitchFamily="18" charset="0"/>
              </a:rPr>
              <a:t> [Video]. YouTube. </a:t>
            </a:r>
            <a:r>
              <a:rPr lang="en-US" sz="1800" u="sng" dirty="0">
                <a:solidFill>
                  <a:srgbClr val="0563C1"/>
                </a:solidFill>
                <a:effectLst/>
                <a:ea typeface="Calibri" panose="020F0502020204030204" pitchFamily="34" charset="0"/>
                <a:cs typeface="Times New Roman" panose="02020603050405020304" pitchFamily="18" charset="0"/>
                <a:hlinkClick r:id="rId8"/>
              </a:rPr>
              <a:t>https://www.youtube.com/watch?v=PmLUOptcxzg</a:t>
            </a:r>
            <a:endParaRPr lang="en-US" sz="18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330560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{A3175509-A439-7C4F-BA58-FD0EA2A5A38E}tf10001062</Template>
  <TotalTime>11172</TotalTime>
  <Words>1737</Words>
  <Application>Microsoft Macintosh PowerPoint</Application>
  <PresentationFormat>Widescreen</PresentationFormat>
  <Paragraphs>146</Paragraphs>
  <Slides>11</Slides>
  <Notes>11</Notes>
  <HiddenSlides>0</HiddenSlides>
  <MMClips>10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-webkit-standard</vt:lpstr>
      <vt:lpstr>Arial</vt:lpstr>
      <vt:lpstr>Calibri</vt:lpstr>
      <vt:lpstr>Century Gothic</vt:lpstr>
      <vt:lpstr>IBM Plex Sans</vt:lpstr>
      <vt:lpstr>LL Circular Pro Web</vt:lpstr>
      <vt:lpstr>Merriweather</vt:lpstr>
      <vt:lpstr>Nunito</vt:lpstr>
      <vt:lpstr>Roboto</vt:lpstr>
      <vt:lpstr>var(--font-serif)</vt:lpstr>
      <vt:lpstr>Wingdings 3</vt:lpstr>
      <vt:lpstr>Ion</vt:lpstr>
      <vt:lpstr>Participatory Design</vt:lpstr>
      <vt:lpstr>What is Participatory Design?</vt:lpstr>
      <vt:lpstr>Background</vt:lpstr>
      <vt:lpstr>Key Principles</vt:lpstr>
      <vt:lpstr>Participatory Design Benefits</vt:lpstr>
      <vt:lpstr>Participatory Design Challenges</vt:lpstr>
      <vt:lpstr>Implementing Participatory Design</vt:lpstr>
      <vt:lpstr>Participatory Design Example</vt:lpstr>
      <vt:lpstr>Participatory Design Example</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Castillo Perez, Miguel (cast4317@vandals.uidaho.edu)</dc:creator>
  <cp:lastModifiedBy>Castillo Perez, Miguel (cast4317@vandals.uidaho.edu)</cp:lastModifiedBy>
  <cp:revision>7</cp:revision>
  <dcterms:created xsi:type="dcterms:W3CDTF">2025-02-05T01:05:31Z</dcterms:created>
  <dcterms:modified xsi:type="dcterms:W3CDTF">2025-02-12T19:17:49Z</dcterms:modified>
</cp:coreProperties>
</file>