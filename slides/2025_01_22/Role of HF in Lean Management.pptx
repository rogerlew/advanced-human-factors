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8" r:id="rId4"/>
    <p:sldId id="259" r:id="rId5"/>
    <p:sldId id="261" r:id="rId6"/>
    <p:sldId id="260" r:id="rId7"/>
    <p:sldId id="5283" r:id="rId8"/>
    <p:sldId id="5281" r:id="rId9"/>
    <p:sldId id="5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8" autoAdjust="0"/>
    <p:restoredTop sz="76081" autoAdjust="0"/>
  </p:normalViewPr>
  <p:slideViewPr>
    <p:cSldViewPr snapToGrid="0">
      <p:cViewPr varScale="1">
        <p:scale>
          <a:sx n="30" d="100"/>
          <a:sy n="30" d="100"/>
        </p:scale>
        <p:origin x="123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30AB8C-8320-4E3F-9CFF-30C90FD57B45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4E4FDA-288A-46EE-9D13-639AF7B2FE34}">
      <dgm:prSet custT="1"/>
      <dgm:spPr/>
      <dgm:t>
        <a:bodyPr/>
        <a:lstStyle/>
        <a:p>
          <a:r>
            <a:rPr lang="en-US" sz="1600" b="1" dirty="0"/>
            <a:t>Respect </a:t>
          </a:r>
          <a:br>
            <a:rPr lang="en-US" sz="1600" b="1" dirty="0"/>
          </a:br>
          <a:r>
            <a:rPr lang="en-US" sz="1600" b="1" dirty="0"/>
            <a:t>for People</a:t>
          </a:r>
          <a:r>
            <a:rPr lang="en-US" sz="1600" dirty="0"/>
            <a:t>: </a:t>
          </a:r>
          <a:br>
            <a:rPr lang="en-US" sz="1600" dirty="0"/>
          </a:br>
          <a:r>
            <a:rPr lang="en-US" sz="1600" dirty="0"/>
            <a:t>Safety &amp; People </a:t>
          </a:r>
          <a:br>
            <a:rPr lang="en-US" sz="1600" dirty="0"/>
          </a:br>
          <a:r>
            <a:rPr lang="en-US" sz="1600" dirty="0"/>
            <a:t>First</a:t>
          </a:r>
        </a:p>
      </dgm:t>
    </dgm:pt>
    <dgm:pt modelId="{2F722A70-CF77-4A30-9AB5-A21D90B8B200}" type="parTrans" cxnId="{5AA11659-5648-4691-840E-39F67B5DE6EE}">
      <dgm:prSet/>
      <dgm:spPr/>
      <dgm:t>
        <a:bodyPr/>
        <a:lstStyle/>
        <a:p>
          <a:endParaRPr lang="en-US"/>
        </a:p>
      </dgm:t>
    </dgm:pt>
    <dgm:pt modelId="{3B3395C9-17AA-45FA-8735-4D27E1A02CF1}" type="sibTrans" cxnId="{5AA11659-5648-4691-840E-39F67B5DE6EE}">
      <dgm:prSet/>
      <dgm:spPr>
        <a:solidFill>
          <a:schemeClr val="tx2"/>
        </a:solidFill>
      </dgm:spPr>
      <dgm:t>
        <a:bodyPr/>
        <a:lstStyle/>
        <a:p>
          <a:endParaRPr lang="en-US"/>
        </a:p>
      </dgm:t>
    </dgm:pt>
    <dgm:pt modelId="{DA327E51-06A1-4FA5-8D97-9FE2119A8C58}">
      <dgm:prSet phldrT="[Text]" custT="1"/>
      <dgm:spPr/>
      <dgm:t>
        <a:bodyPr/>
        <a:lstStyle/>
        <a:p>
          <a:r>
            <a:rPr lang="en-US" sz="2800" dirty="0"/>
            <a:t>People make mistakes</a:t>
          </a:r>
        </a:p>
      </dgm:t>
    </dgm:pt>
    <dgm:pt modelId="{1D61DC27-DECD-4FE1-AA59-1369DDE35975}" type="parTrans" cxnId="{0ADEA41C-2CED-463D-9F0D-2D38FA62C62C}">
      <dgm:prSet/>
      <dgm:spPr/>
      <dgm:t>
        <a:bodyPr/>
        <a:lstStyle/>
        <a:p>
          <a:endParaRPr lang="en-US"/>
        </a:p>
      </dgm:t>
    </dgm:pt>
    <dgm:pt modelId="{3A7431EB-A6E3-4BBE-A078-A44846C2CE61}" type="sibTrans" cxnId="{0ADEA41C-2CED-463D-9F0D-2D38FA62C62C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onfused person with solid fill"/>
        </a:ext>
      </dgm:extLst>
    </dgm:pt>
    <dgm:pt modelId="{90989025-9ED2-4602-91F5-A52BEC891D53}">
      <dgm:prSet phldrT="[Text]" custT="1"/>
      <dgm:spPr/>
      <dgm:t>
        <a:bodyPr/>
        <a:lstStyle/>
        <a:p>
          <a:r>
            <a:rPr lang="en-US" sz="2800" dirty="0"/>
            <a:t>Blame fixes nothing</a:t>
          </a:r>
        </a:p>
      </dgm:t>
    </dgm:pt>
    <dgm:pt modelId="{2537F908-9481-490A-8F17-9DC63579C37F}" type="parTrans" cxnId="{CA1D6AFA-E8BA-496D-9D73-72B20EBB878D}">
      <dgm:prSet/>
      <dgm:spPr/>
      <dgm:t>
        <a:bodyPr/>
        <a:lstStyle/>
        <a:p>
          <a:endParaRPr lang="en-US"/>
        </a:p>
      </dgm:t>
    </dgm:pt>
    <dgm:pt modelId="{2D4FD559-0110-4C41-A14C-E57816C93399}" type="sibTrans" cxnId="{CA1D6AFA-E8BA-496D-9D73-72B20EBB878D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Thumbs Down with solid fill"/>
        </a:ext>
      </dgm:extLst>
    </dgm:pt>
    <dgm:pt modelId="{F3EF5CF2-CF0E-436D-83E4-210285D29B91}">
      <dgm:prSet phldrT="[Text]" custT="1"/>
      <dgm:spPr/>
      <dgm:t>
        <a:bodyPr/>
        <a:lstStyle/>
        <a:p>
          <a:r>
            <a:rPr lang="en-US" sz="2800" dirty="0"/>
            <a:t>Context drives behavior</a:t>
          </a:r>
        </a:p>
      </dgm:t>
    </dgm:pt>
    <dgm:pt modelId="{AFE0BC86-B36E-4CE1-88FE-F08E92025A48}" type="parTrans" cxnId="{AFF78C2E-4239-483F-ABE5-9349998C9E4A}">
      <dgm:prSet/>
      <dgm:spPr/>
      <dgm:t>
        <a:bodyPr/>
        <a:lstStyle/>
        <a:p>
          <a:endParaRPr lang="en-US"/>
        </a:p>
      </dgm:t>
    </dgm:pt>
    <dgm:pt modelId="{E1477C0C-192D-4BFB-8640-41217BC043E6}" type="sibTrans" cxnId="{AFF78C2E-4239-483F-ABE5-9349998C9E4A}">
      <dgm:prSet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orytelling with solid fill"/>
        </a:ext>
      </dgm:extLst>
    </dgm:pt>
    <dgm:pt modelId="{2131E8D2-D13F-4E35-8BE0-2DBA9AF15192}" type="pres">
      <dgm:prSet presAssocID="{6030AB8C-8320-4E3F-9CFF-30C90FD57B45}" presName="Name0" presStyleCnt="0">
        <dgm:presLayoutVars>
          <dgm:chMax val="7"/>
          <dgm:chPref val="7"/>
          <dgm:dir/>
        </dgm:presLayoutVars>
      </dgm:prSet>
      <dgm:spPr/>
    </dgm:pt>
    <dgm:pt modelId="{94A036EF-ECAE-4689-B01A-FFA5908EB978}" type="pres">
      <dgm:prSet presAssocID="{6030AB8C-8320-4E3F-9CFF-30C90FD57B45}" presName="Name1" presStyleCnt="0"/>
      <dgm:spPr/>
    </dgm:pt>
    <dgm:pt modelId="{8EC8E796-5072-4B0F-9F04-7301FBDC82BF}" type="pres">
      <dgm:prSet presAssocID="{3B3395C9-17AA-45FA-8735-4D27E1A02CF1}" presName="picture_1" presStyleCnt="0"/>
      <dgm:spPr/>
    </dgm:pt>
    <dgm:pt modelId="{9506AF66-3216-4928-A103-67D8266C9BAD}" type="pres">
      <dgm:prSet presAssocID="{3B3395C9-17AA-45FA-8735-4D27E1A02CF1}" presName="pictureRepeatNode" presStyleLbl="alignImgPlace1" presStyleIdx="0" presStyleCnt="4" custLinFactNeighborX="-915" custLinFactNeighborY="-3928"/>
      <dgm:spPr/>
    </dgm:pt>
    <dgm:pt modelId="{26E241F4-16D4-4063-BEF2-DF6E77101275}" type="pres">
      <dgm:prSet presAssocID="{654E4FDA-288A-46EE-9D13-639AF7B2FE34}" presName="text_1" presStyleLbl="node1" presStyleIdx="0" presStyleCnt="0" custScaleX="170205" custLinFactNeighborX="-957" custLinFactNeighborY="-44177">
        <dgm:presLayoutVars>
          <dgm:bulletEnabled val="1"/>
        </dgm:presLayoutVars>
      </dgm:prSet>
      <dgm:spPr/>
    </dgm:pt>
    <dgm:pt modelId="{B1E4712E-6400-4E1F-BC97-866DF8831BCF}" type="pres">
      <dgm:prSet presAssocID="{3A7431EB-A6E3-4BBE-A078-A44846C2CE61}" presName="picture_2" presStyleCnt="0"/>
      <dgm:spPr/>
    </dgm:pt>
    <dgm:pt modelId="{49BBC0D2-85B3-4471-8973-F110F2C9F6BA}" type="pres">
      <dgm:prSet presAssocID="{3A7431EB-A6E3-4BBE-A078-A44846C2CE61}" presName="pictureRepeatNode" presStyleLbl="alignImgPlace1" presStyleIdx="1" presStyleCnt="4"/>
      <dgm:spPr/>
    </dgm:pt>
    <dgm:pt modelId="{FBC6C3A1-9475-4F0F-960C-2767AA4D81BB}" type="pres">
      <dgm:prSet presAssocID="{DA327E51-06A1-4FA5-8D97-9FE2119A8C58}" presName="line_2" presStyleLbl="parChTrans1D1" presStyleIdx="0" presStyleCnt="3"/>
      <dgm:spPr/>
    </dgm:pt>
    <dgm:pt modelId="{59933FF6-115F-4B1A-AF4F-32213C7897B9}" type="pres">
      <dgm:prSet presAssocID="{DA327E51-06A1-4FA5-8D97-9FE2119A8C58}" presName="textparent_2" presStyleLbl="node1" presStyleIdx="0" presStyleCnt="0"/>
      <dgm:spPr/>
    </dgm:pt>
    <dgm:pt modelId="{69AC3B50-AD5C-400E-B1CC-6FBEE9029320}" type="pres">
      <dgm:prSet presAssocID="{DA327E51-06A1-4FA5-8D97-9FE2119A8C58}" presName="text_2" presStyleLbl="revTx" presStyleIdx="0" presStyleCnt="3">
        <dgm:presLayoutVars>
          <dgm:bulletEnabled val="1"/>
        </dgm:presLayoutVars>
      </dgm:prSet>
      <dgm:spPr/>
    </dgm:pt>
    <dgm:pt modelId="{BB400AF3-B1F7-4DC5-B5D6-6459BBD1F77B}" type="pres">
      <dgm:prSet presAssocID="{2D4FD559-0110-4C41-A14C-E57816C93399}" presName="picture_3" presStyleCnt="0"/>
      <dgm:spPr/>
    </dgm:pt>
    <dgm:pt modelId="{1A7CECBC-A730-483D-ADCB-441928B2D4F6}" type="pres">
      <dgm:prSet presAssocID="{2D4FD559-0110-4C41-A14C-E57816C93399}" presName="pictureRepeatNode" presStyleLbl="alignImgPlace1" presStyleIdx="2" presStyleCnt="4"/>
      <dgm:spPr/>
    </dgm:pt>
    <dgm:pt modelId="{9EF46521-C53A-4056-8776-66304C02C294}" type="pres">
      <dgm:prSet presAssocID="{90989025-9ED2-4602-91F5-A52BEC891D53}" presName="line_3" presStyleLbl="parChTrans1D1" presStyleIdx="1" presStyleCnt="3"/>
      <dgm:spPr/>
    </dgm:pt>
    <dgm:pt modelId="{63248627-550A-4E1D-90FF-F84E2B6F20ED}" type="pres">
      <dgm:prSet presAssocID="{90989025-9ED2-4602-91F5-A52BEC891D53}" presName="textparent_3" presStyleLbl="node1" presStyleIdx="0" presStyleCnt="0"/>
      <dgm:spPr/>
    </dgm:pt>
    <dgm:pt modelId="{861A56E2-2DE9-49BA-AD7D-A86D032BEB50}" type="pres">
      <dgm:prSet presAssocID="{90989025-9ED2-4602-91F5-A52BEC891D53}" presName="text_3" presStyleLbl="revTx" presStyleIdx="1" presStyleCnt="3">
        <dgm:presLayoutVars>
          <dgm:bulletEnabled val="1"/>
        </dgm:presLayoutVars>
      </dgm:prSet>
      <dgm:spPr/>
    </dgm:pt>
    <dgm:pt modelId="{F5AD4EC9-0830-4DE6-A6F2-6B42D6C59733}" type="pres">
      <dgm:prSet presAssocID="{E1477C0C-192D-4BFB-8640-41217BC043E6}" presName="picture_4" presStyleCnt="0"/>
      <dgm:spPr/>
    </dgm:pt>
    <dgm:pt modelId="{571ED134-29DB-43A1-9944-FCEF5DC8F338}" type="pres">
      <dgm:prSet presAssocID="{E1477C0C-192D-4BFB-8640-41217BC043E6}" presName="pictureRepeatNode" presStyleLbl="alignImgPlace1" presStyleIdx="3" presStyleCnt="4"/>
      <dgm:spPr/>
    </dgm:pt>
    <dgm:pt modelId="{EA0A38DA-2804-4904-9D2B-DFD58137DCBF}" type="pres">
      <dgm:prSet presAssocID="{F3EF5CF2-CF0E-436D-83E4-210285D29B91}" presName="line_4" presStyleLbl="parChTrans1D1" presStyleIdx="2" presStyleCnt="3"/>
      <dgm:spPr/>
    </dgm:pt>
    <dgm:pt modelId="{2D854BD8-B890-4E70-9DC2-507CE37B2F08}" type="pres">
      <dgm:prSet presAssocID="{F3EF5CF2-CF0E-436D-83E4-210285D29B91}" presName="textparent_4" presStyleLbl="node1" presStyleIdx="0" presStyleCnt="0"/>
      <dgm:spPr/>
    </dgm:pt>
    <dgm:pt modelId="{6575242E-16E0-4CC1-9510-933AC6003D82}" type="pres">
      <dgm:prSet presAssocID="{F3EF5CF2-CF0E-436D-83E4-210285D29B91}" presName="text_4" presStyleLbl="revTx" presStyleIdx="2" presStyleCnt="3">
        <dgm:presLayoutVars>
          <dgm:bulletEnabled val="1"/>
        </dgm:presLayoutVars>
      </dgm:prSet>
      <dgm:spPr/>
    </dgm:pt>
  </dgm:ptLst>
  <dgm:cxnLst>
    <dgm:cxn modelId="{785A6118-8C0B-43DF-91AC-CFF84B4F2A73}" type="presOf" srcId="{654E4FDA-288A-46EE-9D13-639AF7B2FE34}" destId="{26E241F4-16D4-4063-BEF2-DF6E77101275}" srcOrd="0" destOrd="0" presId="urn:microsoft.com/office/officeart/2008/layout/CircularPictureCallout"/>
    <dgm:cxn modelId="{0ADEA41C-2CED-463D-9F0D-2D38FA62C62C}" srcId="{6030AB8C-8320-4E3F-9CFF-30C90FD57B45}" destId="{DA327E51-06A1-4FA5-8D97-9FE2119A8C58}" srcOrd="1" destOrd="0" parTransId="{1D61DC27-DECD-4FE1-AA59-1369DDE35975}" sibTransId="{3A7431EB-A6E3-4BBE-A078-A44846C2CE61}"/>
    <dgm:cxn modelId="{16175F27-6D67-4153-B7E4-8D188B41C8C7}" type="presOf" srcId="{2D4FD559-0110-4C41-A14C-E57816C93399}" destId="{1A7CECBC-A730-483D-ADCB-441928B2D4F6}" srcOrd="0" destOrd="0" presId="urn:microsoft.com/office/officeart/2008/layout/CircularPictureCallout"/>
    <dgm:cxn modelId="{AFF78C2E-4239-483F-ABE5-9349998C9E4A}" srcId="{6030AB8C-8320-4E3F-9CFF-30C90FD57B45}" destId="{F3EF5CF2-CF0E-436D-83E4-210285D29B91}" srcOrd="3" destOrd="0" parTransId="{AFE0BC86-B36E-4CE1-88FE-F08E92025A48}" sibTransId="{E1477C0C-192D-4BFB-8640-41217BC043E6}"/>
    <dgm:cxn modelId="{260C5138-9D90-4060-A2C5-1AF26E4566E4}" type="presOf" srcId="{6030AB8C-8320-4E3F-9CFF-30C90FD57B45}" destId="{2131E8D2-D13F-4E35-8BE0-2DBA9AF15192}" srcOrd="0" destOrd="0" presId="urn:microsoft.com/office/officeart/2008/layout/CircularPictureCallout"/>
    <dgm:cxn modelId="{88BA8671-D1A9-4831-91D5-EF2844B87A41}" type="presOf" srcId="{DA327E51-06A1-4FA5-8D97-9FE2119A8C58}" destId="{69AC3B50-AD5C-400E-B1CC-6FBEE9029320}" srcOrd="0" destOrd="0" presId="urn:microsoft.com/office/officeart/2008/layout/CircularPictureCallout"/>
    <dgm:cxn modelId="{5AA11659-5648-4691-840E-39F67B5DE6EE}" srcId="{6030AB8C-8320-4E3F-9CFF-30C90FD57B45}" destId="{654E4FDA-288A-46EE-9D13-639AF7B2FE34}" srcOrd="0" destOrd="0" parTransId="{2F722A70-CF77-4A30-9AB5-A21D90B8B200}" sibTransId="{3B3395C9-17AA-45FA-8735-4D27E1A02CF1}"/>
    <dgm:cxn modelId="{6B5FB59D-F48B-49E5-B0DF-45C99F110503}" type="presOf" srcId="{90989025-9ED2-4602-91F5-A52BEC891D53}" destId="{861A56E2-2DE9-49BA-AD7D-A86D032BEB50}" srcOrd="0" destOrd="0" presId="urn:microsoft.com/office/officeart/2008/layout/CircularPictureCallout"/>
    <dgm:cxn modelId="{822297CB-00C3-419A-80CB-70F0B7A83BF1}" type="presOf" srcId="{F3EF5CF2-CF0E-436D-83E4-210285D29B91}" destId="{6575242E-16E0-4CC1-9510-933AC6003D82}" srcOrd="0" destOrd="0" presId="urn:microsoft.com/office/officeart/2008/layout/CircularPictureCallout"/>
    <dgm:cxn modelId="{C6AF19DB-C2DD-4648-BBBC-2907136831E4}" type="presOf" srcId="{3B3395C9-17AA-45FA-8735-4D27E1A02CF1}" destId="{9506AF66-3216-4928-A103-67D8266C9BAD}" srcOrd="0" destOrd="0" presId="urn:microsoft.com/office/officeart/2008/layout/CircularPictureCallout"/>
    <dgm:cxn modelId="{83CB62E7-89E2-426F-8034-3CC00520CE38}" type="presOf" srcId="{3A7431EB-A6E3-4BBE-A078-A44846C2CE61}" destId="{49BBC0D2-85B3-4471-8973-F110F2C9F6BA}" srcOrd="0" destOrd="0" presId="urn:microsoft.com/office/officeart/2008/layout/CircularPictureCallout"/>
    <dgm:cxn modelId="{CA1D6AFA-E8BA-496D-9D73-72B20EBB878D}" srcId="{6030AB8C-8320-4E3F-9CFF-30C90FD57B45}" destId="{90989025-9ED2-4602-91F5-A52BEC891D53}" srcOrd="2" destOrd="0" parTransId="{2537F908-9481-490A-8F17-9DC63579C37F}" sibTransId="{2D4FD559-0110-4C41-A14C-E57816C93399}"/>
    <dgm:cxn modelId="{CB1117FB-BA4F-4C92-A5ED-51C49DC928B8}" type="presOf" srcId="{E1477C0C-192D-4BFB-8640-41217BC043E6}" destId="{571ED134-29DB-43A1-9944-FCEF5DC8F338}" srcOrd="0" destOrd="0" presId="urn:microsoft.com/office/officeart/2008/layout/CircularPictureCallout"/>
    <dgm:cxn modelId="{1288C0F3-B9A7-4916-9958-E51B7F31E5F2}" type="presParOf" srcId="{2131E8D2-D13F-4E35-8BE0-2DBA9AF15192}" destId="{94A036EF-ECAE-4689-B01A-FFA5908EB978}" srcOrd="0" destOrd="0" presId="urn:microsoft.com/office/officeart/2008/layout/CircularPictureCallout"/>
    <dgm:cxn modelId="{709264A2-F86D-4918-AB9A-F70263A66FD6}" type="presParOf" srcId="{94A036EF-ECAE-4689-B01A-FFA5908EB978}" destId="{8EC8E796-5072-4B0F-9F04-7301FBDC82BF}" srcOrd="0" destOrd="0" presId="urn:microsoft.com/office/officeart/2008/layout/CircularPictureCallout"/>
    <dgm:cxn modelId="{AF4A4C57-BF69-4103-BFA9-488EF2306927}" type="presParOf" srcId="{8EC8E796-5072-4B0F-9F04-7301FBDC82BF}" destId="{9506AF66-3216-4928-A103-67D8266C9BAD}" srcOrd="0" destOrd="0" presId="urn:microsoft.com/office/officeart/2008/layout/CircularPictureCallout"/>
    <dgm:cxn modelId="{DB81B0CC-6A4D-4625-9FFF-801A42E210D7}" type="presParOf" srcId="{94A036EF-ECAE-4689-B01A-FFA5908EB978}" destId="{26E241F4-16D4-4063-BEF2-DF6E77101275}" srcOrd="1" destOrd="0" presId="urn:microsoft.com/office/officeart/2008/layout/CircularPictureCallout"/>
    <dgm:cxn modelId="{E29EB9D0-4BC5-4B4B-B1FF-6BDA1118C9A4}" type="presParOf" srcId="{94A036EF-ECAE-4689-B01A-FFA5908EB978}" destId="{B1E4712E-6400-4E1F-BC97-866DF8831BCF}" srcOrd="2" destOrd="0" presId="urn:microsoft.com/office/officeart/2008/layout/CircularPictureCallout"/>
    <dgm:cxn modelId="{881E5924-7918-4DAD-9E80-61BEB99149D5}" type="presParOf" srcId="{B1E4712E-6400-4E1F-BC97-866DF8831BCF}" destId="{49BBC0D2-85B3-4471-8973-F110F2C9F6BA}" srcOrd="0" destOrd="0" presId="urn:microsoft.com/office/officeart/2008/layout/CircularPictureCallout"/>
    <dgm:cxn modelId="{5AB5F187-EBB1-4A2A-8049-090BBE7051FF}" type="presParOf" srcId="{94A036EF-ECAE-4689-B01A-FFA5908EB978}" destId="{FBC6C3A1-9475-4F0F-960C-2767AA4D81BB}" srcOrd="3" destOrd="0" presId="urn:microsoft.com/office/officeart/2008/layout/CircularPictureCallout"/>
    <dgm:cxn modelId="{FB7055A3-3D20-482C-87E2-53D3330C30F9}" type="presParOf" srcId="{94A036EF-ECAE-4689-B01A-FFA5908EB978}" destId="{59933FF6-115F-4B1A-AF4F-32213C7897B9}" srcOrd="4" destOrd="0" presId="urn:microsoft.com/office/officeart/2008/layout/CircularPictureCallout"/>
    <dgm:cxn modelId="{C2AD365A-EBF8-46F9-9218-C4F29E6624C4}" type="presParOf" srcId="{59933FF6-115F-4B1A-AF4F-32213C7897B9}" destId="{69AC3B50-AD5C-400E-B1CC-6FBEE9029320}" srcOrd="0" destOrd="0" presId="urn:microsoft.com/office/officeart/2008/layout/CircularPictureCallout"/>
    <dgm:cxn modelId="{6D0FB14F-EFEC-4F2B-9717-9EFD5762621F}" type="presParOf" srcId="{94A036EF-ECAE-4689-B01A-FFA5908EB978}" destId="{BB400AF3-B1F7-4DC5-B5D6-6459BBD1F77B}" srcOrd="5" destOrd="0" presId="urn:microsoft.com/office/officeart/2008/layout/CircularPictureCallout"/>
    <dgm:cxn modelId="{7350B721-DD25-43E4-B632-CC0B8EDD47D0}" type="presParOf" srcId="{BB400AF3-B1F7-4DC5-B5D6-6459BBD1F77B}" destId="{1A7CECBC-A730-483D-ADCB-441928B2D4F6}" srcOrd="0" destOrd="0" presId="urn:microsoft.com/office/officeart/2008/layout/CircularPictureCallout"/>
    <dgm:cxn modelId="{A23D7CFF-3F40-422D-A6DD-DEFB5AB489F0}" type="presParOf" srcId="{94A036EF-ECAE-4689-B01A-FFA5908EB978}" destId="{9EF46521-C53A-4056-8776-66304C02C294}" srcOrd="6" destOrd="0" presId="urn:microsoft.com/office/officeart/2008/layout/CircularPictureCallout"/>
    <dgm:cxn modelId="{38F7C581-2504-438F-B774-B374274B726D}" type="presParOf" srcId="{94A036EF-ECAE-4689-B01A-FFA5908EB978}" destId="{63248627-550A-4E1D-90FF-F84E2B6F20ED}" srcOrd="7" destOrd="0" presId="urn:microsoft.com/office/officeart/2008/layout/CircularPictureCallout"/>
    <dgm:cxn modelId="{DE6E1E6C-DC03-4E3D-B5A6-01104AC3AFA8}" type="presParOf" srcId="{63248627-550A-4E1D-90FF-F84E2B6F20ED}" destId="{861A56E2-2DE9-49BA-AD7D-A86D032BEB50}" srcOrd="0" destOrd="0" presId="urn:microsoft.com/office/officeart/2008/layout/CircularPictureCallout"/>
    <dgm:cxn modelId="{2FD90928-9419-43F4-AAD2-A2B93A42A166}" type="presParOf" srcId="{94A036EF-ECAE-4689-B01A-FFA5908EB978}" destId="{F5AD4EC9-0830-4DE6-A6F2-6B42D6C59733}" srcOrd="8" destOrd="0" presId="urn:microsoft.com/office/officeart/2008/layout/CircularPictureCallout"/>
    <dgm:cxn modelId="{80DD045F-F81F-46D9-9682-15EA2278E2F4}" type="presParOf" srcId="{F5AD4EC9-0830-4DE6-A6F2-6B42D6C59733}" destId="{571ED134-29DB-43A1-9944-FCEF5DC8F338}" srcOrd="0" destOrd="0" presId="urn:microsoft.com/office/officeart/2008/layout/CircularPictureCallout"/>
    <dgm:cxn modelId="{BB4C0167-69EB-45C3-9D8E-13DA63B707CB}" type="presParOf" srcId="{94A036EF-ECAE-4689-B01A-FFA5908EB978}" destId="{EA0A38DA-2804-4904-9D2B-DFD58137DCBF}" srcOrd="9" destOrd="0" presId="urn:microsoft.com/office/officeart/2008/layout/CircularPictureCallout"/>
    <dgm:cxn modelId="{D7A6EC3D-7578-4F43-8BEC-93DCCBB0BFAA}" type="presParOf" srcId="{94A036EF-ECAE-4689-B01A-FFA5908EB978}" destId="{2D854BD8-B890-4E70-9DC2-507CE37B2F08}" srcOrd="10" destOrd="0" presId="urn:microsoft.com/office/officeart/2008/layout/CircularPictureCallout"/>
    <dgm:cxn modelId="{8E470FB0-AB62-4B96-A533-6E6A024113D2}" type="presParOf" srcId="{2D854BD8-B890-4E70-9DC2-507CE37B2F08}" destId="{6575242E-16E0-4CC1-9510-933AC6003D82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30AB8C-8320-4E3F-9CFF-30C90FD57B45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4E4FDA-288A-46EE-9D13-639AF7B2FE34}">
      <dgm:prSet custT="1"/>
      <dgm:spPr/>
      <dgm:t>
        <a:bodyPr/>
        <a:lstStyle/>
        <a:p>
          <a:r>
            <a:rPr lang="en-US" sz="1600" b="1" dirty="0"/>
            <a:t>Continuous Improvement</a:t>
          </a:r>
          <a:r>
            <a:rPr lang="en-US" sz="1600" dirty="0"/>
            <a:t>: </a:t>
          </a:r>
          <a:br>
            <a:rPr lang="en-US" sz="1600" dirty="0"/>
          </a:br>
          <a:r>
            <a:rPr lang="en-US" sz="1600" b="0" dirty="0"/>
            <a:t>Change for the Better</a:t>
          </a:r>
        </a:p>
      </dgm:t>
    </dgm:pt>
    <dgm:pt modelId="{2F722A70-CF77-4A30-9AB5-A21D90B8B200}" type="parTrans" cxnId="{5AA11659-5648-4691-840E-39F67B5DE6EE}">
      <dgm:prSet/>
      <dgm:spPr/>
      <dgm:t>
        <a:bodyPr/>
        <a:lstStyle/>
        <a:p>
          <a:endParaRPr lang="en-US"/>
        </a:p>
      </dgm:t>
    </dgm:pt>
    <dgm:pt modelId="{3B3395C9-17AA-45FA-8735-4D27E1A02CF1}" type="sibTrans" cxnId="{5AA11659-5648-4691-840E-39F67B5DE6EE}">
      <dgm:prSet/>
      <dgm:spPr>
        <a:solidFill>
          <a:srgbClr val="00003C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en-US"/>
        </a:p>
      </dgm:t>
    </dgm:pt>
    <dgm:pt modelId="{90989025-9ED2-4602-91F5-A52BEC891D53}">
      <dgm:prSet phldrT="[Text]" custT="1"/>
      <dgm:spPr/>
      <dgm:t>
        <a:bodyPr/>
        <a:lstStyle/>
        <a:p>
          <a:r>
            <a:rPr lang="en-US" sz="2800" dirty="0"/>
            <a:t>Response matters!</a:t>
          </a:r>
        </a:p>
      </dgm:t>
    </dgm:pt>
    <dgm:pt modelId="{2537F908-9481-490A-8F17-9DC63579C37F}" type="parTrans" cxnId="{CA1D6AFA-E8BA-496D-9D73-72B20EBB878D}">
      <dgm:prSet/>
      <dgm:spPr/>
      <dgm:t>
        <a:bodyPr/>
        <a:lstStyle/>
        <a:p>
          <a:endParaRPr lang="en-US"/>
        </a:p>
      </dgm:t>
    </dgm:pt>
    <dgm:pt modelId="{2D4FD559-0110-4C41-A14C-E57816C93399}" type="sibTrans" cxnId="{CA1D6AFA-E8BA-496D-9D73-72B20EBB878D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Handshake with solid fill"/>
        </a:ext>
      </dgm:extLst>
    </dgm:pt>
    <dgm:pt modelId="{DA327E51-06A1-4FA5-8D97-9FE2119A8C58}">
      <dgm:prSet phldrT="[Text]" custT="1"/>
      <dgm:spPr/>
      <dgm:t>
        <a:bodyPr/>
        <a:lstStyle/>
        <a:p>
          <a:r>
            <a:rPr lang="en-US" sz="2800" dirty="0"/>
            <a:t>Learning is vital</a:t>
          </a:r>
        </a:p>
      </dgm:t>
    </dgm:pt>
    <dgm:pt modelId="{3A7431EB-A6E3-4BBE-A078-A44846C2CE61}" type="sibTrans" cxnId="{0ADEA41C-2CED-463D-9F0D-2D38FA62C62C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ustomer review with solid fill"/>
        </a:ext>
      </dgm:extLst>
    </dgm:pt>
    <dgm:pt modelId="{1D61DC27-DECD-4FE1-AA59-1369DDE35975}" type="parTrans" cxnId="{0ADEA41C-2CED-463D-9F0D-2D38FA62C62C}">
      <dgm:prSet/>
      <dgm:spPr/>
      <dgm:t>
        <a:bodyPr/>
        <a:lstStyle/>
        <a:p>
          <a:endParaRPr lang="en-US"/>
        </a:p>
      </dgm:t>
    </dgm:pt>
    <dgm:pt modelId="{652E7C1B-F281-424A-8778-926935697001}">
      <dgm:prSet phldrT="[Text]" custT="1"/>
      <dgm:spPr/>
      <dgm:t>
        <a:bodyPr/>
        <a:lstStyle/>
        <a:p>
          <a:r>
            <a:rPr lang="en-US" sz="2800" dirty="0"/>
            <a:t>Incorporating into our work</a:t>
          </a:r>
        </a:p>
      </dgm:t>
    </dgm:pt>
    <dgm:pt modelId="{5F5B936E-4B1A-4C15-9305-1514D6328180}" type="parTrans" cxnId="{5EAE0603-49F4-411F-B74A-76418359DA54}">
      <dgm:prSet/>
      <dgm:spPr/>
      <dgm:t>
        <a:bodyPr/>
        <a:lstStyle/>
        <a:p>
          <a:endParaRPr lang="en-US"/>
        </a:p>
      </dgm:t>
    </dgm:pt>
    <dgm:pt modelId="{751848C7-C072-4F8C-8C0D-83D01FEEC6D9}" type="sibTrans" cxnId="{5EAE0603-49F4-411F-B74A-76418359DA54}">
      <dgm:prSet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Airplane with solid fill"/>
        </a:ext>
      </dgm:extLst>
    </dgm:pt>
    <dgm:pt modelId="{2131E8D2-D13F-4E35-8BE0-2DBA9AF15192}" type="pres">
      <dgm:prSet presAssocID="{6030AB8C-8320-4E3F-9CFF-30C90FD57B45}" presName="Name0" presStyleCnt="0">
        <dgm:presLayoutVars>
          <dgm:chMax val="7"/>
          <dgm:chPref val="7"/>
          <dgm:dir/>
        </dgm:presLayoutVars>
      </dgm:prSet>
      <dgm:spPr/>
    </dgm:pt>
    <dgm:pt modelId="{94A036EF-ECAE-4689-B01A-FFA5908EB978}" type="pres">
      <dgm:prSet presAssocID="{6030AB8C-8320-4E3F-9CFF-30C90FD57B45}" presName="Name1" presStyleCnt="0"/>
      <dgm:spPr/>
    </dgm:pt>
    <dgm:pt modelId="{8EC8E796-5072-4B0F-9F04-7301FBDC82BF}" type="pres">
      <dgm:prSet presAssocID="{3B3395C9-17AA-45FA-8735-4D27E1A02CF1}" presName="picture_1" presStyleCnt="0"/>
      <dgm:spPr/>
    </dgm:pt>
    <dgm:pt modelId="{9506AF66-3216-4928-A103-67D8266C9BAD}" type="pres">
      <dgm:prSet presAssocID="{3B3395C9-17AA-45FA-8735-4D27E1A02CF1}" presName="pictureRepeatNode" presStyleLbl="alignImgPlace1" presStyleIdx="0" presStyleCnt="4"/>
      <dgm:spPr>
        <a:xfrm>
          <a:off x="5653" y="0"/>
          <a:ext cx="2115060" cy="2115060"/>
        </a:xfrm>
        <a:prstGeom prst="ellipse">
          <a:avLst/>
        </a:prstGeom>
      </dgm:spPr>
    </dgm:pt>
    <dgm:pt modelId="{26E241F4-16D4-4063-BEF2-DF6E77101275}" type="pres">
      <dgm:prSet presAssocID="{654E4FDA-288A-46EE-9D13-639AF7B2FE34}" presName="text_1" presStyleLbl="node1" presStyleIdx="0" presStyleCnt="0" custScaleX="134025" custLinFactNeighborY="-35951">
        <dgm:presLayoutVars>
          <dgm:bulletEnabled val="1"/>
        </dgm:presLayoutVars>
      </dgm:prSet>
      <dgm:spPr/>
    </dgm:pt>
    <dgm:pt modelId="{B1E4712E-6400-4E1F-BC97-866DF8831BCF}" type="pres">
      <dgm:prSet presAssocID="{3A7431EB-A6E3-4BBE-A078-A44846C2CE61}" presName="picture_2" presStyleCnt="0"/>
      <dgm:spPr/>
    </dgm:pt>
    <dgm:pt modelId="{49BBC0D2-85B3-4471-8973-F110F2C9F6BA}" type="pres">
      <dgm:prSet presAssocID="{3A7431EB-A6E3-4BBE-A078-A44846C2CE61}" presName="pictureRepeatNode" presStyleLbl="alignImgPlace1" presStyleIdx="1" presStyleCnt="4"/>
      <dgm:spPr/>
    </dgm:pt>
    <dgm:pt modelId="{FBC6C3A1-9475-4F0F-960C-2767AA4D81BB}" type="pres">
      <dgm:prSet presAssocID="{DA327E51-06A1-4FA5-8D97-9FE2119A8C58}" presName="line_2" presStyleLbl="parChTrans1D1" presStyleIdx="0" presStyleCnt="3"/>
      <dgm:spPr/>
    </dgm:pt>
    <dgm:pt modelId="{59933FF6-115F-4B1A-AF4F-32213C7897B9}" type="pres">
      <dgm:prSet presAssocID="{DA327E51-06A1-4FA5-8D97-9FE2119A8C58}" presName="textparent_2" presStyleLbl="node1" presStyleIdx="0" presStyleCnt="0"/>
      <dgm:spPr/>
    </dgm:pt>
    <dgm:pt modelId="{69AC3B50-AD5C-400E-B1CC-6FBEE9029320}" type="pres">
      <dgm:prSet presAssocID="{DA327E51-06A1-4FA5-8D97-9FE2119A8C58}" presName="text_2" presStyleLbl="revTx" presStyleIdx="0" presStyleCnt="3" custScaleX="217485">
        <dgm:presLayoutVars>
          <dgm:bulletEnabled val="1"/>
        </dgm:presLayoutVars>
      </dgm:prSet>
      <dgm:spPr/>
    </dgm:pt>
    <dgm:pt modelId="{BB400AF3-B1F7-4DC5-B5D6-6459BBD1F77B}" type="pres">
      <dgm:prSet presAssocID="{2D4FD559-0110-4C41-A14C-E57816C93399}" presName="picture_3" presStyleCnt="0"/>
      <dgm:spPr/>
    </dgm:pt>
    <dgm:pt modelId="{1A7CECBC-A730-483D-ADCB-441928B2D4F6}" type="pres">
      <dgm:prSet presAssocID="{2D4FD559-0110-4C41-A14C-E57816C93399}" presName="pictureRepeatNode" presStyleLbl="alignImgPlace1" presStyleIdx="2" presStyleCnt="4"/>
      <dgm:spPr/>
    </dgm:pt>
    <dgm:pt modelId="{9EF46521-C53A-4056-8776-66304C02C294}" type="pres">
      <dgm:prSet presAssocID="{90989025-9ED2-4602-91F5-A52BEC891D53}" presName="line_3" presStyleLbl="parChTrans1D1" presStyleIdx="1" presStyleCnt="3"/>
      <dgm:spPr/>
    </dgm:pt>
    <dgm:pt modelId="{63248627-550A-4E1D-90FF-F84E2B6F20ED}" type="pres">
      <dgm:prSet presAssocID="{90989025-9ED2-4602-91F5-A52BEC891D53}" presName="textparent_3" presStyleLbl="node1" presStyleIdx="0" presStyleCnt="0"/>
      <dgm:spPr/>
    </dgm:pt>
    <dgm:pt modelId="{861A56E2-2DE9-49BA-AD7D-A86D032BEB50}" type="pres">
      <dgm:prSet presAssocID="{90989025-9ED2-4602-91F5-A52BEC891D53}" presName="text_3" presStyleLbl="revTx" presStyleIdx="1" presStyleCnt="3" custScaleX="216775">
        <dgm:presLayoutVars>
          <dgm:bulletEnabled val="1"/>
        </dgm:presLayoutVars>
      </dgm:prSet>
      <dgm:spPr/>
    </dgm:pt>
    <dgm:pt modelId="{F288815C-A5C1-4C3B-910F-F1FEF1E16C56}" type="pres">
      <dgm:prSet presAssocID="{751848C7-C072-4F8C-8C0D-83D01FEEC6D9}" presName="picture_4" presStyleCnt="0"/>
      <dgm:spPr/>
    </dgm:pt>
    <dgm:pt modelId="{974E2610-27BB-43F3-BE8B-2ACE20FACF7C}" type="pres">
      <dgm:prSet presAssocID="{751848C7-C072-4F8C-8C0D-83D01FEEC6D9}" presName="pictureRepeatNode" presStyleLbl="alignImgPlace1" presStyleIdx="3" presStyleCnt="4"/>
      <dgm:spPr/>
    </dgm:pt>
    <dgm:pt modelId="{2B8B8497-214A-4057-A2B3-A93E12A576F4}" type="pres">
      <dgm:prSet presAssocID="{652E7C1B-F281-424A-8778-926935697001}" presName="line_4" presStyleLbl="parChTrans1D1" presStyleIdx="2" presStyleCnt="3"/>
      <dgm:spPr/>
    </dgm:pt>
    <dgm:pt modelId="{FB16624F-CB79-4E37-86A4-3E7781FE5E86}" type="pres">
      <dgm:prSet presAssocID="{652E7C1B-F281-424A-8778-926935697001}" presName="textparent_4" presStyleLbl="node1" presStyleIdx="0" presStyleCnt="0"/>
      <dgm:spPr/>
    </dgm:pt>
    <dgm:pt modelId="{ACABC0DF-62EE-440A-9DC3-32F0FC23DFB5}" type="pres">
      <dgm:prSet presAssocID="{652E7C1B-F281-424A-8778-926935697001}" presName="text_4" presStyleLbl="revTx" presStyleIdx="2" presStyleCnt="3" custScaleX="275505">
        <dgm:presLayoutVars>
          <dgm:bulletEnabled val="1"/>
        </dgm:presLayoutVars>
      </dgm:prSet>
      <dgm:spPr/>
    </dgm:pt>
  </dgm:ptLst>
  <dgm:cxnLst>
    <dgm:cxn modelId="{5EAE0603-49F4-411F-B74A-76418359DA54}" srcId="{6030AB8C-8320-4E3F-9CFF-30C90FD57B45}" destId="{652E7C1B-F281-424A-8778-926935697001}" srcOrd="3" destOrd="0" parTransId="{5F5B936E-4B1A-4C15-9305-1514D6328180}" sibTransId="{751848C7-C072-4F8C-8C0D-83D01FEEC6D9}"/>
    <dgm:cxn modelId="{785A6118-8C0B-43DF-91AC-CFF84B4F2A73}" type="presOf" srcId="{654E4FDA-288A-46EE-9D13-639AF7B2FE34}" destId="{26E241F4-16D4-4063-BEF2-DF6E77101275}" srcOrd="0" destOrd="0" presId="urn:microsoft.com/office/officeart/2008/layout/CircularPictureCallout"/>
    <dgm:cxn modelId="{0ADEA41C-2CED-463D-9F0D-2D38FA62C62C}" srcId="{6030AB8C-8320-4E3F-9CFF-30C90FD57B45}" destId="{DA327E51-06A1-4FA5-8D97-9FE2119A8C58}" srcOrd="1" destOrd="0" parTransId="{1D61DC27-DECD-4FE1-AA59-1369DDE35975}" sibTransId="{3A7431EB-A6E3-4BBE-A078-A44846C2CE61}"/>
    <dgm:cxn modelId="{16175F27-6D67-4153-B7E4-8D188B41C8C7}" type="presOf" srcId="{2D4FD559-0110-4C41-A14C-E57816C93399}" destId="{1A7CECBC-A730-483D-ADCB-441928B2D4F6}" srcOrd="0" destOrd="0" presId="urn:microsoft.com/office/officeart/2008/layout/CircularPictureCallout"/>
    <dgm:cxn modelId="{260C5138-9D90-4060-A2C5-1AF26E4566E4}" type="presOf" srcId="{6030AB8C-8320-4E3F-9CFF-30C90FD57B45}" destId="{2131E8D2-D13F-4E35-8BE0-2DBA9AF15192}" srcOrd="0" destOrd="0" presId="urn:microsoft.com/office/officeart/2008/layout/CircularPictureCallout"/>
    <dgm:cxn modelId="{3FA77647-381D-4F10-9E1A-0EBC8B07B575}" type="presOf" srcId="{751848C7-C072-4F8C-8C0D-83D01FEEC6D9}" destId="{974E2610-27BB-43F3-BE8B-2ACE20FACF7C}" srcOrd="0" destOrd="0" presId="urn:microsoft.com/office/officeart/2008/layout/CircularPictureCallout"/>
    <dgm:cxn modelId="{88BA8671-D1A9-4831-91D5-EF2844B87A41}" type="presOf" srcId="{DA327E51-06A1-4FA5-8D97-9FE2119A8C58}" destId="{69AC3B50-AD5C-400E-B1CC-6FBEE9029320}" srcOrd="0" destOrd="0" presId="urn:microsoft.com/office/officeart/2008/layout/CircularPictureCallout"/>
    <dgm:cxn modelId="{5AA11659-5648-4691-840E-39F67B5DE6EE}" srcId="{6030AB8C-8320-4E3F-9CFF-30C90FD57B45}" destId="{654E4FDA-288A-46EE-9D13-639AF7B2FE34}" srcOrd="0" destOrd="0" parTransId="{2F722A70-CF77-4A30-9AB5-A21D90B8B200}" sibTransId="{3B3395C9-17AA-45FA-8735-4D27E1A02CF1}"/>
    <dgm:cxn modelId="{6B5FB59D-F48B-49E5-B0DF-45C99F110503}" type="presOf" srcId="{90989025-9ED2-4602-91F5-A52BEC891D53}" destId="{861A56E2-2DE9-49BA-AD7D-A86D032BEB50}" srcOrd="0" destOrd="0" presId="urn:microsoft.com/office/officeart/2008/layout/CircularPictureCallout"/>
    <dgm:cxn modelId="{302AF7C2-41CA-4248-9F86-8303ADAC573F}" type="presOf" srcId="{652E7C1B-F281-424A-8778-926935697001}" destId="{ACABC0DF-62EE-440A-9DC3-32F0FC23DFB5}" srcOrd="0" destOrd="0" presId="urn:microsoft.com/office/officeart/2008/layout/CircularPictureCallout"/>
    <dgm:cxn modelId="{C6AF19DB-C2DD-4648-BBBC-2907136831E4}" type="presOf" srcId="{3B3395C9-17AA-45FA-8735-4D27E1A02CF1}" destId="{9506AF66-3216-4928-A103-67D8266C9BAD}" srcOrd="0" destOrd="0" presId="urn:microsoft.com/office/officeart/2008/layout/CircularPictureCallout"/>
    <dgm:cxn modelId="{83CB62E7-89E2-426F-8034-3CC00520CE38}" type="presOf" srcId="{3A7431EB-A6E3-4BBE-A078-A44846C2CE61}" destId="{49BBC0D2-85B3-4471-8973-F110F2C9F6BA}" srcOrd="0" destOrd="0" presId="urn:microsoft.com/office/officeart/2008/layout/CircularPictureCallout"/>
    <dgm:cxn modelId="{CA1D6AFA-E8BA-496D-9D73-72B20EBB878D}" srcId="{6030AB8C-8320-4E3F-9CFF-30C90FD57B45}" destId="{90989025-9ED2-4602-91F5-A52BEC891D53}" srcOrd="2" destOrd="0" parTransId="{2537F908-9481-490A-8F17-9DC63579C37F}" sibTransId="{2D4FD559-0110-4C41-A14C-E57816C93399}"/>
    <dgm:cxn modelId="{1288C0F3-B9A7-4916-9958-E51B7F31E5F2}" type="presParOf" srcId="{2131E8D2-D13F-4E35-8BE0-2DBA9AF15192}" destId="{94A036EF-ECAE-4689-B01A-FFA5908EB978}" srcOrd="0" destOrd="0" presId="urn:microsoft.com/office/officeart/2008/layout/CircularPictureCallout"/>
    <dgm:cxn modelId="{709264A2-F86D-4918-AB9A-F70263A66FD6}" type="presParOf" srcId="{94A036EF-ECAE-4689-B01A-FFA5908EB978}" destId="{8EC8E796-5072-4B0F-9F04-7301FBDC82BF}" srcOrd="0" destOrd="0" presId="urn:microsoft.com/office/officeart/2008/layout/CircularPictureCallout"/>
    <dgm:cxn modelId="{AF4A4C57-BF69-4103-BFA9-488EF2306927}" type="presParOf" srcId="{8EC8E796-5072-4B0F-9F04-7301FBDC82BF}" destId="{9506AF66-3216-4928-A103-67D8266C9BAD}" srcOrd="0" destOrd="0" presId="urn:microsoft.com/office/officeart/2008/layout/CircularPictureCallout"/>
    <dgm:cxn modelId="{DB81B0CC-6A4D-4625-9FFF-801A42E210D7}" type="presParOf" srcId="{94A036EF-ECAE-4689-B01A-FFA5908EB978}" destId="{26E241F4-16D4-4063-BEF2-DF6E77101275}" srcOrd="1" destOrd="0" presId="urn:microsoft.com/office/officeart/2008/layout/CircularPictureCallout"/>
    <dgm:cxn modelId="{E29EB9D0-4BC5-4B4B-B1FF-6BDA1118C9A4}" type="presParOf" srcId="{94A036EF-ECAE-4689-B01A-FFA5908EB978}" destId="{B1E4712E-6400-4E1F-BC97-866DF8831BCF}" srcOrd="2" destOrd="0" presId="urn:microsoft.com/office/officeart/2008/layout/CircularPictureCallout"/>
    <dgm:cxn modelId="{881E5924-7918-4DAD-9E80-61BEB99149D5}" type="presParOf" srcId="{B1E4712E-6400-4E1F-BC97-866DF8831BCF}" destId="{49BBC0D2-85B3-4471-8973-F110F2C9F6BA}" srcOrd="0" destOrd="0" presId="urn:microsoft.com/office/officeart/2008/layout/CircularPictureCallout"/>
    <dgm:cxn modelId="{5AB5F187-EBB1-4A2A-8049-090BBE7051FF}" type="presParOf" srcId="{94A036EF-ECAE-4689-B01A-FFA5908EB978}" destId="{FBC6C3A1-9475-4F0F-960C-2767AA4D81BB}" srcOrd="3" destOrd="0" presId="urn:microsoft.com/office/officeart/2008/layout/CircularPictureCallout"/>
    <dgm:cxn modelId="{FB7055A3-3D20-482C-87E2-53D3330C30F9}" type="presParOf" srcId="{94A036EF-ECAE-4689-B01A-FFA5908EB978}" destId="{59933FF6-115F-4B1A-AF4F-32213C7897B9}" srcOrd="4" destOrd="0" presId="urn:microsoft.com/office/officeart/2008/layout/CircularPictureCallout"/>
    <dgm:cxn modelId="{C2AD365A-EBF8-46F9-9218-C4F29E6624C4}" type="presParOf" srcId="{59933FF6-115F-4B1A-AF4F-32213C7897B9}" destId="{69AC3B50-AD5C-400E-B1CC-6FBEE9029320}" srcOrd="0" destOrd="0" presId="urn:microsoft.com/office/officeart/2008/layout/CircularPictureCallout"/>
    <dgm:cxn modelId="{6D0FB14F-EFEC-4F2B-9717-9EFD5762621F}" type="presParOf" srcId="{94A036EF-ECAE-4689-B01A-FFA5908EB978}" destId="{BB400AF3-B1F7-4DC5-B5D6-6459BBD1F77B}" srcOrd="5" destOrd="0" presId="urn:microsoft.com/office/officeart/2008/layout/CircularPictureCallout"/>
    <dgm:cxn modelId="{7350B721-DD25-43E4-B632-CC0B8EDD47D0}" type="presParOf" srcId="{BB400AF3-B1F7-4DC5-B5D6-6459BBD1F77B}" destId="{1A7CECBC-A730-483D-ADCB-441928B2D4F6}" srcOrd="0" destOrd="0" presId="urn:microsoft.com/office/officeart/2008/layout/CircularPictureCallout"/>
    <dgm:cxn modelId="{A23D7CFF-3F40-422D-A6DD-DEFB5AB489F0}" type="presParOf" srcId="{94A036EF-ECAE-4689-B01A-FFA5908EB978}" destId="{9EF46521-C53A-4056-8776-66304C02C294}" srcOrd="6" destOrd="0" presId="urn:microsoft.com/office/officeart/2008/layout/CircularPictureCallout"/>
    <dgm:cxn modelId="{38F7C581-2504-438F-B774-B374274B726D}" type="presParOf" srcId="{94A036EF-ECAE-4689-B01A-FFA5908EB978}" destId="{63248627-550A-4E1D-90FF-F84E2B6F20ED}" srcOrd="7" destOrd="0" presId="urn:microsoft.com/office/officeart/2008/layout/CircularPictureCallout"/>
    <dgm:cxn modelId="{DE6E1E6C-DC03-4E3D-B5A6-01104AC3AFA8}" type="presParOf" srcId="{63248627-550A-4E1D-90FF-F84E2B6F20ED}" destId="{861A56E2-2DE9-49BA-AD7D-A86D032BEB50}" srcOrd="0" destOrd="0" presId="urn:microsoft.com/office/officeart/2008/layout/CircularPictureCallout"/>
    <dgm:cxn modelId="{47708125-76CC-4F90-BB46-42316E33AD81}" type="presParOf" srcId="{94A036EF-ECAE-4689-B01A-FFA5908EB978}" destId="{F288815C-A5C1-4C3B-910F-F1FEF1E16C56}" srcOrd="8" destOrd="0" presId="urn:microsoft.com/office/officeart/2008/layout/CircularPictureCallout"/>
    <dgm:cxn modelId="{80D7FE9B-4F4C-4ECA-B63E-23011783E783}" type="presParOf" srcId="{F288815C-A5C1-4C3B-910F-F1FEF1E16C56}" destId="{974E2610-27BB-43F3-BE8B-2ACE20FACF7C}" srcOrd="0" destOrd="0" presId="urn:microsoft.com/office/officeart/2008/layout/CircularPictureCallout"/>
    <dgm:cxn modelId="{6FAE2F6E-2796-49B4-966F-B02674862C83}" type="presParOf" srcId="{94A036EF-ECAE-4689-B01A-FFA5908EB978}" destId="{2B8B8497-214A-4057-A2B3-A93E12A576F4}" srcOrd="9" destOrd="0" presId="urn:microsoft.com/office/officeart/2008/layout/CircularPictureCallout"/>
    <dgm:cxn modelId="{FD4B9F79-CDCD-46EE-88B8-0BB14CC350F1}" type="presParOf" srcId="{94A036EF-ECAE-4689-B01A-FFA5908EB978}" destId="{FB16624F-CB79-4E37-86A4-3E7781FE5E86}" srcOrd="10" destOrd="0" presId="urn:microsoft.com/office/officeart/2008/layout/CircularPictureCallout"/>
    <dgm:cxn modelId="{20CEECE9-319B-4DD3-B48A-AC7A06DC5A0F}" type="presParOf" srcId="{FB16624F-CB79-4E37-86A4-3E7781FE5E86}" destId="{ACABC0DF-62EE-440A-9DC3-32F0FC23DFB5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A38DA-2804-4904-9D2B-DFD58137DCBF}">
      <dsp:nvSpPr>
        <dsp:cNvPr id="0" name=""/>
        <dsp:cNvSpPr/>
      </dsp:nvSpPr>
      <dsp:spPr>
        <a:xfrm>
          <a:off x="2584964" y="1797801"/>
          <a:ext cx="212352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F46521-C53A-4056-8776-66304C02C294}">
      <dsp:nvSpPr>
        <dsp:cNvPr id="0" name=""/>
        <dsp:cNvSpPr/>
      </dsp:nvSpPr>
      <dsp:spPr>
        <a:xfrm>
          <a:off x="2584964" y="1057529"/>
          <a:ext cx="1818951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C6C3A1-9475-4F0F-960C-2767AA4D81BB}">
      <dsp:nvSpPr>
        <dsp:cNvPr id="0" name=""/>
        <dsp:cNvSpPr/>
      </dsp:nvSpPr>
      <dsp:spPr>
        <a:xfrm>
          <a:off x="2584964" y="317258"/>
          <a:ext cx="212352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6AF66-3216-4928-A103-67D8266C9BAD}">
      <dsp:nvSpPr>
        <dsp:cNvPr id="0" name=""/>
        <dsp:cNvSpPr/>
      </dsp:nvSpPr>
      <dsp:spPr>
        <a:xfrm>
          <a:off x="1508082" y="0"/>
          <a:ext cx="2115060" cy="2115060"/>
        </a:xfrm>
        <a:prstGeom prst="ellipse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241F4-16D4-4063-BEF2-DF6E77101275}">
      <dsp:nvSpPr>
        <dsp:cNvPr id="0" name=""/>
        <dsp:cNvSpPr/>
      </dsp:nvSpPr>
      <dsp:spPr>
        <a:xfrm>
          <a:off x="1420030" y="814754"/>
          <a:ext cx="2303960" cy="69796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Respect </a:t>
          </a:r>
          <a:br>
            <a:rPr lang="en-US" sz="1600" b="1" kern="1200" dirty="0"/>
          </a:br>
          <a:r>
            <a:rPr lang="en-US" sz="1600" b="1" kern="1200" dirty="0"/>
            <a:t>for People</a:t>
          </a:r>
          <a:r>
            <a:rPr lang="en-US" sz="1600" kern="1200" dirty="0"/>
            <a:t>: </a:t>
          </a:r>
          <a:br>
            <a:rPr lang="en-US" sz="1600" kern="1200" dirty="0"/>
          </a:br>
          <a:r>
            <a:rPr lang="en-US" sz="1600" kern="1200" dirty="0"/>
            <a:t>Safety &amp; People </a:t>
          </a:r>
          <a:br>
            <a:rPr lang="en-US" sz="1600" kern="1200" dirty="0"/>
          </a:br>
          <a:r>
            <a:rPr lang="en-US" sz="1600" kern="1200" dirty="0"/>
            <a:t>First</a:t>
          </a:r>
        </a:p>
      </dsp:txBody>
      <dsp:txXfrm>
        <a:off x="1420030" y="814754"/>
        <a:ext cx="2303960" cy="697969"/>
      </dsp:txXfrm>
    </dsp:sp>
    <dsp:sp modelId="{49BBC0D2-85B3-4471-8973-F110F2C9F6BA}">
      <dsp:nvSpPr>
        <dsp:cNvPr id="0" name=""/>
        <dsp:cNvSpPr/>
      </dsp:nvSpPr>
      <dsp:spPr>
        <a:xfrm>
          <a:off x="4391226" y="0"/>
          <a:ext cx="634518" cy="63451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C3B50-AD5C-400E-B1CC-6FBEE9029320}">
      <dsp:nvSpPr>
        <dsp:cNvPr id="0" name=""/>
        <dsp:cNvSpPr/>
      </dsp:nvSpPr>
      <dsp:spPr>
        <a:xfrm>
          <a:off x="5025744" y="0"/>
          <a:ext cx="3859509" cy="63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0" rIns="1066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People make mistakes</a:t>
          </a:r>
        </a:p>
      </dsp:txBody>
      <dsp:txXfrm>
        <a:off x="5025744" y="0"/>
        <a:ext cx="3859509" cy="634518"/>
      </dsp:txXfrm>
    </dsp:sp>
    <dsp:sp modelId="{1A7CECBC-A730-483D-ADCB-441928B2D4F6}">
      <dsp:nvSpPr>
        <dsp:cNvPr id="0" name=""/>
        <dsp:cNvSpPr/>
      </dsp:nvSpPr>
      <dsp:spPr>
        <a:xfrm>
          <a:off x="4086657" y="740270"/>
          <a:ext cx="634518" cy="63451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A56E2-2DE9-49BA-AD7D-A86D032BEB50}">
      <dsp:nvSpPr>
        <dsp:cNvPr id="0" name=""/>
        <dsp:cNvSpPr/>
      </dsp:nvSpPr>
      <dsp:spPr>
        <a:xfrm>
          <a:off x="4721175" y="740270"/>
          <a:ext cx="3409240" cy="63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0" rIns="1066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Blame fixes nothing</a:t>
          </a:r>
        </a:p>
      </dsp:txBody>
      <dsp:txXfrm>
        <a:off x="4721175" y="740270"/>
        <a:ext cx="3409240" cy="634518"/>
      </dsp:txXfrm>
    </dsp:sp>
    <dsp:sp modelId="{571ED134-29DB-43A1-9944-FCEF5DC8F338}">
      <dsp:nvSpPr>
        <dsp:cNvPr id="0" name=""/>
        <dsp:cNvSpPr/>
      </dsp:nvSpPr>
      <dsp:spPr>
        <a:xfrm>
          <a:off x="4391226" y="1480541"/>
          <a:ext cx="634518" cy="63451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5242E-16E0-4CC1-9510-933AC6003D82}">
      <dsp:nvSpPr>
        <dsp:cNvPr id="0" name=""/>
        <dsp:cNvSpPr/>
      </dsp:nvSpPr>
      <dsp:spPr>
        <a:xfrm>
          <a:off x="5025744" y="1480541"/>
          <a:ext cx="4056871" cy="63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0" rIns="1066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Context drives behavior</a:t>
          </a:r>
        </a:p>
      </dsp:txBody>
      <dsp:txXfrm>
        <a:off x="5025744" y="1480541"/>
        <a:ext cx="4056871" cy="6345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B8497-214A-4057-A2B3-A93E12A576F4}">
      <dsp:nvSpPr>
        <dsp:cNvPr id="0" name=""/>
        <dsp:cNvSpPr/>
      </dsp:nvSpPr>
      <dsp:spPr>
        <a:xfrm>
          <a:off x="1063183" y="1797801"/>
          <a:ext cx="212352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F46521-C53A-4056-8776-66304C02C294}">
      <dsp:nvSpPr>
        <dsp:cNvPr id="0" name=""/>
        <dsp:cNvSpPr/>
      </dsp:nvSpPr>
      <dsp:spPr>
        <a:xfrm>
          <a:off x="1063183" y="1057529"/>
          <a:ext cx="1818951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C6C3A1-9475-4F0F-960C-2767AA4D81BB}">
      <dsp:nvSpPr>
        <dsp:cNvPr id="0" name=""/>
        <dsp:cNvSpPr/>
      </dsp:nvSpPr>
      <dsp:spPr>
        <a:xfrm>
          <a:off x="1063183" y="317258"/>
          <a:ext cx="212352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6AF66-3216-4928-A103-67D8266C9BAD}">
      <dsp:nvSpPr>
        <dsp:cNvPr id="0" name=""/>
        <dsp:cNvSpPr/>
      </dsp:nvSpPr>
      <dsp:spPr>
        <a:xfrm>
          <a:off x="5653" y="0"/>
          <a:ext cx="2115060" cy="2115060"/>
        </a:xfrm>
        <a:prstGeom prst="ellipse">
          <a:avLst/>
        </a:prstGeom>
        <a:solidFill>
          <a:srgbClr val="00003C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241F4-16D4-4063-BEF2-DF6E77101275}">
      <dsp:nvSpPr>
        <dsp:cNvPr id="0" name=""/>
        <dsp:cNvSpPr/>
      </dsp:nvSpPr>
      <dsp:spPr>
        <a:xfrm>
          <a:off x="156076" y="872169"/>
          <a:ext cx="1814213" cy="69796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Continuous Improvement</a:t>
          </a:r>
          <a:r>
            <a:rPr lang="en-US" sz="1600" kern="1200" dirty="0"/>
            <a:t>: </a:t>
          </a:r>
          <a:br>
            <a:rPr lang="en-US" sz="1600" kern="1200" dirty="0"/>
          </a:br>
          <a:r>
            <a:rPr lang="en-US" sz="1600" b="0" kern="1200" dirty="0"/>
            <a:t>Change for the Better</a:t>
          </a:r>
        </a:p>
      </dsp:txBody>
      <dsp:txXfrm>
        <a:off x="156076" y="872169"/>
        <a:ext cx="1814213" cy="697969"/>
      </dsp:txXfrm>
    </dsp:sp>
    <dsp:sp modelId="{49BBC0D2-85B3-4471-8973-F110F2C9F6BA}">
      <dsp:nvSpPr>
        <dsp:cNvPr id="0" name=""/>
        <dsp:cNvSpPr/>
      </dsp:nvSpPr>
      <dsp:spPr>
        <a:xfrm>
          <a:off x="2869445" y="0"/>
          <a:ext cx="634518" cy="63451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C3B50-AD5C-400E-B1CC-6FBEE9029320}">
      <dsp:nvSpPr>
        <dsp:cNvPr id="0" name=""/>
        <dsp:cNvSpPr/>
      </dsp:nvSpPr>
      <dsp:spPr>
        <a:xfrm>
          <a:off x="3503963" y="0"/>
          <a:ext cx="6150010" cy="63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0" rIns="1066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Learning is vital</a:t>
          </a:r>
        </a:p>
      </dsp:txBody>
      <dsp:txXfrm>
        <a:off x="3503963" y="0"/>
        <a:ext cx="6150010" cy="634518"/>
      </dsp:txXfrm>
    </dsp:sp>
    <dsp:sp modelId="{1A7CECBC-A730-483D-ADCB-441928B2D4F6}">
      <dsp:nvSpPr>
        <dsp:cNvPr id="0" name=""/>
        <dsp:cNvSpPr/>
      </dsp:nvSpPr>
      <dsp:spPr>
        <a:xfrm>
          <a:off x="2564876" y="740270"/>
          <a:ext cx="634518" cy="63451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A56E2-2DE9-49BA-AD7D-A86D032BEB50}">
      <dsp:nvSpPr>
        <dsp:cNvPr id="0" name=""/>
        <dsp:cNvSpPr/>
      </dsp:nvSpPr>
      <dsp:spPr>
        <a:xfrm>
          <a:off x="3199394" y="740270"/>
          <a:ext cx="7376663" cy="63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0" rIns="1066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Response matters!</a:t>
          </a:r>
        </a:p>
      </dsp:txBody>
      <dsp:txXfrm>
        <a:off x="3199394" y="740270"/>
        <a:ext cx="7376663" cy="634518"/>
      </dsp:txXfrm>
    </dsp:sp>
    <dsp:sp modelId="{974E2610-27BB-43F3-BE8B-2ACE20FACF7C}">
      <dsp:nvSpPr>
        <dsp:cNvPr id="0" name=""/>
        <dsp:cNvSpPr/>
      </dsp:nvSpPr>
      <dsp:spPr>
        <a:xfrm>
          <a:off x="2869445" y="1480541"/>
          <a:ext cx="634518" cy="63451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ABC0DF-62EE-440A-9DC3-32F0FC23DFB5}">
      <dsp:nvSpPr>
        <dsp:cNvPr id="0" name=""/>
        <dsp:cNvSpPr/>
      </dsp:nvSpPr>
      <dsp:spPr>
        <a:xfrm>
          <a:off x="3503963" y="1480541"/>
          <a:ext cx="7996581" cy="634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0" rIns="10668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Incorporating into our work</a:t>
          </a:r>
        </a:p>
      </dsp:txBody>
      <dsp:txXfrm>
        <a:off x="3503963" y="1480541"/>
        <a:ext cx="7996581" cy="6345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7EA18-66B4-4601-B354-672824EAE63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8EC7-BF66-4C8A-97C1-8508C955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3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26233968_Exploring_the_role_of_human_factors_in_lean_managemen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(PDF) Exploring the role of human factors in lean management</a:t>
            </a:r>
            <a:br>
              <a:rPr lang="en-US" dirty="0"/>
            </a:br>
            <a:r>
              <a:rPr lang="en-US" dirty="0"/>
              <a:t>https://www.proquest.com/docview/2191017746?accountid=14551&amp;parentSessionId=9F%2FERgu6Zdne3uGr9T5NnY920xn17iFZkupOuNnZ3VY%3D&amp;pq-origsite=primo&amp;sourcetype=Scholarly%20Journals</a:t>
            </a:r>
          </a:p>
          <a:p>
            <a:endParaRPr lang="en-US" dirty="0"/>
          </a:p>
          <a:p>
            <a:endParaRPr lang="en-US" dirty="0"/>
          </a:p>
          <a:p>
            <a:pPr algn="l"/>
            <a:r>
              <a:rPr lang="en-US" sz="1800" b="0" i="0" u="none" strike="noStrike" baseline="0" dirty="0">
                <a:latin typeface="AdvOT1bee1dd8.B"/>
              </a:rPr>
              <a:t>Purpose </a:t>
            </a:r>
            <a:r>
              <a:rPr lang="en-US" sz="1800" b="0" i="0" u="none" strike="noStrike" baseline="0" dirty="0">
                <a:latin typeface="AdvOT4ac4c61e+20"/>
              </a:rPr>
              <a:t>– </a:t>
            </a:r>
            <a:r>
              <a:rPr lang="en-US" sz="1800" b="0" i="0" u="none" strike="noStrike" baseline="0" dirty="0">
                <a:latin typeface="AdvOT4ac4c61e"/>
              </a:rPr>
              <a:t>Although lean popularity is rapidly growing, its implementation is far from problem-free and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companies may experience dif</a:t>
            </a:r>
            <a:r>
              <a:rPr lang="en-US" sz="1800" b="0" i="0" u="none" strike="noStrike" baseline="0" dirty="0">
                <a:latin typeface="AdvOT4ac4c61e+fb"/>
              </a:rPr>
              <a:t>fi</a:t>
            </a:r>
            <a:r>
              <a:rPr lang="en-US" sz="1800" b="0" i="0" u="none" strike="noStrike" baseline="0" dirty="0">
                <a:latin typeface="AdvOT4ac4c61e"/>
              </a:rPr>
              <a:t>culties in sustaining long-term success. On this premises, the purpose of this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paper is to understand to what extent human factors, affected by the implementation of both hard (de</a:t>
            </a:r>
            <a:r>
              <a:rPr lang="en-US" sz="1800" b="0" i="0" u="none" strike="noStrike" baseline="0" dirty="0">
                <a:latin typeface="AdvOT4ac4c61e+fb"/>
              </a:rPr>
              <a:t>fi</a:t>
            </a:r>
            <a:r>
              <a:rPr lang="en-US" sz="1800" b="0" i="0" u="none" strike="noStrike" baseline="0" dirty="0">
                <a:latin typeface="AdvOT4ac4c61e"/>
              </a:rPr>
              <a:t>ned as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technical and analytical tools) and soft (concerning people and relations) lean practices, play a key role in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achieving long-term superior performance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D8EC7-BF66-4C8A-97C1-8508C95551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59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D8EC7-BF66-4C8A-97C1-8508C95551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90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AdvOT1bee1dd8.B"/>
              </a:rPr>
              <a:t>Originality/value </a:t>
            </a:r>
            <a:r>
              <a:rPr lang="en-US" sz="1800" b="0" i="0" u="none" strike="noStrike" baseline="0" dirty="0">
                <a:latin typeface="AdvOT4ac4c61e+20"/>
              </a:rPr>
              <a:t>– </a:t>
            </a:r>
            <a:r>
              <a:rPr lang="en-US" sz="1800" b="0" i="0" u="none" strike="noStrike" baseline="0" dirty="0">
                <a:latin typeface="AdvOT4ac4c61e"/>
              </a:rPr>
              <a:t>This paper extends theory in LM, highlighting how hard and soft lean practices have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to interact to enable a successful LM implementation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D8EC7-BF66-4C8A-97C1-8508C95551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8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>
                <a:latin typeface="AdvOT1bee1dd8.B"/>
              </a:rPr>
              <a:t>Design/methodology/approach </a:t>
            </a:r>
            <a:r>
              <a:rPr lang="en-US" sz="1200" b="0" i="0" u="none" strike="noStrike" baseline="0" dirty="0">
                <a:latin typeface="AdvOT4ac4c61e+20"/>
              </a:rPr>
              <a:t>– </a:t>
            </a:r>
            <a:r>
              <a:rPr lang="en-US" sz="1200" b="0" i="0" u="none" strike="noStrike" baseline="0" dirty="0">
                <a:latin typeface="AdvOT4ac4c61e"/>
              </a:rPr>
              <a:t>The analysis of the relationships between lean practices</a:t>
            </a:r>
          </a:p>
          <a:p>
            <a:pPr algn="l"/>
            <a:r>
              <a:rPr lang="en-US" sz="1200" b="0" i="0" u="none" strike="noStrike" baseline="0" dirty="0">
                <a:latin typeface="AdvOT4ac4c61e"/>
              </a:rPr>
              <a:t>implementation, human factors and operational performance is carried out in a single exploratory case study.</a:t>
            </a:r>
          </a:p>
          <a:p>
            <a:pPr algn="l"/>
            <a:r>
              <a:rPr lang="en-US" sz="1200" b="0" i="0" u="none" strike="noStrike" baseline="0" dirty="0">
                <a:latin typeface="AdvOT4ac4c61e"/>
              </a:rPr>
              <a:t>A retrospective approach is adopted to trace the changes of human and operational performance before,</a:t>
            </a:r>
          </a:p>
          <a:p>
            <a:pPr algn="l"/>
            <a:r>
              <a:rPr lang="en-US" sz="1200" b="0" i="0" u="none" strike="noStrike" baseline="0" dirty="0">
                <a:latin typeface="AdvOT4ac4c61e"/>
              </a:rPr>
              <a:t>during and after the introduction of lean management (LM) implementation. In particular, a mixed method</a:t>
            </a:r>
          </a:p>
          <a:p>
            <a:pPr algn="l"/>
            <a:r>
              <a:rPr lang="en-US" sz="1200" b="0" i="0" u="none" strike="noStrike" baseline="0" dirty="0">
                <a:latin typeface="AdvOT4ac4c61e"/>
              </a:rPr>
              <a:t>concurrent design merging results of a qualitative analysis with data collected from a survey is selected to</a:t>
            </a:r>
          </a:p>
          <a:p>
            <a:pPr algn="l"/>
            <a:r>
              <a:rPr lang="en-US" sz="1200" b="0" i="0" u="none" strike="noStrike" baseline="0" dirty="0">
                <a:latin typeface="AdvOT4ac4c61e"/>
              </a:rPr>
              <a:t>provide a more realistic bene</a:t>
            </a:r>
            <a:r>
              <a:rPr lang="en-US" sz="1200" b="0" i="0" u="none" strike="noStrike" baseline="0" dirty="0">
                <a:latin typeface="AdvOT4ac4c61e+fb"/>
              </a:rPr>
              <a:t>fi</a:t>
            </a:r>
            <a:r>
              <a:rPr lang="en-US" sz="1200" b="0" i="0" u="none" strike="noStrike" baseline="0" dirty="0">
                <a:latin typeface="AdvOT4ac4c61e"/>
              </a:rPr>
              <a:t>t in the exploration of the proposed research questions.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D8EC7-BF66-4C8A-97C1-8508C95551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92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AdvOT1bee1dd8.B"/>
              </a:rPr>
              <a:t>Findings </a:t>
            </a:r>
            <a:r>
              <a:rPr lang="en-US" sz="1800" b="0" i="0" u="none" strike="noStrike" baseline="0" dirty="0">
                <a:latin typeface="AdvOT4ac4c61e+20"/>
              </a:rPr>
              <a:t>– </a:t>
            </a:r>
            <a:r>
              <a:rPr lang="en-US" sz="1800" b="0" i="0" u="none" strike="noStrike" baseline="0" dirty="0">
                <a:latin typeface="AdvOT4ac4c61e"/>
              </a:rPr>
              <a:t>The results show a short-term direct relationship between the implementation of lean practices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(hard and soft) and physical work environment and job characteristics, directly connected to operational outcome.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In the long term, operational performance is in</a:t>
            </a:r>
            <a:r>
              <a:rPr lang="en-US" sz="1800" b="0" i="0" u="none" strike="noStrike" baseline="0" dirty="0">
                <a:latin typeface="AdvOT4ac4c61e+fb"/>
              </a:rPr>
              <a:t>fl</a:t>
            </a:r>
            <a:r>
              <a:rPr lang="en-US" sz="1800" b="0" i="0" u="none" strike="noStrike" baseline="0" dirty="0">
                <a:latin typeface="AdvOT4ac4c61e"/>
              </a:rPr>
              <a:t>uenced by employee </a:t>
            </a:r>
            <a:r>
              <a:rPr lang="en-US" sz="1800" b="0" i="0" u="none" strike="noStrike" baseline="0" dirty="0" err="1">
                <a:latin typeface="AdvOT4ac4c61e"/>
              </a:rPr>
              <a:t>behaviour</a:t>
            </a:r>
            <a:r>
              <a:rPr lang="en-US" sz="1800" b="0" i="0" u="none" strike="noStrike" baseline="0" dirty="0">
                <a:latin typeface="AdvOT4ac4c61e"/>
              </a:rPr>
              <a:t> outcome and conditioned by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physical work environment and job characteristics with </a:t>
            </a:r>
            <a:r>
              <a:rPr lang="en-US" sz="1800" b="0" i="0" u="none" strike="noStrike" baseline="0" dirty="0" err="1">
                <a:latin typeface="AdvOT4ac4c61e"/>
              </a:rPr>
              <a:t>themediating</a:t>
            </a:r>
            <a:r>
              <a:rPr lang="en-US" sz="1800" b="0" i="0" u="none" strike="noStrike" baseline="0" dirty="0">
                <a:latin typeface="AdvOT4ac4c61e"/>
              </a:rPr>
              <a:t> effect of individual characteristics.</a:t>
            </a:r>
          </a:p>
          <a:p>
            <a:pPr algn="l"/>
            <a:endParaRPr lang="en-US" sz="1800" b="0" i="0" u="none" strike="noStrike" baseline="0" dirty="0">
              <a:latin typeface="AdvOT1bee1dd8.B"/>
            </a:endParaRPr>
          </a:p>
          <a:p>
            <a:pPr algn="l"/>
            <a:r>
              <a:rPr lang="en-US" sz="1800" b="0" i="0" u="none" strike="noStrike" baseline="0" dirty="0">
                <a:latin typeface="AdvOT1bee1dd8.B"/>
              </a:rPr>
              <a:t>Practical implications </a:t>
            </a:r>
            <a:r>
              <a:rPr lang="en-US" sz="1800" b="0" i="0" u="none" strike="noStrike" baseline="0" dirty="0">
                <a:latin typeface="AdvOT4ac4c61e+20"/>
              </a:rPr>
              <a:t>– </a:t>
            </a:r>
            <a:r>
              <a:rPr lang="en-US" sz="1800" b="0" i="0" u="none" strike="noStrike" baseline="0" dirty="0">
                <a:latin typeface="AdvOT4ac4c61e"/>
              </a:rPr>
              <a:t>The proposed model supports the building of a roadmap for LM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implementation, taking into account the role of the human factors to achieve superior operational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performance. Moreover, it helps managers to implement a monitoring system to check how social and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technical components of a LM system evolve over time. Finally, it supports the de</a:t>
            </a:r>
            <a:r>
              <a:rPr lang="en-US" sz="1800" b="0" i="0" u="none" strike="noStrike" baseline="0" dirty="0">
                <a:latin typeface="AdvOT4ac4c61e+fb"/>
              </a:rPr>
              <a:t>fi</a:t>
            </a:r>
            <a:r>
              <a:rPr lang="en-US" sz="1800" b="0" i="0" u="none" strike="noStrike" baseline="0" dirty="0">
                <a:latin typeface="AdvOT4ac4c61e"/>
              </a:rPr>
              <a:t>nition of speci</a:t>
            </a:r>
            <a:r>
              <a:rPr lang="en-US" sz="1800" b="0" i="0" u="none" strike="noStrike" baseline="0" dirty="0">
                <a:latin typeface="AdvOT4ac4c61e+fb"/>
              </a:rPr>
              <a:t>fi</a:t>
            </a:r>
            <a:r>
              <a:rPr lang="en-US" sz="1800" b="0" i="0" u="none" strike="noStrike" baseline="0" dirty="0">
                <a:latin typeface="AdvOT4ac4c61e"/>
              </a:rPr>
              <a:t>c training</a:t>
            </a:r>
          </a:p>
          <a:p>
            <a:pPr algn="l"/>
            <a:r>
              <a:rPr lang="en-US" sz="1800" b="0" i="0" u="none" strike="noStrike" baseline="0" dirty="0">
                <a:latin typeface="AdvOT4ac4c61e"/>
              </a:rPr>
              <a:t>programs, tailored for speci</a:t>
            </a:r>
            <a:r>
              <a:rPr lang="en-US" sz="1800" b="0" i="0" u="none" strike="noStrike" baseline="0" dirty="0">
                <a:latin typeface="AdvOT4ac4c61e+fb"/>
              </a:rPr>
              <a:t>fi</a:t>
            </a:r>
            <a:r>
              <a:rPr lang="en-US" sz="1800" b="0" i="0" u="none" strike="noStrike" baseline="0" dirty="0">
                <a:latin typeface="AdvOT4ac4c61e"/>
              </a:rPr>
              <a:t>c workers</a:t>
            </a:r>
            <a:r>
              <a:rPr lang="en-US" sz="1800" b="0" i="0" u="none" strike="noStrike" baseline="0" dirty="0">
                <a:latin typeface="AdvOT4ac4c61e+20"/>
              </a:rPr>
              <a:t>’ </a:t>
            </a:r>
            <a:r>
              <a:rPr lang="en-US" sz="1800" b="0" i="0" u="none" strike="noStrike" baseline="0" dirty="0">
                <a:latin typeface="AdvOT4ac4c61e"/>
              </a:rPr>
              <a:t>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D8EC7-BF66-4C8A-97C1-8508C95551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26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– Electrolyte exposure;  ‘sketchy’ Autoline PM </a:t>
            </a:r>
          </a:p>
          <a:p>
            <a:r>
              <a:rPr lang="en-US" dirty="0"/>
              <a:t>Quality – pencil whipping vs planning was cognitive overload</a:t>
            </a:r>
          </a:p>
          <a:p>
            <a:r>
              <a:rPr lang="en-US" dirty="0"/>
              <a:t>Delivery – reduce operator struggle – </a:t>
            </a:r>
            <a:r>
              <a:rPr lang="en-US" dirty="0" err="1"/>
              <a:t>dogbones</a:t>
            </a:r>
            <a:endParaRPr lang="en-US" dirty="0"/>
          </a:p>
          <a:p>
            <a:r>
              <a:rPr lang="en-US" dirty="0"/>
              <a:t>Cost – bang for our buck; spend out time and money improving processes and reducing those struggle points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FF387-9D57-4C4A-857D-AC65074070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874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higher involvement in continuous improvement activities, placing at the </a:t>
            </a:r>
            <a:r>
              <a:rPr lang="en-US" dirty="0" err="1"/>
              <a:t>centre</a:t>
            </a:r>
            <a:r>
              <a:rPr lang="en-US" dirty="0"/>
              <a:t> of the change the worker as an active agent of the change and not as a passive element, improves job autonomy and job significance, with positive consequences on workers in terms of higher commitment, reduced stress and greater satisfaction:</a:t>
            </a:r>
          </a:p>
          <a:p>
            <a:endParaRPr lang="en-US" dirty="0"/>
          </a:p>
          <a:p>
            <a:r>
              <a:rPr lang="en-US" dirty="0"/>
              <a:t>Moreover, people involved in training activities and lean projects declare a major satisfaction and commitment. Conversely, workers who did not participate in any lean project appear dissatisfied and not happy about the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DF035A-1EE6-4F1A-94CE-82E28162E3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413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2754-4774-CE63-E12B-5BFE5BC64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A662B-72FB-0893-E4D8-C7480DB61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B97FA-50A7-B691-3C96-B9D91428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2AD98-12E6-99F9-7723-3AAF1EEC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30BF1-AD2E-5DE9-6F6D-EA7C2730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3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9FFF-6BD9-786A-AC13-0540E4FD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179D5-2B16-3365-F826-B6890C221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2B070-0A9A-3208-7761-18BA5B76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0CEB1-A3E8-1969-83D7-3485DF172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842B8-091B-358F-D7F0-C9834EDA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93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F232-1762-398F-61EC-F0F34E9A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084F9-43CA-9E37-7D2A-F4545EC9E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AB709-30F0-E36E-C4EA-58281DB0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5758-C6FA-1A1F-251A-ACE33A5A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2FF4A-7261-DF7D-84CD-1FD10004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7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1CF4E-A74C-D84B-0BEE-868E1109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99D5E-641E-E0BA-A8D7-CF6079B2E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8B997-73B0-2D74-6AB8-3D4BCADA8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E47AD-F205-BEBA-6458-75A6D4B5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B98D0-166B-A0AC-BB87-E12FB103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7129B-D619-5B3D-640A-99BC62AAA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7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C7E9-73D5-59CB-992A-15A9EEFB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20E83-24BC-EEBB-01B0-3194E73E5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69534-9B3C-223D-01BE-85F124969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54C402-6271-300C-F69F-3EBAE477D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F84A3-29CB-AD3D-A0FF-D5196F7F0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6C0A5-D8F1-38AF-FD14-DE2F55EA9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5504D-FA2B-0E49-8819-55CBE1A9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D6EAF-21A4-BE0C-C90D-AEA27ABA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0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B83E-5A9A-1463-41B3-B319484C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B6A45-6392-452F-3B0B-3FCD6F103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8A52A6-2ACC-3473-8D18-48CC8BF0F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74B6D-5DF8-0869-2621-89C31FF1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ABAD12-6B64-4DB9-F888-EE724BA7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04CB27-5310-0449-EB69-C195B8D6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97496-461E-E0B6-FACD-661D8608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42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3131-A664-A37C-94C0-45D4CAA04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1E73C-65CC-09BD-AA93-39DD621F8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FD513-7752-97B1-1CCC-7E86AAEF2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50243-97FD-CB58-8DEB-E534FEADC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B041A-5623-940C-9D50-F672776D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A88E1-93EC-E24D-D46E-F0378831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3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A5448-B873-10B3-E26A-0EED2C2F4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B21A4-0CC8-0CB3-39BC-1AE9CB655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48F25-0897-28B7-D0CC-87E7FA227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F8A7E-6324-01A6-3AC2-B10D8E03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E5A4C-82C4-F7E7-8F2F-D8A9BAEA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A39A8-1A77-AAFA-B7D8-729D84BCB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1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228B-8FEE-69D9-B016-9E7B3A51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E0F1E-5D6F-09AF-987C-BFE07A76A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DE405-3DDA-2DB7-457F-9B6B6DE9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4D5D-2EB7-E9FF-F787-55B55C87F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0DC95-3492-DBA6-9DB3-076EC5EC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5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2015CC-804B-7A6B-D5F1-538896BC9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5A79C-02CA-4362-D4B3-7AA961483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FB7F-9C66-EC2B-8948-2AFB7D98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8580C-9D15-834B-E762-D6375E6B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D8B97-EDD6-B757-F9B5-547A0D50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95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E390D8-FB2D-714E-887C-226EFBAA75C4}"/>
              </a:ext>
            </a:extLst>
          </p:cNvPr>
          <p:cNvCxnSpPr/>
          <p:nvPr userDrawn="1"/>
        </p:nvCxnSpPr>
        <p:spPr>
          <a:xfrm>
            <a:off x="558800" y="2825750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492875"/>
            <a:ext cx="4572000" cy="365125"/>
          </a:xfrm>
        </p:spPr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BBD7296-A283-1446-A433-EC8C6228A4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5900" y="212725"/>
            <a:ext cx="2606040" cy="933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78075"/>
            <a:ext cx="10706100" cy="1965325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C92763-31D1-CF04-F985-6DAC52244DAB}"/>
              </a:ext>
            </a:extLst>
          </p:cNvPr>
          <p:cNvCxnSpPr/>
          <p:nvPr userDrawn="1"/>
        </p:nvCxnSpPr>
        <p:spPr>
          <a:xfrm>
            <a:off x="558800" y="4475646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835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72">
          <p15:clr>
            <a:srgbClr val="FBAE40"/>
          </p15:clr>
        </p15:guide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pos="3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E390D8-FB2D-714E-887C-226EFBAA75C4}"/>
              </a:ext>
            </a:extLst>
          </p:cNvPr>
          <p:cNvCxnSpPr/>
          <p:nvPr userDrawn="1"/>
        </p:nvCxnSpPr>
        <p:spPr>
          <a:xfrm>
            <a:off x="558800" y="2825750"/>
            <a:ext cx="25603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492875"/>
            <a:ext cx="4572000" cy="365125"/>
          </a:xfrm>
        </p:spPr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BBD7296-A283-1446-A433-EC8C6228A4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15901" y="212725"/>
            <a:ext cx="2606038" cy="933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78075"/>
            <a:ext cx="10706100" cy="1965325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722481-4852-0234-5EBF-D5EE3BA5AABE}"/>
              </a:ext>
            </a:extLst>
          </p:cNvPr>
          <p:cNvCxnSpPr/>
          <p:nvPr userDrawn="1"/>
        </p:nvCxnSpPr>
        <p:spPr>
          <a:xfrm>
            <a:off x="558800" y="4475646"/>
            <a:ext cx="25603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020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72">
          <p15:clr>
            <a:srgbClr val="FBAE40"/>
          </p15:clr>
        </p15:guide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pos="3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A82C2C-A9A7-1D4B-9938-2B941033DB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4" y="0"/>
            <a:ext cx="12189611" cy="68580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E390D8-FB2D-714E-887C-226EFBAA75C4}"/>
              </a:ext>
            </a:extLst>
          </p:cNvPr>
          <p:cNvCxnSpPr/>
          <p:nvPr userDrawn="1"/>
        </p:nvCxnSpPr>
        <p:spPr>
          <a:xfrm>
            <a:off x="558800" y="2825750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492875"/>
            <a:ext cx="4572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BBD7296-A283-1446-A433-EC8C6228A4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15901" y="212725"/>
            <a:ext cx="2606038" cy="933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78075"/>
            <a:ext cx="10706100" cy="1965325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E6797E-8C00-E070-3AE4-5C5E76D2AC8F}"/>
              </a:ext>
            </a:extLst>
          </p:cNvPr>
          <p:cNvCxnSpPr/>
          <p:nvPr userDrawn="1"/>
        </p:nvCxnSpPr>
        <p:spPr>
          <a:xfrm>
            <a:off x="558800" y="4475645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17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72">
          <p15:clr>
            <a:srgbClr val="FBAE40"/>
          </p15:clr>
        </p15:guide>
        <p15:guide id="2" pos="432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49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engine&#10;&#10;Description automatically generated">
            <a:extLst>
              <a:ext uri="{FF2B5EF4-FFF2-40B4-BE49-F238E27FC236}">
                <a16:creationId xmlns:a16="http://schemas.microsoft.com/office/drawing/2014/main" id="{B79CDEEA-7CAA-B14B-AEB0-0E41F6776D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68580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33CFEB-C679-3D44-803A-CE93707844D7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3000">
                <a:schemeClr val="bg1">
                  <a:alpha val="79879"/>
                </a:schemeClr>
              </a:gs>
              <a:gs pos="58000">
                <a:schemeClr val="bg1">
                  <a:alpha val="16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E390D8-FB2D-714E-887C-226EFBAA75C4}"/>
              </a:ext>
            </a:extLst>
          </p:cNvPr>
          <p:cNvCxnSpPr/>
          <p:nvPr userDrawn="1"/>
        </p:nvCxnSpPr>
        <p:spPr>
          <a:xfrm>
            <a:off x="558800" y="2825750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492875"/>
            <a:ext cx="4572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BBD7296-A283-1446-A433-EC8C6228A4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15901" y="212725"/>
            <a:ext cx="2606038" cy="933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78075"/>
            <a:ext cx="10706100" cy="1965325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EA8955-6D9B-B0DC-54BE-7A749F58720F}"/>
              </a:ext>
            </a:extLst>
          </p:cNvPr>
          <p:cNvCxnSpPr/>
          <p:nvPr userDrawn="1"/>
        </p:nvCxnSpPr>
        <p:spPr>
          <a:xfrm>
            <a:off x="558800" y="4475646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704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72">
          <p15:clr>
            <a:srgbClr val="FBAE40"/>
          </p15:clr>
        </p15:guide>
        <p15:guide id="2" pos="432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49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ar&#10;&#10;Description automatically generated with medium confidence">
            <a:extLst>
              <a:ext uri="{FF2B5EF4-FFF2-40B4-BE49-F238E27FC236}">
                <a16:creationId xmlns:a16="http://schemas.microsoft.com/office/drawing/2014/main" id="{F7D53FFD-5B58-B040-9098-81AC2B73D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80E39D-2464-BB4E-9B7F-942FB1283A16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3000">
                <a:schemeClr val="bg1">
                  <a:alpha val="79879"/>
                </a:schemeClr>
              </a:gs>
              <a:gs pos="58000">
                <a:schemeClr val="bg1">
                  <a:alpha val="16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E390D8-FB2D-714E-887C-226EFBAA75C4}"/>
              </a:ext>
            </a:extLst>
          </p:cNvPr>
          <p:cNvCxnSpPr/>
          <p:nvPr userDrawn="1"/>
        </p:nvCxnSpPr>
        <p:spPr>
          <a:xfrm>
            <a:off x="558800" y="2825750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492875"/>
            <a:ext cx="4572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BBD7296-A283-1446-A433-EC8C6228A4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15901" y="212725"/>
            <a:ext cx="2606038" cy="933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78075"/>
            <a:ext cx="10706100" cy="1965325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4E506E-8BB3-C8AC-0A59-08CCAF0B0BE3}"/>
              </a:ext>
            </a:extLst>
          </p:cNvPr>
          <p:cNvCxnSpPr/>
          <p:nvPr userDrawn="1"/>
        </p:nvCxnSpPr>
        <p:spPr>
          <a:xfrm>
            <a:off x="558800" y="4485585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92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72">
          <p15:clr>
            <a:srgbClr val="FBAE40"/>
          </p15:clr>
        </p15:guide>
        <p15:guide id="2" pos="432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49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indoor, kitchenware&#10;&#10;Description automatically generated">
            <a:extLst>
              <a:ext uri="{FF2B5EF4-FFF2-40B4-BE49-F238E27FC236}">
                <a16:creationId xmlns:a16="http://schemas.microsoft.com/office/drawing/2014/main" id="{E3C850AF-43C3-3F47-8F86-12DCD34E11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568D44-CCA5-BC49-9A66-9EABC10EC2A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">
                <a:schemeClr val="bg1">
                  <a:alpha val="90836"/>
                </a:schemeClr>
              </a:gs>
              <a:gs pos="58000">
                <a:schemeClr val="bg1">
                  <a:alpha val="16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E390D8-FB2D-714E-887C-226EFBAA75C4}"/>
              </a:ext>
            </a:extLst>
          </p:cNvPr>
          <p:cNvCxnSpPr/>
          <p:nvPr userDrawn="1"/>
        </p:nvCxnSpPr>
        <p:spPr>
          <a:xfrm>
            <a:off x="558800" y="2825750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492875"/>
            <a:ext cx="4572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BBD7296-A283-1446-A433-EC8C6228A4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15901" y="212725"/>
            <a:ext cx="2606038" cy="933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78075"/>
            <a:ext cx="10706100" cy="1965325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C61BB8-691E-8258-4120-F795A4D9094D}"/>
              </a:ext>
            </a:extLst>
          </p:cNvPr>
          <p:cNvCxnSpPr/>
          <p:nvPr userDrawn="1"/>
        </p:nvCxnSpPr>
        <p:spPr>
          <a:xfrm>
            <a:off x="558800" y="4475646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741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72">
          <p15:clr>
            <a:srgbClr val="FBAE40"/>
          </p15:clr>
        </p15:guide>
        <p15:guide id="2" pos="432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4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182880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578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8">
          <p15:clr>
            <a:srgbClr val="FBAE40"/>
          </p15:clr>
        </p15:guide>
        <p15:guide id="2" orient="horz" pos="391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03349"/>
            <a:ext cx="5394960" cy="4806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403349"/>
            <a:ext cx="5394960" cy="4806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6370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84">
          <p15:clr>
            <a:srgbClr val="FBAE40"/>
          </p15:clr>
        </p15:guide>
        <p15:guide id="3" orient="horz" pos="391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03350"/>
            <a:ext cx="3502152" cy="4806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6539" y="1403351"/>
            <a:ext cx="3502152" cy="4806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89707" y="1403351"/>
            <a:ext cx="3502152" cy="4806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2886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  <p15:guide id="4" orient="horz" pos="391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403349"/>
            <a:ext cx="2569464" cy="4806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63899" y="1403349"/>
            <a:ext cx="2569464" cy="4806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1403350"/>
            <a:ext cx="2569464" cy="4806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34450" y="1403350"/>
            <a:ext cx="2569464" cy="4806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48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>
          <p15:clr>
            <a:srgbClr val="FBAE40"/>
          </p15:clr>
        </p15:guide>
        <p15:guide id="2" pos="5628">
          <p15:clr>
            <a:srgbClr val="FBAE40"/>
          </p15:clr>
        </p15:guide>
        <p15:guide id="3" pos="3840">
          <p15:clr>
            <a:srgbClr val="FBAE40"/>
          </p15:clr>
        </p15:guide>
        <p15:guide id="4" orient="horz" pos="884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-1/3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403349"/>
            <a:ext cx="7292975" cy="4806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89707" y="1403350"/>
            <a:ext cx="3502152" cy="4806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2402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  <p15:guide id="4" orient="horz" pos="391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168A5-C2D7-FC4B-8832-1F289E900E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100" y="1403350"/>
            <a:ext cx="11353800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095500"/>
            <a:ext cx="11353800" cy="41148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855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884">
          <p15:clr>
            <a:srgbClr val="FBAE40"/>
          </p15:clr>
        </p15:guide>
        <p15:guide id="3" orient="horz" pos="391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6DDDB0A-C694-6D4F-95F6-714A8D0B4F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099" y="1403350"/>
            <a:ext cx="5394960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926142-7B75-6D42-854B-61C11884F2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403350"/>
            <a:ext cx="5394960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095501"/>
            <a:ext cx="539496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2095501"/>
            <a:ext cx="5394960" cy="4114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2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884">
          <p15:clr>
            <a:srgbClr val="FBAE40"/>
          </p15:clr>
        </p15:guide>
        <p15:guide id="4" orient="horz" pos="391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82616C-16AA-D245-94C9-5BE602638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68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A19A4-818C-F14A-B5DE-B0DB0C798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9707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095500"/>
            <a:ext cx="3502152" cy="4114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6539" y="2095501"/>
            <a:ext cx="350215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89707" y="2095501"/>
            <a:ext cx="350215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756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1320">
          <p15:clr>
            <a:srgbClr val="FBAE40"/>
          </p15:clr>
        </p15:guide>
        <p15:guide id="4" orient="horz" pos="884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8E406E3-70F2-E545-A33D-5568AFC002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9100" y="1403350"/>
            <a:ext cx="2569464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725E2CD-DECE-0044-B355-7C6EB47D33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63900" y="1403350"/>
            <a:ext cx="2569464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BD7BAE8-2C7F-FA45-8EFC-9F725704CA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1403350"/>
            <a:ext cx="2569464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623A3DB9-8116-4C4F-A39D-673A5EB91A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34450" y="1403350"/>
            <a:ext cx="2569464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2095501"/>
            <a:ext cx="2569464" cy="4114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63899" y="2095501"/>
            <a:ext cx="2569463" cy="4114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2095501"/>
            <a:ext cx="2569464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34450" y="2095501"/>
            <a:ext cx="2569464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152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pos="5628">
          <p15:clr>
            <a:srgbClr val="FBAE40"/>
          </p15:clr>
        </p15:guide>
        <p15:guide id="3" pos="2056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884">
          <p15:clr>
            <a:srgbClr val="FBAE40"/>
          </p15:clr>
        </p15:guide>
        <p15:guide id="6" orient="horz" pos="39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-1/3-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A24B364-E635-8148-9DBE-C364F1D3B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99" y="1403350"/>
            <a:ext cx="729691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65EA83-2EC6-BE4F-96E1-74D20B473B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010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2095501"/>
            <a:ext cx="7296912" cy="4114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00998" y="2095501"/>
            <a:ext cx="350215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256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40">
          <p15:clr>
            <a:srgbClr val="FBAE40"/>
          </p15:clr>
        </p15:guide>
        <p15:guide id="3" orient="horz" pos="1320">
          <p15:clr>
            <a:srgbClr val="FBAE40"/>
          </p15:clr>
        </p15:guide>
        <p15:guide id="4" orient="horz" pos="884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-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 lIns="182880" tIns="182880" rIns="182880" bIns="18288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84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>
          <p15:clr>
            <a:srgbClr val="FBAE40"/>
          </p15:clr>
        </p15:guide>
        <p15:guide id="2" orient="horz" pos="391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-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03349"/>
            <a:ext cx="5394960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403349"/>
            <a:ext cx="5394960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3177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84">
          <p15:clr>
            <a:srgbClr val="FBAE40"/>
          </p15:clr>
        </p15:guide>
        <p15:guide id="3" orient="horz" pos="391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-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03350"/>
            <a:ext cx="3502152" cy="4806950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6539" y="1403351"/>
            <a:ext cx="3502152" cy="4806950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89707" y="1403351"/>
            <a:ext cx="3502152" cy="4806950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535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  <p15:guide id="4" orient="horz" pos="391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-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403349"/>
            <a:ext cx="2569464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63899" y="1403349"/>
            <a:ext cx="2569464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6000" y="1403350"/>
            <a:ext cx="2569464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34450" y="1403350"/>
            <a:ext cx="2569464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6755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>
          <p15:clr>
            <a:srgbClr val="FBAE40"/>
          </p15:clr>
        </p15:guide>
        <p15:guide id="2" pos="5628">
          <p15:clr>
            <a:srgbClr val="FBAE40"/>
          </p15:clr>
        </p15:guide>
        <p15:guide id="3" pos="3840">
          <p15:clr>
            <a:srgbClr val="FBAE40"/>
          </p15:clr>
        </p15:guide>
        <p15:guide id="4" orient="horz" pos="884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-1/3-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403349"/>
            <a:ext cx="7292975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89707" y="1403350"/>
            <a:ext cx="3502152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898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  <p15:guide id="4" orient="horz" pos="391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3C0C45-46D4-4641-835F-757BE4F4F022}"/>
              </a:ext>
            </a:extLst>
          </p:cNvPr>
          <p:cNvCxnSpPr/>
          <p:nvPr userDrawn="1"/>
        </p:nvCxnSpPr>
        <p:spPr>
          <a:xfrm>
            <a:off x="436861" y="2825750"/>
            <a:ext cx="256032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Logo">
            <a:extLst>
              <a:ext uri="{FF2B5EF4-FFF2-40B4-BE49-F238E27FC236}">
                <a16:creationId xmlns:a16="http://schemas.microsoft.com/office/drawing/2014/main" id="{9ECA36C3-BAB3-5943-8D31-3352025185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4801" y="6296025"/>
            <a:ext cx="1463040" cy="5238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8260-87F5-684E-B4AE-F4EFAA65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10" name="Section Number">
            <a:extLst>
              <a:ext uri="{FF2B5EF4-FFF2-40B4-BE49-F238E27FC236}">
                <a16:creationId xmlns:a16="http://schemas.microsoft.com/office/drawing/2014/main" id="{E0E81EB4-471C-3F45-B7C7-3BCA829250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012315"/>
            <a:ext cx="2011680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section ##]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78075"/>
            <a:ext cx="9601200" cy="1965325"/>
          </a:xfrm>
        </p:spPr>
        <p:txBody>
          <a:bodyPr anchor="t" anchorCtr="0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896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orient="horz" pos="1498">
          <p15:clr>
            <a:srgbClr val="FBAE40"/>
          </p15:clr>
        </p15:guide>
        <p15:guide id="3" pos="356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87010E-723C-D14C-AC63-00244F5DEEA1}"/>
              </a:ext>
            </a:extLst>
          </p:cNvPr>
          <p:cNvCxnSpPr/>
          <p:nvPr userDrawn="1"/>
        </p:nvCxnSpPr>
        <p:spPr>
          <a:xfrm>
            <a:off x="436861" y="2825750"/>
            <a:ext cx="25603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8260-87F5-684E-B4AE-F4EFAA65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14" name="Section Number">
            <a:extLst>
              <a:ext uri="{FF2B5EF4-FFF2-40B4-BE49-F238E27FC236}">
                <a16:creationId xmlns:a16="http://schemas.microsoft.com/office/drawing/2014/main" id="{52FADD52-291B-F54C-9279-ADD61D70F9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012315"/>
            <a:ext cx="2011680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[Optional section ##]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78075"/>
            <a:ext cx="9601200" cy="1965325"/>
          </a:xfrm>
        </p:spPr>
        <p:txBody>
          <a:bodyPr anchor="t" anchorCtr="0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1909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pos="356">
          <p15:clr>
            <a:srgbClr val="FBAE40"/>
          </p15:clr>
        </p15:guide>
        <p15:guide id="3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 Tungst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3854AF-0DCD-CF45-A193-040A7DC19E14}"/>
              </a:ext>
            </a:extLst>
          </p:cNvPr>
          <p:cNvCxnSpPr/>
          <p:nvPr userDrawn="1"/>
        </p:nvCxnSpPr>
        <p:spPr>
          <a:xfrm>
            <a:off x="436861" y="2825750"/>
            <a:ext cx="25603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8260-87F5-684E-B4AE-F4EFAA65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13" name="Section Number">
            <a:extLst>
              <a:ext uri="{FF2B5EF4-FFF2-40B4-BE49-F238E27FC236}">
                <a16:creationId xmlns:a16="http://schemas.microsoft.com/office/drawing/2014/main" id="{E0E2267C-3883-C643-9993-A02202AC28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012315"/>
            <a:ext cx="2011680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[Optional section ##]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78075"/>
            <a:ext cx="9601200" cy="1965325"/>
          </a:xfrm>
        </p:spPr>
        <p:txBody>
          <a:bodyPr anchor="t" anchorCtr="0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3643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76">
          <p15:clr>
            <a:srgbClr val="FBAE40"/>
          </p15:clr>
        </p15:guide>
        <p15:guide id="2" pos="356">
          <p15:clr>
            <a:srgbClr val="FBAE40"/>
          </p15:clr>
        </p15:guide>
        <p15:guide id="3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Logo">
            <a:extLst>
              <a:ext uri="{FF2B5EF4-FFF2-40B4-BE49-F238E27FC236}">
                <a16:creationId xmlns:a16="http://schemas.microsoft.com/office/drawing/2014/main" id="{47D8C83C-F0EF-F949-8B0E-69909839C7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4801" y="6296025"/>
            <a:ext cx="1463040" cy="5238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F0CB69-A8C9-3148-BE3D-A492C022E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263E97-D3AD-CB4D-A38F-E36DBD10B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3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C84B42-6275-4644-86D4-ECD146789A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3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0F8B490-4361-CC4A-9F61-79B2E81AFC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CABFCA-A501-7E4D-9263-58563C08A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C87837-1EA6-2349-931C-E6FFFB8DBB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532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6138EAC-7695-894D-BBD4-055459A09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737E5CF-1F7C-5649-A592-CC25861D2D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070BC90-9746-8846-93B3-5F5CE932FF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0960AB0-B647-2C4E-AAFE-66E5B8F1A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247BEE3-7D76-F644-BDAB-16ED5A8288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812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21EEC92-A39E-E94D-B2E6-F86BAE8543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812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A623ED-65B4-834F-8518-DA9B1269F1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812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7D82EA8-413C-D24C-A022-A507660914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812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37E7239D-DEAC-7F4E-BAF6-9D7D97413F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812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B11C7D85-DC2F-A745-ADB8-A7CA8256E3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81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B74C912-DD8C-AF45-9C63-8F7BBF3C01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581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5E8DBD9B-A278-BC4A-920C-02E3653593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581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FF9FB30C-3AED-7D45-A24D-38F4A99E1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581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612DBE41-3DAD-064C-BC23-5C041B16A2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581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4894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2">
          <p15:clr>
            <a:srgbClr val="FBAE40"/>
          </p15:clr>
        </p15:guide>
        <p15:guide id="2" pos="1248">
          <p15:clr>
            <a:srgbClr val="FBAE40"/>
          </p15:clr>
        </p15:guide>
        <p15:guide id="3" pos="4128">
          <p15:clr>
            <a:srgbClr val="FBAE40"/>
          </p15:clr>
        </p15:guide>
        <p15:guide id="4" pos="4824">
          <p15:clr>
            <a:srgbClr val="FBAE40"/>
          </p15:clr>
        </p15:guide>
        <p15:guide id="5" orient="horz" pos="884">
          <p15:clr>
            <a:srgbClr val="FBAE40"/>
          </p15:clr>
        </p15:guide>
        <p15:guide id="6" orient="horz" pos="1498">
          <p15:clr>
            <a:srgbClr val="FBAE40"/>
          </p15:clr>
        </p15:guide>
        <p15:guide id="7" orient="horz" pos="2116">
          <p15:clr>
            <a:srgbClr val="FBAE40"/>
          </p15:clr>
        </p15:guide>
        <p15:guide id="8" orient="horz" pos="2736">
          <p15:clr>
            <a:srgbClr val="FBAE40"/>
          </p15:clr>
        </p15:guide>
        <p15:guide id="9" orient="horz" pos="3350">
          <p15:clr>
            <a:srgbClr val="FBAE40"/>
          </p15:clr>
        </p15:guide>
        <p15:guide id="10" pos="3840">
          <p15:clr>
            <a:srgbClr val="FBAE40"/>
          </p15:clr>
        </p15:guide>
        <p15:guide id="11" orient="horz" pos="391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F0CB69-A8C9-3148-BE3D-A492C022E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263E97-D3AD-CB4D-A38F-E36DBD10B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3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C84B42-6275-4644-86D4-ECD146789A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3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0F8B490-4361-CC4A-9F61-79B2E81AFC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CABFCA-A501-7E4D-9263-58563C08A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C87837-1EA6-2349-931C-E6FFFB8DBB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532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6138EAC-7695-894D-BBD4-055459A09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737E5CF-1F7C-5649-A592-CC25861D2D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070BC90-9746-8846-93B3-5F5CE932FF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0960AB0-B647-2C4E-AAFE-66E5B8F1A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247BEE3-7D76-F644-BDAB-16ED5A8288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812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21EEC92-A39E-E94D-B2E6-F86BAE8543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812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A623ED-65B4-834F-8518-DA9B1269F1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812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7D82EA8-413C-D24C-A022-A507660914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812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37E7239D-DEAC-7F4E-BAF6-9D7D97413F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812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B11C7D85-DC2F-A745-ADB8-A7CA8256E3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81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B74C912-DD8C-AF45-9C63-8F7BBF3C01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581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5E8DBD9B-A278-BC4A-920C-02E3653593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581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FF9FB30C-3AED-7D45-A24D-38F4A99E1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581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612DBE41-3DAD-064C-BC23-5C041B16A2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581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1">
                <a:solidFill>
                  <a:schemeClr val="tx2"/>
                </a:solidFill>
              </a:defRPr>
            </a:lvl1pPr>
            <a:lvl2pPr marL="0" indent="0">
              <a:spcAft>
                <a:spcPts val="40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System Font Regular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9048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2">
          <p15:clr>
            <a:srgbClr val="FBAE40"/>
          </p15:clr>
        </p15:guide>
        <p15:guide id="2" pos="1248">
          <p15:clr>
            <a:srgbClr val="FBAE40"/>
          </p15:clr>
        </p15:guide>
        <p15:guide id="3" pos="4128">
          <p15:clr>
            <a:srgbClr val="FBAE40"/>
          </p15:clr>
        </p15:guide>
        <p15:guide id="4" pos="4824">
          <p15:clr>
            <a:srgbClr val="FBAE40"/>
          </p15:clr>
        </p15:guide>
        <p15:guide id="5" orient="horz" pos="884">
          <p15:clr>
            <a:srgbClr val="FBAE40"/>
          </p15:clr>
        </p15:guide>
        <p15:guide id="6" orient="horz" pos="1498">
          <p15:clr>
            <a:srgbClr val="FBAE40"/>
          </p15:clr>
        </p15:guide>
        <p15:guide id="7" orient="horz" pos="2116">
          <p15:clr>
            <a:srgbClr val="FBAE40"/>
          </p15:clr>
        </p15:guide>
        <p15:guide id="8" orient="horz" pos="2736">
          <p15:clr>
            <a:srgbClr val="FBAE40"/>
          </p15:clr>
        </p15:guide>
        <p15:guide id="9" orient="horz" pos="3350">
          <p15:clr>
            <a:srgbClr val="FBAE40"/>
          </p15:clr>
        </p15:guide>
        <p15:guide id="10" pos="3840">
          <p15:clr>
            <a:srgbClr val="FBAE40"/>
          </p15:clr>
        </p15:guide>
        <p15:guide id="11" orient="horz" pos="391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03A9CFF3-144D-F242-AB37-45B8D1EA02D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01000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D30E5EF1-DEED-0E4E-842C-164ECBEB862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06875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35166569-9518-9B41-8B53-AA608D4002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9100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E7959487-FA6F-9442-8793-172CFAE0C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001000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22F3E836-EB9D-0A44-8CBF-55C02225AF9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06875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88ED419-5FB1-1040-9DD4-AB69170FDA9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9100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559BAC-92F4-B744-9836-450C4A90B3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14500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 sz="1400" i="1">
                <a:solidFill>
                  <a:schemeClr val="tx1"/>
                </a:solidFill>
              </a:defRPr>
            </a:lvl2pPr>
            <a:lvl3pPr marL="12700" indent="0">
              <a:buNone/>
              <a:tabLst/>
              <a:defRPr sz="14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D8682B-ACC9-614A-8FC5-30E2225A02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0689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 sz="1400" i="1"/>
            </a:lvl2pPr>
            <a:lvl3pPr marL="12700" indent="0">
              <a:buNone/>
              <a:tabLst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9DF087C-13B0-8044-B147-F99E711E3B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6400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 sz="1400" i="1"/>
            </a:lvl2pPr>
            <a:lvl3pPr marL="12700" indent="0">
              <a:buNone/>
              <a:tabLst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68F9AA8-58C0-BD45-A206-0D15796A4D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714500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 sz="1400" i="1"/>
            </a:lvl2pPr>
            <a:lvl3pPr marL="12700" indent="0">
              <a:buNone/>
              <a:tabLst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5655B9A0-5BD5-4B4C-87A7-8A7BC98C366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00689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 sz="1400" i="1"/>
            </a:lvl2pPr>
            <a:lvl3pPr marL="12700" indent="0">
              <a:buNone/>
              <a:tabLst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2FB16EA-50E6-7147-BF52-0D186E4312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96400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1">
                <a:solidFill>
                  <a:schemeClr val="tx2"/>
                </a:solidFill>
              </a:defRPr>
            </a:lvl1pPr>
            <a:lvl2pPr marL="0" indent="0">
              <a:buNone/>
              <a:defRPr sz="1400" i="1"/>
            </a:lvl2pPr>
            <a:lvl3pPr marL="12700" indent="0">
              <a:buNone/>
              <a:tabLst/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34019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2400">
          <p15:clr>
            <a:srgbClr val="FBAE40"/>
          </p15:clr>
        </p15:guide>
        <p15:guide id="4" pos="1080">
          <p15:clr>
            <a:srgbClr val="FBAE40"/>
          </p15:clr>
        </p15:guide>
        <p15:guide id="5" pos="3465">
          <p15:clr>
            <a:srgbClr val="FBAE40"/>
          </p15:clr>
        </p15:guide>
        <p15:guide id="6" pos="5856">
          <p15:clr>
            <a:srgbClr val="FBAE40"/>
          </p15:clr>
        </p15:guide>
        <p15:guide id="7" orient="horz" pos="88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5394960" cy="19589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400300"/>
            <a:ext cx="539496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5A1687-B173-3C4B-B080-DF7BBD030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419101"/>
            <a:ext cx="5676900" cy="5791199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62619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512">
          <p15:clr>
            <a:srgbClr val="FBAE40"/>
          </p15:clr>
        </p15:guide>
        <p15:guide id="3" orient="horz" pos="3912">
          <p15:clr>
            <a:srgbClr val="FBAE40"/>
          </p15:clr>
        </p15:guide>
        <p15:guide id="4" orient="horz" pos="88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2700" y="419101"/>
            <a:ext cx="5410200" cy="19589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5A1687-B173-3C4B-B080-DF7BBD030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450" y="419101"/>
            <a:ext cx="5676900" cy="5791199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700" y="2400300"/>
            <a:ext cx="54102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415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08">
          <p15:clr>
            <a:srgbClr val="FBAE40"/>
          </p15:clr>
        </p15:guide>
        <p15:guide id="3" orient="horz" pos="3912">
          <p15:clr>
            <a:srgbClr val="FBAE40"/>
          </p15:clr>
        </p15:guide>
        <p15:guide id="4" orient="horz" pos="1512">
          <p15:clr>
            <a:srgbClr val="FBAE40"/>
          </p15:clr>
        </p15:guide>
        <p15:guide id="5" orient="horz" pos="88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CBB3E71-68E9-0C42-A1F5-AAC39EAA6D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9100" y="1403350"/>
            <a:ext cx="11353800" cy="48069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90775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>
          <p15:clr>
            <a:srgbClr val="FBAE40"/>
          </p15:clr>
        </p15:guide>
        <p15:guide id="2" orient="horz" pos="391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de-by-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03349"/>
            <a:ext cx="5676900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403349"/>
            <a:ext cx="5676900" cy="4806951"/>
          </a:xfrm>
          <a:solidFill>
            <a:schemeClr val="tx2"/>
          </a:solidFill>
        </p:spPr>
        <p:txBody>
          <a:bodyPr lIns="182880" tIns="182880" rIns="182880" bIns="18288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3649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84">
          <p15:clr>
            <a:srgbClr val="FBAE40"/>
          </p15:clr>
        </p15:guide>
        <p15:guide id="3" orient="horz" pos="391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de-by-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03349"/>
            <a:ext cx="5676900" cy="4806951"/>
          </a:xfrm>
          <a:solidFill>
            <a:schemeClr val="bg2"/>
          </a:solidFill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9100" y="1403349"/>
            <a:ext cx="5676900" cy="4806951"/>
          </a:xfrm>
          <a:solidFill>
            <a:schemeClr val="tx2"/>
          </a:solidFill>
        </p:spPr>
        <p:txBody>
          <a:bodyPr lIns="182880" tIns="182880" rIns="182880" bIns="18288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064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84">
          <p15:clr>
            <a:srgbClr val="FBAE40"/>
          </p15:clr>
        </p15:guide>
        <p15:guide id="3" orient="horz" pos="391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tatement 1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Direction Graphic">
            <a:extLst>
              <a:ext uri="{FF2B5EF4-FFF2-40B4-BE49-F238E27FC236}">
                <a16:creationId xmlns:a16="http://schemas.microsoft.com/office/drawing/2014/main" id="{6869F596-3692-3E4E-9BF3-E29D14395A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43297" y="731713"/>
            <a:ext cx="822612" cy="5273667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C51A4843-2EB1-1445-8A49-A737C70976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801" y="6296025"/>
            <a:ext cx="1463040" cy="52387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2E251-1249-1447-8D56-F6A4533673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930B-38D7-924C-B6F1-36FF815DB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7A97EF-C944-4447-B862-B593E9B4A0F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A982C6-876D-DD40-A175-F032C52F2D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00" y="615950"/>
            <a:ext cx="8724899" cy="5486400"/>
          </a:xfrm>
        </p:spPr>
        <p:txBody>
          <a:bodyPr anchor="ctr" anchorCtr="0"/>
          <a:lstStyle>
            <a:lvl1pPr marL="201168" indent="-201168">
              <a:lnSpc>
                <a:spcPct val="85000"/>
              </a:lnSpc>
              <a:spcAft>
                <a:spcPts val="1000"/>
              </a:spcAft>
              <a:defRPr sz="5000">
                <a:solidFill>
                  <a:schemeClr val="tx1"/>
                </a:solidFill>
              </a:defRPr>
            </a:lvl1pPr>
            <a:lvl2pPr marL="219456" indent="0">
              <a:lnSpc>
                <a:spcPct val="100000"/>
              </a:lnSpc>
              <a:buFont typeface="System Font Regular"/>
              <a:buNone/>
              <a:defRPr>
                <a:solidFill>
                  <a:schemeClr val="tx1"/>
                </a:solidFill>
              </a:defRPr>
            </a:lvl2pPr>
            <a:lvl3pPr marL="201168" indent="0">
              <a:lnSpc>
                <a:spcPct val="85000"/>
              </a:lnSpc>
              <a:buNone/>
              <a:defRPr sz="5000">
                <a:solidFill>
                  <a:schemeClr val="tx1"/>
                </a:solidFill>
              </a:defRPr>
            </a:lvl3pPr>
            <a:lvl4pPr marL="201168" indent="0">
              <a:lnSpc>
                <a:spcPct val="90000"/>
              </a:lnSpc>
              <a:buNone/>
              <a:defRPr sz="3200">
                <a:solidFill>
                  <a:schemeClr val="tx1"/>
                </a:solidFill>
              </a:defRPr>
            </a:lvl4pPr>
            <a:lvl5pPr marL="237744" indent="0">
              <a:lnSpc>
                <a:spcPct val="100000"/>
              </a:lnSpc>
              <a:buClr>
                <a:schemeClr val="accent4"/>
              </a:buClr>
              <a:buFont typeface="System Font Regular"/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4365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orient="horz" pos="211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tatement 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Direction Graphic">
            <a:extLst>
              <a:ext uri="{FF2B5EF4-FFF2-40B4-BE49-F238E27FC236}">
                <a16:creationId xmlns:a16="http://schemas.microsoft.com/office/drawing/2014/main" id="{6869F596-3692-3E4E-9BF3-E29D14395A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297" y="731713"/>
            <a:ext cx="822613" cy="527366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2E251-1249-1447-8D56-F6A4533673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930B-38D7-924C-B6F1-36FF815DB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7A97EF-C944-4447-B862-B593E9B4A0F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A982C6-876D-DD40-A175-F032C52F2D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00" y="615950"/>
            <a:ext cx="8724899" cy="5486400"/>
          </a:xfrm>
        </p:spPr>
        <p:txBody>
          <a:bodyPr anchor="ctr" anchorCtr="0"/>
          <a:lstStyle>
            <a:lvl1pPr marL="201168" indent="-201168">
              <a:lnSpc>
                <a:spcPct val="85000"/>
              </a:lnSpc>
              <a:spcAft>
                <a:spcPts val="1000"/>
              </a:spcAft>
              <a:defRPr sz="5000">
                <a:solidFill>
                  <a:schemeClr val="tx2"/>
                </a:solidFill>
              </a:defRPr>
            </a:lvl1pPr>
            <a:lvl2pPr marL="219456" indent="0">
              <a:lnSpc>
                <a:spcPct val="100000"/>
              </a:lnSpc>
              <a:buClr>
                <a:schemeClr val="tx1"/>
              </a:buClr>
              <a:buFont typeface="System Font Regular"/>
              <a:buNone/>
              <a:defRPr>
                <a:solidFill>
                  <a:schemeClr val="tx1"/>
                </a:solidFill>
              </a:defRPr>
            </a:lvl2pPr>
            <a:lvl3pPr marL="201168" indent="0">
              <a:lnSpc>
                <a:spcPct val="85000"/>
              </a:lnSpc>
              <a:buNone/>
              <a:defRPr sz="5000">
                <a:solidFill>
                  <a:schemeClr val="tx2"/>
                </a:solidFill>
              </a:defRPr>
            </a:lvl3pPr>
            <a:lvl4pPr marL="201168" indent="0">
              <a:lnSpc>
                <a:spcPct val="90000"/>
              </a:lnSpc>
              <a:buNone/>
              <a:defRPr sz="3200">
                <a:solidFill>
                  <a:schemeClr val="tx2"/>
                </a:solidFill>
              </a:defRPr>
            </a:lvl4pPr>
            <a:lvl5pPr marL="237744" indent="0">
              <a:lnSpc>
                <a:spcPct val="100000"/>
              </a:lnSpc>
              <a:buClr>
                <a:schemeClr val="tx1"/>
              </a:buClr>
              <a:buFont typeface="System Font Regular"/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611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orient="horz" pos="211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isti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B1222A-B6BC-654A-9FB9-359F5259273D}"/>
              </a:ext>
            </a:extLst>
          </p:cNvPr>
          <p:cNvCxnSpPr>
            <a:cxnSpLocks/>
          </p:cNvCxnSpPr>
          <p:nvPr userDrawn="1"/>
        </p:nvCxnSpPr>
        <p:spPr>
          <a:xfrm>
            <a:off x="419100" y="3098800"/>
            <a:ext cx="3502152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4FE598-F33E-744E-936F-9801292CFF8B}"/>
              </a:ext>
            </a:extLst>
          </p:cNvPr>
          <p:cNvCxnSpPr>
            <a:cxnSpLocks/>
          </p:cNvCxnSpPr>
          <p:nvPr userDrawn="1"/>
        </p:nvCxnSpPr>
        <p:spPr>
          <a:xfrm>
            <a:off x="4206875" y="3098800"/>
            <a:ext cx="3502152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1E5130-25C4-B646-8441-8110D516CB1D}"/>
              </a:ext>
            </a:extLst>
          </p:cNvPr>
          <p:cNvCxnSpPr>
            <a:cxnSpLocks/>
          </p:cNvCxnSpPr>
          <p:nvPr userDrawn="1"/>
        </p:nvCxnSpPr>
        <p:spPr>
          <a:xfrm>
            <a:off x="8001000" y="3098800"/>
            <a:ext cx="3502152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82616C-16AA-D245-94C9-5BE602638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68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A19A4-818C-F14A-B5DE-B0DB0C798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9707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1"/>
                </a:solidFill>
              </a:defRPr>
            </a:lvl2pPr>
            <a:lvl3pPr marL="182880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365760" indent="-182880">
              <a:buClr>
                <a:schemeClr val="tx1"/>
              </a:buClr>
              <a:buFont typeface="System Font Regular"/>
              <a:buChar char="–"/>
              <a:defRPr>
                <a:solidFill>
                  <a:schemeClr val="tx1"/>
                </a:solidFill>
              </a:defRPr>
            </a:lvl4pPr>
            <a:lvl5pPr marL="548640"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BB63C1B-3209-284E-B44A-E799A58B17A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0687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1"/>
                </a:solidFill>
              </a:defRPr>
            </a:lvl2pPr>
            <a:lvl3pPr marL="182880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365760" indent="-182880">
              <a:buClr>
                <a:schemeClr val="tx1"/>
              </a:buClr>
              <a:buFont typeface="System Font Regular"/>
              <a:buChar char="–"/>
              <a:defRPr>
                <a:solidFill>
                  <a:schemeClr val="tx1"/>
                </a:solidFill>
              </a:defRPr>
            </a:lvl4pPr>
            <a:lvl5pPr marL="548640"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12F81C6-976F-8E46-9726-C1199B9E693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8512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1"/>
                </a:solidFill>
              </a:defRPr>
            </a:lvl2pPr>
            <a:lvl3pPr marL="182880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365760" indent="-182880">
              <a:buClr>
                <a:schemeClr val="tx1"/>
              </a:buClr>
              <a:buFont typeface="System Font Regular"/>
              <a:buChar char="–"/>
              <a:defRPr>
                <a:solidFill>
                  <a:schemeClr val="tx1"/>
                </a:solidFill>
              </a:defRPr>
            </a:lvl4pPr>
            <a:lvl5pPr marL="548640"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265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1320">
          <p15:clr>
            <a:srgbClr val="FBAE40"/>
          </p15:clr>
        </p15:guide>
        <p15:guide id="4" orient="horz" pos="884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tatisti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B1222A-B6BC-654A-9FB9-359F5259273D}"/>
              </a:ext>
            </a:extLst>
          </p:cNvPr>
          <p:cNvCxnSpPr>
            <a:cxnSpLocks/>
          </p:cNvCxnSpPr>
          <p:nvPr userDrawn="1"/>
        </p:nvCxnSpPr>
        <p:spPr>
          <a:xfrm>
            <a:off x="419100" y="3365500"/>
            <a:ext cx="3502152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8514C-8B9F-2747-A1ED-3FA7A6D9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3502152" cy="4114799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960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1"/>
                </a:solidFill>
              </a:defRPr>
            </a:lvl2pPr>
            <a:lvl3pPr marL="182880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365760" indent="-182880">
              <a:buClr>
                <a:schemeClr val="tx1"/>
              </a:buClr>
              <a:buFont typeface="System Font Regular"/>
              <a:buChar char="–"/>
              <a:defRPr>
                <a:solidFill>
                  <a:schemeClr val="tx1"/>
                </a:solidFill>
              </a:defRPr>
            </a:lvl4pPr>
            <a:lvl5pPr marL="548640"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3424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0">
          <p15:clr>
            <a:srgbClr val="FBAE40"/>
          </p15:clr>
        </p15:guide>
        <p15:guide id="4" orient="horz" pos="884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-o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>
            <a:extLst>
              <a:ext uri="{FF2B5EF4-FFF2-40B4-BE49-F238E27FC236}">
                <a16:creationId xmlns:a16="http://schemas.microsoft.com/office/drawing/2014/main" id="{6E86010E-23B9-554B-8F89-DBE13C6EDC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598420" y="2176610"/>
            <a:ext cx="6995160" cy="250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40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ABF6-8160-8240-8064-B96381D0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81922-7652-D74D-9BCA-4EBCFEFB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A052B-6959-D543-893E-8089B7EF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01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>
          <p15:clr>
            <a:srgbClr val="FBAE40"/>
          </p15:clr>
        </p15:guide>
        <p15:guide id="2" orient="horz" pos="391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610F1B-F39E-ED41-B236-5662414D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23C73-94BD-B445-A22D-90F43EB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901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612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ext Slide w/ Color Bckg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headline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48217" y="1545337"/>
            <a:ext cx="11082528" cy="338328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insert content</a:t>
            </a:r>
          </a:p>
          <a:p>
            <a:pPr lvl="1"/>
            <a:r>
              <a:rPr lang="en-US" dirty="0"/>
              <a:t>First level bullet </a:t>
            </a:r>
          </a:p>
          <a:p>
            <a:pPr lvl="2"/>
            <a:r>
              <a:rPr lang="en-US" dirty="0"/>
              <a:t>Second level bullet</a:t>
            </a:r>
          </a:p>
          <a:p>
            <a:pPr lvl="3"/>
            <a:r>
              <a:rPr lang="en-US" dirty="0"/>
              <a:t>Third level bullet</a:t>
            </a:r>
          </a:p>
        </p:txBody>
      </p:sp>
      <p:pic>
        <p:nvPicPr>
          <p:cNvPr id="10" name="Picture 9" descr="Monogram_PPT_small_white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3" y="6217920"/>
            <a:ext cx="609600" cy="457200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2267712" y="6355080"/>
            <a:ext cx="3742944" cy="1828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Title or Job Number | XX Month 201X</a:t>
            </a:r>
          </a:p>
        </p:txBody>
      </p:sp>
      <p:sp>
        <p:nvSpPr>
          <p:cNvPr id="12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8034528" y="6355080"/>
            <a:ext cx="2048256" cy="32004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See tutorial regarding confidentiality disclosures.</a:t>
            </a:r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326369" y="6355080"/>
            <a:ext cx="292608" cy="42062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aseline="0">
                <a:solidFill>
                  <a:srgbClr val="FFFFFF"/>
                </a:solidFill>
              </a:defRPr>
            </a:lvl1pPr>
          </a:lstStyle>
          <a:p>
            <a:fld id="{BFDC49DC-4C59-0B46-B4E4-08C86B3978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0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8B1718-BC94-7E98-698C-D42F5C15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96445-03B5-5CE5-DDD7-DD5F8D183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AF8E8-C952-06EF-4879-D3B323364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BEF00-332A-4CD6-B646-4EB01FC6511B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14563-64FB-5E80-0815-B6990754F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2904A-3AF1-DDEB-D77E-E05A05B82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810EE-AAEB-4688-B49F-71C8FD033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Logo">
            <a:extLst>
              <a:ext uri="{FF2B5EF4-FFF2-40B4-BE49-F238E27FC236}">
                <a16:creationId xmlns:a16="http://schemas.microsoft.com/office/drawing/2014/main" id="{ECDA8EB9-3A9D-424E-89F6-907595675CDF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304801" y="6296025"/>
            <a:ext cx="1463040" cy="52387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21D6-6421-7F41-A534-39EA22A63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6492875"/>
            <a:ext cx="45720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To edit the confidentiality disclosure, go to the View tab &gt; Slide Master &gt; Insert tab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82ED-C79F-1C4C-93EA-8B7E3CF99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2182" y="6492875"/>
            <a:ext cx="550718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01E47-C943-F44B-9CD7-62EF3F53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11353800" cy="9838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42F5A-6368-8D4D-90C8-17B76FDD3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403349"/>
            <a:ext cx="11353800" cy="4806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426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1"/>
        </a:buClr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System Font Regular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System Font Regular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System Font Regular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System Font Regular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System Font Regular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System Font Regular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5239A-F5A8-934A-3DB6-3D02D0C95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111" y="1423435"/>
            <a:ext cx="10053763" cy="1641138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Exploring the Role of Human Factors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in Lean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24415-3AB5-2138-CAD1-EB3D6D92A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1111" y="2994968"/>
            <a:ext cx="10005951" cy="917986"/>
          </a:xfrm>
        </p:spPr>
        <p:txBody>
          <a:bodyPr anchor="ctr">
            <a:normAutofit/>
          </a:bodyPr>
          <a:lstStyle/>
          <a:p>
            <a:pPr algn="l"/>
            <a:r>
              <a:rPr lang="it-IT" sz="1800" b="0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dvOT4ac4c61e"/>
              </a:rPr>
              <a:t>Paolo Gaiardelli, Barbara Resta and Stefano Dotti</a:t>
            </a:r>
            <a:br>
              <a:rPr lang="it-IT" sz="1800" b="0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dvOT4ac4c61e"/>
              </a:rPr>
            </a:br>
            <a:r>
              <a:rPr lang="en-US" sz="1800" b="0" i="1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dvOTb561e996.I"/>
              </a:rPr>
              <a:t>Department of Management Information and Production Engineering,</a:t>
            </a:r>
            <a:br>
              <a:rPr lang="en-US" sz="1800" b="0" i="1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dvOTb561e996.I"/>
              </a:rPr>
            </a:br>
            <a:r>
              <a:rPr lang="it-IT" sz="1800" b="0" i="1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dvOTb561e996.I"/>
              </a:rPr>
              <a:t>Universita degli Studi di Bergamo, Bergamo, Italy</a:t>
            </a:r>
            <a:endParaRPr lang="en-US" sz="18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C1E37-78BA-E0DF-3469-2A212B1EDA41}"/>
              </a:ext>
            </a:extLst>
          </p:cNvPr>
          <p:cNvSpPr txBox="1"/>
          <p:nvPr/>
        </p:nvSpPr>
        <p:spPr>
          <a:xfrm>
            <a:off x="1191111" y="5112054"/>
            <a:ext cx="29828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Bethany Ryan</a:t>
            </a:r>
            <a:br>
              <a:rPr lang="en-US" sz="1400" dirty="0"/>
            </a:br>
            <a:r>
              <a:rPr lang="en-US" sz="1400" dirty="0"/>
              <a:t>University of Idaho</a:t>
            </a:r>
          </a:p>
          <a:p>
            <a:r>
              <a:rPr lang="en-US" sz="1400" dirty="0"/>
              <a:t>PSYC 562: Advanced Human Factors</a:t>
            </a:r>
          </a:p>
          <a:p>
            <a:r>
              <a:rPr lang="en-US" sz="1400" dirty="0"/>
              <a:t>Professor Roger Lew</a:t>
            </a:r>
            <a:br>
              <a:rPr lang="en-US" sz="1400" dirty="0"/>
            </a:br>
            <a:r>
              <a:rPr lang="en-US" sz="1400" dirty="0"/>
              <a:t>January 22, 2025</a:t>
            </a:r>
          </a:p>
        </p:txBody>
      </p:sp>
    </p:spTree>
    <p:extLst>
      <p:ext uri="{BB962C8B-B14F-4D97-AF65-F5344CB8AC3E}">
        <p14:creationId xmlns:p14="http://schemas.microsoft.com/office/powerpoint/2010/main" val="22060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94630B-27C4-F4B3-1700-E7EF175A4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874" y="2027816"/>
            <a:ext cx="4131830" cy="1780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AEB000-CC31-D35B-3836-0135F5D0E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63" y="503897"/>
            <a:ext cx="9688296" cy="773390"/>
          </a:xfrm>
        </p:spPr>
        <p:txBody>
          <a:bodyPr anchor="b">
            <a:normAutofit/>
          </a:bodyPr>
          <a:lstStyle/>
          <a:p>
            <a:r>
              <a:rPr lang="en-US" sz="4000" dirty="0"/>
              <a:t>What is Lean Management?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2DC7E-F46D-B301-983A-3073B7489FBE}"/>
              </a:ext>
            </a:extLst>
          </p:cNvPr>
          <p:cNvSpPr txBox="1"/>
          <p:nvPr/>
        </p:nvSpPr>
        <p:spPr>
          <a:xfrm>
            <a:off x="5980545" y="2188386"/>
            <a:ext cx="38994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chemeClr val="bg1"/>
                </a:solidFill>
                <a:latin typeface="+mj-lt"/>
              </a:rPr>
              <a:t>(1) Define what values for the customer.</a:t>
            </a:r>
          </a:p>
          <a:p>
            <a:pPr algn="l"/>
            <a:r>
              <a:rPr lang="en-US" sz="1800" b="0" i="0" u="none" strike="noStrike" baseline="0" dirty="0">
                <a:solidFill>
                  <a:schemeClr val="bg1"/>
                </a:solidFill>
                <a:latin typeface="+mj-lt"/>
              </a:rPr>
              <a:t>(2) Identify the value stream.</a:t>
            </a:r>
          </a:p>
          <a:p>
            <a:pPr algn="l"/>
            <a:r>
              <a:rPr lang="en-US" sz="1800" b="0" i="0" u="none" strike="noStrike" baseline="0" dirty="0">
                <a:solidFill>
                  <a:schemeClr val="bg1"/>
                </a:solidFill>
                <a:latin typeface="+mj-lt"/>
              </a:rPr>
              <a:t>(3) Make the value flow.</a:t>
            </a:r>
          </a:p>
          <a:p>
            <a:pPr algn="l"/>
            <a:r>
              <a:rPr lang="en-US" sz="1800" b="0" i="0" u="none" strike="noStrike" baseline="0" dirty="0">
                <a:solidFill>
                  <a:schemeClr val="bg1"/>
                </a:solidFill>
                <a:latin typeface="+mj-lt"/>
              </a:rPr>
              <a:t>(4) Customer “pulls” the value stream.</a:t>
            </a:r>
          </a:p>
          <a:p>
            <a:pPr algn="l"/>
            <a:r>
              <a:rPr lang="en-US" sz="1800" b="0" i="0" u="none" strike="noStrike" baseline="0" dirty="0">
                <a:solidFill>
                  <a:schemeClr val="bg1"/>
                </a:solidFill>
                <a:latin typeface="+mj-lt"/>
              </a:rPr>
              <a:t>(5) Strive for perfection.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31D905-1B9E-390E-132C-73411C391429}"/>
              </a:ext>
            </a:extLst>
          </p:cNvPr>
          <p:cNvSpPr txBox="1"/>
          <p:nvPr/>
        </p:nvSpPr>
        <p:spPr>
          <a:xfrm>
            <a:off x="719865" y="4498465"/>
            <a:ext cx="108598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+mj-lt"/>
              </a:rPr>
              <a:t>Focus on the people and the results will follow. </a:t>
            </a:r>
            <a:br>
              <a:rPr lang="en-US" sz="2000" dirty="0">
                <a:solidFill>
                  <a:srgbClr val="000000"/>
                </a:solidFill>
                <a:latin typeface="+mj-lt"/>
              </a:rPr>
            </a:br>
            <a:r>
              <a:rPr lang="en-US" sz="2000" dirty="0">
                <a:solidFill>
                  <a:srgbClr val="000000"/>
                </a:solidFill>
                <a:latin typeface="+mj-lt"/>
              </a:rPr>
              <a:t>Focus on the results, and </a:t>
            </a:r>
            <a:r>
              <a:rPr lang="en-US" sz="2000" b="1" dirty="0">
                <a:solidFill>
                  <a:srgbClr val="000000"/>
                </a:solidFill>
                <a:latin typeface="+mj-lt"/>
              </a:rPr>
              <a:t>you’ll have the same troubles as everyone else </a:t>
            </a:r>
            <a:r>
              <a:rPr lang="en-US" sz="2000" dirty="0">
                <a:solidFill>
                  <a:srgbClr val="000000"/>
                </a:solidFill>
                <a:latin typeface="+mj-lt"/>
              </a:rPr>
              <a:t>– poor follow-up, lack of interest, no ownership of improvements, diminishing productivity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.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E759A9-39BB-6B91-B744-DA3DF6FD1A7B}"/>
              </a:ext>
            </a:extLst>
          </p:cNvPr>
          <p:cNvSpPr txBox="1"/>
          <p:nvPr/>
        </p:nvSpPr>
        <p:spPr>
          <a:xfrm>
            <a:off x="2439934" y="2656401"/>
            <a:ext cx="3540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Five main principles: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8996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EB000-CC31-D35B-3836-0135F5D0E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75" y="491112"/>
            <a:ext cx="3754149" cy="3432328"/>
          </a:xfrm>
        </p:spPr>
        <p:txBody>
          <a:bodyPr anchor="b">
            <a:normAutofit fontScale="90000"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“Hard” vs “Soft”</a:t>
            </a:r>
            <a:br>
              <a:rPr lang="en-US" sz="4000" b="1" dirty="0">
                <a:solidFill>
                  <a:srgbClr val="FFFFFF"/>
                </a:solidFill>
              </a:rPr>
            </a:br>
            <a:r>
              <a:rPr lang="en-US" sz="4000" b="1" dirty="0">
                <a:solidFill>
                  <a:srgbClr val="FFFFFF"/>
                </a:solidFill>
              </a:rPr>
              <a:t>Practices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1800" i="0" u="sng" strike="noStrike" baseline="0" dirty="0">
                <a:solidFill>
                  <a:schemeClr val="bg1"/>
                </a:solidFill>
              </a:rPr>
              <a:t>hard practices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: </a:t>
            </a:r>
            <a:br>
              <a:rPr lang="en-US" sz="1800" b="0" i="0" u="none" strike="noStrike" baseline="0" dirty="0">
                <a:solidFill>
                  <a:schemeClr val="bg1"/>
                </a:solidFill>
              </a:rPr>
            </a:br>
            <a:r>
              <a:rPr lang="en-US" sz="1800" b="0" i="0" u="none" strike="noStrike" baseline="0" dirty="0">
                <a:solidFill>
                  <a:schemeClr val="bg1"/>
                </a:solidFill>
              </a:rPr>
              <a:t>“technical and analytical</a:t>
            </a:r>
            <a:br>
              <a:rPr lang="en-US" sz="1800" b="0" i="0" u="none" strike="noStrike" baseline="0" dirty="0">
                <a:solidFill>
                  <a:schemeClr val="bg1"/>
                </a:solidFill>
              </a:rPr>
            </a:br>
            <a:r>
              <a:rPr lang="en-US" sz="1800" b="0" i="0" u="none" strike="noStrike" baseline="0" dirty="0">
                <a:solidFill>
                  <a:schemeClr val="bg1"/>
                </a:solidFill>
              </a:rPr>
              <a:t>tools introduced to improve production systems” </a:t>
            </a:r>
            <a:br>
              <a:rPr lang="en-US" sz="1800" b="0" i="0" u="none" strike="noStrike" baseline="0" dirty="0">
                <a:solidFill>
                  <a:schemeClr val="bg1"/>
                </a:solidFill>
              </a:rPr>
            </a:br>
            <a:br>
              <a:rPr lang="en-US" sz="1800" b="0" i="0" u="none" strike="noStrike" baseline="0" dirty="0">
                <a:solidFill>
                  <a:schemeClr val="bg1"/>
                </a:solidFill>
              </a:rPr>
            </a:br>
            <a:r>
              <a:rPr lang="en-US" sz="1800" b="1" i="0" u="sng" strike="noStrike" baseline="0" dirty="0">
                <a:solidFill>
                  <a:schemeClr val="bg1"/>
                </a:solidFill>
              </a:rPr>
              <a:t>soft practices</a:t>
            </a:r>
            <a:r>
              <a:rPr lang="en-US" sz="1800" b="0" i="0" u="none" strike="noStrike" baseline="0" dirty="0">
                <a:solidFill>
                  <a:schemeClr val="bg1"/>
                </a:solidFill>
              </a:rPr>
              <a:t>: </a:t>
            </a:r>
            <a:br>
              <a:rPr lang="en-US" sz="1800" b="0" i="0" u="none" strike="noStrike" baseline="0" dirty="0">
                <a:solidFill>
                  <a:schemeClr val="bg1"/>
                </a:solidFill>
              </a:rPr>
            </a:br>
            <a:r>
              <a:rPr lang="en-US" sz="1800" b="0" i="0" u="none" strike="noStrike" baseline="0" dirty="0">
                <a:solidFill>
                  <a:schemeClr val="bg1"/>
                </a:solidFill>
              </a:rPr>
              <a:t>“principles, managerial concepts, people, and relations”</a:t>
            </a:r>
            <a:endParaRPr lang="en-US" sz="4000" dirty="0">
              <a:solidFill>
                <a:schemeClr val="bg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919DB5-5822-8B07-6B02-998ED3B9D361}"/>
              </a:ext>
            </a:extLst>
          </p:cNvPr>
          <p:cNvGrpSpPr/>
          <p:nvPr/>
        </p:nvGrpSpPr>
        <p:grpSpPr>
          <a:xfrm>
            <a:off x="5387725" y="455738"/>
            <a:ext cx="5748038" cy="1722142"/>
            <a:chOff x="4969597" y="974190"/>
            <a:chExt cx="6219270" cy="252963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1F47517-B7FD-5B15-31E3-CE7793E45BE3}"/>
                </a:ext>
              </a:extLst>
            </p:cNvPr>
            <p:cNvSpPr/>
            <p:nvPr/>
          </p:nvSpPr>
          <p:spPr>
            <a:xfrm>
              <a:off x="4969597" y="984324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Set-up time reduction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08296ED-E8CF-ACC6-CBB5-2EAAF497429E}"/>
                </a:ext>
              </a:extLst>
            </p:cNvPr>
            <p:cNvSpPr/>
            <p:nvPr/>
          </p:nvSpPr>
          <p:spPr>
            <a:xfrm>
              <a:off x="7102529" y="974190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Just-in-time </a:t>
              </a:r>
              <a:r>
                <a:rPr lang="en-US" sz="1600" kern="1200" dirty="0"/>
                <a:t>delivery by suppliers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3C4BABD-9EA0-8EB8-F5AA-6D68E0919BC8}"/>
                </a:ext>
              </a:extLst>
            </p:cNvPr>
            <p:cNvSpPr/>
            <p:nvPr/>
          </p:nvSpPr>
          <p:spPr>
            <a:xfrm>
              <a:off x="9242992" y="974190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Equipment layout for continuous flow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F152D11-5210-FC41-E3FA-E221538E0A84}"/>
                </a:ext>
              </a:extLst>
            </p:cNvPr>
            <p:cNvSpPr/>
            <p:nvPr/>
          </p:nvSpPr>
          <p:spPr>
            <a:xfrm>
              <a:off x="4969597" y="2321436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Kanban</a:t>
              </a:r>
              <a:endParaRPr lang="en-US" sz="1600" kern="120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1D2F03C-AF23-67E0-9E3E-B437B1ED2452}"/>
                </a:ext>
              </a:extLst>
            </p:cNvPr>
            <p:cNvSpPr/>
            <p:nvPr/>
          </p:nvSpPr>
          <p:spPr>
            <a:xfrm>
              <a:off x="7095037" y="2336303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Statistical process control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ED46D91-79A4-6301-6C73-632BE4223271}"/>
                </a:ext>
              </a:extLst>
            </p:cNvPr>
            <p:cNvSpPr/>
            <p:nvPr/>
          </p:nvSpPr>
          <p:spPr>
            <a:xfrm>
              <a:off x="9220477" y="2313843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Autonomous maintenance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7AD5CAE-9053-0EE6-9A91-C8613AE25DC1}"/>
              </a:ext>
            </a:extLst>
          </p:cNvPr>
          <p:cNvGrpSpPr/>
          <p:nvPr/>
        </p:nvGrpSpPr>
        <p:grpSpPr>
          <a:xfrm>
            <a:off x="5387725" y="2340861"/>
            <a:ext cx="5755000" cy="1696758"/>
            <a:chOff x="4962064" y="3698415"/>
            <a:chExt cx="6226803" cy="2492352"/>
          </a:xfrm>
          <a:solidFill>
            <a:schemeClr val="tx2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B994950-1950-95DA-68CA-0E5974B485B5}"/>
                </a:ext>
              </a:extLst>
            </p:cNvPr>
            <p:cNvSpPr/>
            <p:nvPr/>
          </p:nvSpPr>
          <p:spPr>
            <a:xfrm>
              <a:off x="9220477" y="3698415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Top management leadership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D650FBB-59B0-0156-BB86-09FE10DF3347}"/>
                </a:ext>
              </a:extLst>
            </p:cNvPr>
            <p:cNvSpPr/>
            <p:nvPr/>
          </p:nvSpPr>
          <p:spPr>
            <a:xfrm>
              <a:off x="4962064" y="5023240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Supplier partnership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25AADF-99BC-3470-47AA-56131EB933E3}"/>
                </a:ext>
              </a:extLst>
            </p:cNvPr>
            <p:cNvSpPr/>
            <p:nvPr/>
          </p:nvSpPr>
          <p:spPr>
            <a:xfrm>
              <a:off x="7094321" y="5023242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Customer involvement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DF87849-A16A-9519-5C95-F413E571DA36}"/>
                </a:ext>
              </a:extLst>
            </p:cNvPr>
            <p:cNvSpPr/>
            <p:nvPr/>
          </p:nvSpPr>
          <p:spPr>
            <a:xfrm>
              <a:off x="9242992" y="5023241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Continuous improvement</a:t>
              </a: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22B2FA-9417-F52C-2FC6-FCE15C25F723}"/>
                </a:ext>
              </a:extLst>
            </p:cNvPr>
            <p:cNvSpPr/>
            <p:nvPr/>
          </p:nvSpPr>
          <p:spPr>
            <a:xfrm>
              <a:off x="4962065" y="3698416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Small group problem solving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594EA79-7517-074E-60A7-91C1A891D4F2}"/>
                </a:ext>
              </a:extLst>
            </p:cNvPr>
            <p:cNvSpPr/>
            <p:nvPr/>
          </p:nvSpPr>
          <p:spPr>
            <a:xfrm>
              <a:off x="7094320" y="3698416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Training employees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A9E61FD-50C8-A28C-F088-ECE57C8C8F23}"/>
              </a:ext>
            </a:extLst>
          </p:cNvPr>
          <p:cNvSpPr txBox="1"/>
          <p:nvPr/>
        </p:nvSpPr>
        <p:spPr>
          <a:xfrm>
            <a:off x="4430549" y="4416245"/>
            <a:ext cx="74472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Despite the implementation of hard practices has been demonstrated being a strong predictor of lean contribution to operational performance improvements, </a:t>
            </a:r>
            <a:r>
              <a:rPr lang="en-US" sz="2000" b="1" i="0" u="none" strike="noStrike" baseline="0" dirty="0">
                <a:solidFill>
                  <a:schemeClr val="accent1"/>
                </a:solidFill>
                <a:latin typeface="+mj-lt"/>
              </a:rPr>
              <a:t>soft practices are essential for obtaining greater outcomes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…the efficacy of hard practices is magnified when soft practices are simultaneously and systematically applied 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517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36816-3F07-61BC-F525-0047C11CE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67" y="623483"/>
            <a:ext cx="11277600" cy="561060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07231AC-96E0-6CE2-AF84-E87D67C48CD6}"/>
              </a:ext>
            </a:extLst>
          </p:cNvPr>
          <p:cNvGrpSpPr/>
          <p:nvPr/>
        </p:nvGrpSpPr>
        <p:grpSpPr>
          <a:xfrm>
            <a:off x="3888736" y="723197"/>
            <a:ext cx="2431676" cy="1289313"/>
            <a:chOff x="4962064" y="2017499"/>
            <a:chExt cx="4078132" cy="4173268"/>
          </a:xfrm>
          <a:solidFill>
            <a:schemeClr val="tx2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CF9791A-1B98-507B-DB55-3A36B40E92F2}"/>
                </a:ext>
              </a:extLst>
            </p:cNvPr>
            <p:cNvSpPr/>
            <p:nvPr/>
          </p:nvSpPr>
          <p:spPr>
            <a:xfrm>
              <a:off x="7094319" y="3620059"/>
              <a:ext cx="1945875" cy="1167526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Cleanliness</a:t>
              </a:r>
              <a:endParaRPr lang="en-US" sz="1600" kern="12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6EBA70-3140-2F18-68E2-7C00FB955317}"/>
                </a:ext>
              </a:extLst>
            </p:cNvPr>
            <p:cNvSpPr/>
            <p:nvPr/>
          </p:nvSpPr>
          <p:spPr>
            <a:xfrm>
              <a:off x="4962064" y="5023240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Ambient Properties</a:t>
              </a:r>
              <a:endParaRPr lang="en-US" sz="1600" kern="12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A2468D-318C-CF12-6D56-79CEFC7CC1B5}"/>
                </a:ext>
              </a:extLst>
            </p:cNvPr>
            <p:cNvSpPr/>
            <p:nvPr/>
          </p:nvSpPr>
          <p:spPr>
            <a:xfrm>
              <a:off x="7094321" y="5023242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Functional Comfort</a:t>
              </a:r>
              <a:endParaRPr lang="en-US" sz="1600" kern="120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9699D6-CED1-56CD-D728-C5C787CFC2DC}"/>
                </a:ext>
              </a:extLst>
            </p:cNvPr>
            <p:cNvSpPr/>
            <p:nvPr/>
          </p:nvSpPr>
          <p:spPr>
            <a:xfrm>
              <a:off x="5942360" y="2017499"/>
              <a:ext cx="1945875" cy="1167526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Safety</a:t>
              </a:r>
              <a:endParaRPr lang="en-US" sz="1600" kern="120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05F3388-A8AD-638C-ABEB-57B02857C2C4}"/>
                </a:ext>
              </a:extLst>
            </p:cNvPr>
            <p:cNvSpPr/>
            <p:nvPr/>
          </p:nvSpPr>
          <p:spPr>
            <a:xfrm>
              <a:off x="4962064" y="3636454"/>
              <a:ext cx="1945875" cy="1167526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Spatial Arrangements</a:t>
              </a:r>
              <a:endParaRPr lang="en-US" sz="1600" kern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14878C-7454-DDEE-D52B-5C53CCE6467E}"/>
              </a:ext>
            </a:extLst>
          </p:cNvPr>
          <p:cNvGrpSpPr/>
          <p:nvPr/>
        </p:nvGrpSpPr>
        <p:grpSpPr>
          <a:xfrm>
            <a:off x="3835699" y="4764543"/>
            <a:ext cx="2435024" cy="1260715"/>
            <a:chOff x="4969597" y="974190"/>
            <a:chExt cx="4078807" cy="4140321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6DD5F52-3A67-3642-4E31-2416E57C7B7F}"/>
                </a:ext>
              </a:extLst>
            </p:cNvPr>
            <p:cNvSpPr/>
            <p:nvPr/>
          </p:nvSpPr>
          <p:spPr>
            <a:xfrm>
              <a:off x="4969597" y="984324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Skill Variety</a:t>
              </a:r>
              <a:endParaRPr lang="en-US" sz="1600" kern="120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1FF28E4-A6E7-C08C-92B9-7D8A76487CD0}"/>
                </a:ext>
              </a:extLst>
            </p:cNvPr>
            <p:cNvSpPr/>
            <p:nvPr/>
          </p:nvSpPr>
          <p:spPr>
            <a:xfrm>
              <a:off x="7102529" y="974190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Task Variety</a:t>
              </a:r>
              <a:endParaRPr lang="en-US" sz="1600" kern="120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F74B134-FBDA-310B-14D4-57F5C98C1694}"/>
                </a:ext>
              </a:extLst>
            </p:cNvPr>
            <p:cNvSpPr/>
            <p:nvPr/>
          </p:nvSpPr>
          <p:spPr>
            <a:xfrm>
              <a:off x="5954034" y="3946985"/>
              <a:ext cx="1945875" cy="1167526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Task Significance</a:t>
              </a:r>
              <a:endParaRPr lang="en-US" sz="1600" kern="120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9A67E8-CEE3-FEAB-2107-A19020D11B03}"/>
                </a:ext>
              </a:extLst>
            </p:cNvPr>
            <p:cNvSpPr/>
            <p:nvPr/>
          </p:nvSpPr>
          <p:spPr>
            <a:xfrm>
              <a:off x="4969597" y="2321436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dirty="0"/>
                <a:t>Autonomy</a:t>
              </a:r>
              <a:endParaRPr lang="en-US" sz="1600" kern="120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981C86A-35B9-D22B-0DCD-6AACCEDCFD1F}"/>
                </a:ext>
              </a:extLst>
            </p:cNvPr>
            <p:cNvSpPr/>
            <p:nvPr/>
          </p:nvSpPr>
          <p:spPr>
            <a:xfrm>
              <a:off x="7095037" y="2336303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Feedback</a:t>
              </a:r>
              <a:endParaRPr lang="en-US" sz="1600" kern="12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B82A1DC-7890-AC85-8C3B-39E030159EBB}"/>
              </a:ext>
            </a:extLst>
          </p:cNvPr>
          <p:cNvGrpSpPr/>
          <p:nvPr/>
        </p:nvGrpSpPr>
        <p:grpSpPr>
          <a:xfrm>
            <a:off x="7476245" y="1579003"/>
            <a:ext cx="1161676" cy="2990048"/>
            <a:chOff x="4969597" y="1041475"/>
            <a:chExt cx="1945875" cy="679951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C8F4970-9236-CDAB-84B0-50746BC0840E}"/>
                </a:ext>
              </a:extLst>
            </p:cNvPr>
            <p:cNvSpPr/>
            <p:nvPr/>
          </p:nvSpPr>
          <p:spPr>
            <a:xfrm>
              <a:off x="4969597" y="1041475"/>
              <a:ext cx="1945875" cy="1167526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Job Satisfaction</a:t>
              </a:r>
              <a:endParaRPr lang="en-US" sz="1600" kern="120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A740271-D0FA-D59C-9BDE-141F26C83512}"/>
                </a:ext>
              </a:extLst>
            </p:cNvPr>
            <p:cNvSpPr/>
            <p:nvPr/>
          </p:nvSpPr>
          <p:spPr>
            <a:xfrm>
              <a:off x="4969597" y="2394542"/>
              <a:ext cx="1945875" cy="1167526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Job Commitment</a:t>
              </a:r>
              <a:endParaRPr lang="en-US" sz="1600" kern="120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6D62EB7-5FE9-3384-8B5C-FA7B0D5E1EEA}"/>
                </a:ext>
              </a:extLst>
            </p:cNvPr>
            <p:cNvSpPr/>
            <p:nvPr/>
          </p:nvSpPr>
          <p:spPr>
            <a:xfrm>
              <a:off x="4969597" y="6673462"/>
              <a:ext cx="1945875" cy="1167526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Job Stress</a:t>
              </a:r>
              <a:endParaRPr lang="en-US" sz="1600" kern="1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40789EC-57FD-B6A6-3E12-E806B85FE3D2}"/>
              </a:ext>
            </a:extLst>
          </p:cNvPr>
          <p:cNvGrpSpPr/>
          <p:nvPr/>
        </p:nvGrpSpPr>
        <p:grpSpPr>
          <a:xfrm>
            <a:off x="10476496" y="1191704"/>
            <a:ext cx="1209967" cy="3728859"/>
            <a:chOff x="4878715" y="-1849546"/>
            <a:chExt cx="2029221" cy="8489867"/>
          </a:xfrm>
          <a:solidFill>
            <a:schemeClr val="tx2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6DDF91B-3A7B-F216-F234-D99279E2F4B0}"/>
                </a:ext>
              </a:extLst>
            </p:cNvPr>
            <p:cNvSpPr/>
            <p:nvPr/>
          </p:nvSpPr>
          <p:spPr>
            <a:xfrm>
              <a:off x="4878715" y="759034"/>
              <a:ext cx="1945876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Dependability</a:t>
              </a:r>
              <a:endParaRPr lang="en-US" sz="1600" kern="120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64FDDAF-6D40-90DD-A88E-12B2EA1EF20F}"/>
                </a:ext>
              </a:extLst>
            </p:cNvPr>
            <p:cNvSpPr/>
            <p:nvPr/>
          </p:nvSpPr>
          <p:spPr>
            <a:xfrm>
              <a:off x="4962061" y="4179032"/>
              <a:ext cx="1945874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Flexibility</a:t>
              </a:r>
              <a:endParaRPr lang="en-US" sz="1600" kern="120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8FAB934-F274-2BBF-C049-C6C424C5E6D5}"/>
                </a:ext>
              </a:extLst>
            </p:cNvPr>
            <p:cNvSpPr/>
            <p:nvPr/>
          </p:nvSpPr>
          <p:spPr>
            <a:xfrm>
              <a:off x="4962060" y="5472796"/>
              <a:ext cx="1945876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Cost</a:t>
              </a:r>
              <a:endParaRPr lang="en-US" sz="1600" kern="120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EE593FA-8A2D-658D-FF10-53BFA3BD3A19}"/>
                </a:ext>
              </a:extLst>
            </p:cNvPr>
            <p:cNvSpPr/>
            <p:nvPr/>
          </p:nvSpPr>
          <p:spPr>
            <a:xfrm>
              <a:off x="4878719" y="-1849546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Quality</a:t>
              </a:r>
              <a:endParaRPr lang="en-US" sz="1600" kern="120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BD576CE-172F-7CB8-AA50-4D2FF2F771A0}"/>
                </a:ext>
              </a:extLst>
            </p:cNvPr>
            <p:cNvSpPr/>
            <p:nvPr/>
          </p:nvSpPr>
          <p:spPr>
            <a:xfrm>
              <a:off x="4878717" y="-531506"/>
              <a:ext cx="1945875" cy="1167525"/>
            </a:xfrm>
            <a:custGeom>
              <a:avLst/>
              <a:gdLst>
                <a:gd name="connsiteX0" fmla="*/ 0 w 1945875"/>
                <a:gd name="connsiteY0" fmla="*/ 0 h 1167525"/>
                <a:gd name="connsiteX1" fmla="*/ 1945875 w 1945875"/>
                <a:gd name="connsiteY1" fmla="*/ 0 h 1167525"/>
                <a:gd name="connsiteX2" fmla="*/ 1945875 w 1945875"/>
                <a:gd name="connsiteY2" fmla="*/ 1167525 h 1167525"/>
                <a:gd name="connsiteX3" fmla="*/ 0 w 1945875"/>
                <a:gd name="connsiteY3" fmla="*/ 1167525 h 1167525"/>
                <a:gd name="connsiteX4" fmla="*/ 0 w 1945875"/>
                <a:gd name="connsiteY4" fmla="*/ 0 h 116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5875" h="1167525">
                  <a:moveTo>
                    <a:pt x="0" y="0"/>
                  </a:moveTo>
                  <a:lnTo>
                    <a:pt x="1945875" y="0"/>
                  </a:lnTo>
                  <a:lnTo>
                    <a:pt x="1945875" y="1167525"/>
                  </a:lnTo>
                  <a:lnTo>
                    <a:pt x="0" y="11675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5974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2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Speed</a:t>
              </a:r>
              <a:endParaRPr lang="en-US" sz="1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983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F9F983F-4F55-D170-CDDF-0839B5FA1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618" y="126029"/>
            <a:ext cx="9585063" cy="62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CCC0F-48EF-1ADB-8A0D-ADC207EAD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6029" y="655975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0" i="0" u="none" strike="noStrike" baseline="0" dirty="0">
                <a:latin typeface="+mj-lt"/>
              </a:rPr>
              <a:t>The proposed model supports the building of a roadmap for LM implementation, </a:t>
            </a:r>
            <a:r>
              <a:rPr lang="en-US" b="0" i="0" u="none" strike="noStrike" baseline="0" dirty="0">
                <a:solidFill>
                  <a:schemeClr val="accent1"/>
                </a:solidFill>
                <a:latin typeface="+mj-lt"/>
              </a:rPr>
              <a:t>taking into account the role of the human factors </a:t>
            </a:r>
            <a:r>
              <a:rPr lang="en-US" b="0" i="0" u="none" strike="noStrike" baseline="0" dirty="0">
                <a:latin typeface="+mj-lt"/>
              </a:rPr>
              <a:t>to achieve superior operational performance</a:t>
            </a:r>
            <a:r>
              <a:rPr lang="en-US" sz="2000" b="0" i="0" u="none" strike="noStrike" baseline="0" dirty="0">
                <a:latin typeface="+mj-lt"/>
              </a:rPr>
              <a:t>.</a:t>
            </a:r>
            <a:endParaRPr lang="en-US" sz="2000" dirty="0">
              <a:latin typeface="+mj-lt"/>
            </a:endParaRPr>
          </a:p>
        </p:txBody>
      </p:sp>
      <p:pic>
        <p:nvPicPr>
          <p:cNvPr id="5" name="Graphic 4" descr="Road with solid fill">
            <a:extLst>
              <a:ext uri="{FF2B5EF4-FFF2-40B4-BE49-F238E27FC236}">
                <a16:creationId xmlns:a16="http://schemas.microsoft.com/office/drawing/2014/main" id="{574C56D1-58E9-4E61-1C40-DD213792B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5588" y="1452529"/>
            <a:ext cx="3353666" cy="335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71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72D58C-90A1-D42A-F931-245105A13615}"/>
              </a:ext>
            </a:extLst>
          </p:cNvPr>
          <p:cNvSpPr/>
          <p:nvPr/>
        </p:nvSpPr>
        <p:spPr>
          <a:xfrm>
            <a:off x="1115518" y="1304144"/>
            <a:ext cx="9960964" cy="424971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543CBCB-C4DE-9E46-DEEF-257F2CB257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9162" y="4071171"/>
            <a:ext cx="1925924" cy="560361"/>
          </a:xfrm>
          <a:solidFill>
            <a:schemeClr val="accent5"/>
          </a:solidFill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Safety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C2337E4-ED7C-A995-F28A-D85A72A5AF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88446" y="4071172"/>
            <a:ext cx="1925924" cy="560361"/>
          </a:xfrm>
          <a:solidFill>
            <a:schemeClr val="accent5"/>
          </a:solidFill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Quality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3D49C2E-62F5-9703-92C6-D2B64B22C2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47730" y="4071170"/>
            <a:ext cx="1925924" cy="560361"/>
          </a:xfrm>
          <a:solidFill>
            <a:schemeClr val="accent5"/>
          </a:solidFill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Delivery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95ACEC5-6DE3-57A2-1043-22AE18793D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96764" y="4071169"/>
            <a:ext cx="1925924" cy="560361"/>
          </a:xfrm>
          <a:solidFill>
            <a:schemeClr val="accent5"/>
          </a:solidFill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Cost</a:t>
            </a:r>
          </a:p>
        </p:txBody>
      </p:sp>
      <p:pic>
        <p:nvPicPr>
          <p:cNvPr id="13" name="Graphic 12" descr="Medical with solid fill">
            <a:extLst>
              <a:ext uri="{FF2B5EF4-FFF2-40B4-BE49-F238E27FC236}">
                <a16:creationId xmlns:a16="http://schemas.microsoft.com/office/drawing/2014/main" id="{9283E2B3-3BFD-8A9D-06A2-EB32738ED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2283" y="2248815"/>
            <a:ext cx="1666356" cy="1666356"/>
          </a:xfrm>
          <a:prstGeom prst="rect">
            <a:avLst/>
          </a:prstGeom>
        </p:spPr>
      </p:pic>
      <p:pic>
        <p:nvPicPr>
          <p:cNvPr id="7" name="Graphic 6" descr="Money with solid fill">
            <a:extLst>
              <a:ext uri="{FF2B5EF4-FFF2-40B4-BE49-F238E27FC236}">
                <a16:creationId xmlns:a16="http://schemas.microsoft.com/office/drawing/2014/main" id="{165217F0-E073-E775-9A99-8C88F096A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549" y="2248818"/>
            <a:ext cx="1666355" cy="1666355"/>
          </a:xfrm>
          <a:prstGeom prst="rect">
            <a:avLst/>
          </a:prstGeom>
        </p:spPr>
      </p:pic>
      <p:pic>
        <p:nvPicPr>
          <p:cNvPr id="9" name="Graphic 8" descr="Airplane with solid fill">
            <a:extLst>
              <a:ext uri="{FF2B5EF4-FFF2-40B4-BE49-F238E27FC236}">
                <a16:creationId xmlns:a16="http://schemas.microsoft.com/office/drawing/2014/main" id="{12E2BE42-C565-0650-E02F-502A8D14FE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8465" y="2248818"/>
            <a:ext cx="1666356" cy="1666356"/>
          </a:xfrm>
          <a:prstGeom prst="rect">
            <a:avLst/>
          </a:prstGeom>
        </p:spPr>
      </p:pic>
      <p:pic>
        <p:nvPicPr>
          <p:cNvPr id="11" name="Graphic 10" descr="Clipboard Badge with solid fill">
            <a:extLst>
              <a:ext uri="{FF2B5EF4-FFF2-40B4-BE49-F238E27FC236}">
                <a16:creationId xmlns:a16="http://schemas.microsoft.com/office/drawing/2014/main" id="{7D979811-618A-4DA1-D6BD-833F1F1570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4655" y="2248815"/>
            <a:ext cx="1666356" cy="1666356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ACBC39D-99D9-DEAB-548C-7C61AA8A8AFD}"/>
              </a:ext>
            </a:extLst>
          </p:cNvPr>
          <p:cNvSpPr txBox="1">
            <a:spLocks/>
          </p:cNvSpPr>
          <p:nvPr/>
        </p:nvSpPr>
        <p:spPr>
          <a:xfrm>
            <a:off x="4088446" y="4071169"/>
            <a:ext cx="1925924" cy="560361"/>
          </a:xfrm>
          <a:prstGeom prst="rect">
            <a:avLst/>
          </a:prstGeom>
          <a:solidFill>
            <a:schemeClr val="accent5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Quality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F7F32379-80CC-E75A-618B-313E0F071C80}"/>
              </a:ext>
            </a:extLst>
          </p:cNvPr>
          <p:cNvSpPr txBox="1">
            <a:spLocks/>
          </p:cNvSpPr>
          <p:nvPr/>
        </p:nvSpPr>
        <p:spPr>
          <a:xfrm>
            <a:off x="6147730" y="4071167"/>
            <a:ext cx="1925924" cy="560361"/>
          </a:xfrm>
          <a:prstGeom prst="rect">
            <a:avLst/>
          </a:prstGeom>
          <a:solidFill>
            <a:schemeClr val="accent5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Delivery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32B42FA-7A70-00BC-9319-40298104608D}"/>
              </a:ext>
            </a:extLst>
          </p:cNvPr>
          <p:cNvSpPr txBox="1">
            <a:spLocks/>
          </p:cNvSpPr>
          <p:nvPr/>
        </p:nvSpPr>
        <p:spPr>
          <a:xfrm>
            <a:off x="8196764" y="4071166"/>
            <a:ext cx="1925924" cy="560361"/>
          </a:xfrm>
          <a:prstGeom prst="rect">
            <a:avLst/>
          </a:prstGeom>
          <a:solidFill>
            <a:schemeClr val="accent5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04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1D098B-4140-1E22-3369-1545F46EF2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6030" y="1485220"/>
          <a:ext cx="10515600" cy="2115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06A26BD-1BAC-4681-17F2-52E2055ED8D0}"/>
              </a:ext>
            </a:extLst>
          </p:cNvPr>
          <p:cNvGraphicFramePr>
            <a:graphicFrameLocks/>
          </p:cNvGraphicFramePr>
          <p:nvPr/>
        </p:nvGraphicFramePr>
        <p:xfrm>
          <a:off x="3226179" y="3885084"/>
          <a:ext cx="11506199" cy="2115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48EFA18-2219-1F36-CE47-951B5D09D2D3}"/>
              </a:ext>
            </a:extLst>
          </p:cNvPr>
          <p:cNvSpPr txBox="1"/>
          <p:nvPr/>
        </p:nvSpPr>
        <p:spPr>
          <a:xfrm>
            <a:off x="96762" y="263475"/>
            <a:ext cx="12095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Lean Culture &amp; Human Factors Principles</a:t>
            </a:r>
          </a:p>
        </p:txBody>
      </p:sp>
    </p:spTree>
    <p:extLst>
      <p:ext uri="{BB962C8B-B14F-4D97-AF65-F5344CB8AC3E}">
        <p14:creationId xmlns:p14="http://schemas.microsoft.com/office/powerpoint/2010/main" val="1783461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 Aerospace">
  <a:themeElements>
    <a:clrScheme name="GE Aerospace">
      <a:dk1>
        <a:srgbClr val="000000"/>
      </a:dk1>
      <a:lt1>
        <a:srgbClr val="FFFFFF"/>
      </a:lt1>
      <a:dk2>
        <a:srgbClr val="00003C"/>
      </a:dk2>
      <a:lt2>
        <a:srgbClr val="EAEAEA"/>
      </a:lt2>
      <a:accent1>
        <a:srgbClr val="00003C"/>
      </a:accent1>
      <a:accent2>
        <a:srgbClr val="FFFFFF"/>
      </a:accent2>
      <a:accent3>
        <a:srgbClr val="EAEAEA"/>
      </a:accent3>
      <a:accent4>
        <a:srgbClr val="0AD64F"/>
      </a:accent4>
      <a:accent5>
        <a:srgbClr val="4181FF"/>
      </a:accent5>
      <a:accent6>
        <a:srgbClr val="96969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 anchorCtr="0"/>
      <a:lstStyle>
        <a:defPPr algn="l">
          <a:spcAft>
            <a:spcPts val="6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600"/>
          </a:spcAft>
          <a:defRPr/>
        </a:defPPr>
      </a:lstStyle>
    </a:txDef>
  </a:objectDefaults>
  <a:extraClrSchemeLst/>
  <a:custClrLst>
    <a:custClr name="Stainless Steel">
      <a:srgbClr val="D2D2D2"/>
    </a:custClr>
    <a:custClr name="Aluminum">
      <a:srgbClr val="AEAEAE"/>
    </a:custClr>
    <a:custClr name="Titanium">
      <a:srgbClr val="969696"/>
    </a:custClr>
    <a:custClr name="Yellow">
      <a:srgbClr val="FFD400"/>
    </a:custClr>
    <a:custClr name="Orange">
      <a:srgbClr val="FF8400"/>
    </a:custClr>
    <a:custClr name="Red">
      <a:srgbClr val="FF1900"/>
    </a:custClr>
    <a:custClr name="Purple">
      <a:srgbClr val="8F00FF"/>
    </a:custClr>
    <a:custClr name="Fuschia">
      <a:srgbClr val="DE00F7"/>
    </a:custClr>
    <a:custClr name="Blue">
      <a:srgbClr val="3900F8"/>
    </a:custClr>
    <a:custClr name="Teal">
      <a:srgbClr val="00D0E1"/>
    </a:custClr>
  </a:custClrLst>
  <a:extLst>
    <a:ext uri="{05A4C25C-085E-4340-85A3-A5531E510DB2}">
      <thm15:themeFamily xmlns:thm15="http://schemas.microsoft.com/office/thememl/2012/main" name="Presentation4" id="{77138258-1F32-CC4F-AD00-276CC45CAEF4}" vid="{6B3F7B16-E948-6A48-9477-92E28E9819E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14401</TotalTime>
  <Words>907</Words>
  <Application>Microsoft Office PowerPoint</Application>
  <PresentationFormat>Widescreen</PresentationFormat>
  <Paragraphs>102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AdvOT1bee1dd8.B</vt:lpstr>
      <vt:lpstr>AdvOT4ac4c61e</vt:lpstr>
      <vt:lpstr>AdvOT4ac4c61e+20</vt:lpstr>
      <vt:lpstr>AdvOT4ac4c61e+fb</vt:lpstr>
      <vt:lpstr>AdvOTb561e996.I</vt:lpstr>
      <vt:lpstr>Arial</vt:lpstr>
      <vt:lpstr>Calibri</vt:lpstr>
      <vt:lpstr>Calibri Light</vt:lpstr>
      <vt:lpstr>System Font Regular</vt:lpstr>
      <vt:lpstr>Office Theme</vt:lpstr>
      <vt:lpstr>GE Aerospace</vt:lpstr>
      <vt:lpstr>Exploring the Role of Human Factors in Lean Management</vt:lpstr>
      <vt:lpstr>What is Lean Management?</vt:lpstr>
      <vt:lpstr>“Hard” vs “Soft” Practices  hard practices:  “technical and analytical tools introduced to improve production systems”   soft practices:  “principles, managerial concepts, people, and relations”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the Role of Human Factors in Lean Management</dc:title>
  <dc:creator>Ryan, Bethany (GE Aerospace, US)</dc:creator>
  <cp:lastModifiedBy>Ryan, Bethany (GE Aerospace, US)</cp:lastModifiedBy>
  <cp:revision>7</cp:revision>
  <dcterms:created xsi:type="dcterms:W3CDTF">2025-01-13T11:23:06Z</dcterms:created>
  <dcterms:modified xsi:type="dcterms:W3CDTF">2025-01-23T11:24:45Z</dcterms:modified>
</cp:coreProperties>
</file>