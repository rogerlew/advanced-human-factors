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19"/>
  </p:notesMasterIdLst>
  <p:sldIdLst>
    <p:sldId id="256" r:id="rId2"/>
    <p:sldId id="273" r:id="rId3"/>
    <p:sldId id="259" r:id="rId4"/>
    <p:sldId id="257" r:id="rId5"/>
    <p:sldId id="258" r:id="rId6"/>
    <p:sldId id="261" r:id="rId7"/>
    <p:sldId id="265" r:id="rId8"/>
    <p:sldId id="266" r:id="rId9"/>
    <p:sldId id="267" r:id="rId10"/>
    <p:sldId id="268" r:id="rId11"/>
    <p:sldId id="269" r:id="rId12"/>
    <p:sldId id="270" r:id="rId13"/>
    <p:sldId id="262" r:id="rId14"/>
    <p:sldId id="272" r:id="rId15"/>
    <p:sldId id="271" r:id="rId16"/>
    <p:sldId id="264" r:id="rId17"/>
    <p:sldId id="26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99"/>
    <p:restoredTop sz="77394"/>
  </p:normalViewPr>
  <p:slideViewPr>
    <p:cSldViewPr snapToGrid="0">
      <p:cViewPr varScale="1">
        <p:scale>
          <a:sx n="94" d="100"/>
          <a:sy n="94" d="100"/>
        </p:scale>
        <p:origin x="159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61EE2B-647F-5D45-9023-34257366227B}" type="datetimeFigureOut">
              <a:rPr lang="en-US" smtClean="0"/>
              <a:t>1/29/25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BFC19-0582-9D4C-949B-3D636B3E3939}" type="slidenum">
              <a:rPr lang="en-US" smtClean="0"/>
              <a:t>‹#›</a:t>
            </a:fld>
            <a:endParaRPr lang="en-US"/>
          </a:p>
        </p:txBody>
      </p:sp>
    </p:spTree>
    <p:extLst>
      <p:ext uri="{BB962C8B-B14F-4D97-AF65-F5344CB8AC3E}">
        <p14:creationId xmlns:p14="http://schemas.microsoft.com/office/powerpoint/2010/main" val="3078247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interaction-design.org/literature/topics/interaction-design"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www.interaction-design.org/literature/topics/visual-design"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Hi everyone, thank you for being here today. My name is Miguel, and I will be presenting on Contextual Design. In this presentation I  will give an overview of what Contextual Design is, it's background, key principles and view at the end to end process. I would like to start with this 5-minute video, which provides insight into of how understanding context can help design better and more meaningful technology. </a:t>
            </a:r>
            <a:endParaRPr lang="en-US" dirty="0"/>
          </a:p>
        </p:txBody>
      </p:sp>
      <p:sp>
        <p:nvSpPr>
          <p:cNvPr id="4" name="Slide Number Placeholder 3"/>
          <p:cNvSpPr>
            <a:spLocks noGrp="1"/>
          </p:cNvSpPr>
          <p:nvPr>
            <p:ph type="sldNum" sz="quarter" idx="5"/>
          </p:nvPr>
        </p:nvSpPr>
        <p:spPr/>
        <p:txBody>
          <a:bodyPr/>
          <a:lstStyle/>
          <a:p>
            <a:fld id="{4DBBFC19-0582-9D4C-949B-3D636B3E3939}" type="slidenum">
              <a:rPr lang="en-US" smtClean="0"/>
              <a:t>1</a:t>
            </a:fld>
            <a:endParaRPr lang="en-US"/>
          </a:p>
        </p:txBody>
      </p:sp>
    </p:spTree>
    <p:extLst>
      <p:ext uri="{BB962C8B-B14F-4D97-AF65-F5344CB8AC3E}">
        <p14:creationId xmlns:p14="http://schemas.microsoft.com/office/powerpoint/2010/main" val="1643001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One example that stood out to me was the project aimed at addressing hearing loss in elderly people. The students initially believed they would develop a better hearing aid. However, through conversations with elders, healthcare providers, and caregivers, this was not the problem. Instead, personal and social perceptions and environmental factors were the real issues. I think the examples provided in this video help put into perspective what Contextual Design is.</a:t>
            </a:r>
            <a:endParaRPr lang="en-US" dirty="0"/>
          </a:p>
        </p:txBody>
      </p:sp>
      <p:sp>
        <p:nvSpPr>
          <p:cNvPr id="4" name="Slide Number Placeholder 3"/>
          <p:cNvSpPr>
            <a:spLocks noGrp="1"/>
          </p:cNvSpPr>
          <p:nvPr>
            <p:ph type="sldNum" sz="quarter" idx="5"/>
          </p:nvPr>
        </p:nvSpPr>
        <p:spPr/>
        <p:txBody>
          <a:bodyPr/>
          <a:lstStyle/>
          <a:p>
            <a:fld id="{4DBBFC19-0582-9D4C-949B-3D636B3E3939}" type="slidenum">
              <a:rPr lang="en-US" smtClean="0"/>
              <a:t>2</a:t>
            </a:fld>
            <a:endParaRPr lang="en-US"/>
          </a:p>
        </p:txBody>
      </p:sp>
    </p:spTree>
    <p:extLst>
      <p:ext uri="{BB962C8B-B14F-4D97-AF65-F5344CB8AC3E}">
        <p14:creationId xmlns:p14="http://schemas.microsoft.com/office/powerpoint/2010/main" val="1794465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One example that stood out to me was the project aimed at addressing hearing loss in elderly people. The students initially believed they would develop a better hearing aid. However, through conversations with elders, healthcare providers, and caregivers, this was not the problem. Instead, personal and social perceptions and environmental factors were the real issues. I think the examples provided in this video help put into perspective what Contextual Design is.</a:t>
            </a:r>
            <a:endParaRPr lang="en-US" dirty="0"/>
          </a:p>
        </p:txBody>
      </p:sp>
      <p:sp>
        <p:nvSpPr>
          <p:cNvPr id="4" name="Slide Number Placeholder 3"/>
          <p:cNvSpPr>
            <a:spLocks noGrp="1"/>
          </p:cNvSpPr>
          <p:nvPr>
            <p:ph type="sldNum" sz="quarter" idx="5"/>
          </p:nvPr>
        </p:nvSpPr>
        <p:spPr/>
        <p:txBody>
          <a:bodyPr/>
          <a:lstStyle/>
          <a:p>
            <a:fld id="{4DBBFC19-0582-9D4C-949B-3D636B3E3939}" type="slidenum">
              <a:rPr lang="en-US" smtClean="0"/>
              <a:t>3</a:t>
            </a:fld>
            <a:endParaRPr lang="en-US"/>
          </a:p>
        </p:txBody>
      </p:sp>
    </p:spTree>
    <p:extLst>
      <p:ext uri="{BB962C8B-B14F-4D97-AF65-F5344CB8AC3E}">
        <p14:creationId xmlns:p14="http://schemas.microsoft.com/office/powerpoint/2010/main" val="1583412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b="0" i="0" u="none" strike="noStrike" dirty="0">
                <a:solidFill>
                  <a:srgbClr val="000000"/>
                </a:solidFill>
                <a:effectLst/>
                <a:latin typeface="-webkit-standard"/>
              </a:rPr>
              <a:t>Interaction Design Foundation Website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4000" b="0" i="0" u="none" strike="noStrike" dirty="0">
              <a:solidFill>
                <a:srgbClr val="000000"/>
              </a:solidFill>
              <a:effectLst/>
              <a:latin typeface="-webkit-standar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4000" b="0" i="0" u="none" strike="noStrike" dirty="0">
                <a:solidFill>
                  <a:srgbClr val="000000"/>
                </a:solidFill>
                <a:effectLst/>
                <a:latin typeface="-webkit-standard"/>
              </a:rPr>
              <a:t>Contextual Design is a methodology/approach used to accomplish user-centered design, where going out into the field and talking to people in their natural environment is essential to fully understand users' fundamental intents, desires, and drivers. Because </a:t>
            </a:r>
            <a:r>
              <a:rPr lang="en-US" sz="2800" b="0" i="0" u="none" strike="noStrike" dirty="0">
                <a:solidFill>
                  <a:srgbClr val="000000"/>
                </a:solidFill>
                <a:effectLst/>
                <a:latin typeface="-webkit-standard"/>
              </a:rPr>
              <a:t>even though users may be experts in what they do, they often struggle to articulate what they do, what works well, and what doesn’t. Observing them in their natural environment and asking questions as they go along their day/tasks, provides richer insights.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ea typeface="Calibri" panose="020F0502020204030204" pitchFamily="34" charset="0"/>
                <a:cs typeface="Times New Roman" panose="02020603050405020304" pitchFamily="18" charset="0"/>
              </a:rPr>
              <a:t>Design Thinking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ea typeface="Calibri" panose="020F0502020204030204" pitchFamily="34" charset="0"/>
                <a:cs typeface="Times New Roman" panose="02020603050405020304" pitchFamily="18" charset="0"/>
              </a:rPr>
              <a:t>Participatory Design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ea typeface="Calibri" panose="020F0502020204030204" pitchFamily="34" charset="0"/>
                <a:cs typeface="Times New Roman" panose="02020603050405020304" pitchFamily="18" charset="0"/>
              </a:rPr>
              <a:t>Interviews </a:t>
            </a:r>
          </a:p>
        </p:txBody>
      </p:sp>
      <p:sp>
        <p:nvSpPr>
          <p:cNvPr id="4" name="Slide Number Placeholder 3"/>
          <p:cNvSpPr>
            <a:spLocks noGrp="1"/>
          </p:cNvSpPr>
          <p:nvPr>
            <p:ph type="sldNum" sz="quarter" idx="5"/>
          </p:nvPr>
        </p:nvSpPr>
        <p:spPr/>
        <p:txBody>
          <a:bodyPr/>
          <a:lstStyle/>
          <a:p>
            <a:fld id="{4DBBFC19-0582-9D4C-949B-3D636B3E3939}" type="slidenum">
              <a:rPr lang="en-US" smtClean="0"/>
              <a:t>4</a:t>
            </a:fld>
            <a:endParaRPr lang="en-US"/>
          </a:p>
        </p:txBody>
      </p:sp>
    </p:spTree>
    <p:extLst>
      <p:ext uri="{BB962C8B-B14F-4D97-AF65-F5344CB8AC3E}">
        <p14:creationId xmlns:p14="http://schemas.microsoft.com/office/powerpoint/2010/main" val="3196557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2B2B2B"/>
                </a:solidFill>
                <a:effectLst/>
                <a:latin typeface="Merriweather" pitchFamily="2" charset="77"/>
              </a:rPr>
              <a:t>Karen </a:t>
            </a:r>
            <a:r>
              <a:rPr lang="en-US" b="0" i="0" u="none" strike="noStrike" dirty="0" err="1">
                <a:solidFill>
                  <a:srgbClr val="2B2B2B"/>
                </a:solidFill>
                <a:effectLst/>
                <a:latin typeface="Merriweather" pitchFamily="2" charset="77"/>
              </a:rPr>
              <a:t>Holtzblatt</a:t>
            </a:r>
            <a:r>
              <a:rPr lang="en-US" b="0" i="0" u="none" strike="noStrike" dirty="0">
                <a:solidFill>
                  <a:srgbClr val="2B2B2B"/>
                </a:solidFill>
                <a:effectLst/>
                <a:latin typeface="Merriweather" pitchFamily="2" charset="77"/>
              </a:rPr>
              <a:t> and Hugh Beyer first developed the key parts of the Contextual Design process in the early 1980s. </a:t>
            </a:r>
          </a:p>
          <a:p>
            <a:endParaRPr lang="en-US" b="0" i="0" u="none" strike="noStrike" dirty="0">
              <a:solidFill>
                <a:srgbClr val="2B2B2B"/>
              </a:solidFill>
              <a:effectLst/>
              <a:latin typeface="Merriweather"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000000"/>
                </a:solidFill>
                <a:effectLst/>
                <a:latin typeface="-webkit-standard"/>
              </a:rPr>
              <a:t>At the time, products were being developed in isolation by developers and tested via usability methods focused on lab-based quantitative measures. However, these techniques lead to </a:t>
            </a:r>
            <a:r>
              <a:rPr lang="en-US" b="0" i="0" u="none" strike="noStrike" dirty="0" err="1">
                <a:solidFill>
                  <a:srgbClr val="000000"/>
                </a:solidFill>
                <a:effectLst/>
                <a:latin typeface="-webkit-standard"/>
              </a:rPr>
              <a:t>lmisinterpretations</a:t>
            </a:r>
            <a:r>
              <a:rPr lang="en-US" b="0" i="0" u="none" strike="noStrike" dirty="0">
                <a:solidFill>
                  <a:srgbClr val="000000"/>
                </a:solidFill>
                <a:effectLst/>
                <a:latin typeface="-webkit-standard"/>
              </a:rPr>
              <a:t> and limited insights and design directions.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strike="noStrike" dirty="0">
              <a:solidFill>
                <a:srgbClr val="000000"/>
              </a:solidFill>
              <a:effectLst/>
              <a:latin typeface="-webkit-standar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000000"/>
                </a:solidFill>
                <a:effectLst/>
                <a:latin typeface="-webkit-standard"/>
              </a:rPr>
              <a:t>Karen introduced techniques from psychology, sociology, and ethnography in response to these limitations, emphasizing the importance of understanding users in their natural work environments. This approach aimed to truly understand what should be made, rather than simply testing what had already been created.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strike="noStrike" dirty="0">
              <a:solidFill>
                <a:srgbClr val="000000"/>
              </a:solidFill>
              <a:effectLst/>
              <a:latin typeface="-webkit-standar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B2B2B"/>
                </a:solidFill>
                <a:effectLst/>
                <a:latin typeface="Merriweather" pitchFamily="2" charset="77"/>
              </a:rPr>
              <a:t>The resulting techniques are similar in nature to an ethnographic study. However, contextual inquiry is constrained by the limitations of an engineering project.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B2B2B"/>
                </a:solidFill>
                <a:effectLst/>
                <a:latin typeface="Merriweather" pitchFamily="2" charset="77"/>
              </a:rPr>
              <a:t>- So field interviews are restricted to a few hours, not days or weeks, and the interaction between interviewer and user is defined as a focused conversation. The purpose of the conversation is to reveal and articulate the nature of the user's work practice, and this purpose is understood and shared by both participants.</a:t>
            </a:r>
            <a:endParaRPr lang="en-US" dirty="0"/>
          </a:p>
        </p:txBody>
      </p:sp>
      <p:sp>
        <p:nvSpPr>
          <p:cNvPr id="4" name="Slide Number Placeholder 3"/>
          <p:cNvSpPr>
            <a:spLocks noGrp="1"/>
          </p:cNvSpPr>
          <p:nvPr>
            <p:ph type="sldNum" sz="quarter" idx="5"/>
          </p:nvPr>
        </p:nvSpPr>
        <p:spPr/>
        <p:txBody>
          <a:bodyPr/>
          <a:lstStyle/>
          <a:p>
            <a:fld id="{4DBBFC19-0582-9D4C-949B-3D636B3E3939}" type="slidenum">
              <a:rPr lang="en-US" smtClean="0"/>
              <a:t>5</a:t>
            </a:fld>
            <a:endParaRPr lang="en-US"/>
          </a:p>
        </p:txBody>
      </p:sp>
    </p:spTree>
    <p:extLst>
      <p:ext uri="{BB962C8B-B14F-4D97-AF65-F5344CB8AC3E}">
        <p14:creationId xmlns:p14="http://schemas.microsoft.com/office/powerpoint/2010/main" val="1892605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2B2B2B"/>
                </a:solidFill>
                <a:effectLst/>
                <a:latin typeface="Merriweather" pitchFamily="2" charset="77"/>
              </a:rPr>
              <a:t>To create a successful product, first be aware of users' work practice and design for it explicitly.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B2B2B"/>
                </a:solidFill>
                <a:effectLst/>
                <a:latin typeface="Merriweather" pitchFamily="2" charset="77"/>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If it does so well, it will be accepted and valued; if it fails to do so, it will cause dissatisfaction, frustration, avoidance, and workarounds</a:t>
            </a:r>
            <a:endParaRPr lang="en-US" b="0" i="0" u="none" strike="noStrike" dirty="0">
              <a:solidFill>
                <a:srgbClr val="2B2B2B"/>
              </a:solidFill>
              <a:effectLst/>
              <a:latin typeface="Merriweather" pitchFamily="2" charset="77"/>
            </a:endParaRPr>
          </a:p>
          <a:p>
            <a:endParaRPr lang="en-US" b="0" i="0" u="none" strike="noStrike" dirty="0">
              <a:solidFill>
                <a:srgbClr val="2B2B2B"/>
              </a:solidFill>
              <a:effectLst/>
              <a:latin typeface="Merriweather" pitchFamily="2" charset="77"/>
            </a:endParaRPr>
          </a:p>
          <a:p>
            <a:r>
              <a:rPr lang="en-US" sz="1800" dirty="0">
                <a:effectLst/>
                <a:latin typeface="Calibri" panose="020F0502020204030204" pitchFamily="34" charset="0"/>
                <a:ea typeface="Calibri" panose="020F0502020204030204" pitchFamily="34" charset="0"/>
                <a:cs typeface="Times New Roman" panose="02020603050405020304" pitchFamily="18" charset="0"/>
              </a:rPr>
              <a:t>However, holding expertise does not necessarily make them experts at communicating what it is they do.</a:t>
            </a:r>
            <a:r>
              <a:rPr lang="en-US" dirty="0">
                <a:effectLst/>
              </a:rPr>
              <a:t> </a:t>
            </a:r>
          </a:p>
          <a:p>
            <a:r>
              <a:rPr lang="en-US" b="0" i="0" u="none" strike="noStrike" dirty="0">
                <a:solidFill>
                  <a:srgbClr val="2B2B2B"/>
                </a:solidFill>
                <a:effectLst/>
                <a:latin typeface="Merriweather" pitchFamily="2" charset="77"/>
              </a:rPr>
              <a:t>- Use field interviews to reveal tacit aspects of users' work practice - the motivations, workarounds, and strategies that they may never articulate, but structure their work.</a:t>
            </a:r>
          </a:p>
          <a:p>
            <a:endParaRPr lang="en-US" b="0" i="0" u="none" strike="noStrike" dirty="0">
              <a:solidFill>
                <a:srgbClr val="2B2B2B"/>
              </a:solidFill>
              <a:effectLst/>
              <a:latin typeface="Merriweather" pitchFamily="2" charset="77"/>
            </a:endParaRPr>
          </a:p>
          <a:p>
            <a:r>
              <a:rPr lang="en-US" sz="1800" dirty="0">
                <a:effectLst/>
                <a:latin typeface="Calibri" panose="020F0502020204030204" pitchFamily="34" charset="0"/>
                <a:ea typeface="Calibri" panose="020F0502020204030204" pitchFamily="34" charset="0"/>
                <a:cs typeface="Times New Roman" panose="02020603050405020304" pitchFamily="18" charset="0"/>
              </a:rPr>
              <a:t>Contextual Design is not pure ethnographic observations but involve the user in discussion and reflection on their own actions, intents, and values.</a:t>
            </a:r>
            <a:r>
              <a:rPr lang="en-US" dirty="0">
                <a:effectLst/>
              </a:rPr>
              <a:t> </a:t>
            </a:r>
          </a:p>
          <a:p>
            <a:r>
              <a:rPr lang="en-US" b="0" i="0" u="none" strike="noStrike" dirty="0">
                <a:solidFill>
                  <a:srgbClr val="2B2B2B"/>
                </a:solidFill>
                <a:effectLst/>
                <a:latin typeface="Merriweather" pitchFamily="2" charset="77"/>
              </a:rPr>
              <a:t>- Don't just observe when you're in the field. Ask questions and suggest interpretations of the user's actions and motivations. Articulate what matters about the work together.</a:t>
            </a:r>
          </a:p>
          <a:p>
            <a:endParaRPr lang="en-US" b="0" i="0" u="none" strike="noStrike" dirty="0">
              <a:solidFill>
                <a:srgbClr val="2B2B2B"/>
              </a:solidFill>
              <a:effectLst/>
              <a:latin typeface="Merriweather" pitchFamily="2" charset="77"/>
            </a:endParaRPr>
          </a:p>
          <a:p>
            <a:r>
              <a:rPr lang="en-US" sz="1800" dirty="0">
                <a:effectLst/>
                <a:latin typeface="Calibri" panose="020F0502020204030204" pitchFamily="34" charset="0"/>
                <a:ea typeface="Calibri" panose="020F0502020204030204" pitchFamily="34" charset="0"/>
                <a:cs typeface="Times New Roman" panose="02020603050405020304" pitchFamily="18" charset="0"/>
              </a:rPr>
              <a:t>Think about the entire system, rather than treating each part as its own independent problem to be solved.</a:t>
            </a:r>
            <a:r>
              <a:rPr lang="en-US" dirty="0">
                <a:effectLst/>
              </a:rPr>
              <a:t> </a:t>
            </a:r>
          </a:p>
          <a:p>
            <a:r>
              <a:rPr lang="en-US" b="0" i="0" u="none" strike="noStrike" dirty="0">
                <a:solidFill>
                  <a:srgbClr val="2B2B2B"/>
                </a:solidFill>
                <a:effectLst/>
                <a:latin typeface="Merriweather" pitchFamily="2" charset="77"/>
              </a:rPr>
              <a:t>- Use concrete representations to maintain system coherence: function, structure, layout, and flow across the system.</a:t>
            </a:r>
          </a:p>
          <a:p>
            <a:endParaRPr lang="en-US" b="0" i="0" u="none" strike="noStrike" dirty="0">
              <a:solidFill>
                <a:srgbClr val="2B2B2B"/>
              </a:solidFill>
              <a:effectLst/>
              <a:latin typeface="Merriweather" pitchFamily="2" charset="77"/>
            </a:endParaRPr>
          </a:p>
          <a:p>
            <a:r>
              <a:rPr lang="en-US" b="0" i="0" u="none" strike="noStrike" dirty="0">
                <a:solidFill>
                  <a:srgbClr val="2B2B2B"/>
                </a:solidFill>
                <a:effectLst/>
                <a:latin typeface="Merriweather" pitchFamily="2" charset="77"/>
              </a:rPr>
              <a:t>Use drawings, sketches and models to capture key design considerations at every step of the process.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B2B2B"/>
                </a:solidFill>
                <a:effectLst/>
                <a:latin typeface="Merriweather" pitchFamily="2" charset="77"/>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Drawings enable designers to work out their ideas, capture their thinking, share it with others, discuss it, and identify weaknesses.</a:t>
            </a:r>
          </a:p>
          <a:p>
            <a:endParaRPr lang="en-US" dirty="0"/>
          </a:p>
        </p:txBody>
      </p:sp>
      <p:sp>
        <p:nvSpPr>
          <p:cNvPr id="4" name="Slide Number Placeholder 3"/>
          <p:cNvSpPr>
            <a:spLocks noGrp="1"/>
          </p:cNvSpPr>
          <p:nvPr>
            <p:ph type="sldNum" sz="quarter" idx="5"/>
          </p:nvPr>
        </p:nvSpPr>
        <p:spPr/>
        <p:txBody>
          <a:bodyPr/>
          <a:lstStyle/>
          <a:p>
            <a:fld id="{4DBBFC19-0582-9D4C-949B-3D636B3E3939}" type="slidenum">
              <a:rPr lang="en-US" smtClean="0"/>
              <a:t>6</a:t>
            </a:fld>
            <a:endParaRPr lang="en-US"/>
          </a:p>
        </p:txBody>
      </p:sp>
    </p:spTree>
    <p:extLst>
      <p:ext uri="{BB962C8B-B14F-4D97-AF65-F5344CB8AC3E}">
        <p14:creationId xmlns:p14="http://schemas.microsoft.com/office/powerpoint/2010/main" val="42614115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process look like? Pretty much it’s divided into two main sections. </a:t>
            </a:r>
          </a:p>
          <a:p>
            <a:endParaRPr lang="en-US" dirty="0"/>
          </a:p>
          <a:p>
            <a:r>
              <a:rPr lang="en-US" dirty="0"/>
              <a:t>Requirement and Solutions</a:t>
            </a:r>
          </a:p>
          <a:p>
            <a:pPr marL="171450" indent="-171450">
              <a:buFontTx/>
              <a:buChar char="-"/>
            </a:pPr>
            <a:r>
              <a:rPr lang="en-US" dirty="0"/>
              <a:t>These initial parts are aimed at creating a structured representation of the users work practice that is actionable for design. </a:t>
            </a:r>
          </a:p>
          <a:p>
            <a:pPr marL="628650" lvl="1" indent="-171450">
              <a:buFontTx/>
              <a:buChar char="-"/>
            </a:pPr>
            <a:r>
              <a:rPr lang="en-US" dirty="0"/>
              <a:t>Understand what matters to users, categorize what they do and start producing ideas and direction </a:t>
            </a:r>
          </a:p>
          <a:p>
            <a:endParaRPr lang="en-US" dirty="0"/>
          </a:p>
          <a:p>
            <a:endParaRPr lang="en-US" dirty="0"/>
          </a:p>
          <a:p>
            <a:r>
              <a:rPr lang="en-US" dirty="0"/>
              <a:t>Define And Validation Concepts </a:t>
            </a:r>
          </a:p>
          <a:p>
            <a:pPr marL="171450" indent="-171450">
              <a:buFontTx/>
              <a:buChar char="-"/>
            </a:pPr>
            <a:r>
              <a:rPr lang="en-US" dirty="0"/>
              <a:t>These parts are aimed at working out the details of the design concepts developed in the first half of the process by way of iterative prototype with users. </a:t>
            </a:r>
          </a:p>
          <a:p>
            <a:pPr marL="628650" lvl="1" indent="-171450">
              <a:buFontTx/>
              <a:buChar char="-"/>
            </a:pPr>
            <a:r>
              <a:rPr lang="en-US" dirty="0"/>
              <a:t>Redesign activities and technology to provide value and iterate the system with users </a:t>
            </a:r>
          </a:p>
          <a:p>
            <a:endParaRPr lang="en-US" dirty="0"/>
          </a:p>
        </p:txBody>
      </p:sp>
      <p:sp>
        <p:nvSpPr>
          <p:cNvPr id="4" name="Slide Number Placeholder 3"/>
          <p:cNvSpPr>
            <a:spLocks noGrp="1"/>
          </p:cNvSpPr>
          <p:nvPr>
            <p:ph type="sldNum" sz="quarter" idx="5"/>
          </p:nvPr>
        </p:nvSpPr>
        <p:spPr/>
        <p:txBody>
          <a:bodyPr/>
          <a:lstStyle/>
          <a:p>
            <a:fld id="{4DBBFC19-0582-9D4C-949B-3D636B3E3939}" type="slidenum">
              <a:rPr lang="en-US" smtClean="0"/>
              <a:t>7</a:t>
            </a:fld>
            <a:endParaRPr lang="en-US"/>
          </a:p>
        </p:txBody>
      </p:sp>
    </p:spTree>
    <p:extLst>
      <p:ext uri="{BB962C8B-B14F-4D97-AF65-F5344CB8AC3E}">
        <p14:creationId xmlns:p14="http://schemas.microsoft.com/office/powerpoint/2010/main" val="3697428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spcBef>
                <a:spcPts val="0"/>
              </a:spcBef>
              <a:spcAft>
                <a:spcPts val="0"/>
              </a:spcAft>
              <a:buFont typeface="Arial" panose="020B0604020202020204" pitchFamily="34" charset="0"/>
              <a:buNone/>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spcBef>
                <a:spcPts val="0"/>
              </a:spcBef>
              <a:spcAft>
                <a:spcPts val="0"/>
              </a:spcAft>
              <a:buFont typeface="Arial" panose="020B0604020202020204" pitchFamily="34" charset="0"/>
              <a:buNone/>
            </a:pPr>
            <a:r>
              <a:rPr lang="en-US" sz="1200" dirty="0">
                <a:effectLst/>
                <a:latin typeface="Calibri" panose="020F0502020204030204" pitchFamily="34" charset="0"/>
                <a:ea typeface="Calibri" panose="020F0502020204030204" pitchFamily="34" charset="0"/>
                <a:cs typeface="Times New Roman" panose="02020603050405020304" pitchFamily="18" charset="0"/>
              </a:rPr>
              <a:t>Conduct one on one field interview with users in their natural environment to discover what matter in their work</a:t>
            </a:r>
          </a:p>
          <a:p>
            <a:pPr marL="0" marR="0" lvl="0" indent="0">
              <a:spcBef>
                <a:spcPts val="0"/>
              </a:spcBef>
              <a:spcAft>
                <a:spcPts val="0"/>
              </a:spcAft>
              <a:buFont typeface="Arial" panose="020B0604020202020204" pitchFamily="34" charset="0"/>
              <a:buNone/>
            </a:pPr>
            <a:r>
              <a:rPr lang="en-US" sz="1200" dirty="0">
                <a:effectLst/>
                <a:latin typeface="Calibri" panose="020F0502020204030204" pitchFamily="34" charset="0"/>
                <a:ea typeface="Calibri" panose="020F0502020204030204" pitchFamily="34" charset="0"/>
                <a:cs typeface="Times New Roman" panose="02020603050405020304" pitchFamily="18" charset="0"/>
              </a:rPr>
              <a:t>- These field interviews are not traditional question and answer interviews with predefined questions </a:t>
            </a:r>
          </a:p>
          <a:p>
            <a:pPr marL="0" marR="0" lvl="0" indent="0">
              <a:spcBef>
                <a:spcPts val="0"/>
              </a:spcBef>
              <a:spcAft>
                <a:spcPts val="0"/>
              </a:spcAft>
              <a:buFont typeface="Arial" panose="020B0604020202020204" pitchFamily="34" charset="0"/>
              <a:buNone/>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spcBef>
                <a:spcPts val="0"/>
              </a:spcBef>
              <a:spcAft>
                <a:spcPts val="0"/>
              </a:spcAft>
              <a:buFont typeface="Arial" panose="020B0604020202020204" pitchFamily="34" charset="0"/>
              <a:buNone/>
            </a:pPr>
            <a:r>
              <a:rPr lang="en-US" sz="1200" dirty="0">
                <a:effectLst/>
                <a:latin typeface="Calibri" panose="020F0502020204030204" pitchFamily="34" charset="0"/>
                <a:ea typeface="Calibri" panose="020F0502020204030204" pitchFamily="34" charset="0"/>
                <a:cs typeface="Times New Roman" panose="02020603050405020304" pitchFamily="18" charset="0"/>
              </a:rPr>
              <a:t>Instead, you want to observe users as they work and inquire into the users' actions as they unfold to understand their motivations and strategy </a:t>
            </a:r>
          </a:p>
          <a:p>
            <a:pPr marL="171450" marR="0" lvl="0" indent="-171450">
              <a:spcBef>
                <a:spcPts val="0"/>
              </a:spcBef>
              <a:spcAft>
                <a:spcPts val="0"/>
              </a:spcAft>
              <a:buFontTx/>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These session usually last 2 hours </a:t>
            </a:r>
          </a:p>
          <a:p>
            <a:pPr marL="171450" marR="0" lvl="0" indent="-171450">
              <a:spcBef>
                <a:spcPts val="0"/>
              </a:spcBef>
              <a:spcAft>
                <a:spcPts val="0"/>
              </a:spcAft>
              <a:buFontTx/>
              <a:buChar char="-"/>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spcBef>
                <a:spcPts val="0"/>
              </a:spcBef>
              <a:spcAft>
                <a:spcPts val="0"/>
              </a:spcAft>
              <a:buFontTx/>
              <a:buNone/>
            </a:pPr>
            <a:r>
              <a:rPr lang="en-US" sz="1200" dirty="0">
                <a:effectLst/>
                <a:latin typeface="Calibri" panose="020F0502020204030204" pitchFamily="34" charset="0"/>
                <a:ea typeface="Calibri" panose="020F0502020204030204" pitchFamily="34" charset="0"/>
                <a:cs typeface="Times New Roman" panose="02020603050405020304" pitchFamily="18" charset="0"/>
              </a:rPr>
              <a:t>It’s important to understand who is the user, those that will use the solution. Most of the times it’s the end user, however, its important to consider and evaluate the needs of the other users such as indirect users (provide information or use their output) and manager (purchase the product and are responsible for their success.</a:t>
            </a:r>
          </a:p>
          <a:p>
            <a:endParaRPr lang="en-US" dirty="0"/>
          </a:p>
          <a:p>
            <a:r>
              <a:rPr lang="en-US" b="0" i="0" u="none" strike="noStrike" dirty="0">
                <a:solidFill>
                  <a:srgbClr val="2B2B2B"/>
                </a:solidFill>
                <a:effectLst/>
                <a:latin typeface="Merriweather" pitchFamily="2" charset="77"/>
              </a:rPr>
              <a:t>The interviewer and user, through discussion, develop a shared interpretation of the work. It is like an </a:t>
            </a:r>
            <a:r>
              <a:rPr lang="en-US" b="0" i="1" u="none" strike="noStrike" dirty="0">
                <a:solidFill>
                  <a:srgbClr val="2B2B2B"/>
                </a:solidFill>
                <a:effectLst/>
                <a:latin typeface="Merriweather" pitchFamily="2" charset="77"/>
              </a:rPr>
              <a:t>active inquiry</a:t>
            </a:r>
            <a:r>
              <a:rPr lang="en-US" b="0" i="0" u="none" strike="noStrike" dirty="0">
                <a:solidFill>
                  <a:srgbClr val="2B2B2B"/>
                </a:solidFill>
                <a:effectLst/>
                <a:latin typeface="Merriweather" pitchFamily="2" charset="77"/>
              </a:rPr>
              <a:t> into the user's world. This inquiry, done in context, is where Contextual Inquiry gets its name.</a:t>
            </a:r>
            <a:endParaRPr lang="en-US" dirty="0"/>
          </a:p>
        </p:txBody>
      </p:sp>
      <p:sp>
        <p:nvSpPr>
          <p:cNvPr id="4" name="Slide Number Placeholder 3"/>
          <p:cNvSpPr>
            <a:spLocks noGrp="1"/>
          </p:cNvSpPr>
          <p:nvPr>
            <p:ph type="sldNum" sz="quarter" idx="5"/>
          </p:nvPr>
        </p:nvSpPr>
        <p:spPr/>
        <p:txBody>
          <a:bodyPr/>
          <a:lstStyle/>
          <a:p>
            <a:fld id="{4DBBFC19-0582-9D4C-949B-3D636B3E3939}" type="slidenum">
              <a:rPr lang="en-US" smtClean="0"/>
              <a:t>8</a:t>
            </a:fld>
            <a:endParaRPr lang="en-US"/>
          </a:p>
        </p:txBody>
      </p:sp>
    </p:spTree>
    <p:extLst>
      <p:ext uri="{BB962C8B-B14F-4D97-AF65-F5344CB8AC3E}">
        <p14:creationId xmlns:p14="http://schemas.microsoft.com/office/powerpoint/2010/main" val="1263867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spcBef>
                <a:spcPts val="0"/>
              </a:spcBef>
              <a:spcAft>
                <a:spcPts val="0"/>
              </a:spcAft>
              <a:buFont typeface="Wingdings" pitchFamily="2"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Interpretation sessions lets everyone on the team hear the whole story of the interview </a:t>
            </a:r>
          </a:p>
          <a:p>
            <a:pPr marL="228600" marR="0" lvl="0" indent="-228600">
              <a:spcBef>
                <a:spcPts val="0"/>
              </a:spcBef>
              <a:spcAft>
                <a:spcPts val="0"/>
              </a:spcAft>
              <a:buFont typeface="Wingdings" pitchFamily="2"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Through these discussions, the team comes to understand the user, their needs, motivations, while at the same time capturing issues, developing a shared understanding of the user's world. Here, work models are developed. These Models </a:t>
            </a:r>
            <a:r>
              <a:rPr lang="en-US" sz="2800" b="0" i="0" u="none" strike="noStrike" dirty="0">
                <a:solidFill>
                  <a:srgbClr val="2B2B2B"/>
                </a:solidFill>
                <a:effectLst/>
                <a:latin typeface="Merriweather" pitchFamily="2" charset="77"/>
              </a:rPr>
              <a:t>are used to</a:t>
            </a:r>
            <a:r>
              <a:rPr lang="en-US" sz="2800" b="0" i="1" u="none" strike="noStrike" dirty="0">
                <a:solidFill>
                  <a:srgbClr val="2B2B2B"/>
                </a:solidFill>
                <a:effectLst/>
                <a:latin typeface="Merriweather" pitchFamily="2" charset="77"/>
              </a:rPr>
              <a:t> </a:t>
            </a:r>
            <a:r>
              <a:rPr lang="en-US" sz="2800" b="0" i="0" u="none" strike="noStrike" dirty="0">
                <a:solidFill>
                  <a:srgbClr val="2B2B2B"/>
                </a:solidFill>
                <a:effectLst/>
                <a:latin typeface="Merriweather" pitchFamily="2" charset="77"/>
              </a:rPr>
              <a:t>capture the work of individuals and organizations in diagrams. These include: </a:t>
            </a:r>
          </a:p>
          <a:p>
            <a:pPr marL="2057400" marR="0" lvl="4" indent="-228600">
              <a:spcBef>
                <a:spcPts val="0"/>
              </a:spcBef>
              <a:spcAft>
                <a:spcPts val="0"/>
              </a:spcAft>
              <a:buFont typeface="Courier New" panose="02070309020205020404" pitchFamily="49" charset="0"/>
              <a:buChar char="o"/>
            </a:pPr>
            <a:r>
              <a:rPr lang="en-US" sz="1200" dirty="0">
                <a:effectLst/>
                <a:latin typeface="Calibri" panose="020F0502020204030204" pitchFamily="34" charset="0"/>
                <a:ea typeface="Calibri" panose="020F0502020204030204" pitchFamily="34" charset="0"/>
                <a:cs typeface="Times New Roman" panose="02020603050405020304" pitchFamily="18" charset="0"/>
              </a:rPr>
              <a:t>Flow model </a:t>
            </a:r>
          </a:p>
          <a:p>
            <a:pPr marL="2514600" marR="0" lvl="5" indent="-228600">
              <a:spcBef>
                <a:spcPts val="0"/>
              </a:spcBef>
              <a:spcAft>
                <a:spcPts val="0"/>
              </a:spcAft>
              <a:buFont typeface="Wingdings" pitchFamily="2"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Capture communication and coordination between people to accomplish work </a:t>
            </a:r>
          </a:p>
          <a:p>
            <a:pPr marL="2057400" marR="0" lvl="4" indent="-228600">
              <a:spcBef>
                <a:spcPts val="0"/>
              </a:spcBef>
              <a:spcAft>
                <a:spcPts val="0"/>
              </a:spcAft>
              <a:buFont typeface="Courier New" panose="02070309020205020404" pitchFamily="49" charset="0"/>
              <a:buChar char="o"/>
            </a:pPr>
            <a:r>
              <a:rPr lang="en-US" sz="1200" dirty="0">
                <a:effectLst/>
                <a:latin typeface="Calibri" panose="020F0502020204030204" pitchFamily="34" charset="0"/>
                <a:ea typeface="Calibri" panose="020F0502020204030204" pitchFamily="34" charset="0"/>
                <a:cs typeface="Times New Roman" panose="02020603050405020304" pitchFamily="18" charset="0"/>
              </a:rPr>
              <a:t>Cultural model </a:t>
            </a:r>
          </a:p>
          <a:p>
            <a:pPr marL="2514600" marR="0" lvl="5" indent="-228600">
              <a:spcBef>
                <a:spcPts val="0"/>
              </a:spcBef>
              <a:spcAft>
                <a:spcPts val="0"/>
              </a:spcAft>
              <a:buFont typeface="Wingdings" pitchFamily="2"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Captures culture and policy that constrain how work is done. </a:t>
            </a:r>
          </a:p>
          <a:p>
            <a:pPr marL="2057400" marR="0" lvl="4" indent="-228600">
              <a:spcBef>
                <a:spcPts val="0"/>
              </a:spcBef>
              <a:spcAft>
                <a:spcPts val="0"/>
              </a:spcAft>
              <a:buFont typeface="Courier New" panose="02070309020205020404" pitchFamily="49" charset="0"/>
              <a:buChar char="o"/>
            </a:pPr>
            <a:r>
              <a:rPr lang="en-US" sz="1200" dirty="0">
                <a:effectLst/>
                <a:latin typeface="Calibri" panose="020F0502020204030204" pitchFamily="34" charset="0"/>
                <a:ea typeface="Calibri" panose="020F0502020204030204" pitchFamily="34" charset="0"/>
                <a:cs typeface="Times New Roman" panose="02020603050405020304" pitchFamily="18" charset="0"/>
              </a:rPr>
              <a:t>Sequence model </a:t>
            </a:r>
          </a:p>
          <a:p>
            <a:pPr marL="2514600" marR="0" lvl="5" indent="-228600">
              <a:spcBef>
                <a:spcPts val="0"/>
              </a:spcBef>
              <a:spcAft>
                <a:spcPts val="0"/>
              </a:spcAft>
              <a:buFont typeface="Wingdings" pitchFamily="2"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Shows the detailed steps performed to accomplish each task important to the work.</a:t>
            </a:r>
          </a:p>
          <a:p>
            <a:pPr marL="2057400" marR="0" lvl="4" indent="-228600">
              <a:spcBef>
                <a:spcPts val="0"/>
              </a:spcBef>
              <a:spcAft>
                <a:spcPts val="0"/>
              </a:spcAft>
              <a:buFont typeface="Courier New" panose="02070309020205020404" pitchFamily="49" charset="0"/>
              <a:buChar char="o"/>
            </a:pPr>
            <a:r>
              <a:rPr lang="en-US" sz="1200" dirty="0">
                <a:effectLst/>
                <a:latin typeface="Calibri" panose="020F0502020204030204" pitchFamily="34" charset="0"/>
                <a:ea typeface="Calibri" panose="020F0502020204030204" pitchFamily="34" charset="0"/>
                <a:cs typeface="Times New Roman" panose="02020603050405020304" pitchFamily="18" charset="0"/>
              </a:rPr>
              <a:t>Physical model </a:t>
            </a:r>
          </a:p>
          <a:p>
            <a:pPr marL="2514600" marR="0" lvl="5" indent="-228600">
              <a:spcBef>
                <a:spcPts val="0"/>
              </a:spcBef>
              <a:spcAft>
                <a:spcPts val="0"/>
              </a:spcAft>
              <a:buFont typeface="Wingdings" pitchFamily="2"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Shows the physical environment as it supports or gets in the way of the work.</a:t>
            </a:r>
          </a:p>
          <a:p>
            <a:pPr marL="2057400" marR="0" lvl="4" indent="-228600">
              <a:spcBef>
                <a:spcPts val="0"/>
              </a:spcBef>
              <a:spcAft>
                <a:spcPts val="0"/>
              </a:spcAft>
              <a:buFont typeface="Courier New" panose="02070309020205020404" pitchFamily="49" charset="0"/>
              <a:buChar char="o"/>
            </a:pPr>
            <a:r>
              <a:rPr lang="en-US" sz="1200" dirty="0">
                <a:effectLst/>
                <a:latin typeface="Calibri" panose="020F0502020204030204" pitchFamily="34" charset="0"/>
                <a:ea typeface="Calibri" panose="020F0502020204030204" pitchFamily="34" charset="0"/>
                <a:cs typeface="Times New Roman" panose="02020603050405020304" pitchFamily="18" charset="0"/>
              </a:rPr>
              <a:t>Artifact model </a:t>
            </a:r>
          </a:p>
          <a:p>
            <a:pPr marL="2514600" marR="0" lvl="5" indent="-228600">
              <a:spcBef>
                <a:spcPts val="0"/>
              </a:spcBef>
              <a:spcAft>
                <a:spcPts val="0"/>
              </a:spcAft>
              <a:buFont typeface="Wingdings" pitchFamily="2"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Shows the artifacts that are created and used in doing the work. </a:t>
            </a:r>
          </a:p>
          <a:p>
            <a:pPr marL="742950" marR="0" lvl="1" indent="-285750">
              <a:spcBef>
                <a:spcPts val="0"/>
              </a:spcBef>
              <a:spcAft>
                <a:spcPts val="0"/>
              </a:spcAft>
              <a:buFont typeface="Arial" panose="020B0604020202020204" pitchFamily="34" charset="0"/>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spcBef>
                <a:spcPts val="0"/>
              </a:spcBef>
              <a:spcAft>
                <a:spcPts val="0"/>
              </a:spcAft>
              <a:buFont typeface="Arial" panose="020B0604020202020204" pitchFamily="34" charset="0"/>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spcBef>
                <a:spcPts val="0"/>
              </a:spcBef>
              <a:spcAft>
                <a:spcPts val="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Overall, this allows the team to</a:t>
            </a:r>
          </a:p>
          <a:p>
            <a:pPr marL="742950" marR="0" lvl="1" indent="-285750">
              <a:spcBef>
                <a:spcPts val="0"/>
              </a:spcBef>
              <a:spcAft>
                <a:spcPts val="0"/>
              </a:spcAft>
              <a:buFont typeface="Arial" panose="020B0604020202020204" pitchFamily="34" charset="0"/>
              <a:buChar char="•"/>
            </a:pPr>
            <a:r>
              <a:rPr lang="en-US" sz="2800" b="0" i="0" u="none" strike="noStrike" dirty="0">
                <a:solidFill>
                  <a:srgbClr val="000000"/>
                </a:solidFill>
                <a:effectLst/>
              </a:rPr>
              <a:t>Shared perspective of data </a:t>
            </a:r>
          </a:p>
          <a:p>
            <a:pPr marL="742950" marR="0" lvl="1" indent="-285750">
              <a:spcBef>
                <a:spcPts val="0"/>
              </a:spcBef>
              <a:spcAft>
                <a:spcPts val="0"/>
              </a:spcAft>
              <a:buFont typeface="Arial" panose="020B0604020202020204" pitchFamily="34" charset="0"/>
              <a:buChar char="•"/>
            </a:pPr>
            <a:r>
              <a:rPr lang="en-US" sz="2800" b="0" i="0" u="none" strike="noStrike" dirty="0">
                <a:solidFill>
                  <a:srgbClr val="000000"/>
                </a:solidFill>
                <a:effectLst/>
              </a:rPr>
              <a:t>Avoid designing based on personal or external preferences, instead using data-driven decisions.</a:t>
            </a:r>
          </a:p>
          <a:p>
            <a:pPr marL="285750" marR="0" lvl="0" indent="-285750">
              <a:spcBef>
                <a:spcPts val="0"/>
              </a:spcBef>
              <a:spcAft>
                <a:spcPts val="0"/>
              </a:spcAft>
              <a:buFont typeface="Arial" panose="020B0604020202020204" pitchFamily="34" charset="0"/>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spcBef>
                <a:spcPts val="0"/>
              </a:spcBef>
              <a:spcAft>
                <a:spcPts val="0"/>
              </a:spcAft>
              <a:buFont typeface="Arial" panose="020B0604020202020204" pitchFamily="34" charset="0"/>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spcBef>
                <a:spcPts val="0"/>
              </a:spcBef>
              <a:spcAft>
                <a:spcPts val="0"/>
              </a:spcAft>
              <a:buFont typeface="Arial" panose="020B0604020202020204" pitchFamily="34" charset="0"/>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spcBef>
                <a:spcPts val="0"/>
              </a:spcBef>
              <a:spcAft>
                <a:spcPts val="0"/>
              </a:spcAft>
              <a:buFont typeface="Arial" panose="020B0604020202020204" pitchFamily="34" charset="0"/>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4DBBFC19-0582-9D4C-949B-3D636B3E3939}" type="slidenum">
              <a:rPr lang="en-US" smtClean="0"/>
              <a:t>9</a:t>
            </a:fld>
            <a:endParaRPr lang="en-US"/>
          </a:p>
        </p:txBody>
      </p:sp>
    </p:spTree>
    <p:extLst>
      <p:ext uri="{BB962C8B-B14F-4D97-AF65-F5344CB8AC3E}">
        <p14:creationId xmlns:p14="http://schemas.microsoft.com/office/powerpoint/2010/main" val="3325036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spcBef>
                <a:spcPts val="0"/>
              </a:spcBef>
              <a:spcAft>
                <a:spcPts val="0"/>
              </a:spcAft>
              <a:buFont typeface="Wingdings" pitchFamily="2"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Systems are seldom designed for a single user. But designing for a whole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user population</a:t>
            </a:r>
            <a:r>
              <a:rPr lang="en-US" sz="1800" dirty="0">
                <a:effectLst/>
                <a:latin typeface="Calibri" panose="020F0502020204030204" pitchFamily="34" charset="0"/>
                <a:ea typeface="Calibri" panose="020F0502020204030204" pitchFamily="34" charset="0"/>
                <a:cs typeface="Times New Roman" panose="02020603050405020304" pitchFamily="18" charset="0"/>
              </a:rPr>
              <a:t> - depends on seeing the common aspects of the work different people do.</a:t>
            </a:r>
          </a:p>
          <a:p>
            <a:pPr marL="228600" marR="0" lvl="0" indent="-228600">
              <a:spcBef>
                <a:spcPts val="0"/>
              </a:spcBef>
              <a:spcAft>
                <a:spcPts val="0"/>
              </a:spcAft>
              <a:buFont typeface="Wingdings" pitchFamily="2" charset="2"/>
              <a:buChar char=""/>
            </a:pPr>
            <a:r>
              <a:rPr lang="en-US" sz="1800" i="1" dirty="0">
                <a:effectLst/>
                <a:latin typeface="Calibri" panose="020F0502020204030204" pitchFamily="34" charset="0"/>
                <a:ea typeface="Calibri" panose="020F0502020204030204" pitchFamily="34" charset="0"/>
                <a:cs typeface="Times New Roman" panose="02020603050405020304" pitchFamily="18" charset="0"/>
              </a:rPr>
              <a:t>Consolidation </a:t>
            </a:r>
            <a:r>
              <a:rPr lang="en-US" sz="1800" dirty="0">
                <a:effectLst/>
                <a:latin typeface="Calibri" panose="020F0502020204030204" pitchFamily="34" charset="0"/>
                <a:ea typeface="Calibri" panose="020F0502020204030204" pitchFamily="34" charset="0"/>
                <a:cs typeface="Times New Roman" panose="02020603050405020304" pitchFamily="18" charset="0"/>
              </a:rPr>
              <a:t>brings data from individual user interviews together so the team can see common pattern and structure without losing individual variation. The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affinity diagram</a:t>
            </a:r>
            <a:r>
              <a:rPr lang="en-US" sz="1800" dirty="0">
                <a:effectLst/>
                <a:latin typeface="Calibri" panose="020F0502020204030204" pitchFamily="34" charset="0"/>
                <a:ea typeface="Calibri" panose="020F0502020204030204" pitchFamily="34" charset="0"/>
                <a:cs typeface="Times New Roman" panose="02020603050405020304" pitchFamily="18" charset="0"/>
              </a:rPr>
              <a:t> brings together issues and insights across all customers into a wall-sized, hierarchical diagram to reveal the scope of the problem</a:t>
            </a:r>
          </a:p>
          <a:p>
            <a:endParaRPr lang="en-US" dirty="0"/>
          </a:p>
          <a:p>
            <a:r>
              <a:rPr lang="en-US" b="0" i="0" u="none" strike="noStrike" dirty="0">
                <a:solidFill>
                  <a:srgbClr val="2B2B2B"/>
                </a:solidFill>
                <a:effectLst/>
                <a:latin typeface="Merriweather" pitchFamily="2" charset="77"/>
              </a:rPr>
              <a:t>Together, the affinity diagram and consolidated work models produce a single picture of the customer population a design will address. They give the team a focus for the design conversation, showing how the work hangs together rather than breaking it up in lists. They show what matters in the work and guide the structuring of a coherent response, including system focus and features, business actions, and delivery mechanisms.</a:t>
            </a:r>
          </a:p>
          <a:p>
            <a:endParaRPr lang="en-US" b="0" i="0" u="none" strike="noStrike" dirty="0">
              <a:solidFill>
                <a:srgbClr val="2B2B2B"/>
              </a:solidFill>
              <a:effectLst/>
              <a:latin typeface="Merriweather" pitchFamily="2" charset="77"/>
            </a:endParaRPr>
          </a:p>
          <a:p>
            <a:r>
              <a:rPr lang="en-US" b="0" i="0" u="none" strike="noStrike" dirty="0">
                <a:solidFill>
                  <a:srgbClr val="2B2B2B"/>
                </a:solidFill>
                <a:effectLst/>
                <a:latin typeface="Merriweather" pitchFamily="2" charset="77"/>
              </a:rPr>
              <a:t>Here there is also an opportunity to developed personas. Contextual Design personas are built from the detailed data gathered through Contextual Inquiry interviews, so they have the richness and depth needed to drive design.</a:t>
            </a:r>
            <a:endParaRPr lang="en-US" dirty="0"/>
          </a:p>
        </p:txBody>
      </p:sp>
      <p:sp>
        <p:nvSpPr>
          <p:cNvPr id="4" name="Slide Number Placeholder 3"/>
          <p:cNvSpPr>
            <a:spLocks noGrp="1"/>
          </p:cNvSpPr>
          <p:nvPr>
            <p:ph type="sldNum" sz="quarter" idx="5"/>
          </p:nvPr>
        </p:nvSpPr>
        <p:spPr/>
        <p:txBody>
          <a:bodyPr/>
          <a:lstStyle/>
          <a:p>
            <a:fld id="{4DBBFC19-0582-9D4C-949B-3D636B3E3939}" type="slidenum">
              <a:rPr lang="en-US" smtClean="0"/>
              <a:t>10</a:t>
            </a:fld>
            <a:endParaRPr lang="en-US"/>
          </a:p>
        </p:txBody>
      </p:sp>
    </p:spTree>
    <p:extLst>
      <p:ext uri="{BB962C8B-B14F-4D97-AF65-F5344CB8AC3E}">
        <p14:creationId xmlns:p14="http://schemas.microsoft.com/office/powerpoint/2010/main" val="4199893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In visioning, the team</a:t>
            </a:r>
            <a:r>
              <a:rPr lang="en-US" sz="1800" i="1"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uses the consolidated data to drive conversations about how to improve users' work by using technology to transform the work practice.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is done by facilitating a group ideation session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Where people walk around interacting with the data and place design ideas on the data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Design ideas will emerge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New people can come in</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will help in identifying key issues, what can be done or not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focuses the conversation on how to improve people's lives with technology, rather than on what could be done with technology without considering the impact on peoples' real lives.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Then story telling will begin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i="0" u="none" strike="noStrike" dirty="0">
                <a:solidFill>
                  <a:srgbClr val="2B2B2B"/>
                </a:solidFill>
                <a:effectLst/>
                <a:latin typeface="Merriweather" pitchFamily="2" charset="77"/>
              </a:rPr>
              <a:t>Capturing how users will do their work in the new world the team invents. A vision includes the system, its delivery, and support structures to make the new work practice successful. It is intentionally rough and high-level - a vision sets a possible design direction, without fleshing out every detail. This enables the team to see the overall structure of the solution and ensure its coherence.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DBBFC19-0582-9D4C-949B-3D636B3E3939}" type="slidenum">
              <a:rPr lang="en-US" smtClean="0"/>
              <a:t>11</a:t>
            </a:fld>
            <a:endParaRPr lang="en-US"/>
          </a:p>
        </p:txBody>
      </p:sp>
    </p:spTree>
    <p:extLst>
      <p:ext uri="{BB962C8B-B14F-4D97-AF65-F5344CB8AC3E}">
        <p14:creationId xmlns:p14="http://schemas.microsoft.com/office/powerpoint/2010/main" val="3205696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Afterwards, you take the the high-level structure and break it down to make it actionable. </a:t>
            </a:r>
            <a:r>
              <a:rPr lang="en-US" sz="2800" b="0" i="0" u="none" strike="noStrike" dirty="0">
                <a:solidFill>
                  <a:srgbClr val="2B2B2B"/>
                </a:solidFill>
                <a:effectLst/>
                <a:latin typeface="Merriweather" pitchFamily="2" charset="77"/>
              </a:rPr>
              <a:t>This next level of design must take the users' tasks into account and ensure the right function is defined in the right system places for a smooth workflow.</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Each storyboard describes how users will accomplish a task in the new system. They show the steps the user will take and the system function that supports each step. The task may be handed off between users and may be supported by several systems operating together; the storyboard ensures the task remains coherent across these boundaries.</a:t>
            </a:r>
          </a:p>
          <a:p>
            <a:endParaRPr lang="en-US" dirty="0"/>
          </a:p>
        </p:txBody>
      </p:sp>
      <p:sp>
        <p:nvSpPr>
          <p:cNvPr id="4" name="Slide Number Placeholder 3"/>
          <p:cNvSpPr>
            <a:spLocks noGrp="1"/>
          </p:cNvSpPr>
          <p:nvPr>
            <p:ph type="sldNum" sz="quarter" idx="5"/>
          </p:nvPr>
        </p:nvSpPr>
        <p:spPr/>
        <p:txBody>
          <a:bodyPr/>
          <a:lstStyle/>
          <a:p>
            <a:fld id="{4DBBFC19-0582-9D4C-949B-3D636B3E3939}" type="slidenum">
              <a:rPr lang="en-US" smtClean="0"/>
              <a:t>12</a:t>
            </a:fld>
            <a:endParaRPr lang="en-US"/>
          </a:p>
        </p:txBody>
      </p:sp>
    </p:spTree>
    <p:extLst>
      <p:ext uri="{BB962C8B-B14F-4D97-AF65-F5344CB8AC3E}">
        <p14:creationId xmlns:p14="http://schemas.microsoft.com/office/powerpoint/2010/main" val="3893993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spcBef>
                <a:spcPts val="0"/>
              </a:spcBef>
              <a:spcAft>
                <a:spcPts val="0"/>
              </a:spcAft>
              <a:buFont typeface="Courier New" panose="02070309020205020404" pitchFamily="49" charset="0"/>
              <a:buChar char="o"/>
            </a:pPr>
            <a:r>
              <a:rPr lang="en-US" sz="2800" b="0" i="0" u="none" strike="noStrike" dirty="0">
                <a:solidFill>
                  <a:srgbClr val="2B2B2B"/>
                </a:solidFill>
                <a:effectLst/>
                <a:latin typeface="Merriweather" pitchFamily="2" charset="77"/>
              </a:rPr>
              <a:t>The storyboards ensure coherence of individual tasks, but the new system must have the appropriate structure to support a natural flow of work through the system no matter what task the user is doing.</a:t>
            </a:r>
          </a:p>
          <a:p>
            <a:pPr marL="285750" marR="0" lvl="0" indent="-285750">
              <a:spcBef>
                <a:spcPts val="0"/>
              </a:spcBef>
              <a:spcAft>
                <a:spcPts val="0"/>
              </a:spcAft>
              <a:buFont typeface="Courier New" panose="02070309020205020404" pitchFamily="49" charset="0"/>
              <a:buChar char="o"/>
            </a:pPr>
            <a:r>
              <a:rPr lang="en-US" sz="2800" b="0" i="0" u="none" strike="noStrike" dirty="0">
                <a:solidFill>
                  <a:srgbClr val="2B2B2B"/>
                </a:solidFill>
                <a:effectLst/>
                <a:latin typeface="Merriweather" pitchFamily="2" charset="77"/>
              </a:rPr>
              <a:t>To do this the User Environment Design needs to be developed.  </a:t>
            </a:r>
          </a:p>
          <a:p>
            <a:pPr marL="285750" marR="0" lvl="0" indent="-285750">
              <a:spcBef>
                <a:spcPts val="0"/>
              </a:spcBef>
              <a:spcAft>
                <a:spcPts val="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User Environment Design </a:t>
            </a:r>
            <a:r>
              <a:rPr lang="en-US" sz="1800" dirty="0">
                <a:effectLst/>
                <a:latin typeface="Calibri" panose="020F0502020204030204" pitchFamily="34" charset="0"/>
                <a:ea typeface="Calibri" panose="020F0502020204030204" pitchFamily="34" charset="0"/>
                <a:cs typeface="Times New Roman" panose="02020603050405020304" pitchFamily="18" charset="0"/>
              </a:rPr>
              <a:t>captures the floor plan of the new system. It shows each part of the system, how it supports the user's work, exactly what function is available in that part, and how the user gets to and from other parts of the system - without tying this structure to any particular user interface.</a:t>
            </a:r>
          </a:p>
          <a:p>
            <a:endParaRPr lang="en-US" dirty="0"/>
          </a:p>
        </p:txBody>
      </p:sp>
      <p:sp>
        <p:nvSpPr>
          <p:cNvPr id="4" name="Slide Number Placeholder 3"/>
          <p:cNvSpPr>
            <a:spLocks noGrp="1"/>
          </p:cNvSpPr>
          <p:nvPr>
            <p:ph type="sldNum" sz="quarter" idx="5"/>
          </p:nvPr>
        </p:nvSpPr>
        <p:spPr/>
        <p:txBody>
          <a:bodyPr/>
          <a:lstStyle/>
          <a:p>
            <a:fld id="{4DBBFC19-0582-9D4C-949B-3D636B3E3939}" type="slidenum">
              <a:rPr lang="en-US" smtClean="0"/>
              <a:t>13</a:t>
            </a:fld>
            <a:endParaRPr lang="en-US"/>
          </a:p>
        </p:txBody>
      </p:sp>
    </p:spTree>
    <p:extLst>
      <p:ext uri="{BB962C8B-B14F-4D97-AF65-F5344CB8AC3E}">
        <p14:creationId xmlns:p14="http://schemas.microsoft.com/office/powerpoint/2010/main" val="4175866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spcBef>
                <a:spcPts val="0"/>
              </a:spcBef>
              <a:spcAft>
                <a:spcPts val="0"/>
              </a:spcAft>
              <a:buFont typeface="Wingdings" pitchFamily="2" charset="2"/>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Now before proceeding with the development, it’s important to test and see if anyone will like what’s been created </a:t>
            </a:r>
          </a:p>
          <a:p>
            <a:pPr marL="0" marR="0" lvl="0" indent="0">
              <a:spcBef>
                <a:spcPts val="0"/>
              </a:spcBef>
              <a:spcAft>
                <a:spcPts val="0"/>
              </a:spcAft>
              <a:buFont typeface="Wingdings" pitchFamily="2" charset="2"/>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To do this, you want to </a:t>
            </a:r>
          </a:p>
          <a:p>
            <a:pPr marL="228600" marR="0" lvl="0" indent="-228600">
              <a:spcBef>
                <a:spcPts val="0"/>
              </a:spcBef>
              <a:spcAft>
                <a:spcPts val="0"/>
              </a:spcAft>
              <a:buFont typeface="Wingdings" pitchFamily="2"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Go back into the field and have people live their real lives inside the mockups </a:t>
            </a:r>
          </a:p>
          <a:p>
            <a:pPr marL="228600" marR="0" lvl="0" indent="-228600">
              <a:spcBef>
                <a:spcPts val="0"/>
              </a:spcBef>
              <a:spcAft>
                <a:spcPts val="0"/>
              </a:spcAft>
              <a:buFont typeface="Wingdings" pitchFamily="2"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No scenarios or redefined tests </a:t>
            </a:r>
          </a:p>
          <a:p>
            <a:pPr marL="228600" marR="0" lvl="0" indent="-228600">
              <a:spcBef>
                <a:spcPts val="0"/>
              </a:spcBef>
              <a:spcAft>
                <a:spcPts val="0"/>
              </a:spcAft>
              <a:buFont typeface="Wingdings" pitchFamily="2"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Have them replay their lives inside the mockup (what did you just buy)</a:t>
            </a:r>
          </a:p>
          <a:p>
            <a:pPr marL="228600" marR="0" lvl="0" indent="-228600">
              <a:spcBef>
                <a:spcPts val="0"/>
              </a:spcBef>
              <a:spcAft>
                <a:spcPts val="0"/>
              </a:spcAft>
              <a:buFont typeface="Wingdings" pitchFamily="2"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When the user discovers problems, they and the designers redesign the prototype together to fit their needs</a:t>
            </a:r>
          </a:p>
          <a:p>
            <a:pPr marL="228600" marR="0" lvl="0" indent="-228600">
              <a:spcBef>
                <a:spcPts val="0"/>
              </a:spcBef>
              <a:spcAft>
                <a:spcPts val="0"/>
              </a:spcAft>
              <a:buFont typeface="Wingdings" pitchFamily="2"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Refining the design with users gives designers a user-centered way to resolve disagreements and work out the next layer of requirements. </a:t>
            </a:r>
          </a:p>
          <a:p>
            <a:endParaRPr lang="en-US" dirty="0"/>
          </a:p>
        </p:txBody>
      </p:sp>
      <p:sp>
        <p:nvSpPr>
          <p:cNvPr id="4" name="Slide Number Placeholder 3"/>
          <p:cNvSpPr>
            <a:spLocks noGrp="1"/>
          </p:cNvSpPr>
          <p:nvPr>
            <p:ph type="sldNum" sz="quarter" idx="5"/>
          </p:nvPr>
        </p:nvSpPr>
        <p:spPr/>
        <p:txBody>
          <a:bodyPr/>
          <a:lstStyle/>
          <a:p>
            <a:fld id="{4DBBFC19-0582-9D4C-949B-3D636B3E3939}" type="slidenum">
              <a:rPr lang="en-US" smtClean="0"/>
              <a:t>14</a:t>
            </a:fld>
            <a:endParaRPr lang="en-US"/>
          </a:p>
        </p:txBody>
      </p:sp>
    </p:spTree>
    <p:extLst>
      <p:ext uri="{BB962C8B-B14F-4D97-AF65-F5344CB8AC3E}">
        <p14:creationId xmlns:p14="http://schemas.microsoft.com/office/powerpoint/2010/main" val="36361790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2B2B2B"/>
                </a:solidFill>
                <a:effectLst/>
                <a:latin typeface="Merriweather" pitchFamily="2" charset="77"/>
              </a:rPr>
              <a:t>After several rounds of prototyping, the larger structure of the system design stabilizes. At this point, the design team can continue iterating areas of the user interface.</a:t>
            </a:r>
          </a:p>
          <a:p>
            <a:pPr algn="l"/>
            <a:r>
              <a:rPr lang="en-US" b="0" i="0" u="none" strike="noStrike" dirty="0">
                <a:solidFill>
                  <a:srgbClr val="2B2B2B"/>
                </a:solidFill>
                <a:effectLst/>
                <a:latin typeface="Merriweather" pitchFamily="2" charset="77"/>
              </a:rPr>
              <a:t>Once the structure and </a:t>
            </a:r>
            <a:r>
              <a:rPr lang="en-US" b="0" i="0" u="sng" strike="noStrike" dirty="0">
                <a:solidFill>
                  <a:srgbClr val="2B2B2B"/>
                </a:solidFill>
                <a:effectLst/>
                <a:latin typeface="Merriweather" pitchFamily="2" charset="77"/>
                <a:hlinkClick r:id="rId3" tooltip="What is Interaction Design (IxD)?"/>
              </a:rPr>
              <a:t>interaction design</a:t>
            </a:r>
            <a:r>
              <a:rPr lang="en-US" b="0" i="0" u="none" strike="noStrike" dirty="0">
                <a:solidFill>
                  <a:srgbClr val="2B2B2B"/>
                </a:solidFill>
                <a:effectLst/>
                <a:latin typeface="Merriweather" pitchFamily="2" charset="77"/>
              </a:rPr>
              <a:t> are largely stable, the team can develop and test interaction and </a:t>
            </a:r>
            <a:r>
              <a:rPr lang="en-US" b="0" i="0" u="sng" strike="noStrike" dirty="0">
                <a:solidFill>
                  <a:srgbClr val="2B2B2B"/>
                </a:solidFill>
                <a:effectLst/>
                <a:latin typeface="Merriweather" pitchFamily="2" charset="77"/>
                <a:hlinkClick r:id="rId4" tooltip="What is Visual Design?"/>
              </a:rPr>
              <a:t>visual design</a:t>
            </a:r>
            <a:r>
              <a:rPr lang="en-US" b="0" i="0" u="none" strike="noStrike" dirty="0">
                <a:solidFill>
                  <a:srgbClr val="2B2B2B"/>
                </a:solidFill>
                <a:effectLst/>
                <a:latin typeface="Merriweather" pitchFamily="2" charset="77"/>
              </a:rPr>
              <a:t> options with users.</a:t>
            </a:r>
          </a:p>
          <a:p>
            <a:pPr algn="l"/>
            <a:endParaRPr lang="en-US" b="0" i="0" u="none" strike="noStrike" dirty="0">
              <a:solidFill>
                <a:srgbClr val="2B2B2B"/>
              </a:solidFill>
              <a:effectLst/>
              <a:latin typeface="Merriweather" pitchFamily="2" charset="77"/>
            </a:endParaRPr>
          </a:p>
          <a:p>
            <a:pPr algn="l"/>
            <a:endParaRPr lang="en-US" b="0" i="0" u="none" strike="noStrike" dirty="0">
              <a:solidFill>
                <a:srgbClr val="2B2B2B"/>
              </a:solidFill>
              <a:effectLst/>
              <a:latin typeface="Merriweather" pitchFamily="2" charset="77"/>
            </a:endParaRPr>
          </a:p>
          <a:p>
            <a:pPr algn="l"/>
            <a:endParaRPr lang="en-US" b="0" i="0" u="none" strike="noStrike" dirty="0">
              <a:solidFill>
                <a:srgbClr val="2B2B2B"/>
              </a:solidFill>
              <a:effectLst/>
              <a:latin typeface="Merriweather" pitchFamily="2" charset="77"/>
            </a:endParaRPr>
          </a:p>
          <a:p>
            <a:pPr algn="l"/>
            <a:endParaRPr lang="en-US" b="0" i="0" u="none" strike="noStrike" dirty="0">
              <a:solidFill>
                <a:srgbClr val="2B2B2B"/>
              </a:solidFill>
              <a:effectLst/>
              <a:latin typeface="Merriweather" pitchFamily="2" charset="77"/>
            </a:endParaRPr>
          </a:p>
          <a:p>
            <a:pPr algn="l"/>
            <a:endParaRPr lang="en-US" b="0" i="0" u="none" strike="noStrike" dirty="0">
              <a:solidFill>
                <a:srgbClr val="2B2B2B"/>
              </a:solidFill>
              <a:effectLst/>
              <a:latin typeface="Merriweather" pitchFamily="2" charset="77"/>
            </a:endParaRPr>
          </a:p>
        </p:txBody>
      </p:sp>
      <p:sp>
        <p:nvSpPr>
          <p:cNvPr id="4" name="Slide Number Placeholder 3"/>
          <p:cNvSpPr>
            <a:spLocks noGrp="1"/>
          </p:cNvSpPr>
          <p:nvPr>
            <p:ph type="sldNum" sz="quarter" idx="5"/>
          </p:nvPr>
        </p:nvSpPr>
        <p:spPr/>
        <p:txBody>
          <a:bodyPr/>
          <a:lstStyle/>
          <a:p>
            <a:fld id="{4DBBFC19-0582-9D4C-949B-3D636B3E3939}" type="slidenum">
              <a:rPr lang="en-US" smtClean="0"/>
              <a:t>15</a:t>
            </a:fld>
            <a:endParaRPr lang="en-US"/>
          </a:p>
        </p:txBody>
      </p:sp>
    </p:spTree>
    <p:extLst>
      <p:ext uri="{BB962C8B-B14F-4D97-AF65-F5344CB8AC3E}">
        <p14:creationId xmlns:p14="http://schemas.microsoft.com/office/powerpoint/2010/main" val="36611563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BBFC19-0582-9D4C-949B-3D636B3E3939}" type="slidenum">
              <a:rPr lang="en-US" smtClean="0"/>
              <a:t>16</a:t>
            </a:fld>
            <a:endParaRPr lang="en-US"/>
          </a:p>
        </p:txBody>
      </p:sp>
    </p:spTree>
    <p:extLst>
      <p:ext uri="{BB962C8B-B14F-4D97-AF65-F5344CB8AC3E}">
        <p14:creationId xmlns:p14="http://schemas.microsoft.com/office/powerpoint/2010/main" val="221618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D151172B-0EA7-D14A-828C-6BAC25578D4E}" type="datetimeFigureOut">
              <a:rPr lang="en-US" smtClean="0"/>
              <a:t>1/29/25</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1DED705D-9DD8-DE4E-99B7-314522DFF722}"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46587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51172B-0EA7-D14A-828C-6BAC25578D4E}"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ED705D-9DD8-DE4E-99B7-314522DFF722}" type="slidenum">
              <a:rPr lang="en-US" smtClean="0"/>
              <a:t>‹#›</a:t>
            </a:fld>
            <a:endParaRPr lang="en-US"/>
          </a:p>
        </p:txBody>
      </p:sp>
    </p:spTree>
    <p:extLst>
      <p:ext uri="{BB962C8B-B14F-4D97-AF65-F5344CB8AC3E}">
        <p14:creationId xmlns:p14="http://schemas.microsoft.com/office/powerpoint/2010/main" val="2054386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D151172B-0EA7-D14A-828C-6BAC25578D4E}" type="datetimeFigureOut">
              <a:rPr lang="en-US" smtClean="0"/>
              <a:t>1/29/25</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1DED705D-9DD8-DE4E-99B7-314522DFF722}"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96140022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151172B-0EA7-D14A-828C-6BAC25578D4E}" type="datetimeFigureOut">
              <a:rPr lang="en-US" smtClean="0"/>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ED705D-9DD8-DE4E-99B7-314522DFF722}" type="slidenum">
              <a:rPr lang="en-US" smtClean="0"/>
              <a:t>‹#›</a:t>
            </a:fld>
            <a:endParaRPr lang="en-US"/>
          </a:p>
        </p:txBody>
      </p:sp>
    </p:spTree>
    <p:extLst>
      <p:ext uri="{BB962C8B-B14F-4D97-AF65-F5344CB8AC3E}">
        <p14:creationId xmlns:p14="http://schemas.microsoft.com/office/powerpoint/2010/main" val="183889179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151172B-0EA7-D14A-828C-6BAC25578D4E}" type="datetimeFigureOut">
              <a:rPr lang="en-US" smtClean="0"/>
              <a:t>1/29/25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ED705D-9DD8-DE4E-99B7-314522DFF722}" type="slidenum">
              <a:rPr lang="en-US" smtClean="0"/>
              <a:t>‹#›</a:t>
            </a:fld>
            <a:endParaRPr lang="en-US"/>
          </a:p>
        </p:txBody>
      </p:sp>
    </p:spTree>
    <p:extLst>
      <p:ext uri="{BB962C8B-B14F-4D97-AF65-F5344CB8AC3E}">
        <p14:creationId xmlns:p14="http://schemas.microsoft.com/office/powerpoint/2010/main" val="391095075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151172B-0EA7-D14A-828C-6BAC25578D4E}" type="datetimeFigureOut">
              <a:rPr lang="en-US" smtClean="0"/>
              <a:t>1/29/25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ED705D-9DD8-DE4E-99B7-314522DFF722}" type="slidenum">
              <a:rPr lang="en-US" smtClean="0"/>
              <a:t>‹#›</a:t>
            </a:fld>
            <a:endParaRPr lang="en-US"/>
          </a:p>
        </p:txBody>
      </p:sp>
    </p:spTree>
    <p:extLst>
      <p:ext uri="{BB962C8B-B14F-4D97-AF65-F5344CB8AC3E}">
        <p14:creationId xmlns:p14="http://schemas.microsoft.com/office/powerpoint/2010/main" val="3980789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51172B-0EA7-D14A-828C-6BAC25578D4E}" type="datetimeFigureOut">
              <a:rPr lang="en-US" smtClean="0"/>
              <a:t>1/29/25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ED705D-9DD8-DE4E-99B7-314522DFF722}" type="slidenum">
              <a:rPr lang="en-US" smtClean="0"/>
              <a:t>‹#›</a:t>
            </a:fld>
            <a:endParaRPr lang="en-US"/>
          </a:p>
        </p:txBody>
      </p:sp>
    </p:spTree>
    <p:extLst>
      <p:ext uri="{BB962C8B-B14F-4D97-AF65-F5344CB8AC3E}">
        <p14:creationId xmlns:p14="http://schemas.microsoft.com/office/powerpoint/2010/main" val="3287992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D151172B-0EA7-D14A-828C-6BAC25578D4E}" type="datetimeFigureOut">
              <a:rPr lang="en-US" smtClean="0"/>
              <a:t>1/29/25</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1DED705D-9DD8-DE4E-99B7-314522DFF722}"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60827220"/>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D151172B-0EA7-D14A-828C-6BAC25578D4E}" type="datetimeFigureOut">
              <a:rPr lang="en-US" smtClean="0"/>
              <a:t>1/29/25</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1DED705D-9DD8-DE4E-99B7-314522DFF722}" type="slidenum">
              <a:rPr lang="en-US" smtClean="0"/>
              <a:t>‹#›</a:t>
            </a:fld>
            <a:endParaRPr lang="en-US"/>
          </a:p>
        </p:txBody>
      </p:sp>
    </p:spTree>
    <p:extLst>
      <p:ext uri="{BB962C8B-B14F-4D97-AF65-F5344CB8AC3E}">
        <p14:creationId xmlns:p14="http://schemas.microsoft.com/office/powerpoint/2010/main" val="4276920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51172B-0EA7-D14A-828C-6BAC25578D4E}"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ED705D-9DD8-DE4E-99B7-314522DFF722}" type="slidenum">
              <a:rPr lang="en-US" smtClean="0"/>
              <a:t>‹#›</a:t>
            </a:fld>
            <a:endParaRPr lang="en-US"/>
          </a:p>
        </p:txBody>
      </p:sp>
    </p:spTree>
    <p:extLst>
      <p:ext uri="{BB962C8B-B14F-4D97-AF65-F5344CB8AC3E}">
        <p14:creationId xmlns:p14="http://schemas.microsoft.com/office/powerpoint/2010/main" val="3672631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51172B-0EA7-D14A-828C-6BAC25578D4E}"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ED705D-9DD8-DE4E-99B7-314522DFF722}" type="slidenum">
              <a:rPr lang="en-US" smtClean="0"/>
              <a:t>‹#›</a:t>
            </a:fld>
            <a:endParaRPr lang="en-US"/>
          </a:p>
        </p:txBody>
      </p:sp>
    </p:spTree>
    <p:extLst>
      <p:ext uri="{BB962C8B-B14F-4D97-AF65-F5344CB8AC3E}">
        <p14:creationId xmlns:p14="http://schemas.microsoft.com/office/powerpoint/2010/main" val="215497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D151172B-0EA7-D14A-828C-6BAC25578D4E}" type="datetimeFigureOut">
              <a:rPr lang="en-US" smtClean="0"/>
              <a:t>1/29/25</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1DED705D-9DD8-DE4E-99B7-314522DFF722}"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828165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ideo" Target="https://www.youtube.com/embed/eemOZfsrKdg?feature=oembed" TargetMode="Externa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5"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5"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5" Type="http://schemas.openxmlformats.org/officeDocument/2006/relationships/image" Target="../media/image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image" Target="../media/image1.png"/><Relationship Id="rId5" Type="http://schemas.openxmlformats.org/officeDocument/2006/relationships/hyperlink" Target="mailto:cast4317@vandals.uidaho.edu"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hyperlink" Target="https://www.incontextdesign.com/cd/" TargetMode="External"/><Relationship Id="rId2" Type="http://schemas.openxmlformats.org/officeDocument/2006/relationships/hyperlink" Target="https://www.interaction-design.org/literature/book/the-encyclopedia-of-human-computer-interaction-2nd-ed/contextual-design" TargetMode="External"/><Relationship Id="rId1" Type="http://schemas.openxmlformats.org/officeDocument/2006/relationships/slideLayout" Target="../slideLayouts/slideLayout2.xml"/><Relationship Id="rId4" Type="http://schemas.openxmlformats.org/officeDocument/2006/relationships/hyperlink" Target="https://www.youtube.com/watch?v=eemOZfsrKd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AACE35A-DD26-4C0E-81A5-8C18F73905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4E369A-1E91-BA3F-5FF0-E030C10CB0C1}"/>
              </a:ext>
            </a:extLst>
          </p:cNvPr>
          <p:cNvSpPr>
            <a:spLocks noGrp="1"/>
          </p:cNvSpPr>
          <p:nvPr>
            <p:ph type="ctrTitle"/>
          </p:nvPr>
        </p:nvSpPr>
        <p:spPr>
          <a:xfrm>
            <a:off x="1078524" y="1231506"/>
            <a:ext cx="6145284" cy="4394988"/>
          </a:xfrm>
        </p:spPr>
        <p:txBody>
          <a:bodyPr>
            <a:normAutofit/>
          </a:bodyPr>
          <a:lstStyle/>
          <a:p>
            <a:pPr algn="r"/>
            <a:r>
              <a:rPr lang="en-US" sz="4800"/>
              <a:t>Contextual Design</a:t>
            </a:r>
          </a:p>
        </p:txBody>
      </p:sp>
      <p:sp>
        <p:nvSpPr>
          <p:cNvPr id="3" name="Subtitle 2">
            <a:extLst>
              <a:ext uri="{FF2B5EF4-FFF2-40B4-BE49-F238E27FC236}">
                <a16:creationId xmlns:a16="http://schemas.microsoft.com/office/drawing/2014/main" id="{4BB01DB2-5AD1-9C50-BCE6-50B016888089}"/>
              </a:ext>
            </a:extLst>
          </p:cNvPr>
          <p:cNvSpPr>
            <a:spLocks noGrp="1"/>
          </p:cNvSpPr>
          <p:nvPr>
            <p:ph type="subTitle" idx="1"/>
          </p:nvPr>
        </p:nvSpPr>
        <p:spPr>
          <a:xfrm>
            <a:off x="7867276" y="1300843"/>
            <a:ext cx="2996668" cy="4256314"/>
          </a:xfrm>
        </p:spPr>
        <p:txBody>
          <a:bodyPr anchor="ctr">
            <a:normAutofit/>
          </a:bodyPr>
          <a:lstStyle/>
          <a:p>
            <a:pPr algn="l"/>
            <a:r>
              <a:rPr lang="en-US"/>
              <a:t>Miguel Castillo </a:t>
            </a:r>
          </a:p>
        </p:txBody>
      </p:sp>
      <p:cxnSp>
        <p:nvCxnSpPr>
          <p:cNvPr id="15" name="Straight Connector 9">
            <a:extLst>
              <a:ext uri="{FF2B5EF4-FFF2-40B4-BE49-F238E27FC236}">
                <a16:creationId xmlns:a16="http://schemas.microsoft.com/office/drawing/2014/main" id="{E905CB15-2F46-4D9D-AEA4-3619C520C8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45542" y="1962397"/>
            <a:ext cx="0" cy="2933206"/>
          </a:xfrm>
          <a:prstGeom prst="line">
            <a:avLst/>
          </a:prstGeom>
          <a:ln w="22225">
            <a:solidFill>
              <a:schemeClr val="accent1"/>
            </a:solidFill>
            <a:miter lim="800000"/>
          </a:ln>
        </p:spPr>
        <p:style>
          <a:lnRef idx="1">
            <a:schemeClr val="accent1"/>
          </a:lnRef>
          <a:fillRef idx="0">
            <a:schemeClr val="accent1"/>
          </a:fillRef>
          <a:effectRef idx="0">
            <a:schemeClr val="accent1"/>
          </a:effectRef>
          <a:fontRef idx="minor">
            <a:schemeClr val="tx1"/>
          </a:fontRef>
        </p:style>
      </p:cxnSp>
      <p:sp>
        <p:nvSpPr>
          <p:cNvPr id="16" name="Rectangle 11">
            <a:extLst>
              <a:ext uri="{FF2B5EF4-FFF2-40B4-BE49-F238E27FC236}">
                <a16:creationId xmlns:a16="http://schemas.microsoft.com/office/drawing/2014/main" id="{18DAE5F6-55D5-4FC2-B1F3-AE114251F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774263" y="440267"/>
            <a:ext cx="643467" cy="12191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20" name="Audio 19">
            <a:hlinkClick r:id="" action="ppaction://media"/>
            <a:extLst>
              <a:ext uri="{FF2B5EF4-FFF2-40B4-BE49-F238E27FC236}">
                <a16:creationId xmlns:a16="http://schemas.microsoft.com/office/drawing/2014/main" id="{D4340A51-DE09-6236-A266-8C1B431A39A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036992470"/>
      </p:ext>
    </p:extLst>
  </p:cSld>
  <p:clrMapOvr>
    <a:masterClrMapping/>
  </p:clrMapOvr>
  <mc:AlternateContent xmlns:mc="http://schemas.openxmlformats.org/markup-compatibility/2006" xmlns:p14="http://schemas.microsoft.com/office/powerpoint/2010/main">
    <mc:Choice Requires="p14">
      <p:transition spd="slow" p14:dur="2000" advTm="26570"/>
    </mc:Choice>
    <mc:Fallback xmlns="">
      <p:transition spd="slow" advTm="26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6A2F08-BA15-7A7A-7CC3-013E38C0D540}"/>
              </a:ext>
            </a:extLst>
          </p:cNvPr>
          <p:cNvSpPr>
            <a:spLocks noGrp="1"/>
          </p:cNvSpPr>
          <p:nvPr>
            <p:ph type="title"/>
          </p:nvPr>
        </p:nvSpPr>
        <p:spPr>
          <a:xfrm>
            <a:off x="2895600" y="382385"/>
            <a:ext cx="8534399" cy="1413758"/>
          </a:xfrm>
        </p:spPr>
        <p:txBody>
          <a:bodyPr anchor="b">
            <a:normAutofit fontScale="90000"/>
          </a:bodyPr>
          <a:lstStyle/>
          <a:p>
            <a:pPr algn="ctr"/>
            <a:r>
              <a:rPr lang="en-US" sz="4400" dirty="0"/>
              <a:t>To better design tech, understand context - tania Douglas </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Online Media 3">
            <a:hlinkClick r:id="" action="ppaction://media"/>
            <a:hlinkHover r:id="" action="ppaction://ole?verb=0"/>
            <a:extLst>
              <a:ext uri="{FF2B5EF4-FFF2-40B4-BE49-F238E27FC236}">
                <a16:creationId xmlns:a16="http://schemas.microsoft.com/office/drawing/2014/main" id="{1A31DDA1-48D0-086E-6358-71DB1F1DC5F2}"/>
              </a:ext>
            </a:extLst>
          </p:cNvPr>
          <p:cNvPicPr>
            <a:picLocks noGrp="1" noRot="1" noChangeAspect="1"/>
          </p:cNvPicPr>
          <p:nvPr>
            <p:ph idx="1"/>
            <a:videoFile r:link="rId1"/>
          </p:nvPr>
        </p:nvPicPr>
        <p:blipFill rotWithShape="1">
          <a:blip r:embed="rId4"/>
          <a:srcRect/>
          <a:stretch/>
        </p:blipFill>
        <p:spPr>
          <a:xfrm>
            <a:off x="3887788" y="2178050"/>
            <a:ext cx="6551612" cy="3702049"/>
          </a:xfrm>
          <a:prstGeom prst="rect">
            <a:avLst/>
          </a:prstGeom>
        </p:spPr>
      </p:pic>
    </p:spTree>
    <p:extLst>
      <p:ext uri="{BB962C8B-B14F-4D97-AF65-F5344CB8AC3E}">
        <p14:creationId xmlns:p14="http://schemas.microsoft.com/office/powerpoint/2010/main" val="1756995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6A2F08-BA15-7A7A-7CC3-013E38C0D540}"/>
              </a:ext>
            </a:extLst>
          </p:cNvPr>
          <p:cNvSpPr>
            <a:spLocks noGrp="1"/>
          </p:cNvSpPr>
          <p:nvPr>
            <p:ph type="title"/>
          </p:nvPr>
        </p:nvSpPr>
        <p:spPr>
          <a:xfrm>
            <a:off x="2895600" y="382385"/>
            <a:ext cx="8534399" cy="1413758"/>
          </a:xfrm>
        </p:spPr>
        <p:txBody>
          <a:bodyPr anchor="b">
            <a:normAutofit fontScale="90000"/>
          </a:bodyPr>
          <a:lstStyle/>
          <a:p>
            <a:pPr algn="ctr"/>
            <a:r>
              <a:rPr lang="en-US" sz="4400" dirty="0"/>
              <a:t>To better design tech, understand context - tania Douglas </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9" name="Audio 8">
            <a:hlinkClick r:id="" action="ppaction://media"/>
            <a:extLst>
              <a:ext uri="{FF2B5EF4-FFF2-40B4-BE49-F238E27FC236}">
                <a16:creationId xmlns:a16="http://schemas.microsoft.com/office/drawing/2014/main" id="{A33EAA47-3597-8A77-E722-B866C00B2C5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pic>
        <p:nvPicPr>
          <p:cNvPr id="6" name="Picture 5">
            <a:extLst>
              <a:ext uri="{FF2B5EF4-FFF2-40B4-BE49-F238E27FC236}">
                <a16:creationId xmlns:a16="http://schemas.microsoft.com/office/drawing/2014/main" id="{A831FF78-6BE3-F978-1FD3-B97758446C3C}"/>
              </a:ext>
            </a:extLst>
          </p:cNvPr>
          <p:cNvPicPr>
            <a:picLocks noChangeAspect="1"/>
          </p:cNvPicPr>
          <p:nvPr/>
        </p:nvPicPr>
        <p:blipFill>
          <a:blip r:embed="rId6"/>
          <a:stretch>
            <a:fillRect/>
          </a:stretch>
        </p:blipFill>
        <p:spPr>
          <a:xfrm>
            <a:off x="3884877" y="2183467"/>
            <a:ext cx="6555844" cy="3709333"/>
          </a:xfrm>
          <a:prstGeom prst="rect">
            <a:avLst/>
          </a:prstGeom>
        </p:spPr>
      </p:pic>
    </p:spTree>
    <p:extLst>
      <p:ext uri="{BB962C8B-B14F-4D97-AF65-F5344CB8AC3E}">
        <p14:creationId xmlns:p14="http://schemas.microsoft.com/office/powerpoint/2010/main" val="3348284762"/>
      </p:ext>
    </p:extLst>
  </p:cSld>
  <p:clrMapOvr>
    <a:masterClrMapping/>
  </p:clrMapOvr>
  <mc:AlternateContent xmlns:mc="http://schemas.openxmlformats.org/markup-compatibility/2006" xmlns:p14="http://schemas.microsoft.com/office/powerpoint/2010/main">
    <mc:Choice Requires="p14">
      <p:transition spd="slow" p14:dur="2000" advTm="61920"/>
    </mc:Choice>
    <mc:Fallback xmlns="">
      <p:transition spd="slow" advTm="61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1DC6F7-A127-DA31-A3E2-CBC07C31F7E5}"/>
              </a:ext>
            </a:extLst>
          </p:cNvPr>
          <p:cNvSpPr>
            <a:spLocks noGrp="1"/>
          </p:cNvSpPr>
          <p:nvPr>
            <p:ph type="title"/>
          </p:nvPr>
        </p:nvSpPr>
        <p:spPr>
          <a:xfrm>
            <a:off x="2895600" y="382385"/>
            <a:ext cx="8534399" cy="1413758"/>
          </a:xfrm>
        </p:spPr>
        <p:txBody>
          <a:bodyPr anchor="b">
            <a:normAutofit/>
          </a:bodyPr>
          <a:lstStyle/>
          <a:p>
            <a:pPr algn="ctr"/>
            <a:r>
              <a:rPr lang="en-US" sz="4400" dirty="0"/>
              <a:t>What is contextual design? </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F72C8B31-9282-163E-0271-3CB2CE627B22}"/>
              </a:ext>
            </a:extLst>
          </p:cNvPr>
          <p:cNvSpPr>
            <a:spLocks noGrp="1"/>
          </p:cNvSpPr>
          <p:nvPr>
            <p:ph idx="1"/>
          </p:nvPr>
        </p:nvSpPr>
        <p:spPr>
          <a:xfrm>
            <a:off x="2895600" y="2178528"/>
            <a:ext cx="8534400" cy="3701065"/>
          </a:xfrm>
        </p:spPr>
        <p:txBody>
          <a:bodyPr>
            <a:normAutofit fontScale="92500" lnSpcReduction="10000"/>
          </a:bodyPr>
          <a:lstStyle/>
          <a:p>
            <a:pPr marL="0" indent="0">
              <a:buNone/>
            </a:pPr>
            <a:r>
              <a:rPr lang="en-US" b="1" dirty="0"/>
              <a:t>Contextual Design</a:t>
            </a:r>
          </a:p>
          <a:p>
            <a:r>
              <a:rPr lang="en-US" dirty="0"/>
              <a:t>A structured, well-defined </a:t>
            </a:r>
            <a:r>
              <a:rPr lang="en-US" b="1" dirty="0"/>
              <a:t>user-centered design </a:t>
            </a:r>
            <a:r>
              <a:rPr lang="en-US" dirty="0"/>
              <a:t>process that provides methods to collect data about users in the </a:t>
            </a:r>
            <a:r>
              <a:rPr lang="en-US" b="1" dirty="0"/>
              <a:t>field</a:t>
            </a:r>
            <a:r>
              <a:rPr lang="en-US" dirty="0"/>
              <a:t>, interpret and consolidate that data in a structured way, use the data to create and prototype product and service concepts, and iteratively test and refine those concepts with users. </a:t>
            </a:r>
          </a:p>
          <a:p>
            <a:pPr marL="0" indent="0">
              <a:buNone/>
            </a:pPr>
            <a:endParaRPr lang="en-US" dirty="0"/>
          </a:p>
          <a:p>
            <a:pPr marL="0" indent="0">
              <a:buNone/>
            </a:pPr>
            <a:r>
              <a:rPr lang="en-US" b="1" dirty="0"/>
              <a:t>User-Centered Design </a:t>
            </a:r>
          </a:p>
          <a:p>
            <a:r>
              <a:rPr lang="en-US" dirty="0"/>
              <a:t>An iterative design process in which designers focus on the users and their needs in each phase of the design process. In UCD, design teams involve users throughout the design process via a variety of research and design techniques, to create highly usable and accessible products for them. </a:t>
            </a:r>
          </a:p>
        </p:txBody>
      </p:sp>
      <p:pic>
        <p:nvPicPr>
          <p:cNvPr id="37" name="Audio 36">
            <a:hlinkClick r:id="" action="ppaction://media"/>
            <a:extLst>
              <a:ext uri="{FF2B5EF4-FFF2-40B4-BE49-F238E27FC236}">
                <a16:creationId xmlns:a16="http://schemas.microsoft.com/office/drawing/2014/main" id="{BF22C233-AEA8-A627-4EAD-5B7E1FB9588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706143546"/>
      </p:ext>
    </p:extLst>
  </p:cSld>
  <p:clrMapOvr>
    <a:masterClrMapping/>
  </p:clrMapOvr>
  <mc:AlternateContent xmlns:mc="http://schemas.openxmlformats.org/markup-compatibility/2006" xmlns:p14="http://schemas.microsoft.com/office/powerpoint/2010/main">
    <mc:Choice Requires="p14">
      <p:transition spd="slow" p14:dur="2000" advTm="261312"/>
    </mc:Choice>
    <mc:Fallback xmlns="">
      <p:transition spd="slow" advTm="2613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6A2F08-BA15-7A7A-7CC3-013E38C0D540}"/>
              </a:ext>
            </a:extLst>
          </p:cNvPr>
          <p:cNvSpPr>
            <a:spLocks noGrp="1"/>
          </p:cNvSpPr>
          <p:nvPr>
            <p:ph type="title"/>
          </p:nvPr>
        </p:nvSpPr>
        <p:spPr>
          <a:xfrm>
            <a:off x="2895600" y="382385"/>
            <a:ext cx="8534399" cy="1413758"/>
          </a:xfrm>
        </p:spPr>
        <p:txBody>
          <a:bodyPr anchor="b">
            <a:normAutofit/>
          </a:bodyPr>
          <a:lstStyle/>
          <a:p>
            <a:pPr algn="ctr"/>
            <a:r>
              <a:rPr lang="en-US" sz="4400" dirty="0"/>
              <a:t>background</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BC293BCC-1044-9B14-9F93-D28E36964F16}"/>
              </a:ext>
            </a:extLst>
          </p:cNvPr>
          <p:cNvSpPr>
            <a:spLocks noGrp="1"/>
          </p:cNvSpPr>
          <p:nvPr>
            <p:ph idx="1"/>
          </p:nvPr>
        </p:nvSpPr>
        <p:spPr>
          <a:xfrm>
            <a:off x="2895600" y="2178528"/>
            <a:ext cx="8534400" cy="3701065"/>
          </a:xfrm>
        </p:spPr>
        <p:txBody>
          <a:bodyPr>
            <a:normAutofit/>
          </a:bodyPr>
          <a:lstStyle/>
          <a:p>
            <a:r>
              <a:rPr lang="en-US" sz="1900" dirty="0"/>
              <a:t>Founders  </a:t>
            </a:r>
          </a:p>
          <a:p>
            <a:pPr lvl="1"/>
            <a:r>
              <a:rPr lang="en-US" sz="1900" dirty="0"/>
              <a:t>Karen </a:t>
            </a:r>
            <a:r>
              <a:rPr lang="en-US" sz="1900" dirty="0" err="1"/>
              <a:t>Holtzblatt</a:t>
            </a:r>
            <a:r>
              <a:rPr lang="en-US" sz="1900" dirty="0"/>
              <a:t> (Psychologist)</a:t>
            </a:r>
          </a:p>
          <a:p>
            <a:pPr lvl="1"/>
            <a:r>
              <a:rPr lang="en-US" sz="1900" dirty="0"/>
              <a:t>Hugh Beyer (Developer)</a:t>
            </a:r>
          </a:p>
          <a:p>
            <a:r>
              <a:rPr lang="en-US" sz="1900" dirty="0"/>
              <a:t>Created in response to the limitations of usability testing </a:t>
            </a:r>
          </a:p>
          <a:p>
            <a:r>
              <a:rPr lang="en-US" sz="1900" dirty="0"/>
              <a:t>Techniques are like those of an ethnographic study, but constraint by the limitations of the design project</a:t>
            </a:r>
          </a:p>
        </p:txBody>
      </p:sp>
      <p:pic>
        <p:nvPicPr>
          <p:cNvPr id="34" name="Audio 33">
            <a:hlinkClick r:id="" action="ppaction://media"/>
            <a:extLst>
              <a:ext uri="{FF2B5EF4-FFF2-40B4-BE49-F238E27FC236}">
                <a16:creationId xmlns:a16="http://schemas.microsoft.com/office/drawing/2014/main" id="{9A818903-A650-B12F-BB35-4258D4FC8DD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033188266"/>
      </p:ext>
    </p:extLst>
  </p:cSld>
  <p:clrMapOvr>
    <a:masterClrMapping/>
  </p:clrMapOvr>
  <mc:AlternateContent xmlns:mc="http://schemas.openxmlformats.org/markup-compatibility/2006" xmlns:p14="http://schemas.microsoft.com/office/powerpoint/2010/main">
    <mc:Choice Requires="p14">
      <p:transition spd="slow" p14:dur="2000" advTm="136192"/>
    </mc:Choice>
    <mc:Fallback xmlns="">
      <p:transition spd="slow" advTm="1361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6A2F08-BA15-7A7A-7CC3-013E38C0D540}"/>
              </a:ext>
            </a:extLst>
          </p:cNvPr>
          <p:cNvSpPr>
            <a:spLocks noGrp="1"/>
          </p:cNvSpPr>
          <p:nvPr>
            <p:ph type="title"/>
          </p:nvPr>
        </p:nvSpPr>
        <p:spPr>
          <a:xfrm>
            <a:off x="2895600" y="382385"/>
            <a:ext cx="8534399" cy="1413758"/>
          </a:xfrm>
        </p:spPr>
        <p:txBody>
          <a:bodyPr anchor="b">
            <a:normAutofit/>
          </a:bodyPr>
          <a:lstStyle/>
          <a:p>
            <a:pPr algn="ctr"/>
            <a:r>
              <a:rPr lang="en-US" sz="4400" dirty="0"/>
              <a:t>Key principles</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BC293BCC-1044-9B14-9F93-D28E36964F16}"/>
              </a:ext>
            </a:extLst>
          </p:cNvPr>
          <p:cNvSpPr>
            <a:spLocks noGrp="1"/>
          </p:cNvSpPr>
          <p:nvPr>
            <p:ph idx="1"/>
          </p:nvPr>
        </p:nvSpPr>
        <p:spPr>
          <a:xfrm>
            <a:off x="2895600" y="2178528"/>
            <a:ext cx="8534400" cy="3701065"/>
          </a:xfrm>
        </p:spPr>
        <p:txBody>
          <a:bodyPr>
            <a:normAutofit/>
          </a:bodyPr>
          <a:lstStyle/>
          <a:p>
            <a:r>
              <a:rPr lang="en-US" sz="1900" dirty="0"/>
              <a:t>System must support and extend user’s work practice </a:t>
            </a:r>
          </a:p>
          <a:p>
            <a:r>
              <a:rPr lang="en-US" sz="1900" dirty="0"/>
              <a:t>Expertise does not equal the ability to articulate current work practices </a:t>
            </a:r>
          </a:p>
          <a:p>
            <a:r>
              <a:rPr lang="en-US" sz="1900" dirty="0"/>
              <a:t>Design must take place in partnership with users </a:t>
            </a:r>
          </a:p>
          <a:p>
            <a:r>
              <a:rPr lang="en-US" sz="1900" dirty="0"/>
              <a:t>Good design is systematic </a:t>
            </a:r>
          </a:p>
          <a:p>
            <a:r>
              <a:rPr lang="en-US" sz="1900" dirty="0"/>
              <a:t>Design depends on explicit representation </a:t>
            </a:r>
          </a:p>
        </p:txBody>
      </p:sp>
      <p:pic>
        <p:nvPicPr>
          <p:cNvPr id="21" name="Audio 20">
            <a:hlinkClick r:id="" action="ppaction://media"/>
            <a:extLst>
              <a:ext uri="{FF2B5EF4-FFF2-40B4-BE49-F238E27FC236}">
                <a16:creationId xmlns:a16="http://schemas.microsoft.com/office/drawing/2014/main" id="{E0BE9C3C-88FB-0DC6-7FA1-06965FD5589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34546243"/>
      </p:ext>
    </p:extLst>
  </p:cSld>
  <p:clrMapOvr>
    <a:masterClrMapping/>
  </p:clrMapOvr>
  <mc:AlternateContent xmlns:mc="http://schemas.openxmlformats.org/markup-compatibility/2006" xmlns:p14="http://schemas.microsoft.com/office/powerpoint/2010/main">
    <mc:Choice Requires="p14">
      <p:transition spd="slow" p14:dur="2000" advTm="133002"/>
    </mc:Choice>
    <mc:Fallback xmlns="">
      <p:transition spd="slow" advTm="1330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6A2F08-BA15-7A7A-7CC3-013E38C0D540}"/>
              </a:ext>
            </a:extLst>
          </p:cNvPr>
          <p:cNvSpPr>
            <a:spLocks noGrp="1"/>
          </p:cNvSpPr>
          <p:nvPr>
            <p:ph type="title"/>
          </p:nvPr>
        </p:nvSpPr>
        <p:spPr>
          <a:xfrm>
            <a:off x="2895600" y="382385"/>
            <a:ext cx="8534399" cy="1413758"/>
          </a:xfrm>
        </p:spPr>
        <p:txBody>
          <a:bodyPr anchor="b">
            <a:normAutofit/>
          </a:bodyPr>
          <a:lstStyle/>
          <a:p>
            <a:pPr algn="ctr"/>
            <a:r>
              <a:rPr lang="en-US" sz="4400" dirty="0"/>
              <a:t>process</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BC293BCC-1044-9B14-9F93-D28E36964F16}"/>
              </a:ext>
            </a:extLst>
          </p:cNvPr>
          <p:cNvSpPr>
            <a:spLocks noGrp="1"/>
          </p:cNvSpPr>
          <p:nvPr>
            <p:ph idx="1"/>
          </p:nvPr>
        </p:nvSpPr>
        <p:spPr>
          <a:xfrm>
            <a:off x="2895600" y="2178528"/>
            <a:ext cx="8534400" cy="3701065"/>
          </a:xfrm>
        </p:spPr>
        <p:txBody>
          <a:bodyPr>
            <a:noAutofit/>
          </a:bodyPr>
          <a:lstStyle/>
          <a:p>
            <a:pPr marL="0" indent="0">
              <a:buNone/>
            </a:pPr>
            <a:r>
              <a:rPr lang="en-US" sz="1600" dirty="0"/>
              <a:t>Requirement and Solutions </a:t>
            </a:r>
          </a:p>
          <a:p>
            <a:pPr marL="457200" indent="-457200">
              <a:buAutoNum type="arabicPeriod"/>
            </a:pPr>
            <a:r>
              <a:rPr lang="en-US" sz="1600" dirty="0"/>
              <a:t>Contextual Inquiry </a:t>
            </a:r>
          </a:p>
          <a:p>
            <a:pPr marL="457200" indent="-457200">
              <a:buAutoNum type="arabicPeriod"/>
            </a:pPr>
            <a:r>
              <a:rPr lang="en-US" sz="1600" dirty="0"/>
              <a:t>Interpretation Session </a:t>
            </a:r>
          </a:p>
          <a:p>
            <a:pPr marL="457200" indent="-457200">
              <a:buAutoNum type="arabicPeriod"/>
            </a:pPr>
            <a:r>
              <a:rPr lang="en-US" sz="1600" dirty="0"/>
              <a:t>Work Models and Affinity Diagramming</a:t>
            </a:r>
          </a:p>
          <a:p>
            <a:pPr marL="457200" indent="-457200">
              <a:buAutoNum type="arabicPeriod"/>
            </a:pPr>
            <a:r>
              <a:rPr lang="en-US" sz="1600" dirty="0"/>
              <a:t>Visioning </a:t>
            </a:r>
          </a:p>
          <a:p>
            <a:pPr marL="0" indent="0">
              <a:buNone/>
            </a:pPr>
            <a:r>
              <a:rPr lang="en-US" sz="1600" dirty="0"/>
              <a:t>Define and Validation Concepts </a:t>
            </a:r>
          </a:p>
          <a:p>
            <a:pPr marL="457200" indent="-457200">
              <a:buFont typeface="+mj-lt"/>
              <a:buAutoNum type="arabicPeriod" startAt="5"/>
            </a:pPr>
            <a:r>
              <a:rPr lang="en-US" sz="1600" dirty="0"/>
              <a:t>Storyboards </a:t>
            </a:r>
          </a:p>
          <a:p>
            <a:pPr marL="457200" indent="-457200">
              <a:buAutoNum type="arabicPeriod" startAt="5"/>
            </a:pPr>
            <a:r>
              <a:rPr lang="en-US" sz="1600" dirty="0"/>
              <a:t>Interaction Patterns and User Environment Design </a:t>
            </a:r>
          </a:p>
          <a:p>
            <a:pPr marL="457200" indent="-457200">
              <a:buAutoNum type="arabicPeriod" startAt="5"/>
            </a:pPr>
            <a:r>
              <a:rPr lang="en-US" sz="1600" dirty="0"/>
              <a:t>Paper Prototype Interviews </a:t>
            </a:r>
          </a:p>
          <a:p>
            <a:pPr marL="457200" indent="-457200">
              <a:buAutoNum type="arabicPeriod" startAt="5"/>
            </a:pPr>
            <a:r>
              <a:rPr lang="en-US" sz="1600" dirty="0"/>
              <a:t>Interaction &amp; Visual Design</a:t>
            </a:r>
          </a:p>
        </p:txBody>
      </p:sp>
      <p:pic>
        <p:nvPicPr>
          <p:cNvPr id="4" name="Audio 3">
            <a:hlinkClick r:id="" action="ppaction://media"/>
            <a:extLst>
              <a:ext uri="{FF2B5EF4-FFF2-40B4-BE49-F238E27FC236}">
                <a16:creationId xmlns:a16="http://schemas.microsoft.com/office/drawing/2014/main" id="{B18113FA-BA09-E5B0-74F4-9818181BE70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889237889"/>
      </p:ext>
    </p:extLst>
  </p:cSld>
  <p:clrMapOvr>
    <a:masterClrMapping/>
  </p:clrMapOvr>
  <mc:AlternateContent xmlns:mc="http://schemas.openxmlformats.org/markup-compatibility/2006">
    <mc:Choice xmlns:p14="http://schemas.microsoft.com/office/powerpoint/2010/main" Requires="p14">
      <p:transition spd="slow" p14:dur="2000" advTm="66733"/>
    </mc:Choice>
    <mc:Fallback>
      <p:transition spd="slow" advTm="667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6A2F08-BA15-7A7A-7CC3-013E38C0D540}"/>
              </a:ext>
            </a:extLst>
          </p:cNvPr>
          <p:cNvSpPr>
            <a:spLocks noGrp="1"/>
          </p:cNvSpPr>
          <p:nvPr>
            <p:ph type="title"/>
          </p:nvPr>
        </p:nvSpPr>
        <p:spPr>
          <a:xfrm>
            <a:off x="2895600" y="382385"/>
            <a:ext cx="8534399" cy="1413758"/>
          </a:xfrm>
        </p:spPr>
        <p:txBody>
          <a:bodyPr anchor="b">
            <a:normAutofit/>
          </a:bodyPr>
          <a:lstStyle/>
          <a:p>
            <a:pPr algn="ctr"/>
            <a:r>
              <a:rPr lang="en-US" sz="4400" dirty="0"/>
              <a:t>1. Contextual inquiry</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BC293BCC-1044-9B14-9F93-D28E36964F16}"/>
              </a:ext>
            </a:extLst>
          </p:cNvPr>
          <p:cNvSpPr>
            <a:spLocks noGrp="1"/>
          </p:cNvSpPr>
          <p:nvPr>
            <p:ph idx="1"/>
          </p:nvPr>
        </p:nvSpPr>
        <p:spPr>
          <a:xfrm>
            <a:off x="2895600" y="2178528"/>
            <a:ext cx="8534400" cy="3701065"/>
          </a:xfrm>
        </p:spPr>
        <p:txBody>
          <a:bodyPr>
            <a:normAutofit/>
          </a:bodyPr>
          <a:lstStyle/>
          <a:p>
            <a:r>
              <a:rPr lang="en-US" dirty="0"/>
              <a:t>Talk to and observe users in the field </a:t>
            </a:r>
          </a:p>
          <a:p>
            <a:pPr lvl="1"/>
            <a:r>
              <a:rPr lang="en-US" dirty="0"/>
              <a:t>Understand who’s the user </a:t>
            </a:r>
          </a:p>
          <a:p>
            <a:pPr lvl="2"/>
            <a:r>
              <a:rPr lang="en-US" dirty="0"/>
              <a:t>End user (most of the time)</a:t>
            </a:r>
          </a:p>
          <a:p>
            <a:pPr lvl="2"/>
            <a:r>
              <a:rPr lang="en-US" dirty="0"/>
              <a:t>Indirect user </a:t>
            </a:r>
          </a:p>
          <a:p>
            <a:pPr lvl="2"/>
            <a:r>
              <a:rPr lang="en-US" dirty="0"/>
              <a:t>Managers </a:t>
            </a:r>
          </a:p>
          <a:p>
            <a:r>
              <a:rPr lang="en-US" dirty="0"/>
              <a:t>Field studies yield what users actually do and care about </a:t>
            </a:r>
          </a:p>
        </p:txBody>
      </p:sp>
      <p:pic>
        <p:nvPicPr>
          <p:cNvPr id="11" name="Audio 10">
            <a:hlinkClick r:id="" action="ppaction://media"/>
            <a:extLst>
              <a:ext uri="{FF2B5EF4-FFF2-40B4-BE49-F238E27FC236}">
                <a16:creationId xmlns:a16="http://schemas.microsoft.com/office/drawing/2014/main" id="{30EC8EBB-95DF-0AE4-DE9F-CCC5BF55482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267610241"/>
      </p:ext>
    </p:extLst>
  </p:cSld>
  <p:clrMapOvr>
    <a:masterClrMapping/>
  </p:clrMapOvr>
  <mc:AlternateContent xmlns:mc="http://schemas.openxmlformats.org/markup-compatibility/2006" xmlns:p14="http://schemas.microsoft.com/office/powerpoint/2010/main">
    <mc:Choice Requires="p14">
      <p:transition spd="slow" p14:dur="2000" advTm="130272"/>
    </mc:Choice>
    <mc:Fallback xmlns="">
      <p:transition spd="slow" advTm="13027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6A2F08-BA15-7A7A-7CC3-013E38C0D540}"/>
              </a:ext>
            </a:extLst>
          </p:cNvPr>
          <p:cNvSpPr>
            <a:spLocks noGrp="1"/>
          </p:cNvSpPr>
          <p:nvPr>
            <p:ph type="title"/>
          </p:nvPr>
        </p:nvSpPr>
        <p:spPr>
          <a:xfrm>
            <a:off x="2895600" y="382385"/>
            <a:ext cx="8534399" cy="1413758"/>
          </a:xfrm>
        </p:spPr>
        <p:txBody>
          <a:bodyPr anchor="b">
            <a:normAutofit/>
          </a:bodyPr>
          <a:lstStyle/>
          <a:p>
            <a:pPr algn="ctr"/>
            <a:r>
              <a:rPr lang="en-US" sz="4400" dirty="0"/>
              <a:t>2. Interpretation session</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BC293BCC-1044-9B14-9F93-D28E36964F16}"/>
              </a:ext>
            </a:extLst>
          </p:cNvPr>
          <p:cNvSpPr>
            <a:spLocks noGrp="1"/>
          </p:cNvSpPr>
          <p:nvPr>
            <p:ph idx="1"/>
          </p:nvPr>
        </p:nvSpPr>
        <p:spPr>
          <a:xfrm>
            <a:off x="2895600" y="2178528"/>
            <a:ext cx="8534400" cy="3701065"/>
          </a:xfrm>
        </p:spPr>
        <p:txBody>
          <a:bodyPr>
            <a:normAutofit/>
          </a:bodyPr>
          <a:lstStyle/>
          <a:p>
            <a:r>
              <a:rPr lang="en-US" dirty="0"/>
              <a:t>Interpret the data as a team to capture key issues and model activities</a:t>
            </a:r>
          </a:p>
          <a:p>
            <a:pPr lvl="1"/>
            <a:r>
              <a:rPr lang="en-US" dirty="0"/>
              <a:t>Work Models </a:t>
            </a:r>
          </a:p>
          <a:p>
            <a:pPr lvl="2"/>
            <a:r>
              <a:rPr lang="en-US" dirty="0"/>
              <a:t>Flow Model </a:t>
            </a:r>
          </a:p>
          <a:p>
            <a:pPr lvl="2"/>
            <a:r>
              <a:rPr lang="en-US" dirty="0"/>
              <a:t>Cultural Model </a:t>
            </a:r>
          </a:p>
          <a:p>
            <a:pPr lvl="2"/>
            <a:r>
              <a:rPr lang="en-US" dirty="0"/>
              <a:t>Sequence Model </a:t>
            </a:r>
          </a:p>
          <a:p>
            <a:pPr lvl="2"/>
            <a:r>
              <a:rPr lang="en-US" dirty="0"/>
              <a:t>Physical Model </a:t>
            </a:r>
          </a:p>
          <a:p>
            <a:pPr lvl="2"/>
            <a:r>
              <a:rPr lang="en-US" dirty="0"/>
              <a:t>Artifact Model </a:t>
            </a:r>
          </a:p>
          <a:p>
            <a:r>
              <a:rPr lang="en-US" dirty="0"/>
              <a:t>Create a shared perspective of the data and implications </a:t>
            </a:r>
          </a:p>
        </p:txBody>
      </p:sp>
      <p:pic>
        <p:nvPicPr>
          <p:cNvPr id="4" name="Audio 3">
            <a:hlinkClick r:id="" action="ppaction://media"/>
            <a:extLst>
              <a:ext uri="{FF2B5EF4-FFF2-40B4-BE49-F238E27FC236}">
                <a16:creationId xmlns:a16="http://schemas.microsoft.com/office/drawing/2014/main" id="{4F29001E-83B4-E199-554A-7A5800AEE5F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05462878"/>
      </p:ext>
    </p:extLst>
  </p:cSld>
  <p:clrMapOvr>
    <a:masterClrMapping/>
  </p:clrMapOvr>
  <mc:AlternateContent xmlns:mc="http://schemas.openxmlformats.org/markup-compatibility/2006" xmlns:p14="http://schemas.microsoft.com/office/powerpoint/2010/main">
    <mc:Choice Requires="p14">
      <p:transition spd="slow" p14:dur="2000" advTm="122602"/>
    </mc:Choice>
    <mc:Fallback xmlns="">
      <p:transition spd="slow" advTm="1226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6A2F08-BA15-7A7A-7CC3-013E38C0D540}"/>
              </a:ext>
            </a:extLst>
          </p:cNvPr>
          <p:cNvSpPr>
            <a:spLocks noGrp="1"/>
          </p:cNvSpPr>
          <p:nvPr>
            <p:ph type="title"/>
          </p:nvPr>
        </p:nvSpPr>
        <p:spPr>
          <a:xfrm>
            <a:off x="2895600" y="382385"/>
            <a:ext cx="8534399" cy="1413758"/>
          </a:xfrm>
        </p:spPr>
        <p:txBody>
          <a:bodyPr anchor="b">
            <a:normAutofit/>
          </a:bodyPr>
          <a:lstStyle/>
          <a:p>
            <a:pPr algn="ctr"/>
            <a:r>
              <a:rPr lang="en-US" sz="4400" dirty="0"/>
              <a:t>3. Work models and affinity diagram</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BC293BCC-1044-9B14-9F93-D28E36964F16}"/>
              </a:ext>
            </a:extLst>
          </p:cNvPr>
          <p:cNvSpPr>
            <a:spLocks noGrp="1"/>
          </p:cNvSpPr>
          <p:nvPr>
            <p:ph idx="1"/>
          </p:nvPr>
        </p:nvSpPr>
        <p:spPr>
          <a:xfrm>
            <a:off x="2895600" y="2178528"/>
            <a:ext cx="8534400" cy="3701065"/>
          </a:xfrm>
        </p:spPr>
        <p:txBody>
          <a:bodyPr>
            <a:normAutofit/>
          </a:bodyPr>
          <a:lstStyle/>
          <a:p>
            <a:r>
              <a:rPr lang="en-US" dirty="0"/>
              <a:t>Consolidate data across users for a full view of:</a:t>
            </a:r>
          </a:p>
          <a:p>
            <a:pPr lvl="1"/>
            <a:r>
              <a:rPr lang="en-US" dirty="0"/>
              <a:t>Key issues </a:t>
            </a:r>
          </a:p>
          <a:p>
            <a:pPr lvl="1"/>
            <a:r>
              <a:rPr lang="en-US" dirty="0"/>
              <a:t>Tasks </a:t>
            </a:r>
          </a:p>
          <a:p>
            <a:pPr lvl="1"/>
            <a:r>
              <a:rPr lang="en-US" dirty="0"/>
              <a:t>Values </a:t>
            </a:r>
          </a:p>
          <a:p>
            <a:pPr lvl="1"/>
            <a:r>
              <a:rPr lang="en-US" dirty="0"/>
              <a:t>Collaboration</a:t>
            </a:r>
          </a:p>
          <a:p>
            <a:r>
              <a:rPr lang="en-US" dirty="0"/>
              <a:t>Find opportunities to guide innovation </a:t>
            </a:r>
          </a:p>
          <a:p>
            <a:r>
              <a:rPr lang="en-US" dirty="0"/>
              <a:t>Personas</a:t>
            </a:r>
          </a:p>
        </p:txBody>
      </p:sp>
      <p:pic>
        <p:nvPicPr>
          <p:cNvPr id="7" name="Audio 6">
            <a:hlinkClick r:id="" action="ppaction://media"/>
            <a:extLst>
              <a:ext uri="{FF2B5EF4-FFF2-40B4-BE49-F238E27FC236}">
                <a16:creationId xmlns:a16="http://schemas.microsoft.com/office/drawing/2014/main" id="{5955C918-3DAE-398C-D734-BAE73CC7090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693936677"/>
      </p:ext>
    </p:extLst>
  </p:cSld>
  <p:clrMapOvr>
    <a:masterClrMapping/>
  </p:clrMapOvr>
  <mc:AlternateContent xmlns:mc="http://schemas.openxmlformats.org/markup-compatibility/2006" xmlns:p14="http://schemas.microsoft.com/office/powerpoint/2010/main">
    <mc:Choice Requires="p14">
      <p:transition spd="slow" p14:dur="2000" advTm="77770"/>
    </mc:Choice>
    <mc:Fallback xmlns="">
      <p:transition spd="slow" advTm="77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6A2F08-BA15-7A7A-7CC3-013E38C0D540}"/>
              </a:ext>
            </a:extLst>
          </p:cNvPr>
          <p:cNvSpPr>
            <a:spLocks noGrp="1"/>
          </p:cNvSpPr>
          <p:nvPr>
            <p:ph type="title"/>
          </p:nvPr>
        </p:nvSpPr>
        <p:spPr>
          <a:xfrm>
            <a:off x="2895600" y="382385"/>
            <a:ext cx="8534399" cy="1413758"/>
          </a:xfrm>
        </p:spPr>
        <p:txBody>
          <a:bodyPr anchor="b">
            <a:normAutofit/>
          </a:bodyPr>
          <a:lstStyle/>
          <a:p>
            <a:pPr algn="ctr"/>
            <a:r>
              <a:rPr lang="en-US" sz="4400" dirty="0"/>
              <a:t>4. visioning</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BC293BCC-1044-9B14-9F93-D28E36964F16}"/>
              </a:ext>
            </a:extLst>
          </p:cNvPr>
          <p:cNvSpPr>
            <a:spLocks noGrp="1"/>
          </p:cNvSpPr>
          <p:nvPr>
            <p:ph idx="1"/>
          </p:nvPr>
        </p:nvSpPr>
        <p:spPr>
          <a:xfrm>
            <a:off x="2895600" y="2178528"/>
            <a:ext cx="8534400" cy="3701065"/>
          </a:xfrm>
        </p:spPr>
        <p:txBody>
          <a:bodyPr>
            <a:normAutofit/>
          </a:bodyPr>
          <a:lstStyle/>
          <a:p>
            <a:r>
              <a:rPr lang="en-US" dirty="0"/>
              <a:t>Facilitate group ideation session</a:t>
            </a:r>
          </a:p>
          <a:p>
            <a:pPr lvl="1"/>
            <a:r>
              <a:rPr lang="en-US" dirty="0"/>
              <a:t>Print out data set and place on wall </a:t>
            </a:r>
          </a:p>
          <a:p>
            <a:r>
              <a:rPr lang="en-US" dirty="0"/>
              <a:t>First immerse in the data then generate concepts for new and existing products </a:t>
            </a:r>
          </a:p>
          <a:p>
            <a:r>
              <a:rPr lang="en-US" dirty="0"/>
              <a:t> Vision captures a story of how users will do their work in the new world the team invents</a:t>
            </a:r>
          </a:p>
          <a:p>
            <a:r>
              <a:rPr lang="en-US" dirty="0"/>
              <a:t>Vision includes the system, its delivery, and support structure</a:t>
            </a:r>
          </a:p>
        </p:txBody>
      </p:sp>
      <p:pic>
        <p:nvPicPr>
          <p:cNvPr id="6" name="Audio 5">
            <a:hlinkClick r:id="" action="ppaction://media"/>
            <a:extLst>
              <a:ext uri="{FF2B5EF4-FFF2-40B4-BE49-F238E27FC236}">
                <a16:creationId xmlns:a16="http://schemas.microsoft.com/office/drawing/2014/main" id="{E14E94ED-27FB-1CFA-3ECC-284D3DFE2A2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927594745"/>
      </p:ext>
    </p:extLst>
  </p:cSld>
  <p:clrMapOvr>
    <a:masterClrMapping/>
  </p:clrMapOvr>
  <mc:AlternateContent xmlns:mc="http://schemas.openxmlformats.org/markup-compatibility/2006" xmlns:p14="http://schemas.microsoft.com/office/powerpoint/2010/main">
    <mc:Choice Requires="p14">
      <p:transition spd="slow" p14:dur="2000" advTm="104266"/>
    </mc:Choice>
    <mc:Fallback xmlns="">
      <p:transition spd="slow" advTm="1042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6A2F08-BA15-7A7A-7CC3-013E38C0D540}"/>
              </a:ext>
            </a:extLst>
          </p:cNvPr>
          <p:cNvSpPr>
            <a:spLocks noGrp="1"/>
          </p:cNvSpPr>
          <p:nvPr>
            <p:ph type="title"/>
          </p:nvPr>
        </p:nvSpPr>
        <p:spPr>
          <a:xfrm>
            <a:off x="2895600" y="382385"/>
            <a:ext cx="8534399" cy="1413758"/>
          </a:xfrm>
        </p:spPr>
        <p:txBody>
          <a:bodyPr anchor="b">
            <a:normAutofit/>
          </a:bodyPr>
          <a:lstStyle/>
          <a:p>
            <a:pPr algn="ctr"/>
            <a:r>
              <a:rPr lang="en-US" sz="4400" dirty="0"/>
              <a:t>5. storyboards</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BC293BCC-1044-9B14-9F93-D28E36964F16}"/>
              </a:ext>
            </a:extLst>
          </p:cNvPr>
          <p:cNvSpPr>
            <a:spLocks noGrp="1"/>
          </p:cNvSpPr>
          <p:nvPr>
            <p:ph idx="1"/>
          </p:nvPr>
        </p:nvSpPr>
        <p:spPr>
          <a:xfrm>
            <a:off x="2895600" y="2178528"/>
            <a:ext cx="8534400" cy="3701065"/>
          </a:xfrm>
        </p:spPr>
        <p:txBody>
          <a:bodyPr>
            <a:normAutofit/>
          </a:bodyPr>
          <a:lstStyle/>
          <a:p>
            <a:r>
              <a:rPr lang="en-US" dirty="0"/>
              <a:t>Develop the details of the new to be activities </a:t>
            </a:r>
          </a:p>
          <a:p>
            <a:r>
              <a:rPr lang="en-US" dirty="0"/>
              <a:t>Clarify function, user experience, automation, rules, data, and technology based on the vision </a:t>
            </a:r>
          </a:p>
          <a:p>
            <a:pPr marL="0" indent="0">
              <a:buNone/>
            </a:pPr>
            <a:endParaRPr lang="en-US" dirty="0"/>
          </a:p>
        </p:txBody>
      </p:sp>
      <p:pic>
        <p:nvPicPr>
          <p:cNvPr id="6" name="Audio 5">
            <a:hlinkClick r:id="" action="ppaction://media"/>
            <a:extLst>
              <a:ext uri="{FF2B5EF4-FFF2-40B4-BE49-F238E27FC236}">
                <a16:creationId xmlns:a16="http://schemas.microsoft.com/office/drawing/2014/main" id="{2A4F77C8-DCB9-6149-E43E-3C526B84EBD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479173773"/>
      </p:ext>
    </p:extLst>
  </p:cSld>
  <p:clrMapOvr>
    <a:masterClrMapping/>
  </p:clrMapOvr>
  <mc:AlternateContent xmlns:mc="http://schemas.openxmlformats.org/markup-compatibility/2006" xmlns:p14="http://schemas.microsoft.com/office/powerpoint/2010/main">
    <mc:Choice Requires="p14">
      <p:transition spd="slow" p14:dur="2000" advTm="52885"/>
    </mc:Choice>
    <mc:Fallback xmlns="">
      <p:transition spd="slow" advTm="528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6A2F08-BA15-7A7A-7CC3-013E38C0D540}"/>
              </a:ext>
            </a:extLst>
          </p:cNvPr>
          <p:cNvSpPr>
            <a:spLocks noGrp="1"/>
          </p:cNvSpPr>
          <p:nvPr>
            <p:ph type="title"/>
          </p:nvPr>
        </p:nvSpPr>
        <p:spPr>
          <a:xfrm>
            <a:off x="2895600" y="382385"/>
            <a:ext cx="8534399" cy="1413758"/>
          </a:xfrm>
        </p:spPr>
        <p:txBody>
          <a:bodyPr anchor="b">
            <a:normAutofit/>
          </a:bodyPr>
          <a:lstStyle/>
          <a:p>
            <a:pPr algn="ctr"/>
            <a:r>
              <a:rPr lang="en-US" sz="4400" dirty="0"/>
              <a:t>6. Interaction patterns and user environment design </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BC293BCC-1044-9B14-9F93-D28E36964F16}"/>
              </a:ext>
            </a:extLst>
          </p:cNvPr>
          <p:cNvSpPr>
            <a:spLocks noGrp="1"/>
          </p:cNvSpPr>
          <p:nvPr>
            <p:ph idx="1"/>
          </p:nvPr>
        </p:nvSpPr>
        <p:spPr>
          <a:xfrm>
            <a:off x="2895600" y="2178528"/>
            <a:ext cx="8534400" cy="3701065"/>
          </a:xfrm>
        </p:spPr>
        <p:txBody>
          <a:bodyPr>
            <a:normAutofit/>
          </a:bodyPr>
          <a:lstStyle/>
          <a:p>
            <a:r>
              <a:rPr lang="en-US" dirty="0"/>
              <a:t>Represent the system structure, requirements, and user interface layout </a:t>
            </a:r>
          </a:p>
          <a:p>
            <a:r>
              <a:rPr lang="en-US" dirty="0"/>
              <a:t>Ensure consistency, and smooth user experience product wide </a:t>
            </a:r>
          </a:p>
        </p:txBody>
      </p:sp>
      <p:pic>
        <p:nvPicPr>
          <p:cNvPr id="4" name="Audio 3">
            <a:hlinkClick r:id="" action="ppaction://media"/>
            <a:extLst>
              <a:ext uri="{FF2B5EF4-FFF2-40B4-BE49-F238E27FC236}">
                <a16:creationId xmlns:a16="http://schemas.microsoft.com/office/drawing/2014/main" id="{F580E247-6E27-B03D-4E08-82BBF478E93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242053974"/>
      </p:ext>
    </p:extLst>
  </p:cSld>
  <p:clrMapOvr>
    <a:masterClrMapping/>
  </p:clrMapOvr>
  <mc:AlternateContent xmlns:mc="http://schemas.openxmlformats.org/markup-compatibility/2006" xmlns:p14="http://schemas.microsoft.com/office/powerpoint/2010/main">
    <mc:Choice Requires="p14">
      <p:transition spd="slow" p14:dur="2000" advTm="46218"/>
    </mc:Choice>
    <mc:Fallback xmlns="">
      <p:transition spd="slow" advTm="462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6A2F08-BA15-7A7A-7CC3-013E38C0D540}"/>
              </a:ext>
            </a:extLst>
          </p:cNvPr>
          <p:cNvSpPr>
            <a:spLocks noGrp="1"/>
          </p:cNvSpPr>
          <p:nvPr>
            <p:ph type="title"/>
          </p:nvPr>
        </p:nvSpPr>
        <p:spPr>
          <a:xfrm>
            <a:off x="2895600" y="382385"/>
            <a:ext cx="8534399" cy="1413758"/>
          </a:xfrm>
        </p:spPr>
        <p:txBody>
          <a:bodyPr anchor="b">
            <a:normAutofit/>
          </a:bodyPr>
          <a:lstStyle/>
          <a:p>
            <a:pPr algn="ctr"/>
            <a:r>
              <a:rPr lang="en-US" sz="4400" dirty="0"/>
              <a:t>7. Paper prototyping</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BC293BCC-1044-9B14-9F93-D28E36964F16}"/>
              </a:ext>
            </a:extLst>
          </p:cNvPr>
          <p:cNvSpPr>
            <a:spLocks noGrp="1"/>
          </p:cNvSpPr>
          <p:nvPr>
            <p:ph idx="1"/>
          </p:nvPr>
        </p:nvSpPr>
        <p:spPr>
          <a:xfrm>
            <a:off x="2895600" y="2178528"/>
            <a:ext cx="8534400" cy="3701065"/>
          </a:xfrm>
        </p:spPr>
        <p:txBody>
          <a:bodyPr>
            <a:normAutofit/>
          </a:bodyPr>
          <a:lstStyle/>
          <a:p>
            <a:r>
              <a:rPr lang="en-US" dirty="0"/>
              <a:t>Mockup the interface to validate direction and UI with users</a:t>
            </a:r>
          </a:p>
          <a:p>
            <a:pPr lvl="1"/>
            <a:r>
              <a:rPr lang="en-US" dirty="0"/>
              <a:t>Validate product concepts, process changes, user experience  </a:t>
            </a:r>
          </a:p>
          <a:p>
            <a:r>
              <a:rPr lang="en-US" dirty="0"/>
              <a:t>Have users live their lives inside the mockups </a:t>
            </a:r>
          </a:p>
        </p:txBody>
      </p:sp>
      <p:pic>
        <p:nvPicPr>
          <p:cNvPr id="6" name="Audio 5">
            <a:hlinkClick r:id="" action="ppaction://media"/>
            <a:extLst>
              <a:ext uri="{FF2B5EF4-FFF2-40B4-BE49-F238E27FC236}">
                <a16:creationId xmlns:a16="http://schemas.microsoft.com/office/drawing/2014/main" id="{0F717148-A5B3-5242-FCC7-EFFD05748F6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061592401"/>
      </p:ext>
    </p:extLst>
  </p:cSld>
  <p:clrMapOvr>
    <a:masterClrMapping/>
  </p:clrMapOvr>
  <mc:AlternateContent xmlns:mc="http://schemas.openxmlformats.org/markup-compatibility/2006" xmlns:p14="http://schemas.microsoft.com/office/powerpoint/2010/main">
    <mc:Choice Requires="p14">
      <p:transition spd="slow" p14:dur="2000" advTm="84458"/>
    </mc:Choice>
    <mc:Fallback xmlns="">
      <p:transition spd="slow" advTm="8445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6A2F08-BA15-7A7A-7CC3-013E38C0D540}"/>
              </a:ext>
            </a:extLst>
          </p:cNvPr>
          <p:cNvSpPr>
            <a:spLocks noGrp="1"/>
          </p:cNvSpPr>
          <p:nvPr>
            <p:ph type="title"/>
          </p:nvPr>
        </p:nvSpPr>
        <p:spPr>
          <a:xfrm>
            <a:off x="2895600" y="382385"/>
            <a:ext cx="8534399" cy="1413758"/>
          </a:xfrm>
        </p:spPr>
        <p:txBody>
          <a:bodyPr anchor="b">
            <a:normAutofit/>
          </a:bodyPr>
          <a:lstStyle/>
          <a:p>
            <a:pPr algn="ctr"/>
            <a:r>
              <a:rPr lang="en-US" sz="4400" dirty="0"/>
              <a:t>8. Interaction &amp; visual design</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BC293BCC-1044-9B14-9F93-D28E36964F16}"/>
              </a:ext>
            </a:extLst>
          </p:cNvPr>
          <p:cNvSpPr>
            <a:spLocks noGrp="1"/>
          </p:cNvSpPr>
          <p:nvPr>
            <p:ph idx="1"/>
          </p:nvPr>
        </p:nvSpPr>
        <p:spPr>
          <a:xfrm>
            <a:off x="2895600" y="2178528"/>
            <a:ext cx="8534400" cy="3701065"/>
          </a:xfrm>
        </p:spPr>
        <p:txBody>
          <a:bodyPr>
            <a:normAutofit/>
          </a:bodyPr>
          <a:lstStyle/>
          <a:p>
            <a:r>
              <a:rPr lang="en-US" dirty="0"/>
              <a:t>Define the visual design and test with users </a:t>
            </a:r>
          </a:p>
        </p:txBody>
      </p:sp>
      <p:pic>
        <p:nvPicPr>
          <p:cNvPr id="4" name="Audio 3">
            <a:hlinkClick r:id="" action="ppaction://media"/>
            <a:extLst>
              <a:ext uri="{FF2B5EF4-FFF2-40B4-BE49-F238E27FC236}">
                <a16:creationId xmlns:a16="http://schemas.microsoft.com/office/drawing/2014/main" id="{79263497-2724-680D-052A-0463D725E1E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459444989"/>
      </p:ext>
    </p:extLst>
  </p:cSld>
  <p:clrMapOvr>
    <a:masterClrMapping/>
  </p:clrMapOvr>
  <mc:AlternateContent xmlns:mc="http://schemas.openxmlformats.org/markup-compatibility/2006" xmlns:p14="http://schemas.microsoft.com/office/powerpoint/2010/main">
    <mc:Choice Requires="p14">
      <p:transition spd="slow" p14:dur="2000" advTm="71991"/>
    </mc:Choice>
    <mc:Fallback xmlns="">
      <p:transition spd="slow" advTm="719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6A2F08-BA15-7A7A-7CC3-013E38C0D540}"/>
              </a:ext>
            </a:extLst>
          </p:cNvPr>
          <p:cNvSpPr>
            <a:spLocks noGrp="1"/>
          </p:cNvSpPr>
          <p:nvPr>
            <p:ph type="title"/>
          </p:nvPr>
        </p:nvSpPr>
        <p:spPr>
          <a:xfrm>
            <a:off x="2895600" y="382385"/>
            <a:ext cx="8534399" cy="1413758"/>
          </a:xfrm>
        </p:spPr>
        <p:txBody>
          <a:bodyPr anchor="b">
            <a:normAutofit/>
          </a:bodyPr>
          <a:lstStyle/>
          <a:p>
            <a:pPr algn="ctr"/>
            <a:r>
              <a:rPr lang="en-US" sz="4400" dirty="0"/>
              <a:t>Thank you</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BC293BCC-1044-9B14-9F93-D28E36964F16}"/>
              </a:ext>
            </a:extLst>
          </p:cNvPr>
          <p:cNvSpPr>
            <a:spLocks noGrp="1"/>
          </p:cNvSpPr>
          <p:nvPr>
            <p:ph idx="1"/>
          </p:nvPr>
        </p:nvSpPr>
        <p:spPr>
          <a:xfrm>
            <a:off x="2895600" y="2178528"/>
            <a:ext cx="8534400" cy="3701065"/>
          </a:xfrm>
        </p:spPr>
        <p:txBody>
          <a:bodyPr>
            <a:normAutofit/>
          </a:bodyPr>
          <a:lstStyle/>
          <a:p>
            <a:r>
              <a:rPr lang="en-US" dirty="0"/>
              <a:t>Thank you very much for your time! If you have any questions, please contact me via - </a:t>
            </a:r>
            <a:r>
              <a:rPr lang="en-US" dirty="0">
                <a:hlinkClick r:id="rId5"/>
              </a:rPr>
              <a:t>cast4317@vandals.uidaho.edu</a:t>
            </a:r>
            <a:endParaRPr lang="en-US" dirty="0"/>
          </a:p>
        </p:txBody>
      </p:sp>
      <p:pic>
        <p:nvPicPr>
          <p:cNvPr id="5" name="Audio 4">
            <a:hlinkClick r:id="" action="ppaction://media"/>
            <a:extLst>
              <a:ext uri="{FF2B5EF4-FFF2-40B4-BE49-F238E27FC236}">
                <a16:creationId xmlns:a16="http://schemas.microsoft.com/office/drawing/2014/main" id="{5E496F9C-8340-7517-A631-88B3086EF74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315266254"/>
      </p:ext>
    </p:extLst>
  </p:cSld>
  <p:clrMapOvr>
    <a:masterClrMapping/>
  </p:clrMapOvr>
  <mc:AlternateContent xmlns:mc="http://schemas.openxmlformats.org/markup-compatibility/2006" xmlns:p14="http://schemas.microsoft.com/office/powerpoint/2010/main">
    <mc:Choice Requires="p14">
      <p:transition spd="slow" p14:dur="2000" advTm="57269"/>
    </mc:Choice>
    <mc:Fallback xmlns="">
      <p:transition spd="slow" advTm="572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6A2F08-BA15-7A7A-7CC3-013E38C0D540}"/>
              </a:ext>
            </a:extLst>
          </p:cNvPr>
          <p:cNvSpPr>
            <a:spLocks noGrp="1"/>
          </p:cNvSpPr>
          <p:nvPr>
            <p:ph type="title"/>
          </p:nvPr>
        </p:nvSpPr>
        <p:spPr>
          <a:xfrm>
            <a:off x="2895600" y="382385"/>
            <a:ext cx="8534399" cy="1413758"/>
          </a:xfrm>
        </p:spPr>
        <p:txBody>
          <a:bodyPr anchor="b">
            <a:normAutofit/>
          </a:bodyPr>
          <a:lstStyle/>
          <a:p>
            <a:pPr algn="ctr"/>
            <a:r>
              <a:rPr lang="en-US" sz="4400" dirty="0"/>
              <a:t>References</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BC293BCC-1044-9B14-9F93-D28E36964F16}"/>
              </a:ext>
            </a:extLst>
          </p:cNvPr>
          <p:cNvSpPr>
            <a:spLocks noGrp="1"/>
          </p:cNvSpPr>
          <p:nvPr>
            <p:ph idx="1"/>
          </p:nvPr>
        </p:nvSpPr>
        <p:spPr>
          <a:xfrm>
            <a:off x="2895600" y="2178528"/>
            <a:ext cx="8534400" cy="3701065"/>
          </a:xfrm>
        </p:spPr>
        <p:txBody>
          <a:bodyPr>
            <a:normAutofit/>
          </a:bodyPr>
          <a:lstStyle/>
          <a:p>
            <a:pPr>
              <a:spcBef>
                <a:spcPts val="0"/>
              </a:spcBef>
            </a:pPr>
            <a:r>
              <a:rPr lang="en-US" sz="1900" dirty="0" err="1">
                <a:effectLst/>
                <a:ea typeface="Calibri" panose="020F0502020204030204" pitchFamily="34" charset="0"/>
                <a:cs typeface="Times New Roman" panose="02020603050405020304" pitchFamily="18" charset="0"/>
              </a:rPr>
              <a:t>Holtzblatt</a:t>
            </a:r>
            <a:r>
              <a:rPr lang="en-US" sz="1900" dirty="0">
                <a:effectLst/>
                <a:ea typeface="Calibri" panose="020F0502020204030204" pitchFamily="34" charset="0"/>
                <a:cs typeface="Times New Roman" panose="02020603050405020304" pitchFamily="18" charset="0"/>
              </a:rPr>
              <a:t>, K. and Beyer, H. R. (2014, January 1). Contextual Design. Interaction Design Foundation - </a:t>
            </a:r>
            <a:r>
              <a:rPr lang="en-US" sz="1900" dirty="0" err="1">
                <a:effectLst/>
                <a:ea typeface="Calibri" panose="020F0502020204030204" pitchFamily="34" charset="0"/>
                <a:cs typeface="Times New Roman" panose="02020603050405020304" pitchFamily="18" charset="0"/>
              </a:rPr>
              <a:t>IxDF</a:t>
            </a:r>
            <a:r>
              <a:rPr lang="en-US" sz="1900" dirty="0">
                <a:effectLst/>
                <a:ea typeface="Calibri" panose="020F0502020204030204" pitchFamily="34" charset="0"/>
                <a:cs typeface="Times New Roman" panose="02020603050405020304" pitchFamily="18" charset="0"/>
              </a:rPr>
              <a:t>. </a:t>
            </a:r>
            <a:r>
              <a:rPr lang="en-US" sz="1900" u="sng" dirty="0">
                <a:solidFill>
                  <a:srgbClr val="0563C1"/>
                </a:solidFill>
                <a:effectLst/>
                <a:ea typeface="Calibri" panose="020F0502020204030204" pitchFamily="34" charset="0"/>
                <a:cs typeface="Times New Roman" panose="02020603050405020304" pitchFamily="18" charset="0"/>
                <a:hlinkClick r:id="rId2"/>
              </a:rPr>
              <a:t>https://www.interaction-design.org/literature/book/the-encyclopedia-of-human-computer-interaction-2nd-ed/contextual-design</a:t>
            </a:r>
            <a:endParaRPr lang="en-US" sz="1900" dirty="0">
              <a:effectLst/>
              <a:ea typeface="Calibri" panose="020F0502020204030204" pitchFamily="34" charset="0"/>
              <a:cs typeface="Times New Roman" panose="02020603050405020304" pitchFamily="18" charset="0"/>
            </a:endParaRPr>
          </a:p>
          <a:p>
            <a:pPr>
              <a:spcBef>
                <a:spcPts val="0"/>
              </a:spcBef>
            </a:pPr>
            <a:r>
              <a:rPr lang="en-US" sz="1900" dirty="0" err="1">
                <a:effectLst/>
                <a:ea typeface="Calibri" panose="020F0502020204030204" pitchFamily="34" charset="0"/>
                <a:cs typeface="Times New Roman" panose="02020603050405020304" pitchFamily="18" charset="0"/>
              </a:rPr>
              <a:t>Holtzblatt</a:t>
            </a:r>
            <a:r>
              <a:rPr lang="en-US" sz="1900" dirty="0">
                <a:effectLst/>
                <a:ea typeface="Calibri" panose="020F0502020204030204" pitchFamily="34" charset="0"/>
                <a:cs typeface="Times New Roman" panose="02020603050405020304" pitchFamily="18" charset="0"/>
              </a:rPr>
              <a:t>, K. (2022). </a:t>
            </a:r>
            <a:r>
              <a:rPr lang="en-US" sz="1900" i="1" dirty="0">
                <a:effectLst/>
                <a:ea typeface="Calibri" panose="020F0502020204030204" pitchFamily="34" charset="0"/>
                <a:cs typeface="Times New Roman" panose="02020603050405020304" pitchFamily="18" charset="0"/>
              </a:rPr>
              <a:t>Contextual Design</a:t>
            </a:r>
            <a:r>
              <a:rPr lang="en-US" sz="1900" dirty="0">
                <a:effectLst/>
                <a:ea typeface="Calibri" panose="020F0502020204030204" pitchFamily="34" charset="0"/>
                <a:cs typeface="Times New Roman" panose="02020603050405020304" pitchFamily="18" charset="0"/>
              </a:rPr>
              <a:t>. </a:t>
            </a:r>
            <a:r>
              <a:rPr lang="en-US" sz="1900" dirty="0" err="1">
                <a:effectLst/>
                <a:ea typeface="Calibri" panose="020F0502020204030204" pitchFamily="34" charset="0"/>
                <a:cs typeface="Times New Roman" panose="02020603050405020304" pitchFamily="18" charset="0"/>
              </a:rPr>
              <a:t>InContext</a:t>
            </a:r>
            <a:r>
              <a:rPr lang="en-US" sz="1900" dirty="0">
                <a:effectLst/>
                <a:ea typeface="Calibri" panose="020F0502020204030204" pitchFamily="34" charset="0"/>
                <a:cs typeface="Times New Roman" panose="02020603050405020304" pitchFamily="18" charset="0"/>
              </a:rPr>
              <a:t> Design. </a:t>
            </a:r>
            <a:r>
              <a:rPr lang="en-US" sz="1900" u="sng" dirty="0">
                <a:solidFill>
                  <a:srgbClr val="0563C1"/>
                </a:solidFill>
                <a:effectLst/>
                <a:ea typeface="Calibri" panose="020F0502020204030204" pitchFamily="34" charset="0"/>
                <a:cs typeface="Times New Roman" panose="02020603050405020304" pitchFamily="18" charset="0"/>
                <a:hlinkClick r:id="rId3"/>
              </a:rPr>
              <a:t>https://www.incontextdesign.com/cd/</a:t>
            </a:r>
            <a:r>
              <a:rPr lang="en-US" sz="1900" dirty="0">
                <a:effectLst/>
                <a:ea typeface="Calibri" panose="020F0502020204030204" pitchFamily="34" charset="0"/>
                <a:cs typeface="Times New Roman" panose="02020603050405020304" pitchFamily="18" charset="0"/>
              </a:rPr>
              <a:t> </a:t>
            </a:r>
          </a:p>
          <a:p>
            <a:pPr>
              <a:spcBef>
                <a:spcPts val="0"/>
              </a:spcBef>
            </a:pPr>
            <a:r>
              <a:rPr lang="en-US" sz="1900" dirty="0">
                <a:effectLst/>
                <a:ea typeface="Calibri" panose="020F0502020204030204" pitchFamily="34" charset="0"/>
                <a:cs typeface="Times New Roman" panose="02020603050405020304" pitchFamily="18" charset="0"/>
              </a:rPr>
              <a:t>Douglas, T. (2018). </a:t>
            </a:r>
            <a:r>
              <a:rPr lang="en-US" sz="1900" i="1" dirty="0">
                <a:effectLst/>
                <a:ea typeface="Calibri" panose="020F0502020204030204" pitchFamily="34" charset="0"/>
                <a:cs typeface="Times New Roman" panose="02020603050405020304" pitchFamily="18" charset="0"/>
              </a:rPr>
              <a:t>To design better tech, understand context </a:t>
            </a:r>
            <a:r>
              <a:rPr lang="en-US" sz="1900" dirty="0">
                <a:effectLst/>
                <a:ea typeface="Calibri" panose="020F0502020204030204" pitchFamily="34" charset="0"/>
                <a:cs typeface="Times New Roman" panose="02020603050405020304" pitchFamily="18" charset="0"/>
              </a:rPr>
              <a:t>. YouTube. </a:t>
            </a:r>
            <a:r>
              <a:rPr lang="en-US" sz="1900" u="sng" dirty="0">
                <a:solidFill>
                  <a:srgbClr val="0563C1"/>
                </a:solidFill>
                <a:effectLst/>
                <a:ea typeface="Calibri" panose="020F0502020204030204" pitchFamily="34" charset="0"/>
                <a:cs typeface="Times New Roman" panose="02020603050405020304" pitchFamily="18" charset="0"/>
                <a:hlinkClick r:id="rId4"/>
              </a:rPr>
              <a:t>https://www.youtube.com/watch?v=eemOZfsrKdg</a:t>
            </a:r>
            <a:r>
              <a:rPr lang="en-US" sz="1900" dirty="0">
                <a:effectLst/>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1632767667"/>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{01BAA39B-6E3A-914B-AA42-11D25DE07505}tf10001071</Template>
  <TotalTime>2774</TotalTime>
  <Words>2617</Words>
  <Application>Microsoft Macintosh PowerPoint</Application>
  <PresentationFormat>Widescreen</PresentationFormat>
  <Paragraphs>204</Paragraphs>
  <Slides>17</Slides>
  <Notes>16</Notes>
  <HiddenSlides>0</HiddenSlides>
  <MMClips>16</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-webkit-standard</vt:lpstr>
      <vt:lpstr>Arial</vt:lpstr>
      <vt:lpstr>Calibri</vt:lpstr>
      <vt:lpstr>Courier New</vt:lpstr>
      <vt:lpstr>Gill Sans MT</vt:lpstr>
      <vt:lpstr>Impact</vt:lpstr>
      <vt:lpstr>Merriweather</vt:lpstr>
      <vt:lpstr>Wingdings</vt:lpstr>
      <vt:lpstr>Badge</vt:lpstr>
      <vt:lpstr>Contextual Design</vt:lpstr>
      <vt:lpstr>To better design tech, understand context - tania Douglas </vt:lpstr>
      <vt:lpstr>To better design tech, understand context - tania Douglas </vt:lpstr>
      <vt:lpstr>What is contextual design? </vt:lpstr>
      <vt:lpstr>background</vt:lpstr>
      <vt:lpstr>Key principles</vt:lpstr>
      <vt:lpstr>process</vt:lpstr>
      <vt:lpstr>1. Contextual inquiry</vt:lpstr>
      <vt:lpstr>2. Interpretation session</vt:lpstr>
      <vt:lpstr>3. Work models and affinity diagram</vt:lpstr>
      <vt:lpstr>4. visioning</vt:lpstr>
      <vt:lpstr>5. storyboards</vt:lpstr>
      <vt:lpstr>6. Interaction patterns and user environment design </vt:lpstr>
      <vt:lpstr>7. Paper prototyping</vt:lpstr>
      <vt:lpstr>8. Interaction &amp; visual design</vt:lpstr>
      <vt:lpstr>Thank you</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Contextual Design</dc:title>
  <dc:creator>Castillo Perez, Miguel (cast4317@vandals.uidaho.edu)</dc:creator>
  <cp:lastModifiedBy>Castillo Perez, Miguel (cast4317@vandals.uidaho.edu)</cp:lastModifiedBy>
  <cp:revision>7</cp:revision>
  <dcterms:created xsi:type="dcterms:W3CDTF">2025-01-27T21:49:39Z</dcterms:created>
  <dcterms:modified xsi:type="dcterms:W3CDTF">2025-01-29T20:21:36Z</dcterms:modified>
</cp:coreProperties>
</file>